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f2726b2434878" /><Relationship Type="http://schemas.openxmlformats.org/officeDocument/2006/relationships/extended-properties" Target="/docProps/app.xml" Id="Rd24ec6d6bf50443b" /><Relationship Type="http://schemas.openxmlformats.org/officeDocument/2006/relationships/officeDocument" Target="/ppt/presentation.xml" Id="Rd4d9dcd086bd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8feafa6ae4ffa"/>
  </p:sldMasterIdLst>
  <p:notesMasterIdLst>
    <p:notesMasterId xmlns:r="http://schemas.openxmlformats.org/officeDocument/2006/relationships" r:id="R8c80ffb8895f4ccc"/>
  </p:notesMasterIdLst>
  <p:sldIdLst>
    <p:sldId xmlns:r="http://schemas.openxmlformats.org/officeDocument/2006/relationships" id="256" r:id="Rbaddf988c8bd41f5"/>
    <p:sldId xmlns:r="http://schemas.openxmlformats.org/officeDocument/2006/relationships" id="257" r:id="R60e037de206b48d2"/>
    <p:sldId xmlns:r="http://schemas.openxmlformats.org/officeDocument/2006/relationships" id="258" r:id="R8b7d8332215841d4"/>
    <p:sldId xmlns:r="http://schemas.openxmlformats.org/officeDocument/2006/relationships" id="259" r:id="R806a07b584ec4e96"/>
    <p:sldId xmlns:r="http://schemas.openxmlformats.org/officeDocument/2006/relationships" id="260" r:id="Rf6fd1b76188a493e"/>
    <p:sldId xmlns:r="http://schemas.openxmlformats.org/officeDocument/2006/relationships" id="261" r:id="R3d0f147894e740ed"/>
    <p:sldId xmlns:r="http://schemas.openxmlformats.org/officeDocument/2006/relationships" id="262" r:id="Rcbd846bcc8b0434c"/>
    <p:sldId xmlns:r="http://schemas.openxmlformats.org/officeDocument/2006/relationships" id="263" r:id="Re2cc0749bf3640f6"/>
    <p:sldId xmlns:r="http://schemas.openxmlformats.org/officeDocument/2006/relationships" id="264" r:id="R3c77afa6d23c40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58c6e4b6442e4" /><Relationship Type="http://schemas.openxmlformats.org/officeDocument/2006/relationships/slideMaster" Target="/ppt/slideMasters/slideMaster1.xml" Id="Reb38feafa6ae4ffa" /><Relationship Type="http://schemas.openxmlformats.org/officeDocument/2006/relationships/notesMaster" Target="/ppt/notesMasters/notesMaster1.xml" Id="R8c80ffb8895f4ccc" /><Relationship Type="http://schemas.openxmlformats.org/officeDocument/2006/relationships/presProps" Target="/ppt/presProps.xml" Id="Ra57b5311513f46ff" /><Relationship Type="http://schemas.openxmlformats.org/officeDocument/2006/relationships/tableStyles" Target="/ppt/tableStyles.xml" Id="Rb7ec1528ad06420b" /><Relationship Type="http://schemas.openxmlformats.org/officeDocument/2006/relationships/slide" Target="/ppt/slides/slide1.xml" Id="Rbaddf988c8bd41f5" /><Relationship Type="http://schemas.openxmlformats.org/officeDocument/2006/relationships/slide" Target="/ppt/slides/slide2.xml" Id="R60e037de206b48d2" /><Relationship Type="http://schemas.openxmlformats.org/officeDocument/2006/relationships/slide" Target="/ppt/slides/slide3.xml" Id="R8b7d8332215841d4" /><Relationship Type="http://schemas.openxmlformats.org/officeDocument/2006/relationships/slide" Target="/ppt/slides/slide4.xml" Id="R806a07b584ec4e96" /><Relationship Type="http://schemas.openxmlformats.org/officeDocument/2006/relationships/slide" Target="/ppt/slides/slide5.xml" Id="Rf6fd1b76188a493e" /><Relationship Type="http://schemas.openxmlformats.org/officeDocument/2006/relationships/slide" Target="/ppt/slides/slide6.xml" Id="R3d0f147894e740ed" /><Relationship Type="http://schemas.openxmlformats.org/officeDocument/2006/relationships/slide" Target="/ppt/slides/slide7.xml" Id="Rcbd846bcc8b0434c" /><Relationship Type="http://schemas.openxmlformats.org/officeDocument/2006/relationships/slide" Target="/ppt/slides/slide8.xml" Id="Re2cc0749bf3640f6" /><Relationship Type="http://schemas.openxmlformats.org/officeDocument/2006/relationships/slide" Target="/ppt/slides/slide9.xml" Id="R3c77afa6d23c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7b2a7230b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b7fd09e4f24c6b" /><Relationship Type="http://schemas.openxmlformats.org/officeDocument/2006/relationships/notesMaster" Target="/ppt/notesMasters/notesMaster1.xml" Id="R43cfb7f1988640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c37c2e295440c8" /><Relationship Type="http://schemas.openxmlformats.org/officeDocument/2006/relationships/notesMaster" Target="/ppt/notesMasters/notesMaster1.xml" Id="Rd900facf493b40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86c87145c404f" /><Relationship Type="http://schemas.openxmlformats.org/officeDocument/2006/relationships/notesMaster" Target="/ppt/notesMasters/notesMaster1.xml" Id="Rc3ab2a71159b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a8fe3b58f7487a" /><Relationship Type="http://schemas.openxmlformats.org/officeDocument/2006/relationships/notesMaster" Target="/ppt/notesMasters/notesMaster1.xml" Id="R2a93908760bc4d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236414291749bc" /><Relationship Type="http://schemas.openxmlformats.org/officeDocument/2006/relationships/notesMaster" Target="/ppt/notesMasters/notesMaster1.xml" Id="R5879e162a67c4f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7feff5c452423e" /><Relationship Type="http://schemas.openxmlformats.org/officeDocument/2006/relationships/notesMaster" Target="/ppt/notesMasters/notesMaster1.xml" Id="R93bfbac5d262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033fea5ee04f21" /><Relationship Type="http://schemas.openxmlformats.org/officeDocument/2006/relationships/notesMaster" Target="/ppt/notesMasters/notesMaster1.xml" Id="R5787c2179757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911f35eed4516" /><Relationship Type="http://schemas.openxmlformats.org/officeDocument/2006/relationships/notesMaster" Target="/ppt/notesMasters/notesMaster1.xml" Id="R70c04dac02d34a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816c9d183f4c4a" /><Relationship Type="http://schemas.openxmlformats.org/officeDocument/2006/relationships/notesMaster" Target="/ppt/notesMasters/notesMaster1.xml" Id="R1820c5b667dd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3db91f5e4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5be23e11644f3" /><Relationship Type="http://schemas.openxmlformats.org/officeDocument/2006/relationships/slideLayout" Target="/ppt/slideLayouts/slideLayout1.xml" Id="R3e14b7eb70ee41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14b7eb70ee41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11c7b7ecd432b" /><Relationship Type="http://schemas.openxmlformats.org/officeDocument/2006/relationships/notesSlide" Target="/ppt/notesSlides/notesSlide1.xml" Id="R9c857bd8443c42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fc74398274aad" /><Relationship Type="http://schemas.openxmlformats.org/officeDocument/2006/relationships/notesSlide" Target="/ppt/notesSlides/notesSlide2.xml" Id="Rf08c5fa43398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b6f592e1149df" /><Relationship Type="http://schemas.openxmlformats.org/officeDocument/2006/relationships/notesSlide" Target="/ppt/notesSlides/notesSlide3.xml" Id="R04b5abf5f2d247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0f7a4eb074ab4" /><Relationship Type="http://schemas.openxmlformats.org/officeDocument/2006/relationships/notesSlide" Target="/ppt/notesSlides/notesSlide4.xml" Id="Rb206ee701b34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20192105645f6" /><Relationship Type="http://schemas.openxmlformats.org/officeDocument/2006/relationships/notesSlide" Target="/ppt/notesSlides/notesSlide5.xml" Id="R7f6e296e1b1044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8d7e331d4452a" /><Relationship Type="http://schemas.openxmlformats.org/officeDocument/2006/relationships/notesSlide" Target="/ppt/notesSlides/notesSlide6.xml" Id="R69fda5aab22f4c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7a24b152e4bb9" /><Relationship Type="http://schemas.openxmlformats.org/officeDocument/2006/relationships/notesSlide" Target="/ppt/notesSlides/notesSlide7.xml" Id="R8012e8bae3c9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0c72c0b64314" /><Relationship Type="http://schemas.openxmlformats.org/officeDocument/2006/relationships/notesSlide" Target="/ppt/notesSlides/notesSlide8.xml" Id="R1f14042a63814d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83861a19d45f8" /><Relationship Type="http://schemas.openxmlformats.org/officeDocument/2006/relationships/notesSlide" Target="/ppt/notesSlides/notesSlide9.xml" Id="R765ae963aca341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INTERNAL EQUITY OPERATIONS · 内部股权运营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 reliable post-trade workflow for booking executed equity trades, updating positions, and valuing unrealized P&amp;L.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用于记录已执行股票交易、更新持仓并计算未实现盈亏的可靠内部工作流。</a:t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  →  BOOK  →  POSITION  →  VALUE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27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2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入账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估值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DEPLOYED &amp; SOURCE-VERIFIED · 已部署并经源码核验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TradeFlow · Equity Trade Booking Engine · 2026-07-29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 begins after execution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TradeFlow 从成交完成之后开始</a:t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Execution happens elsewhere.</a:t>
            </a:r>
          </a:p>
          <a:p xmlns:a="http://schemas.openxmlformats.org/drawingml/2006/main">
            <a:pPr algn="l">
              <a:defRPr sz="2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 starts with a confirmed trade.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交易在外部完成；TradeFlow 接收已经成交的交易信息。</a:t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NOT AN EXECUTION VENUE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buy/sell order execution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不执行买卖订单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Receive executed trade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接收成交信息</a:t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Validate and record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验证数据并记录交易</a:t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Update positions and unrealized P&amp;L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更新持仓与未实现盈亏</a:t>
            </a:r>
          </a:p>
        </p:txBody>
      </p:sp>
      <p:cxnSp>
        <p:nvCxnSpPr>
          <p:cNvPr id="39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deployed app + repository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-en">
            <a:extLst xmlns:a="http://schemas.openxmlformats.org/drawingml/2006/main">
              <a:ext uri="{FF2B5EF4-FFF2-40B4-BE49-F238E27FC236}">
                <a16:creationId xmlns:a16="http://schemas.microsoft.com/office/drawing/2014/main" id="{40AEF6D3-26CD-4698-9729-F76241B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risks shape the design</a:t>
            </a:r>
          </a:p>
        </p:txBody>
      </p:sp>
      <p:sp>
        <p:nvSpPr>
          <p:cNvPr id="2" name="s3-title-zh">
            <a:extLst xmlns:a="http://schemas.openxmlformats.org/drawingml/2006/main">
              <a:ext uri="{FF2B5EF4-FFF2-40B4-BE49-F238E27FC236}">
                <a16:creationId xmlns:a16="http://schemas.microsoft.com/office/drawing/2014/main" id="{7093247D-0B9A-4607-95E4-BADCA64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三个关键挑战决定了系统设计</a:t>
            </a:r>
          </a:p>
        </p:txBody>
      </p:sp>
      <p:sp>
        <p:nvSpPr>
          <p:cNvPr id="3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7752C513-CB7F-404B-AEBF-2E86E7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3-col-0-accent">
            <a:extLst xmlns:a="http://schemas.openxmlformats.org/drawingml/2006/main">
              <a:ext uri="{FF2B5EF4-FFF2-40B4-BE49-F238E27FC236}">
                <a16:creationId xmlns:a16="http://schemas.microsoft.com/office/drawing/2014/main" id="{A60168F8-E869-49B1-A96E-B489349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s3-col-0-num">
            <a:extLst xmlns:a="http://schemas.openxmlformats.org/drawingml/2006/main">
              <a:ext uri="{FF2B5EF4-FFF2-40B4-BE49-F238E27FC236}">
                <a16:creationId xmlns:a16="http://schemas.microsoft.com/office/drawing/2014/main" id="{55E991CD-DACF-4265-A43E-8D096B9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-col-0-title">
            <a:extLst xmlns:a="http://schemas.openxmlformats.org/drawingml/2006/main">
              <a:ext uri="{FF2B5EF4-FFF2-40B4-BE49-F238E27FC236}">
                <a16:creationId xmlns:a16="http://schemas.microsoft.com/office/drawing/2014/main" id="{1362B3F3-4E13-4B1C-8BC5-AACD3FF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Accuracy</a:t>
            </a:r>
          </a:p>
        </p:txBody>
      </p:sp>
      <p:sp>
        <p:nvSpPr>
          <p:cNvPr id="7" name="s3-col-0-zh">
            <a:extLst xmlns:a="http://schemas.openxmlformats.org/drawingml/2006/main">
              <a:ext uri="{FF2B5EF4-FFF2-40B4-BE49-F238E27FC236}">
                <a16:creationId xmlns:a16="http://schemas.microsoft.com/office/drawing/2014/main" id="{2156A96E-820A-4CBD-BBE1-B9F61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交易准确性</a:t>
            </a:r>
          </a:p>
        </p:txBody>
      </p:sp>
      <p:sp>
        <p:nvSpPr>
          <p:cNvPr id="8" name="s3-col-0-panel">
            <a:extLst xmlns:a="http://schemas.openxmlformats.org/drawingml/2006/main">
              <a:ext uri="{FF2B5EF4-FFF2-40B4-BE49-F238E27FC236}">
                <a16:creationId xmlns:a16="http://schemas.microsoft.com/office/drawing/2014/main" id="{DA219C84-E0FA-450F-9B5E-DCCDC53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s3-col-0-bullet-0-dot">
            <a:extLst xmlns:a="http://schemas.openxmlformats.org/drawingml/2006/main">
              <a:ext uri="{FF2B5EF4-FFF2-40B4-BE49-F238E27FC236}">
                <a16:creationId xmlns:a16="http://schemas.microsoft.com/office/drawing/2014/main" id="{C39024FF-D555-421E-B406-8589755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3-col-0-bullet-0-text">
            <a:extLst xmlns:a="http://schemas.openxmlformats.org/drawingml/2006/main">
              <a:ext uri="{FF2B5EF4-FFF2-40B4-BE49-F238E27FC236}">
                <a16:creationId xmlns:a16="http://schemas.microsoft.com/office/drawing/2014/main" id="{7B9F3EFD-11FA-4269-837E-C9290FD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Incorrect quantities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错误数量</a:t>
            </a:r>
          </a:p>
        </p:txBody>
      </p:sp>
      <p:sp>
        <p:nvSpPr>
          <p:cNvPr id="11" name="s3-col-0-bullet-1-dot">
            <a:extLst xmlns:a="http://schemas.openxmlformats.org/drawingml/2006/main">
              <a:ext uri="{FF2B5EF4-FFF2-40B4-BE49-F238E27FC236}">
                <a16:creationId xmlns:a16="http://schemas.microsoft.com/office/drawing/2014/main" id="{475CEE82-0228-45D5-A09D-D4DCEC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3-col-0-bullet-1-text">
            <a:extLst xmlns:a="http://schemas.openxmlformats.org/drawingml/2006/main">
              <a:ext uri="{FF2B5EF4-FFF2-40B4-BE49-F238E27FC236}">
                <a16:creationId xmlns:a16="http://schemas.microsoft.com/office/drawing/2014/main" id="{FD9355A5-619F-4CA9-B69A-7CBA2A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Invalid prices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无效价格</a:t>
            </a:r>
          </a:p>
        </p:txBody>
      </p:sp>
      <p:sp>
        <p:nvSpPr>
          <p:cNvPr id="13" name="s3-col-0-bullet-2-dot">
            <a:extLst xmlns:a="http://schemas.openxmlformats.org/drawingml/2006/main">
              <a:ext uri="{FF2B5EF4-FFF2-40B4-BE49-F238E27FC236}">
                <a16:creationId xmlns:a16="http://schemas.microsoft.com/office/drawing/2014/main" id="{61110ECD-C9BB-47A3-8ACE-F443C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3-col-0-bullet-2-text">
            <a:extLst xmlns:a="http://schemas.openxmlformats.org/drawingml/2006/main">
              <a:ext uri="{FF2B5EF4-FFF2-40B4-BE49-F238E27FC236}">
                <a16:creationId xmlns:a16="http://schemas.microsoft.com/office/drawing/2014/main" id="{4246E302-D610-4BA7-B266-BAA673C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Inconsistent records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记录不一致</a:t>
            </a:r>
          </a:p>
        </p:txBody>
      </p:sp>
      <p:sp>
        <p:nvSpPr>
          <p:cNvPr id="15" name="s3-col-1-accent">
            <a:extLst xmlns:a="http://schemas.openxmlformats.org/drawingml/2006/main">
              <a:ext uri="{FF2B5EF4-FFF2-40B4-BE49-F238E27FC236}">
                <a16:creationId xmlns:a16="http://schemas.microsoft.com/office/drawing/2014/main" id="{CC5A9F8B-132F-4895-BD82-3A03B19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6" name="s3-col-1-num">
            <a:extLst xmlns:a="http://schemas.openxmlformats.org/drawingml/2006/main">
              <a:ext uri="{FF2B5EF4-FFF2-40B4-BE49-F238E27FC236}">
                <a16:creationId xmlns:a16="http://schemas.microsoft.com/office/drawing/2014/main" id="{02FFE8D2-9DDC-476F-9195-2D7A0A3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61240DE3-A08C-4EB2-B8DE-E3FD39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Real-Time Visibility</a:t>
            </a:r>
          </a:p>
        </p:txBody>
      </p:sp>
      <p:sp>
        <p:nvSpPr>
          <p:cNvPr id="18" name="s3-col-1-zh">
            <a:extLst xmlns:a="http://schemas.openxmlformats.org/drawingml/2006/main">
              <a:ext uri="{FF2B5EF4-FFF2-40B4-BE49-F238E27FC236}">
                <a16:creationId xmlns:a16="http://schemas.microsoft.com/office/drawing/2014/main" id="{F84A6070-BAAA-40EF-A627-7FB911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实时可见性</a:t>
            </a:r>
          </a:p>
        </p:txBody>
      </p:sp>
      <p:sp>
        <p:nvSpPr>
          <p:cNvPr id="19" name="s3-col-1-panel">
            <a:extLst xmlns:a="http://schemas.openxmlformats.org/drawingml/2006/main">
              <a:ext uri="{FF2B5EF4-FFF2-40B4-BE49-F238E27FC236}">
                <a16:creationId xmlns:a16="http://schemas.microsoft.com/office/drawing/2014/main" id="{8244CDAC-8DC6-4100-8F33-CDEB8E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s3-col-1-bullet-0-dot">
            <a:extLst xmlns:a="http://schemas.openxmlformats.org/drawingml/2006/main">
              <a:ext uri="{FF2B5EF4-FFF2-40B4-BE49-F238E27FC236}">
                <a16:creationId xmlns:a16="http://schemas.microsoft.com/office/drawing/2014/main" id="{E7624E89-80C6-4B0F-A27E-DBEE657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1" name="s3-col-1-bullet-0-text">
            <a:extLst xmlns:a="http://schemas.openxmlformats.org/drawingml/2006/main">
              <a:ext uri="{FF2B5EF4-FFF2-40B4-BE49-F238E27FC236}">
                <a16:creationId xmlns:a16="http://schemas.microsoft.com/office/drawing/2014/main" id="{E2784A7F-2206-4384-997D-CB1767F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Current positions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当前持仓</a:t>
            </a:r>
          </a:p>
        </p:txBody>
      </p:sp>
      <p:sp>
        <p:nvSpPr>
          <p:cNvPr id="22" name="s3-col-1-bullet-1-dot">
            <a:extLst xmlns:a="http://schemas.openxmlformats.org/drawingml/2006/main">
              <a:ext uri="{FF2B5EF4-FFF2-40B4-BE49-F238E27FC236}">
                <a16:creationId xmlns:a16="http://schemas.microsoft.com/office/drawing/2014/main" id="{CBBAA586-5F80-4E78-AD4D-4964E25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3" name="s3-col-1-bullet-1-text">
            <a:extLst xmlns:a="http://schemas.openxmlformats.org/drawingml/2006/main">
              <a:ext uri="{FF2B5EF4-FFF2-40B4-BE49-F238E27FC236}">
                <a16:creationId xmlns:a16="http://schemas.microsoft.com/office/drawing/2014/main" id="{680B44EE-B150-4175-BC65-77F9FCD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Portfolio value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投资组合价值</a:t>
            </a:r>
          </a:p>
        </p:txBody>
      </p:sp>
      <p:sp>
        <p:nvSpPr>
          <p:cNvPr id="24" name="s3-col-1-bullet-2-dot">
            <a:extLst xmlns:a="http://schemas.openxmlformats.org/drawingml/2006/main">
              <a:ext uri="{FF2B5EF4-FFF2-40B4-BE49-F238E27FC236}">
                <a16:creationId xmlns:a16="http://schemas.microsoft.com/office/drawing/2014/main" id="{D4F29C3E-C5E8-4524-B8FF-BAC6624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5" name="s3-col-1-bullet-2-text">
            <a:extLst xmlns:a="http://schemas.openxmlformats.org/drawingml/2006/main">
              <a:ext uri="{FF2B5EF4-FFF2-40B4-BE49-F238E27FC236}">
                <a16:creationId xmlns:a16="http://schemas.microsoft.com/office/drawing/2014/main" id="{3840968C-98BB-465D-B0EC-A5B7CAA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Unrealized P&amp;L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未实现盈亏</a:t>
            </a:r>
          </a:p>
        </p:txBody>
      </p:sp>
      <p:sp>
        <p:nvSpPr>
          <p:cNvPr id="26" name="s3-col-2-accent">
            <a:extLst xmlns:a="http://schemas.openxmlformats.org/drawingml/2006/main">
              <a:ext uri="{FF2B5EF4-FFF2-40B4-BE49-F238E27FC236}">
                <a16:creationId xmlns:a16="http://schemas.microsoft.com/office/drawing/2014/main" id="{54A651B3-597A-40D0-9477-9F5A605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s3-col-2-num">
            <a:extLst xmlns:a="http://schemas.openxmlformats.org/drawingml/2006/main">
              <a:ext uri="{FF2B5EF4-FFF2-40B4-BE49-F238E27FC236}">
                <a16:creationId xmlns:a16="http://schemas.microsoft.com/office/drawing/2014/main" id="{4FA438B2-0E46-4144-AC95-E5155D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8CBD4AD1-6E98-455F-A70B-87DC4BA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External Dependency</a:t>
            </a:r>
          </a:p>
        </p:txBody>
      </p:sp>
      <p:sp>
        <p:nvSpPr>
          <p:cNvPr id="29" name="s3-col-2-zh">
            <a:extLst xmlns:a="http://schemas.openxmlformats.org/drawingml/2006/main">
              <a:ext uri="{FF2B5EF4-FFF2-40B4-BE49-F238E27FC236}">
                <a16:creationId xmlns:a16="http://schemas.microsoft.com/office/drawing/2014/main" id="{FDB2ED1A-16B1-4BE1-AAA3-319D0FD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外部依赖</a:t>
            </a:r>
          </a:p>
        </p:txBody>
      </p:sp>
      <p:sp>
        <p:nvSpPr>
          <p:cNvPr id="30" name="s3-col-2-panel">
            <a:extLst xmlns:a="http://schemas.openxmlformats.org/drawingml/2006/main">
              <a:ext uri="{FF2B5EF4-FFF2-40B4-BE49-F238E27FC236}">
                <a16:creationId xmlns:a16="http://schemas.microsoft.com/office/drawing/2014/main" id="{24D9CDDE-D9EA-4F91-B9C5-E65DD2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1" name="s3-col-2-bullet-0-dot">
            <a:extLst xmlns:a="http://schemas.openxmlformats.org/drawingml/2006/main">
              <a:ext uri="{FF2B5EF4-FFF2-40B4-BE49-F238E27FC236}">
                <a16:creationId xmlns:a16="http://schemas.microsoft.com/office/drawing/2014/main" id="{7C72FE32-89BA-42F1-8951-2120CE4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s3-col-2-bullet-0-text">
            <a:extLst xmlns:a="http://schemas.openxmlformats.org/drawingml/2006/main">
              <a:ext uri="{FF2B5EF4-FFF2-40B4-BE49-F238E27FC236}">
                <a16:creationId xmlns:a16="http://schemas.microsoft.com/office/drawing/2014/main" id="{9323CB3B-24A7-4F13-974F-C7EAE37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API rate limits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API 速率限制</a:t>
            </a:r>
          </a:p>
        </p:txBody>
      </p:sp>
      <p:sp>
        <p:nvSpPr>
          <p:cNvPr id="33" name="s3-col-2-bullet-1-dot">
            <a:extLst xmlns:a="http://schemas.openxmlformats.org/drawingml/2006/main">
              <a:ext uri="{FF2B5EF4-FFF2-40B4-BE49-F238E27FC236}">
                <a16:creationId xmlns:a16="http://schemas.microsoft.com/office/drawing/2014/main" id="{EBA847F9-A01D-4A37-9A55-F3C48F0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s3-col-2-bullet-1-text">
            <a:extLst xmlns:a="http://schemas.openxmlformats.org/drawingml/2006/main">
              <a:ext uri="{FF2B5EF4-FFF2-40B4-BE49-F238E27FC236}">
                <a16:creationId xmlns:a16="http://schemas.microsoft.com/office/drawing/2014/main" id="{6EEF73C4-CBF4-4014-BB9E-3D98B4D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Timeouts &amp; outages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超时与中断</a:t>
            </a:r>
          </a:p>
        </p:txBody>
      </p:sp>
      <p:sp>
        <p:nvSpPr>
          <p:cNvPr id="35" name="s3-col-2-bullet-2-dot">
            <a:extLst xmlns:a="http://schemas.openxmlformats.org/drawingml/2006/main">
              <a:ext uri="{FF2B5EF4-FFF2-40B4-BE49-F238E27FC236}">
                <a16:creationId xmlns:a16="http://schemas.microsoft.com/office/drawing/2014/main" id="{43C93D22-A7F8-4D01-9053-1A16ACC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s3-col-2-bullet-2-text">
            <a:extLst xmlns:a="http://schemas.openxmlformats.org/drawingml/2006/main">
              <a:ext uri="{FF2B5EF4-FFF2-40B4-BE49-F238E27FC236}">
                <a16:creationId xmlns:a16="http://schemas.microsoft.com/office/drawing/2014/main" id="{654FEA71-C07F-4DBE-97AF-BE0C72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Safe fallback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安全降级</a:t>
            </a:r>
          </a:p>
        </p:txBody>
      </p:sp>
      <p:sp>
        <p:nvSpPr>
          <p:cNvPr id="37" name="s3-summary-band">
            <a:extLst xmlns:a="http://schemas.openxmlformats.org/drawingml/2006/main">
              <a:ext uri="{FF2B5EF4-FFF2-40B4-BE49-F238E27FC236}">
                <a16:creationId xmlns:a16="http://schemas.microsoft.com/office/drawing/2014/main" id="{AB9A3213-BF31-42FF-B60E-A8D3B4D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823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8" name="s3-summary">
            <a:extLst xmlns:a="http://schemas.openxmlformats.org/drawingml/2006/main">
              <a:ext uri="{FF2B5EF4-FFF2-40B4-BE49-F238E27FC236}">
                <a16:creationId xmlns:a16="http://schemas.microsoft.com/office/drawing/2014/main" id="{E408EDDD-D08E-4FBA-9645-4342B20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trade-data error can change positions and profit calculations.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交易信息中的一个小错误，就可能影响持仓与利润计算。</a:t>
            </a:r>
          </a:p>
        </p:txBody>
      </p:sp>
      <p:sp>
        <p:nvSpPr>
          <p:cNvPr id="39" name="s3-footer-note">
            <a:extLst xmlns:a="http://schemas.openxmlformats.org/drawingml/2006/main">
              <a:ext uri="{FF2B5EF4-FFF2-40B4-BE49-F238E27FC236}">
                <a16:creationId xmlns:a16="http://schemas.microsoft.com/office/drawing/2014/main" id="{3AD51EDC-F567-432E-A2C1-45DF2C2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 priorities: accuracy · consistency · reliability</a:t>
            </a:r>
          </a:p>
        </p:txBody>
      </p:sp>
      <p:sp>
        <p:nvSpPr>
          <p:cNvPr id="40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9490472-8F8D-4B72-83DF-A73230F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72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-en">
            <a:extLst xmlns:a="http://schemas.openxmlformats.org/drawingml/2006/main">
              <a:ext uri="{FF2B5EF4-FFF2-40B4-BE49-F238E27FC236}">
                <a16:creationId xmlns:a16="http://schemas.microsoft.com/office/drawing/2014/main" id="{910B5F1A-6282-419F-9231-A5E54BE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 is the booking gate</a:t>
            </a:r>
          </a:p>
        </p:txBody>
      </p:sp>
      <p:sp>
        <p:nvSpPr>
          <p:cNvPr id="2" name="s4-title-zh">
            <a:extLst xmlns:a="http://schemas.openxmlformats.org/drawingml/2006/main">
              <a:ext uri="{FF2B5EF4-FFF2-40B4-BE49-F238E27FC236}">
                <a16:creationId xmlns:a16="http://schemas.microsoft.com/office/drawing/2014/main" id="{893EC3CE-1413-416A-AE58-9D68195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每一笔交易必须先通过校验，才能影响持仓与盈亏</a:t>
            </a:r>
          </a:p>
        </p:txBody>
      </p:sp>
      <p:sp>
        <p:nvSpPr>
          <p:cNvPr id="3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1817B029-F438-4B62-82A4-E4F8AC6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4-trader-box">
            <a:extLst xmlns:a="http://schemas.openxmlformats.org/drawingml/2006/main">
              <a:ext uri="{FF2B5EF4-FFF2-40B4-BE49-F238E27FC236}">
                <a16:creationId xmlns:a16="http://schemas.microsoft.com/office/drawing/2014/main" id="{FD532894-C38A-43E9-9EE2-D20C346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s4-trader-en">
            <a:extLst xmlns:a="http://schemas.openxmlformats.org/drawingml/2006/main">
              <a:ext uri="{FF2B5EF4-FFF2-40B4-BE49-F238E27FC236}">
                <a16:creationId xmlns:a16="http://schemas.microsoft.com/office/drawing/2014/main" id="{E2F08343-17E2-4CF9-9BC2-A598165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Trader</a:t>
            </a:r>
          </a:p>
        </p:txBody>
      </p:sp>
      <p:sp>
        <p:nvSpPr>
          <p:cNvPr id="6" name="s4-trader-zh">
            <a:extLst xmlns:a="http://schemas.openxmlformats.org/drawingml/2006/main">
              <a:ext uri="{FF2B5EF4-FFF2-40B4-BE49-F238E27FC236}">
                <a16:creationId xmlns:a16="http://schemas.microsoft.com/office/drawing/2014/main" id="{91A03863-2B27-469B-8A10-F43AC1F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03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交易员</a:t>
            </a:r>
          </a:p>
        </p:txBody>
      </p:sp>
      <p:sp>
        <p:nvSpPr>
          <p:cNvPr id="7" name="s4-entry-box">
            <a:extLst xmlns:a="http://schemas.openxmlformats.org/drawingml/2006/main">
              <a:ext uri="{FF2B5EF4-FFF2-40B4-BE49-F238E27FC236}">
                <a16:creationId xmlns:a16="http://schemas.microsoft.com/office/drawing/2014/main" id="{7FBC287D-D8F5-4313-B4B3-03D5E1C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4-entry-en">
            <a:extLst xmlns:a="http://schemas.openxmlformats.org/drawingml/2006/main">
              <a:ext uri="{FF2B5EF4-FFF2-40B4-BE49-F238E27FC236}">
                <a16:creationId xmlns:a16="http://schemas.microsoft.com/office/drawing/2014/main" id="{123AA2E1-513C-4F6F-8FBA-CC179F3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Entry UI</a:t>
            </a:r>
          </a:p>
        </p:txBody>
      </p:sp>
      <p:sp>
        <p:nvSpPr>
          <p:cNvPr id="9" name="s4-entry-zh">
            <a:extLst xmlns:a="http://schemas.openxmlformats.org/drawingml/2006/main">
              <a:ext uri="{FF2B5EF4-FFF2-40B4-BE49-F238E27FC236}">
                <a16:creationId xmlns:a16="http://schemas.microsoft.com/office/drawing/2014/main" id="{64C2BAC9-B924-41C4-A7BA-5D2F870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交易录入</a:t>
            </a:r>
          </a:p>
        </p:txBody>
      </p:sp>
      <p:sp>
        <p:nvSpPr>
          <p:cNvPr id="10" name="s4-validate-box">
            <a:extLst xmlns:a="http://schemas.openxmlformats.org/drawingml/2006/main">
              <a:ext uri="{FF2B5EF4-FFF2-40B4-BE49-F238E27FC236}">
                <a16:creationId xmlns:a16="http://schemas.microsoft.com/office/drawing/2014/main" id="{716BD700-2C2F-470D-84D6-832B82A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s4-validate-en">
            <a:extLst xmlns:a="http://schemas.openxmlformats.org/drawingml/2006/main">
              <a:ext uri="{FF2B5EF4-FFF2-40B4-BE49-F238E27FC236}">
                <a16:creationId xmlns:a16="http://schemas.microsoft.com/office/drawing/2014/main" id="{6AE22590-1F83-4CEB-97DD-898F24F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s4-validate-zh">
            <a:extLst xmlns:a="http://schemas.openxmlformats.org/drawingml/2006/main">
              <a:ext uri="{FF2B5EF4-FFF2-40B4-BE49-F238E27FC236}">
                <a16:creationId xmlns:a16="http://schemas.microsoft.com/office/drawing/2014/main" id="{B5944BCA-CB80-421F-A1D4-18B3B81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校验服务</a:t>
            </a:r>
          </a:p>
        </p:txBody>
      </p:sp>
      <p:sp>
        <p:nvSpPr>
          <p:cNvPr id="13" name="s4-booked-box">
            <a:extLst xmlns:a="http://schemas.openxmlformats.org/drawingml/2006/main">
              <a:ext uri="{FF2B5EF4-FFF2-40B4-BE49-F238E27FC236}">
                <a16:creationId xmlns:a16="http://schemas.microsoft.com/office/drawing/2014/main" id="{76DB1200-F94A-48BA-A092-B639F16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05025"/>
            <a:ext cx="1200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s4-booked-en">
            <a:extLst xmlns:a="http://schemas.openxmlformats.org/drawingml/2006/main">
              <a:ext uri="{FF2B5EF4-FFF2-40B4-BE49-F238E27FC236}">
                <a16:creationId xmlns:a16="http://schemas.microsoft.com/office/drawing/2014/main" id="{14653315-4B07-42D2-AD82-42F5804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BOOKED</a:t>
            </a:r>
          </a:p>
        </p:txBody>
      </p:sp>
      <p:sp>
        <p:nvSpPr>
          <p:cNvPr id="15" name="s4-booked-zh">
            <a:extLst xmlns:a="http://schemas.openxmlformats.org/drawingml/2006/main">
              <a:ext uri="{FF2B5EF4-FFF2-40B4-BE49-F238E27FC236}">
                <a16:creationId xmlns:a16="http://schemas.microsoft.com/office/drawing/2014/main" id="{A60270BF-088F-45E8-B719-8693EA8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86025"/>
            <a:ext cx="100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已入账</a:t>
            </a:r>
          </a:p>
        </p:txBody>
      </p:sp>
      <p:sp>
        <p:nvSpPr>
          <p:cNvPr id="16" name="s4-db-box">
            <a:extLst xmlns:a="http://schemas.openxmlformats.org/drawingml/2006/main">
              <a:ext uri="{FF2B5EF4-FFF2-40B4-BE49-F238E27FC236}">
                <a16:creationId xmlns:a16="http://schemas.microsoft.com/office/drawing/2014/main" id="{7A1FC1B1-CC4D-4D9D-BF6F-1DA802C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s4-db-en">
            <a:extLst xmlns:a="http://schemas.openxmlformats.org/drawingml/2006/main">
              <a:ext uri="{FF2B5EF4-FFF2-40B4-BE49-F238E27FC236}">
                <a16:creationId xmlns:a16="http://schemas.microsoft.com/office/drawing/2014/main" id="{977C5066-ABA6-481E-BD2E-90FF239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 Ledger</a:t>
            </a:r>
          </a:p>
        </p:txBody>
      </p:sp>
      <p:sp>
        <p:nvSpPr>
          <p:cNvPr id="18" name="s4-db-zh">
            <a:extLst xmlns:a="http://schemas.openxmlformats.org/drawingml/2006/main">
              <a:ext uri="{FF2B5EF4-FFF2-40B4-BE49-F238E27FC236}">
                <a16:creationId xmlns:a16="http://schemas.microsoft.com/office/drawing/2014/main" id="{9BE69C73-B1DB-4759-B732-53517F5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交易数据库</a:t>
            </a:r>
          </a:p>
        </p:txBody>
      </p:sp>
      <p:sp>
        <p:nvSpPr>
          <p:cNvPr id="19" name="s4-pos-box">
            <a:extLst xmlns:a="http://schemas.openxmlformats.org/drawingml/2006/main">
              <a:ext uri="{FF2B5EF4-FFF2-40B4-BE49-F238E27FC236}">
                <a16:creationId xmlns:a16="http://schemas.microsoft.com/office/drawing/2014/main" id="{0938E096-E2DB-4141-BE88-498B0E4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s4-pos-en">
            <a:extLst xmlns:a="http://schemas.openxmlformats.org/drawingml/2006/main">
              <a:ext uri="{FF2B5EF4-FFF2-40B4-BE49-F238E27FC236}">
                <a16:creationId xmlns:a16="http://schemas.microsoft.com/office/drawing/2014/main" id="{971FB43E-7CC3-4B23-BA48-0ABCF79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666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 Engine</a:t>
            </a:r>
          </a:p>
        </p:txBody>
      </p:sp>
      <p:sp>
        <p:nvSpPr>
          <p:cNvPr id="21" name="s4-pos-zh">
            <a:extLst xmlns:a="http://schemas.openxmlformats.org/drawingml/2006/main">
              <a:ext uri="{FF2B5EF4-FFF2-40B4-BE49-F238E27FC236}">
                <a16:creationId xmlns:a16="http://schemas.microsoft.com/office/drawing/2014/main" id="{CF8B65CF-59E5-4592-A113-2755F9C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持仓引擎</a:t>
            </a:r>
          </a:p>
        </p:txBody>
      </p:sp>
      <p:sp>
        <p:nvSpPr>
          <p:cNvPr id="22" name="s4-pnl-box">
            <a:extLst xmlns:a="http://schemas.openxmlformats.org/drawingml/2006/main">
              <a:ext uri="{FF2B5EF4-FFF2-40B4-BE49-F238E27FC236}">
                <a16:creationId xmlns:a16="http://schemas.microsoft.com/office/drawing/2014/main" id="{F9BF8DE2-D4A1-4B21-AAE9-A2CEB1A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05025"/>
            <a:ext cx="144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3" name="s4-pnl-en">
            <a:extLst xmlns:a="http://schemas.openxmlformats.org/drawingml/2006/main">
              <a:ext uri="{FF2B5EF4-FFF2-40B4-BE49-F238E27FC236}">
                <a16:creationId xmlns:a16="http://schemas.microsoft.com/office/drawing/2014/main" id="{1F26A194-B8AF-4318-B0E2-A16900E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1932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P&amp;L Calculation</a:t>
            </a:r>
          </a:p>
        </p:txBody>
      </p:sp>
      <p:sp>
        <p:nvSpPr>
          <p:cNvPr id="24" name="s4-pnl-zh">
            <a:extLst xmlns:a="http://schemas.openxmlformats.org/drawingml/2006/main">
              <a:ext uri="{FF2B5EF4-FFF2-40B4-BE49-F238E27FC236}">
                <a16:creationId xmlns:a16="http://schemas.microsoft.com/office/drawing/2014/main" id="{578F1200-6FA1-46EB-8F3E-5B9A096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8602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>盈亏计算</a:t>
            </a:r>
          </a:p>
        </p:txBody>
      </p:sp>
      <p:cxnSp>
        <p:nvCxnSpPr>
          <p:cNvPr id="6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4668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9900" y="26098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81525" y="26098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91250" y="2609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4860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678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s4-valid-label">
            <a:extLst xmlns:a="http://schemas.openxmlformats.org/drawingml/2006/main">
              <a:ext uri="{FF2B5EF4-FFF2-40B4-BE49-F238E27FC236}">
                <a16:creationId xmlns:a16="http://schemas.microsoft.com/office/drawing/2014/main" id="{148FCC9A-0568-4E05-A170-662B7C3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VALID / 有效</a:t>
            </a:r>
          </a:p>
        </p:txBody>
      </p:sp>
      <p:sp>
        <p:nvSpPr>
          <p:cNvPr id="32" name="s4-invalid-box">
            <a:extLst xmlns:a="http://schemas.openxmlformats.org/drawingml/2006/main">
              <a:ext uri="{FF2B5EF4-FFF2-40B4-BE49-F238E27FC236}">
                <a16:creationId xmlns:a16="http://schemas.microsoft.com/office/drawing/2014/main" id="{9A600897-A7D7-414D-A6F5-6BD1FB9A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343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33" name="s4-invalid-en">
            <a:extLst xmlns:a="http://schemas.openxmlformats.org/drawingml/2006/main">
              <a:ext uri="{FF2B5EF4-FFF2-40B4-BE49-F238E27FC236}">
                <a16:creationId xmlns:a16="http://schemas.microsoft.com/office/drawing/2014/main" id="{451D68CE-6144-4439-BCB6-4965C8E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83516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Validation error — request rejected</a:t>
            </a:r>
          </a:p>
        </p:txBody>
      </p:sp>
      <p:sp>
        <p:nvSpPr>
          <p:cNvPr id="34" name="s4-invalid-zh">
            <a:extLst xmlns:a="http://schemas.openxmlformats.org/drawingml/2006/main">
              <a:ext uri="{FF2B5EF4-FFF2-40B4-BE49-F238E27FC236}">
                <a16:creationId xmlns:a16="http://schemas.microsoft.com/office/drawing/2014/main" id="{DFCC911E-788C-4A57-A6DE-3C55D70B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校验失败——请求被拒绝</a:t>
            </a:r>
          </a:p>
        </p:txBody>
      </p:sp>
      <p:cxnSp>
        <p:nvCxnSpPr>
          <p:cNvPr id="75" name=""/>
          <p:cNvCxnSpPr>
            <a:stCxn xmlns:a="http://schemas.openxmlformats.org/drawingml/2006/main" id="10" idx="2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219450" y="3114675"/>
            <a:ext cx="1524000" cy="120967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91C1C"/>
            </a:solidFill>
            <a:prstDash val="dash"/>
            <a:tailEnd type="triangle" w="med" len="med"/>
          </a:ln>
        </p:spPr>
      </p:cxnSp>
      <p:sp>
        <p:nvSpPr>
          <p:cNvPr id="36" name="s4-invalid-label">
            <a:extLst xmlns:a="http://schemas.openxmlformats.org/drawingml/2006/main">
              <a:ext uri="{FF2B5EF4-FFF2-40B4-BE49-F238E27FC236}">
                <a16:creationId xmlns:a16="http://schemas.microsoft.com/office/drawing/2014/main" id="{AE7C67EF-113B-483D-B7D0-25B1A76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INVALID / 无效</a:t>
            </a:r>
          </a:p>
        </p:txBody>
      </p:sp>
      <p:sp>
        <p:nvSpPr>
          <p:cNvPr id="37" name="s4-rule-panel">
            <a:extLst xmlns:a="http://schemas.openxmlformats.org/drawingml/2006/main">
              <a:ext uri="{FF2B5EF4-FFF2-40B4-BE49-F238E27FC236}">
                <a16:creationId xmlns:a16="http://schemas.microsoft.com/office/drawing/2014/main" id="{A800871B-8345-460F-B5D1-BAE0C48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3752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s4-rule-text">
            <a:extLst xmlns:a="http://schemas.openxmlformats.org/drawingml/2006/main">
              <a:ext uri="{FF2B5EF4-FFF2-40B4-BE49-F238E27FC236}">
                <a16:creationId xmlns:a16="http://schemas.microsoft.com/office/drawing/2014/main" id="{4D09CF6C-1818-4240-B7C1-56F04F7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Only BOOKED trades are replayed into positions and P&amp;L.</a:t>
            </a:r>
          </a:p>
          <a:p xmlns:a="http://schemas.openxmlformats.org/drawingml/2006/main">
            <a:pPr algn="l"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只有 BOOKED 交易会进入持仓与盈亏计算。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Invalid requests are not persisted as REJECTED trades.</a:t>
            </a:r>
          </a:p>
          <a:p xmlns:a="http://schemas.openxmlformats.org/drawingml/2006/main">
            <a:pPr algn="l"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无效请求不会以 REJECTED 状态持久化。</a:t>
            </a:r>
          </a:p>
        </p:txBody>
      </p:sp>
      <p:sp>
        <p:nvSpPr>
          <p:cNvPr id="39" name="s4-footer-note">
            <a:extLst xmlns:a="http://schemas.openxmlformats.org/drawingml/2006/main">
              <a:ext uri="{FF2B5EF4-FFF2-40B4-BE49-F238E27FC236}">
                <a16:creationId xmlns:a16="http://schemas.microsoft.com/office/drawing/2014/main" id="{A9C187F6-6B42-4499-9560-647821B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Persisted trade status: BOOKED / CANCELLED</a:t>
            </a:r>
          </a:p>
        </p:txBody>
      </p:sp>
      <p:sp>
        <p:nvSpPr>
          <p:cNvPr id="40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D51DE7C5-546A-4EDD-B1A0-C8D770D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415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-en">
            <a:extLst xmlns:a="http://schemas.openxmlformats.org/drawingml/2006/main">
              <a:ext uri="{FF2B5EF4-FFF2-40B4-BE49-F238E27FC236}">
                <a16:creationId xmlns:a16="http://schemas.microsoft.com/office/drawing/2014/main" id="{59A25792-A80A-4007-97E6-2978236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modular monolith keeps the workflow coherent</a:t>
            </a:r>
          </a:p>
        </p:txBody>
      </p:sp>
      <p:sp>
        <p:nvSpPr>
          <p:cNvPr id="2" name="s5-title-zh">
            <a:extLst xmlns:a="http://schemas.openxmlformats.org/drawingml/2006/main">
              <a:ext uri="{FF2B5EF4-FFF2-40B4-BE49-F238E27FC236}">
                <a16:creationId xmlns:a16="http://schemas.microsoft.com/office/drawing/2014/main" id="{D2E1F51B-F0A0-4EBD-BBD1-0041A53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模块化单体架构让交易、持仓与估值保持一致</a:t>
            </a:r>
          </a:p>
        </p:txBody>
      </p:sp>
      <p:sp>
        <p:nvSpPr>
          <p:cNvPr id="3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E19C4680-95F8-4D3C-A869-4682A85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5-frontend-box">
            <a:extLst xmlns:a="http://schemas.openxmlformats.org/drawingml/2006/main">
              <a:ext uri="{FF2B5EF4-FFF2-40B4-BE49-F238E27FC236}">
                <a16:creationId xmlns:a16="http://schemas.microsoft.com/office/drawing/2014/main" id="{FE4CE10B-15BF-4D6B-BD7C-AB12431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5" name="s5-frontend-en">
            <a:extLst xmlns:a="http://schemas.openxmlformats.org/drawingml/2006/main">
              <a:ext uri="{FF2B5EF4-FFF2-40B4-BE49-F238E27FC236}">
                <a16:creationId xmlns:a16="http://schemas.microsoft.com/office/drawing/2014/main" id="{91DF06B7-5656-4D1D-A954-2CE6146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Trade Console</a:t>
            </a:r>
          </a:p>
        </p:txBody>
      </p:sp>
      <p:sp>
        <p:nvSpPr>
          <p:cNvPr id="6" name="s5-frontend-zh">
            <a:extLst xmlns:a="http://schemas.openxmlformats.org/drawingml/2006/main">
              <a:ext uri="{FF2B5EF4-FFF2-40B4-BE49-F238E27FC236}">
                <a16:creationId xmlns:a16="http://schemas.microsoft.com/office/drawing/2014/main" id="{03A398C2-768D-421F-ACE8-AC961D6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 交易控制台</a:t>
            </a:r>
          </a:p>
        </p:txBody>
      </p:sp>
      <p:sp>
        <p:nvSpPr>
          <p:cNvPr id="7" name="s5-api-box">
            <a:extLst xmlns:a="http://schemas.openxmlformats.org/drawingml/2006/main">
              <a:ext uri="{FF2B5EF4-FFF2-40B4-BE49-F238E27FC236}">
                <a16:creationId xmlns:a16="http://schemas.microsoft.com/office/drawing/2014/main" id="{BD475ECC-353A-453C-9FF8-941B737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267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5-api-en">
            <a:extLst xmlns:a="http://schemas.openxmlformats.org/drawingml/2006/main">
              <a:ext uri="{FF2B5EF4-FFF2-40B4-BE49-F238E27FC236}">
                <a16:creationId xmlns:a16="http://schemas.microsoft.com/office/drawing/2014/main" id="{F9C53E2B-20CF-461B-A45F-579107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REST API</a:t>
            </a:r>
          </a:p>
        </p:txBody>
      </p:sp>
      <p:sp>
        <p:nvSpPr>
          <p:cNvPr id="9" name="s5-api-zh">
            <a:extLst xmlns:a="http://schemas.openxmlformats.org/drawingml/2006/main">
              <a:ext uri="{FF2B5EF4-FFF2-40B4-BE49-F238E27FC236}">
                <a16:creationId xmlns:a16="http://schemas.microsoft.com/office/drawing/2014/main" id="{30E409B2-D719-44FC-B15E-E1A9E4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接口层</a:t>
            </a:r>
          </a:p>
        </p:txBody>
      </p:sp>
      <p:sp>
        <p:nvSpPr>
          <p:cNvPr id="10" name="s5-provider-box">
            <a:extLst xmlns:a="http://schemas.openxmlformats.org/drawingml/2006/main">
              <a:ext uri="{FF2B5EF4-FFF2-40B4-BE49-F238E27FC236}">
                <a16:creationId xmlns:a16="http://schemas.microsoft.com/office/drawing/2014/main" id="{114D6700-806C-45D3-A915-0C7A083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11" name="s5-provider-en">
            <a:extLst xmlns:a="http://schemas.openxmlformats.org/drawingml/2006/main">
              <a:ext uri="{FF2B5EF4-FFF2-40B4-BE49-F238E27FC236}">
                <a16:creationId xmlns:a16="http://schemas.microsoft.com/office/drawing/2014/main" id="{8B2EBC0F-E8C1-4859-942B-399962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Market Provider</a:t>
            </a:r>
          </a:p>
        </p:txBody>
      </p:sp>
      <p:sp>
        <p:nvSpPr>
          <p:cNvPr id="12" name="s5-provider-zh">
            <a:extLst xmlns:a="http://schemas.openxmlformats.org/drawingml/2006/main">
              <a:ext uri="{FF2B5EF4-FFF2-40B4-BE49-F238E27FC236}">
                <a16:creationId xmlns:a16="http://schemas.microsoft.com/office/drawing/2014/main" id="{DCF942EA-7569-45B5-9FDC-8F8A498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 / Mock</a:t>
            </a:r>
          </a:p>
        </p:txBody>
      </p:sp>
      <p:sp>
        <p:nvSpPr>
          <p:cNvPr id="13" name="s5-service-shell">
            <a:extLst xmlns:a="http://schemas.openxmlformats.org/drawingml/2006/main">
              <a:ext uri="{FF2B5EF4-FFF2-40B4-BE49-F238E27FC236}">
                <a16:creationId xmlns:a16="http://schemas.microsoft.com/office/drawing/2014/main" id="{B7BAAA44-6EFF-4B42-9A60-02A24B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s5-service-label">
            <a:extLst xmlns:a="http://schemas.openxmlformats.org/drawingml/2006/main">
              <a:ext uri="{FF2B5EF4-FFF2-40B4-BE49-F238E27FC236}">
                <a16:creationId xmlns:a16="http://schemas.microsoft.com/office/drawing/2014/main" id="{59F21A53-24B1-45E5-AE00-EBA7A8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651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&amp; DOMAIN SERVICES · 应用与领域服务</a:t>
            </a:r>
          </a:p>
        </p:txBody>
      </p:sp>
      <p:sp>
        <p:nvSpPr>
          <p:cNvPr id="15" name="s5-service-0-box">
            <a:extLst xmlns:a="http://schemas.openxmlformats.org/drawingml/2006/main">
              <a:ext uri="{FF2B5EF4-FFF2-40B4-BE49-F238E27FC236}">
                <a16:creationId xmlns:a16="http://schemas.microsoft.com/office/drawing/2014/main" id="{24E7F42A-AEA5-48BF-B78C-E1C642D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5-service-0-en">
            <a:extLst xmlns:a="http://schemas.openxmlformats.org/drawingml/2006/main">
              <a:ext uri="{FF2B5EF4-FFF2-40B4-BE49-F238E27FC236}">
                <a16:creationId xmlns:a16="http://schemas.microsoft.com/office/drawing/2014/main" id="{55167D51-D993-47D4-AEC5-9F7C368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</a:t>
            </a:r>
          </a:p>
        </p:txBody>
      </p:sp>
      <p:sp>
        <p:nvSpPr>
          <p:cNvPr id="17" name="s5-service-0-zh">
            <a:extLst xmlns:a="http://schemas.openxmlformats.org/drawingml/2006/main">
              <a:ext uri="{FF2B5EF4-FFF2-40B4-BE49-F238E27FC236}">
                <a16:creationId xmlns:a16="http://schemas.microsoft.com/office/drawing/2014/main" id="{156FB500-4533-42ED-81BA-41DF50B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交易服务</a:t>
            </a:r>
          </a:p>
        </p:txBody>
      </p:sp>
      <p:sp>
        <p:nvSpPr>
          <p:cNvPr id="18" name="s5-service-1-box">
            <a:extLst xmlns:a="http://schemas.openxmlformats.org/drawingml/2006/main">
              <a:ext uri="{FF2B5EF4-FFF2-40B4-BE49-F238E27FC236}">
                <a16:creationId xmlns:a16="http://schemas.microsoft.com/office/drawing/2014/main" id="{FC39CD63-BEF1-46B9-9B27-6812E60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s5-service-1-en">
            <a:extLst xmlns:a="http://schemas.openxmlformats.org/drawingml/2006/main">
              <a:ext uri="{FF2B5EF4-FFF2-40B4-BE49-F238E27FC236}">
                <a16:creationId xmlns:a16="http://schemas.microsoft.com/office/drawing/2014/main" id="{BF373813-2F25-4F26-8AF4-46B2FA8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0" name="s5-service-1-zh">
            <a:extLst xmlns:a="http://schemas.openxmlformats.org/drawingml/2006/main">
              <a:ext uri="{FF2B5EF4-FFF2-40B4-BE49-F238E27FC236}">
                <a16:creationId xmlns:a16="http://schemas.microsoft.com/office/drawing/2014/main" id="{2D4E9891-9CA5-4646-AECF-374817D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校验服务</a:t>
            </a:r>
          </a:p>
        </p:txBody>
      </p:sp>
      <p:sp>
        <p:nvSpPr>
          <p:cNvPr id="21" name="s5-service-2-box">
            <a:extLst xmlns:a="http://schemas.openxmlformats.org/drawingml/2006/main">
              <a:ext uri="{FF2B5EF4-FFF2-40B4-BE49-F238E27FC236}">
                <a16:creationId xmlns:a16="http://schemas.microsoft.com/office/drawing/2014/main" id="{68E64D5F-EC21-4BDA-BDB9-9135D06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s5-service-2-en">
            <a:extLst xmlns:a="http://schemas.openxmlformats.org/drawingml/2006/main">
              <a:ext uri="{FF2B5EF4-FFF2-40B4-BE49-F238E27FC236}">
                <a16:creationId xmlns:a16="http://schemas.microsoft.com/office/drawing/2014/main" id="{2AF3548C-4292-41A7-B86B-4134D5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23" name="s5-service-2-zh">
            <a:extLst xmlns:a="http://schemas.openxmlformats.org/drawingml/2006/main">
              <a:ext uri="{FF2B5EF4-FFF2-40B4-BE49-F238E27FC236}">
                <a16:creationId xmlns:a16="http://schemas.microsoft.com/office/drawing/2014/main" id="{1D0F80EC-177A-4B99-A287-9236A2E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持仓服务</a:t>
            </a:r>
          </a:p>
        </p:txBody>
      </p:sp>
      <p:sp>
        <p:nvSpPr>
          <p:cNvPr id="24" name="s5-service-3-box">
            <a:extLst xmlns:a="http://schemas.openxmlformats.org/drawingml/2006/main">
              <a:ext uri="{FF2B5EF4-FFF2-40B4-BE49-F238E27FC236}">
                <a16:creationId xmlns:a16="http://schemas.microsoft.com/office/drawing/2014/main" id="{73E7FDCF-5BA7-488E-8140-F7A4E25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s5-service-3-en">
            <a:extLst xmlns:a="http://schemas.openxmlformats.org/drawingml/2006/main">
              <a:ext uri="{FF2B5EF4-FFF2-40B4-BE49-F238E27FC236}">
                <a16:creationId xmlns:a16="http://schemas.microsoft.com/office/drawing/2014/main" id="{ABA8EA58-1617-4088-ABB0-85F4DF9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P&amp;L</a:t>
            </a:r>
          </a:p>
        </p:txBody>
      </p:sp>
      <p:sp>
        <p:nvSpPr>
          <p:cNvPr id="26" name="s5-service-3-zh">
            <a:extLst xmlns:a="http://schemas.openxmlformats.org/drawingml/2006/main">
              <a:ext uri="{FF2B5EF4-FFF2-40B4-BE49-F238E27FC236}">
                <a16:creationId xmlns:a16="http://schemas.microsoft.com/office/drawing/2014/main" id="{FE8548D5-8265-450A-BD01-4733CA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盈亏服务</a:t>
            </a:r>
          </a:p>
        </p:txBody>
      </p:sp>
      <p:sp>
        <p:nvSpPr>
          <p:cNvPr id="27" name="s5-mysql-box">
            <a:extLst xmlns:a="http://schemas.openxmlformats.org/drawingml/2006/main">
              <a:ext uri="{FF2B5EF4-FFF2-40B4-BE49-F238E27FC236}">
                <a16:creationId xmlns:a16="http://schemas.microsoft.com/office/drawing/2014/main" id="{9C644367-51E7-4959-800E-4D9ADC1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28" name="s5-mysql-en">
            <a:extLst xmlns:a="http://schemas.openxmlformats.org/drawingml/2006/main">
              <a:ext uri="{FF2B5EF4-FFF2-40B4-BE49-F238E27FC236}">
                <a16:creationId xmlns:a16="http://schemas.microsoft.com/office/drawing/2014/main" id="{8432874D-B1E8-4F8B-AACE-CBAB5F9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+ Flyway</a:t>
            </a:r>
          </a:p>
        </p:txBody>
      </p:sp>
      <p:sp>
        <p:nvSpPr>
          <p:cNvPr id="29" name="s5-mysql-zh">
            <a:extLst xmlns:a="http://schemas.openxmlformats.org/drawingml/2006/main">
              <a:ext uri="{FF2B5EF4-FFF2-40B4-BE49-F238E27FC236}">
                <a16:creationId xmlns:a16="http://schemas.microsoft.com/office/drawing/2014/main" id="{C2E445B3-89F8-40BE-AF99-F7B5082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系统记录：账户、交易、估值快照</a:t>
            </a:r>
          </a:p>
        </p:txBody>
      </p:sp>
      <p:sp>
        <p:nvSpPr>
          <p:cNvPr id="30" name="s5-redis-box">
            <a:extLst xmlns:a="http://schemas.openxmlformats.org/drawingml/2006/main">
              <a:ext uri="{FF2B5EF4-FFF2-40B4-BE49-F238E27FC236}">
                <a16:creationId xmlns:a16="http://schemas.microsoft.com/office/drawing/2014/main" id="{9AA959F3-2F7E-49A7-8693-DFE78BC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31" name="s5-redis-en">
            <a:extLst xmlns:a="http://schemas.openxmlformats.org/drawingml/2006/main">
              <a:ext uri="{FF2B5EF4-FFF2-40B4-BE49-F238E27FC236}">
                <a16:creationId xmlns:a16="http://schemas.microsoft.com/office/drawing/2014/main" id="{EDB955F3-CDB0-40C2-894B-E0B91C0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Quote Cache</a:t>
            </a:r>
          </a:p>
        </p:txBody>
      </p:sp>
      <p:sp>
        <p:nvSpPr>
          <p:cNvPr id="32" name="s5-redis-zh">
            <a:extLst xmlns:a="http://schemas.openxmlformats.org/drawingml/2006/main">
              <a:ext uri="{FF2B5EF4-FFF2-40B4-BE49-F238E27FC236}">
                <a16:creationId xmlns:a16="http://schemas.microsoft.com/office/drawing/2014/main" id="{A3D7BBE8-EF55-4EA2-B5CD-F06D9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仅缓存市场报价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152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53400" y="21526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191125" y="2571750"/>
            <a:ext cx="828675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481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628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3775" y="4610100"/>
            <a:ext cx="5143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143875" y="4610100"/>
            <a:ext cx="3619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10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9525000" y="2571750"/>
            <a:ext cx="619125" cy="3152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B45309"/>
            </a:solidFill>
            <a:prstDash val="solid"/>
            <a:tailEnd type="triangle" w="med" len="med"/>
          </a:ln>
        </p:spPr>
      </p:cxnSp>
      <p:sp>
        <p:nvSpPr>
          <p:cNvPr id="42" name="s5-direction">
            <a:extLst xmlns:a="http://schemas.openxmlformats.org/drawingml/2006/main">
              <a:ext uri="{FF2B5EF4-FFF2-40B4-BE49-F238E27FC236}">
                <a16:creationId xmlns:a16="http://schemas.microsoft.com/office/drawing/2014/main" id="{F681BCF8-0D87-43AD-9D1A-E817208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 API  →  application  →  domain  ←  infrastructure</a:t>
            </a:r>
          </a:p>
        </p:txBody>
      </p:sp>
      <p:sp>
        <p:nvSpPr>
          <p:cNvPr id="43" name="s5-footer-note">
            <a:extLst xmlns:a="http://schemas.openxmlformats.org/drawingml/2006/main">
              <a:ext uri="{FF2B5EF4-FFF2-40B4-BE49-F238E27FC236}">
                <a16:creationId xmlns:a16="http://schemas.microsoft.com/office/drawing/2014/main" id="{67308164-F8ED-4418-BCA2-5FD6CE4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is the system of record; Redis is disposable cache</a:t>
            </a:r>
          </a:p>
        </p:txBody>
      </p:sp>
      <p:sp>
        <p:nvSpPr>
          <p:cNvPr id="44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1761409-4FE2-46C3-965A-055E0A9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5877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stack is production-oriented and testable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技术栈以可靠持久化、快速行情访问与可测试部署为核心</a:t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层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 组件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 技术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 用途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Frontend 前端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Trade Console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19 + TypeScript 6 + Vite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User interface / 用户界面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Backend 后端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REST API Server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Spring Boot 3.5.14 + Java 21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Business rules / 业务逻辑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Database 数据库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Account, Trade &amp; Snapshot 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MySQL 8.4 +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System of record / 持久化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Cache 缓存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Market Quote Cache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7.4.2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Fresh + stale fallback / 快速行情与降级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External 外部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Market Data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Finnhub API or deterministic Mock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Quote feed / 行情来源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Containerization &amp; Delivery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Docker Compose + Nginx + GitHub Actions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Run, test, deploy / 构建与部署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Source-verified correction / 源码核验：the backend targets Java 21, not Java 17.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Versions verified from pom.xml, package.json, compose.yaml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-en">
            <a:extLst xmlns:a="http://schemas.openxmlformats.org/drawingml/2006/main">
              <a:ext uri="{FF2B5EF4-FFF2-40B4-BE49-F238E27FC236}">
                <a16:creationId xmlns:a16="http://schemas.microsoft.com/office/drawing/2014/main" id="{91BC34CB-420B-4E6A-AE55-C639A1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Booking is validation-first</a:t>
            </a:r>
          </a:p>
        </p:txBody>
      </p:sp>
      <p:sp>
        <p:nvSpPr>
          <p:cNvPr id="2" name="s7-title-zh">
            <a:extLst xmlns:a="http://schemas.openxmlformats.org/drawingml/2006/main">
              <a:ext uri="{FF2B5EF4-FFF2-40B4-BE49-F238E27FC236}">
                <a16:creationId xmlns:a16="http://schemas.microsoft.com/office/drawing/2014/main" id="{AC56DD76-0B92-4F18-A0DB-B9AD41F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核心功能一：交易入账与校验</a:t>
            </a:r>
          </a:p>
        </p:txBody>
      </p:sp>
      <p:sp>
        <p:nvSpPr>
          <p:cNvPr id="3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E7545AA-8DA7-4E73-A45F-6B32E30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09EF9C93-48B2-4C2B-86C3-3DF860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Before a trade is stored, TradeFlow validates the input and the business sequence.</a:t>
            </a:r>
          </a:p>
          <a:p xmlns:a="http://schemas.openxmlformats.org/drawingml/2006/main">
            <a:pPr algn="ctr">
              <a:defRPr sz="15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在写入数据库之前，系统同时校验输入数据与业务规则。</a:t>
            </a:r>
          </a:p>
        </p:txBody>
      </p:sp>
      <p:sp>
        <p:nvSpPr>
          <p:cNvPr id="5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61E03A9E-314D-4D92-A8BC-F813776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9537FE98-B466-4190-9704-A5B11AB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Input validation · 输入校验</a:t>
            </a:r>
          </a:p>
        </p:txBody>
      </p:sp>
      <p:sp>
        <p:nvSpPr>
          <p:cNvPr id="7" name="s7-left-0-dot">
            <a:extLst xmlns:a="http://schemas.openxmlformats.org/drawingml/2006/main">
              <a:ext uri="{FF2B5EF4-FFF2-40B4-BE49-F238E27FC236}">
                <a16:creationId xmlns:a16="http://schemas.microsoft.com/office/drawing/2014/main" id="{F4850D09-A9E5-4829-B841-60772CA8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7-left-0-text">
            <a:extLst xmlns:a="http://schemas.openxmlformats.org/drawingml/2006/main">
              <a:ext uri="{FF2B5EF4-FFF2-40B4-BE49-F238E27FC236}">
                <a16:creationId xmlns:a16="http://schemas.microsoft.com/office/drawing/2014/main" id="{C46725F3-B993-452B-BDE7-A894FFE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Verified US security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经验证的美股、ADR 或 ETF</a:t>
            </a:r>
          </a:p>
        </p:txBody>
      </p:sp>
      <p:sp>
        <p:nvSpPr>
          <p:cNvPr id="9" name="s7-left-1-dot">
            <a:extLst xmlns:a="http://schemas.openxmlformats.org/drawingml/2006/main">
              <a:ext uri="{FF2B5EF4-FFF2-40B4-BE49-F238E27FC236}">
                <a16:creationId xmlns:a16="http://schemas.microsoft.com/office/drawing/2014/main" id="{CE17B0CB-C5DD-4534-A85E-9D732C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7-left-1-text">
            <a:extLst xmlns:a="http://schemas.openxmlformats.org/drawingml/2006/main">
              <a:ext uri="{FF2B5EF4-FFF2-40B4-BE49-F238E27FC236}">
                <a16:creationId xmlns:a16="http://schemas.microsoft.com/office/drawing/2014/main" id="{53DFD2B4-3DC6-4214-BDB0-15EDF09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Quantity and price &gt; 0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数量与价格必须大于 0</a:t>
            </a:r>
          </a:p>
        </p:txBody>
      </p:sp>
      <p:sp>
        <p:nvSpPr>
          <p:cNvPr id="11" name="s7-left-2-dot">
            <a:extLst xmlns:a="http://schemas.openxmlformats.org/drawingml/2006/main">
              <a:ext uri="{FF2B5EF4-FFF2-40B4-BE49-F238E27FC236}">
                <a16:creationId xmlns:a16="http://schemas.microsoft.com/office/drawing/2014/main" id="{A7C5331F-1FF9-44BE-87FD-02E87E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7-left-2-text">
            <a:extLst xmlns:a="http://schemas.openxmlformats.org/drawingml/2006/main">
              <a:ext uri="{FF2B5EF4-FFF2-40B4-BE49-F238E27FC236}">
                <a16:creationId xmlns:a16="http://schemas.microsoft.com/office/drawing/2014/main" id="{29D18D71-1412-4F36-95BE-5B5F148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Execution time is not future-dated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成交时间不得超过允许的未来范围</a:t>
            </a:r>
          </a:p>
        </p:txBody>
      </p:sp>
      <p:sp>
        <p:nvSpPr>
          <p:cNvPr id="13" name="s7-left-3-dot">
            <a:extLst xmlns:a="http://schemas.openxmlformats.org/drawingml/2006/main">
              <a:ext uri="{FF2B5EF4-FFF2-40B4-BE49-F238E27FC236}">
                <a16:creationId xmlns:a16="http://schemas.microsoft.com/office/drawing/2014/main" id="{2573CCC4-C43E-4E5C-9693-9A41813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7-left-3-text">
            <a:extLst xmlns:a="http://schemas.openxmlformats.org/drawingml/2006/main">
              <a:ext uri="{FF2B5EF4-FFF2-40B4-BE49-F238E27FC236}">
                <a16:creationId xmlns:a16="http://schemas.microsoft.com/office/drawing/2014/main" id="{08E76A03-186F-43F6-90A4-8DFAF18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Active USD securities account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必须使用启用的美元证券账户</a:t>
            </a:r>
          </a:p>
        </p:txBody>
      </p:sp>
      <p:sp>
        <p:nvSpPr>
          <p:cNvPr id="15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CBE553F2-6C94-483A-AB3C-D255A94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5676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6EAEFB9C-FE57-4ECE-AA01-09848CC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Position-safe business rules · 头寸安全规则</a:t>
            </a:r>
          </a:p>
        </p:txBody>
      </p:sp>
      <p:sp>
        <p:nvSpPr>
          <p:cNvPr id="17" name="s7-right-0-dot">
            <a:extLst xmlns:a="http://schemas.openxmlformats.org/drawingml/2006/main">
              <a:ext uri="{FF2B5EF4-FFF2-40B4-BE49-F238E27FC236}">
                <a16:creationId xmlns:a16="http://schemas.microsoft.com/office/drawing/2014/main" id="{C19F42B5-495E-4648-A399-12746BB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8" name="s7-right-0-text">
            <a:extLst xmlns:a="http://schemas.openxmlformats.org/drawingml/2006/main">
              <a:ext uri="{FF2B5EF4-FFF2-40B4-BE49-F238E27FC236}">
                <a16:creationId xmlns:a16="http://schemas.microsoft.com/office/drawing/2014/main" id="{18C8B4C7-B2A4-4701-A95E-8DB6C4E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SELL cannot exceed holdings at execution time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卖出数量不能超过当时持仓</a:t>
            </a:r>
          </a:p>
        </p:txBody>
      </p:sp>
      <p:sp>
        <p:nvSpPr>
          <p:cNvPr id="19" name="s7-right-1-dot">
            <a:extLst xmlns:a="http://schemas.openxmlformats.org/drawingml/2006/main">
              <a:ext uri="{FF2B5EF4-FFF2-40B4-BE49-F238E27FC236}">
                <a16:creationId xmlns:a16="http://schemas.microsoft.com/office/drawing/2014/main" id="{5E134174-937B-43A2-B5EF-0F23D0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0" name="s7-right-1-text">
            <a:extLst xmlns:a="http://schemas.openxmlformats.org/drawingml/2006/main">
              <a:ext uri="{FF2B5EF4-FFF2-40B4-BE49-F238E27FC236}">
                <a16:creationId xmlns:a16="http://schemas.microsoft.com/office/drawing/2014/main" id="{0A79904A-F8E6-4B73-89A7-979CA2D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Cancellation and amendment replay the full timeline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取消或修改会重新回放交易时间线</a:t>
            </a:r>
          </a:p>
        </p:txBody>
      </p:sp>
      <p:sp>
        <p:nvSpPr>
          <p:cNvPr id="21" name="s7-right-2-dot">
            <a:extLst xmlns:a="http://schemas.openxmlformats.org/drawingml/2006/main">
              <a:ext uri="{FF2B5EF4-FFF2-40B4-BE49-F238E27FC236}">
                <a16:creationId xmlns:a16="http://schemas.microsoft.com/office/drawing/2014/main" id="{108B12DA-46BB-4D27-811F-382135C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2" name="s7-right-2-text">
            <a:extLst xmlns:a="http://schemas.openxmlformats.org/drawingml/2006/main">
              <a:ext uri="{FF2B5EF4-FFF2-40B4-BE49-F238E27FC236}">
                <a16:creationId xmlns:a16="http://schemas.microsoft.com/office/drawing/2014/main" id="{BA7924F7-01D5-43E0-B94E-9A78FC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No short selling; no negative intermediate position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不支持卖空，任何时点都不得出现负持仓</a:t>
            </a:r>
          </a:p>
        </p:txBody>
      </p:sp>
      <p:sp>
        <p:nvSpPr>
          <p:cNvPr id="23" name="s7-result">
            <a:extLst xmlns:a="http://schemas.openxmlformats.org/drawingml/2006/main">
              <a:ext uri="{FF2B5EF4-FFF2-40B4-BE49-F238E27FC236}">
                <a16:creationId xmlns:a16="http://schemas.microsoft.com/office/drawing/2014/main" id="{05557013-1E50-41B7-99C3-8604572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4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A0104A3C-5A77-426E-A23C-B8F234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29275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→ BOOKED    |    Invalid → RFC Problem Details error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有效 → BOOKED 入账    |    无效 → 返回结构化错误</a:t>
            </a:r>
          </a:p>
        </p:txBody>
      </p:sp>
      <p:sp>
        <p:nvSpPr>
          <p:cNvPr id="25" name="s7-footer-note">
            <a:extLst xmlns:a="http://schemas.openxmlformats.org/drawingml/2006/main">
              <a:ext uri="{FF2B5EF4-FFF2-40B4-BE49-F238E27FC236}">
                <a16:creationId xmlns:a16="http://schemas.microsoft.com/office/drawing/2014/main" id="{391F0DAA-9852-460C-856F-8266004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deployed app + repository</a:t>
            </a:r>
          </a:p>
        </p:txBody>
      </p:sp>
      <p:sp>
        <p:nvSpPr>
          <p:cNvPr id="26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5A3056BD-F77E-4795-81B6-2A776C0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46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-en">
            <a:extLst xmlns:a="http://schemas.openxmlformats.org/drawingml/2006/main">
              <a:ext uri="{FF2B5EF4-FFF2-40B4-BE49-F238E27FC236}">
                <a16:creationId xmlns:a16="http://schemas.microsoft.com/office/drawing/2014/main" id="{ABE165A9-FB04-4BCE-887A-D6B55DE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Booked trades drive positions and P&amp;L</a:t>
            </a:r>
          </a:p>
        </p:txBody>
      </p:sp>
      <p:sp>
        <p:nvSpPr>
          <p:cNvPr id="2" name="s8-title-zh">
            <a:extLst xmlns:a="http://schemas.openxmlformats.org/drawingml/2006/main">
              <a:ext uri="{FF2B5EF4-FFF2-40B4-BE49-F238E27FC236}">
                <a16:creationId xmlns:a16="http://schemas.microsoft.com/office/drawing/2014/main" id="{0021B581-631F-4F0C-BA75-2B48E82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核心功能二：持仓管理与未实现盈亏</a:t>
            </a:r>
          </a:p>
        </p:txBody>
      </p:sp>
      <p:sp>
        <p:nvSpPr>
          <p:cNvPr id="3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E909A2D9-743C-4542-BED7-96F2C6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8-left-shell">
            <a:extLst xmlns:a="http://schemas.openxmlformats.org/drawingml/2006/main">
              <a:ext uri="{FF2B5EF4-FFF2-40B4-BE49-F238E27FC236}">
                <a16:creationId xmlns:a16="http://schemas.microsoft.com/office/drawing/2014/main" id="{BA481775-A168-4FD1-BF22-677347F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E175519D-6563-4F85-81F7-002EC6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Position engine · 持仓引擎</a:t>
            </a:r>
          </a:p>
        </p:txBody>
      </p:sp>
      <p:sp>
        <p:nvSpPr>
          <p:cNvPr id="6" name="s8-p1-box">
            <a:extLst xmlns:a="http://schemas.openxmlformats.org/drawingml/2006/main">
              <a:ext uri="{FF2B5EF4-FFF2-40B4-BE49-F238E27FC236}">
                <a16:creationId xmlns:a16="http://schemas.microsoft.com/office/drawing/2014/main" id="{E19DB466-9F8B-42F3-BBF2-AD2EE6B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s8-p1-en">
            <a:extLst xmlns:a="http://schemas.openxmlformats.org/drawingml/2006/main">
              <a:ext uri="{FF2B5EF4-FFF2-40B4-BE49-F238E27FC236}">
                <a16:creationId xmlns:a16="http://schemas.microsoft.com/office/drawing/2014/main" id="{36584333-57E5-4805-88E2-885E096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BOOKED trades only</a:t>
            </a:r>
          </a:p>
        </p:txBody>
      </p:sp>
      <p:sp>
        <p:nvSpPr>
          <p:cNvPr id="8" name="s8-p1-zh">
            <a:extLst xmlns:a="http://schemas.openxmlformats.org/drawingml/2006/main">
              <a:ext uri="{FF2B5EF4-FFF2-40B4-BE49-F238E27FC236}">
                <a16:creationId xmlns:a16="http://schemas.microsoft.com/office/drawing/2014/main" id="{04A44534-04DC-46BC-ABB5-01E9843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只回放已入账交易</a:t>
            </a:r>
          </a:p>
        </p:txBody>
      </p:sp>
      <p:sp>
        <p:nvSpPr>
          <p:cNvPr id="9" name="s8-p2-box">
            <a:extLst xmlns:a="http://schemas.openxmlformats.org/drawingml/2006/main">
              <a:ext uri="{FF2B5EF4-FFF2-40B4-BE49-F238E27FC236}">
                <a16:creationId xmlns:a16="http://schemas.microsoft.com/office/drawing/2014/main" id="{8905FA38-9ADA-489A-A997-7BB22A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s8-p2-en">
            <a:extLst xmlns:a="http://schemas.openxmlformats.org/drawingml/2006/main">
              <a:ext uri="{FF2B5EF4-FFF2-40B4-BE49-F238E27FC236}">
                <a16:creationId xmlns:a16="http://schemas.microsoft.com/office/drawing/2014/main" id="{5288D339-4CF1-4DB2-BF75-28656AD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Chronological replay</a:t>
            </a:r>
          </a:p>
        </p:txBody>
      </p:sp>
      <p:sp>
        <p:nvSpPr>
          <p:cNvPr id="11" name="s8-p2-zh">
            <a:extLst xmlns:a="http://schemas.openxmlformats.org/drawingml/2006/main">
              <a:ext uri="{FF2B5EF4-FFF2-40B4-BE49-F238E27FC236}">
                <a16:creationId xmlns:a16="http://schemas.microsoft.com/office/drawing/2014/main" id="{093B76F9-6671-40CD-A5AB-823A765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按成交、创建时间与 ID 排序回放</a:t>
            </a:r>
          </a:p>
        </p:txBody>
      </p:sp>
      <p:sp>
        <p:nvSpPr>
          <p:cNvPr id="12" name="s8-p3-box">
            <a:extLst xmlns:a="http://schemas.openxmlformats.org/drawingml/2006/main">
              <a:ext uri="{FF2B5EF4-FFF2-40B4-BE49-F238E27FC236}">
                <a16:creationId xmlns:a16="http://schemas.microsoft.com/office/drawing/2014/main" id="{DF818DBC-710B-4A42-BB42-85E4D82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s8-p3-en">
            <a:extLst xmlns:a="http://schemas.openxmlformats.org/drawingml/2006/main">
              <a:ext uri="{FF2B5EF4-FFF2-40B4-BE49-F238E27FC236}">
                <a16:creationId xmlns:a16="http://schemas.microsoft.com/office/drawing/2014/main" id="{C04ABEFD-CEF7-4F6D-9F51-0F74B5C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Weighted-average position</a:t>
            </a:r>
          </a:p>
        </p:txBody>
      </p:sp>
      <p:sp>
        <p:nvSpPr>
          <p:cNvPr id="14" name="s8-p3-zh">
            <a:extLst xmlns:a="http://schemas.openxmlformats.org/drawingml/2006/main">
              <a:ext uri="{FF2B5EF4-FFF2-40B4-BE49-F238E27FC236}">
                <a16:creationId xmlns:a16="http://schemas.microsoft.com/office/drawing/2014/main" id="{DD7E1196-10BD-455A-BA0D-63BBD12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数量、平均成本与成本基础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962275" y="3048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62275" y="4019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s8-right-shell">
            <a:extLst xmlns:a="http://schemas.openxmlformats.org/drawingml/2006/main">
              <a:ext uri="{FF2B5EF4-FFF2-40B4-BE49-F238E27FC236}">
                <a16:creationId xmlns:a16="http://schemas.microsoft.com/office/drawing/2014/main" id="{4045F9F6-8ECB-4BC2-A19F-F638EE9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676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3F23A276-3704-4C3A-9816-514C26D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Unrealized P&amp;L · 未实现盈亏</a:t>
            </a:r>
          </a:p>
        </p:txBody>
      </p:sp>
      <p:sp>
        <p:nvSpPr>
          <p:cNvPr id="19" name="s8-formula-rule1">
            <a:extLst xmlns:a="http://schemas.openxmlformats.org/drawingml/2006/main">
              <a:ext uri="{FF2B5EF4-FFF2-40B4-BE49-F238E27FC236}">
                <a16:creationId xmlns:a16="http://schemas.microsoft.com/office/drawing/2014/main" id="{C48FD4FE-6446-414D-9FE9-DDDAA31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s8-formula1-en">
            <a:extLst xmlns:a="http://schemas.openxmlformats.org/drawingml/2006/main">
              <a:ext uri="{FF2B5EF4-FFF2-40B4-BE49-F238E27FC236}">
                <a16:creationId xmlns:a16="http://schemas.microsoft.com/office/drawing/2014/main" id="{75F08B05-1623-4203-9851-ADA61EA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Market value = quantity × market price</a:t>
            </a:r>
          </a:p>
        </p:txBody>
      </p:sp>
      <p:sp>
        <p:nvSpPr>
          <p:cNvPr id="21" name="s8-formula1-zh">
            <a:extLst xmlns:a="http://schemas.openxmlformats.org/drawingml/2006/main">
              <a:ext uri="{FF2B5EF4-FFF2-40B4-BE49-F238E27FC236}">
                <a16:creationId xmlns:a16="http://schemas.microsoft.com/office/drawing/2014/main" id="{C8824AAA-9DCD-4213-85B9-99A3F9B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市场价值 = 数量 × 市场价格</a:t>
            </a:r>
          </a:p>
        </p:txBody>
      </p:sp>
      <p:sp>
        <p:nvSpPr>
          <p:cNvPr id="22" name="s8-formula2-en">
            <a:extLst xmlns:a="http://schemas.openxmlformats.org/drawingml/2006/main">
              <a:ext uri="{FF2B5EF4-FFF2-40B4-BE49-F238E27FC236}">
                <a16:creationId xmlns:a16="http://schemas.microsoft.com/office/drawing/2014/main" id="{E02A42EB-209F-4066-B380-B2EC733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Unrealized P&amp;L = market value − cost basis</a:t>
            </a:r>
          </a:p>
        </p:txBody>
      </p:sp>
      <p:sp>
        <p:nvSpPr>
          <p:cNvPr id="23" name="s8-formula2-zh">
            <a:extLst xmlns:a="http://schemas.openxmlformats.org/drawingml/2006/main">
              <a:ext uri="{FF2B5EF4-FFF2-40B4-BE49-F238E27FC236}">
                <a16:creationId xmlns:a16="http://schemas.microsoft.com/office/drawing/2014/main" id="{ABE928E6-FDC1-4BC9-AA84-87C92FD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未实现盈亏 = 市场价值 − 成本基础</a:t>
            </a:r>
          </a:p>
        </p:txBody>
      </p:sp>
      <p:sp>
        <p:nvSpPr>
          <p:cNvPr id="24" name="s8-formula3-en">
            <a:extLst xmlns:a="http://schemas.openxmlformats.org/drawingml/2006/main">
              <a:ext uri="{FF2B5EF4-FFF2-40B4-BE49-F238E27FC236}">
                <a16:creationId xmlns:a16="http://schemas.microsoft.com/office/drawing/2014/main" id="{241ACEFA-CDBB-41FC-9F44-D25DCD9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P&amp;L % = unrealized P&amp;L ÷ cost basis × 100</a:t>
            </a:r>
          </a:p>
        </p:txBody>
      </p:sp>
      <p:sp>
        <p:nvSpPr>
          <p:cNvPr id="25" name="s8-formula3-zh">
            <a:extLst xmlns:a="http://schemas.openxmlformats.org/drawingml/2006/main">
              <a:ext uri="{FF2B5EF4-FFF2-40B4-BE49-F238E27FC236}">
                <a16:creationId xmlns:a16="http://schemas.microsoft.com/office/drawing/2014/main" id="{621EE739-7138-4BA1-A01B-112FE16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43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收益率 = 未实现盈亏 ÷ 成本基础 × 100</a:t>
            </a:r>
          </a:p>
        </p:txBody>
      </p:sp>
      <p:sp>
        <p:nvSpPr>
          <p:cNvPr id="26" name="s8-snapshot">
            <a:extLst xmlns:a="http://schemas.openxmlformats.org/drawingml/2006/main">
              <a:ext uri="{FF2B5EF4-FFF2-40B4-BE49-F238E27FC236}">
                <a16:creationId xmlns:a16="http://schemas.microsoft.com/office/drawing/2014/main" id="{897ADD62-B184-4384-AB86-A0EBB6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7" name="s8-snapshot-text">
            <a:extLst xmlns:a="http://schemas.openxmlformats.org/drawingml/2006/main">
              <a:ext uri="{FF2B5EF4-FFF2-40B4-BE49-F238E27FC236}">
                <a16:creationId xmlns:a16="http://schemas.microsoft.com/office/drawing/2014/main" id="{F6ACB8AF-C86B-4954-8C43-3897EDA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Deployment check / 部署核验：5 of 5 positions priced · 0 unpriced · MOCK quotes · fresh at verification</a:t>
            </a:r>
          </a:p>
        </p:txBody>
      </p:sp>
      <p:sp>
        <p:nvSpPr>
          <p:cNvPr id="28" name="s8-footer-note">
            <a:extLst xmlns:a="http://schemas.openxmlformats.org/drawingml/2006/main">
              <a:ext uri="{FF2B5EF4-FFF2-40B4-BE49-F238E27FC236}">
                <a16:creationId xmlns:a16="http://schemas.microsoft.com/office/drawing/2014/main" id="{0497B748-F7BB-4F44-A8DF-B751F27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Deployment observation timestamp: 2026-07-29 17:05 CST</a:t>
            </a:r>
          </a:p>
        </p:txBody>
      </p:sp>
      <p:sp>
        <p:nvSpPr>
          <p:cNvPr id="2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757B4E42-4A8A-4E55-9FC8-C35C0B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3647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Market data fails safely and visibly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核心功能三：市场数据同步、缓存与透明降级</a:t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Scheduled valuation capture + on-demand refresh</a:t>
            </a:r>
          </a:p>
          <a:p xmlns:a="http://schemas.openxmlformats.org/drawingml/2006/main">
            <a:pPr algn="ctr">
              <a:defRPr sz="13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定时估值快照 + 手动刷新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快照或刷新</a:t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Market Provider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 / Mock</a:t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Redis Cache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行情缓存</a:t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P&amp;L Engine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>盈亏引擎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Fresh cache may satisfy the request before a provider call</a:t>
            </a:r>
          </a:p>
          <a:p xmlns:a="http://schemas.openxmlformats.org/drawingml/2006/main">
            <a:pPr algn="ctr">
              <a:defRPr sz="1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新鲜缓存可直接返回，避免调用外部 API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Fresh first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优先使用新鲜缓存</a:t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60-second fresh window keeps quote access fast.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60 秒新鲜期加快报价访问。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Safe fallback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安全降级</a:t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Retained quotes can return as CACHED + STALE.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外部服务失败时可返回缓存与过期标识。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No false certainty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不制造虚假确定性</a:t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Missing quotes stay null; quote status remains explicit.</a:t>
            </a:r>
          </a:p>
          <a:p xmlns:a="http://schemas.openxmlformats.org/drawingml/2006/main">
            <a:pPr algn="l">
              <a:defRPr sz="12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缺失报价保持为空，并明确标注 LIVE / MOCK / CACHED / STALE。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Current deployment provider: MOCK · Finnhub supported by configuration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2026-07-29T09:14:32.8630000Z</dcterms:created>
  <dcterms:modified xsi:type="dcterms:W3CDTF">2026-07-29T09:14:32.8630000Z</dcterms:modified>
</coreProperties>
</file>