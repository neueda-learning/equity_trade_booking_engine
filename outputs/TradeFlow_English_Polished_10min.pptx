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e0ce1ede9a41b1" /><Relationship Type="http://schemas.openxmlformats.org/officeDocument/2006/relationships/extended-properties" Target="/docProps/app.xml" Id="R9f1ae2c8f0a245bf" /><Relationship Type="http://schemas.openxmlformats.org/officeDocument/2006/relationships/officeDocument" Target="/ppt/presentation.xml" Id="Ra62118d9839a4e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e38de856634013"/>
  </p:sldMasterIdLst>
  <p:notesMasterIdLst>
    <p:notesMasterId xmlns:r="http://schemas.openxmlformats.org/officeDocument/2006/relationships" r:id="Ra8e15479ae714f4a"/>
  </p:notesMasterIdLst>
  <p:sldIdLst>
    <p:sldId xmlns:r="http://schemas.openxmlformats.org/officeDocument/2006/relationships" id="256" r:id="Rbd41b8c9de804f97"/>
    <p:sldId xmlns:r="http://schemas.openxmlformats.org/officeDocument/2006/relationships" id="257" r:id="R07df9e156b694dd6"/>
    <p:sldId xmlns:r="http://schemas.openxmlformats.org/officeDocument/2006/relationships" id="258" r:id="Rdf12fdd70dbe4bfd"/>
    <p:sldId xmlns:r="http://schemas.openxmlformats.org/officeDocument/2006/relationships" id="259" r:id="R1b2ec12f99be4cef"/>
    <p:sldId xmlns:r="http://schemas.openxmlformats.org/officeDocument/2006/relationships" id="260" r:id="R78f4f265bd454372"/>
    <p:sldId xmlns:r="http://schemas.openxmlformats.org/officeDocument/2006/relationships" id="261" r:id="Rcc9dd162958b4956"/>
    <p:sldId xmlns:r="http://schemas.openxmlformats.org/officeDocument/2006/relationships" id="262" r:id="R45cf9d41eb0445e5"/>
    <p:sldId xmlns:r="http://schemas.openxmlformats.org/officeDocument/2006/relationships" id="263" r:id="R0d72767b64c74377"/>
    <p:sldId xmlns:r="http://schemas.openxmlformats.org/officeDocument/2006/relationships" id="264" r:id="R095a8a53d9d841fd"/>
    <p:sldId xmlns:r="http://schemas.openxmlformats.org/officeDocument/2006/relationships" id="265" r:id="R0c72678afece4705"/>
    <p:sldId xmlns:r="http://schemas.openxmlformats.org/officeDocument/2006/relationships" id="266" r:id="R2b028e0a73614c1a"/>
    <p:sldId xmlns:r="http://schemas.openxmlformats.org/officeDocument/2006/relationships" id="267" r:id="R468811949d124da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36c8b9a2a94426" /><Relationship Type="http://schemas.openxmlformats.org/officeDocument/2006/relationships/slideMaster" Target="/ppt/slideMasters/slideMaster1.xml" Id="Ra1e38de856634013" /><Relationship Type="http://schemas.openxmlformats.org/officeDocument/2006/relationships/notesMaster" Target="/ppt/notesMasters/notesMaster1.xml" Id="Ra8e15479ae714f4a" /><Relationship Type="http://schemas.openxmlformats.org/officeDocument/2006/relationships/presProps" Target="/ppt/presProps.xml" Id="R72ecab2414944ef4" /><Relationship Type="http://schemas.openxmlformats.org/officeDocument/2006/relationships/tableStyles" Target="/ppt/tableStyles.xml" Id="Rbff90e6d25204eac" /><Relationship Type="http://schemas.openxmlformats.org/officeDocument/2006/relationships/slide" Target="/ppt/slides/slide1.xml" Id="Rbd41b8c9de804f97" /><Relationship Type="http://schemas.openxmlformats.org/officeDocument/2006/relationships/slide" Target="/ppt/slides/slide2.xml" Id="R07df9e156b694dd6" /><Relationship Type="http://schemas.openxmlformats.org/officeDocument/2006/relationships/slide" Target="/ppt/slides/slide3.xml" Id="Rdf12fdd70dbe4bfd" /><Relationship Type="http://schemas.openxmlformats.org/officeDocument/2006/relationships/slide" Target="/ppt/slides/slide4.xml" Id="R1b2ec12f99be4cef" /><Relationship Type="http://schemas.openxmlformats.org/officeDocument/2006/relationships/slide" Target="/ppt/slides/slide5.xml" Id="R78f4f265bd454372" /><Relationship Type="http://schemas.openxmlformats.org/officeDocument/2006/relationships/slide" Target="/ppt/slides/slide6.xml" Id="Rcc9dd162958b4956" /><Relationship Type="http://schemas.openxmlformats.org/officeDocument/2006/relationships/slide" Target="/ppt/slides/slide7.xml" Id="R45cf9d41eb0445e5" /><Relationship Type="http://schemas.openxmlformats.org/officeDocument/2006/relationships/slide" Target="/ppt/slides/slide8.xml" Id="R0d72767b64c74377" /><Relationship Type="http://schemas.openxmlformats.org/officeDocument/2006/relationships/slide" Target="/ppt/slides/slide9.xml" Id="R095a8a53d9d841fd" /><Relationship Type="http://schemas.openxmlformats.org/officeDocument/2006/relationships/slide" Target="/ppt/slides/slide10.xml" Id="R0c72678afece4705" /><Relationship Type="http://schemas.openxmlformats.org/officeDocument/2006/relationships/slide" Target="/ppt/slides/slide11.xml" Id="R2b028e0a73614c1a" /><Relationship Type="http://schemas.openxmlformats.org/officeDocument/2006/relationships/slide" Target="/ppt/slides/slide12.xml" Id="R468811949d124d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4e6e3b4e4a43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d16426fc254715" /><Relationship Type="http://schemas.openxmlformats.org/officeDocument/2006/relationships/notesMaster" Target="/ppt/notesMasters/notesMaster1.xml" Id="R03cf3d6da9c349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03c487fcb24147" /><Relationship Type="http://schemas.openxmlformats.org/officeDocument/2006/relationships/notesMaster" Target="/ppt/notesMasters/notesMaster1.xml" Id="Rbe1e860022574d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00de4789a44f2a" /><Relationship Type="http://schemas.openxmlformats.org/officeDocument/2006/relationships/notesMaster" Target="/ppt/notesMasters/notesMaster1.xml" Id="R4e0ad81d415b4e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7e44351d8d439d" /><Relationship Type="http://schemas.openxmlformats.org/officeDocument/2006/relationships/notesMaster" Target="/ppt/notesMasters/notesMaster1.xml" Id="R735a30c505d548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5b493e80d444eb" /><Relationship Type="http://schemas.openxmlformats.org/officeDocument/2006/relationships/notesMaster" Target="/ppt/notesMasters/notesMaster1.xml" Id="Rcdb27d28f58c42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038b864c894aef" /><Relationship Type="http://schemas.openxmlformats.org/officeDocument/2006/relationships/notesMaster" Target="/ppt/notesMasters/notesMaster1.xml" Id="R27e1a1fca8af44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70a4ae19e0432b" /><Relationship Type="http://schemas.openxmlformats.org/officeDocument/2006/relationships/notesMaster" Target="/ppt/notesMasters/notesMaster1.xml" Id="Rd35e26f62cd04a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84bf8e6db64813" /><Relationship Type="http://schemas.openxmlformats.org/officeDocument/2006/relationships/notesMaster" Target="/ppt/notesMasters/notesMaster1.xml" Id="R6725c7ef1b974a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fab1437a7247ea" /><Relationship Type="http://schemas.openxmlformats.org/officeDocument/2006/relationships/notesMaster" Target="/ppt/notesMasters/notesMaster1.xml" Id="R967d877634a84c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401184a6744f07" /><Relationship Type="http://schemas.openxmlformats.org/officeDocument/2006/relationships/notesMaster" Target="/ppt/notesMasters/notesMaster1.xml" Id="Rffb29a8cbbdf4f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40f9e6ae274ed1" /><Relationship Type="http://schemas.openxmlformats.org/officeDocument/2006/relationships/notesMaster" Target="/ppt/notesMasters/notesMaster1.xml" Id="R944eb3967e0648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b1bb01b5e9a4e8c" /><Relationship Type="http://schemas.openxmlformats.org/officeDocument/2006/relationships/notesMaster" Target="/ppt/notesMasters/notesMaster1.xml" Id="R5efe89af6a1247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[Speaker A | ~25 sec] Good morning. TradeFlow takes confirmed equity trades and turns them into positions and P&amp;L that remain trustworthy—even when the market-data network fails.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[Speaker A | ~45 sec] Imagine a trader with a confirmed fill, a spreadsheet ledger, and a delayed quote: one wrong zero can distort both the position and P&amp;L. TradeFlow removes that post-trade uncertainty.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[Speaker A | ~35 sec] We split primary ownership across product, domain logic, interface and data, and reliability. Integration, testing, and delivery remained shared, so the result is one coherent system rather than four disconnected parts.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[Speaker A | ~20 sec] We will move from the business problem to the engineering decisions, then prove the design in a live outage scenario. The talk is about seven minutes, the demo about three, and the close under 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[Speaker B | ~40 sec] TradeFlow does not execute orders; it starts with a confirmed trade. Its job is to validate that fact, preserve an audit trail, and turn the booked ledger into current positions and unrealized P&amp;L.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[Speaker B | ~55 sec] We chose a modular monolith so trade, validation, position, and P&amp;L share one consistent business timeline while remaining cleanly separated. MySQL is authoritative; Redis is disposable and never holds the only copy of business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[Speaker B | ~45 sec] The important distinction is responsibility, not the length of the tool list: MySQL owns records, the backend owns calculations, and Redis only accelerates or safely degrades quote access. Docker and CI make the final demonstration reproducible.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[Speaker C | ~55 sec] A trade is either valid and booked, or rejected before persistence. The business rules also replay the timeline, so a sell, cancellation, or amendment can never create a hidden negative position.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[Speaker C | ~55 sec] In the demo we buy ten shares at one hundred dollars and sell four, leaving six shares with a six-hundred-dollar cost basis. At a quote of 123.46, market value is 740.76 and unrealized P&amp;L is plus 140.76, or 23.46 percent.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[Speaker D | ~55 sec] The cache gives us speed during normal operation and a retained fallback during an outage. The system never pretends stale data is live, and with no retained quote it returns null instead of inventing a zero price.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[Speaker D | ~3 min demo] I will book ten shares, sell four, and refresh a live quote so the position and P&amp;L update. Then I will simulate the provider outage: watch LIVE change to CACHED + STALE, keep the value visible with a warning, and return to LIVE after recovery.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[Speaker A | ~25 sec] Our takeaway is simple: validate before booking, recompute from an auditable ledger, and degrade visibly when dependencies fail. Thank you—we welcome your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41e1ec197c4a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5ef8a81f364a1c" /><Relationship Type="http://schemas.openxmlformats.org/officeDocument/2006/relationships/slideLayout" Target="/ppt/slideLayouts/slideLayout1.xml" Id="Rc5434bff8f5548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434bff8f5548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a46f722524823" /><Relationship Type="http://schemas.openxmlformats.org/officeDocument/2006/relationships/notesSlide" Target="/ppt/notesSlides/notesSlide1.xml" Id="Rd93f724eda0b46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356072dc0491c" /><Relationship Type="http://schemas.openxmlformats.org/officeDocument/2006/relationships/notesSlide" Target="/ppt/notesSlides/notesSlide2.xml" Id="Rb8b385310d7647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f2a63fd064812" /><Relationship Type="http://schemas.openxmlformats.org/officeDocument/2006/relationships/notesSlide" Target="/ppt/notesSlides/notesSlide3.xml" Id="R38a1445b4db147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aeb5076ec4080" /><Relationship Type="http://schemas.openxmlformats.org/officeDocument/2006/relationships/notesSlide" Target="/ppt/notesSlides/notesSlide4.xml" Id="R6347b994157c42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7e1eb000a47ab" /><Relationship Type="http://schemas.openxmlformats.org/officeDocument/2006/relationships/notesSlide" Target="/ppt/notesSlides/notesSlide5.xml" Id="R3b239016606e44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ad5bd4ac1454a" /><Relationship Type="http://schemas.openxmlformats.org/officeDocument/2006/relationships/notesSlide" Target="/ppt/notesSlides/notesSlide6.xml" Id="R19441855230848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d0e5d58894134" /><Relationship Type="http://schemas.openxmlformats.org/officeDocument/2006/relationships/notesSlide" Target="/ppt/notesSlides/notesSlide7.xml" Id="R403598cbe88546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efacb00cc43e5" /><Relationship Type="http://schemas.openxmlformats.org/officeDocument/2006/relationships/notesSlide" Target="/ppt/notesSlides/notesSlide8.xml" Id="R3145830b84a146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dc4ae79f7473d" /><Relationship Type="http://schemas.openxmlformats.org/officeDocument/2006/relationships/notesSlide" Target="/ppt/notesSlides/notesSlide9.xml" Id="R671f266cd70c43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86f55ae994578" /><Relationship Type="http://schemas.openxmlformats.org/officeDocument/2006/relationships/notesSlide" Target="/ppt/notesSlides/notesSlide10.xml" Id="R029ed2ddd5ef4c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7769bdac04761" /><Relationship Type="http://schemas.openxmlformats.org/officeDocument/2006/relationships/notesSlide" Target="/ppt/notesSlides/notesSlide11.xml" Id="Rb19578f9197647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123eb780e434e" /><Relationship Type="http://schemas.openxmlformats.org/officeDocument/2006/relationships/notesSlide" Target="/ppt/notesSlides/notesSlide12.xml" Id="R451f3aed5a6a48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-left-accent">
            <a:extLst xmlns:a="http://schemas.openxmlformats.org/drawingml/2006/main">
              <a:ext uri="{FF2B5EF4-FFF2-40B4-BE49-F238E27FC236}">
                <a16:creationId xmlns:a16="http://schemas.microsoft.com/office/drawing/2014/main" id="{46B482F5-5E8B-44DF-8EC7-C0210B6E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s1-kicker">
            <a:extLst xmlns:a="http://schemas.openxmlformats.org/drawingml/2006/main">
              <a:ext uri="{FF2B5EF4-FFF2-40B4-BE49-F238E27FC236}">
                <a16:creationId xmlns:a16="http://schemas.microsoft.com/office/drawing/2014/main" id="{E4BFA3FC-5856-4494-85D4-42CB2620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FINAL PROJECT · GROUP 05</a:t>
            </a:r>
          </a:p>
        </p:txBody>
      </p:sp>
      <p:sp>
        <p:nvSpPr>
          <p:cNvPr id="3" name="s1-title">
            <a:extLst xmlns:a="http://schemas.openxmlformats.org/drawingml/2006/main">
              <a:ext uri="{FF2B5EF4-FFF2-40B4-BE49-F238E27FC236}">
                <a16:creationId xmlns:a16="http://schemas.microsoft.com/office/drawing/2014/main" id="{C6635B09-06FE-497A-81DE-39906FC3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0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60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TradeFlow</a:t>
            </a:r>
          </a:p>
        </p:txBody>
      </p:sp>
      <p:sp>
        <p:nvSpPr>
          <p:cNvPr id="4" name="s1-subtitle-en">
            <a:extLst xmlns:a="http://schemas.openxmlformats.org/drawingml/2006/main">
              <a:ext uri="{FF2B5EF4-FFF2-40B4-BE49-F238E27FC236}">
                <a16:creationId xmlns:a16="http://schemas.microsoft.com/office/drawing/2014/main" id="{EDF9140E-E1DF-4A2C-9D1E-32FE70D2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75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2075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A resilient post-trade engine that turns confirmed equity trades into trusted positions and P&amp;L.</a:t>
            </a:r>
          </a:p>
        </p:txBody>
      </p:sp>
      <p:sp>
        <p:nvSpPr>
          <p:cNvPr id="5" name="s1-subtitle-zh">
            <a:extLst xmlns:a="http://schemas.openxmlformats.org/drawingml/2006/main">
              <a:ext uri="{FF2B5EF4-FFF2-40B4-BE49-F238E27FC236}">
                <a16:creationId xmlns:a16="http://schemas.microsoft.com/office/drawing/2014/main" id="{DFE87931-AC7E-4009-BCED-CAFC3712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29075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1-purpose">
            <a:extLst xmlns:a="http://schemas.openxmlformats.org/drawingml/2006/main">
              <a:ext uri="{FF2B5EF4-FFF2-40B4-BE49-F238E27FC236}">
                <a16:creationId xmlns:a16="http://schemas.microsoft.com/office/drawing/2014/main" id="{39071DA9-97FE-4F48-AEDB-015EA9BB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VALIDATE  →  BOOK  →  VALUE  →  SURVIVE OUTAGES</a:t>
            </a:r>
          </a:p>
        </p:txBody>
      </p:sp>
      <p:sp>
        <p:nvSpPr>
          <p:cNvPr id="7" name="s1-circle-validate">
            <a:extLst xmlns:a="http://schemas.openxmlformats.org/drawingml/2006/main">
              <a:ext uri="{FF2B5EF4-FFF2-40B4-BE49-F238E27FC236}">
                <a16:creationId xmlns:a16="http://schemas.microsoft.com/office/drawing/2014/main" id="{7E872ABB-C27F-4EE7-83B5-4F310B30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8" name="s1-circle-book">
            <a:extLst xmlns:a="http://schemas.openxmlformats.org/drawingml/2006/main">
              <a:ext uri="{FF2B5EF4-FFF2-40B4-BE49-F238E27FC236}">
                <a16:creationId xmlns:a16="http://schemas.microsoft.com/office/drawing/2014/main" id="{326B4211-4896-44E8-8714-CCBDCC2D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6230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" name="s1-circle-value">
            <a:extLst xmlns:a="http://schemas.openxmlformats.org/drawingml/2006/main">
              <a:ext uri="{FF2B5EF4-FFF2-40B4-BE49-F238E27FC236}">
                <a16:creationId xmlns:a16="http://schemas.microsoft.com/office/drawing/2014/main" id="{8DD85B42-9FB8-4F83-A828-033B5BB2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1485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9050">
            <a:solidFill>
              <a:srgbClr val="0F172A"/>
            </a:solidFill>
            <a:prstDash val="solid"/>
          </a:ln>
        </p:spPr>
      </p:sp>
      <p:cxnSp>
        <p:nvCxnSpPr>
          <p:cNvPr id="7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9353550" y="2390775"/>
            <a:ext cx="190500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  <a:tailEnd type="triangle" w="med" len="med"/>
          </a:ln>
        </p:spPr>
      </p:cxnSp>
      <p:cxnSp>
        <p:nvCxnSpPr>
          <p:cNvPr id="72" name=""/>
          <p:cNvCxnSpPr>
            <a:stCxn xmlns:a="http://schemas.openxmlformats.org/drawingml/2006/main" id="8" idx="2"/>
            <a:endCxn xmlns:a="http://schemas.openxmlformats.org/drawingml/2006/main" id="9" idx="6"/>
          </p:cNvCxnSpPr>
          <p:nvPr/>
        </p:nvCxnSpPr>
        <p:spPr>
          <a:xfrm xmlns:a="http://schemas.openxmlformats.org/drawingml/2006/main" flipH="1">
            <a:off x="9353550" y="3743325"/>
            <a:ext cx="190500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  <a:tailEnd type="triangle" w="med" len="med"/>
          </a:ln>
        </p:spPr>
      </p:cxnSp>
      <p:sp>
        <p:nvSpPr>
          <p:cNvPr id="12" name="s1-circle-validate-text">
            <a:extLst xmlns:a="http://schemas.openxmlformats.org/drawingml/2006/main">
              <a:ext uri="{FF2B5EF4-FFF2-40B4-BE49-F238E27FC236}">
                <a16:creationId xmlns:a16="http://schemas.microsoft.com/office/drawing/2014/main" id="{115D2BFF-717C-488F-89A5-8B966628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24075"/>
            <a:ext cx="1009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3" name="s1-circle-book-text">
            <a:extLst xmlns:a="http://schemas.openxmlformats.org/drawingml/2006/main">
              <a:ext uri="{FF2B5EF4-FFF2-40B4-BE49-F238E27FC236}">
                <a16:creationId xmlns:a16="http://schemas.microsoft.com/office/drawing/2014/main" id="{9C89AE84-A77B-47C8-BBC4-8CB2F8B2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76625"/>
            <a:ext cx="81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BOOK</a:t>
            </a:r>
          </a:p>
        </p:txBody>
      </p:sp>
      <p:sp>
        <p:nvSpPr>
          <p:cNvPr id="14" name="s1-circle-value-text">
            <a:extLst xmlns:a="http://schemas.openxmlformats.org/drawingml/2006/main">
              <a:ext uri="{FF2B5EF4-FFF2-40B4-BE49-F238E27FC236}">
                <a16:creationId xmlns:a16="http://schemas.microsoft.com/office/drawing/2014/main" id="{3BEC6C82-1002-4AC4-B18D-F071C1D4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29175"/>
            <a:ext cx="81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15" name="s1-verified">
            <a:extLst xmlns:a="http://schemas.openxmlformats.org/drawingml/2006/main">
              <a:ext uri="{FF2B5EF4-FFF2-40B4-BE49-F238E27FC236}">
                <a16:creationId xmlns:a16="http://schemas.microsoft.com/office/drawing/2014/main" id="{DA2C1152-3E57-4475-BBFF-E4C6993E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7239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5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4-PERSON TEAM · LIVE DEMO</a:t>
            </a:r>
          </a:p>
        </p:txBody>
      </p:sp>
      <p:sp>
        <p:nvSpPr>
          <p:cNvPr id="16" name="s1-footer-note">
            <a:extLst xmlns:a="http://schemas.openxmlformats.org/drawingml/2006/main">
              <a:ext uri="{FF2B5EF4-FFF2-40B4-BE49-F238E27FC236}">
                <a16:creationId xmlns:a16="http://schemas.microsoft.com/office/drawing/2014/main" id="{1B910B0C-1844-415C-AD13-90E63D0D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Equity Trade Booking Engine · React + Spring Boot + MySQL + Redis</a:t>
            </a:r>
          </a:p>
        </p:txBody>
      </p:sp>
      <p:sp>
        <p:nvSpPr>
          <p:cNvPr id="17" name="s1-footer-page">
            <a:extLst xmlns:a="http://schemas.openxmlformats.org/drawingml/2006/main">
              <a:ext uri="{FF2B5EF4-FFF2-40B4-BE49-F238E27FC236}">
                <a16:creationId xmlns:a16="http://schemas.microsoft.com/office/drawing/2014/main" id="{B1E06B8E-3018-4274-8AD3-1FC48F49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847338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title-en">
            <a:extLst xmlns:a="http://schemas.openxmlformats.org/drawingml/2006/main">
              <a:ext uri="{FF2B5EF4-FFF2-40B4-BE49-F238E27FC236}">
                <a16:creationId xmlns:a16="http://schemas.microsoft.com/office/drawing/2014/main" id="{40AEF6D3-26CD-4698-9729-F76241B6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Execution is done. The risk is not.</a:t>
            </a:r>
          </a:p>
        </p:txBody>
      </p:sp>
      <p:sp>
        <p:nvSpPr>
          <p:cNvPr id="2" name="s3-title-zh">
            <a:extLst xmlns:a="http://schemas.openxmlformats.org/drawingml/2006/main">
              <a:ext uri="{FF2B5EF4-FFF2-40B4-BE49-F238E27FC236}">
                <a16:creationId xmlns:a16="http://schemas.microsoft.com/office/drawing/2014/main" id="{7093247D-0B9A-4607-95E4-BADCA643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3-title-rule">
            <a:extLst xmlns:a="http://schemas.openxmlformats.org/drawingml/2006/main">
              <a:ext uri="{FF2B5EF4-FFF2-40B4-BE49-F238E27FC236}">
                <a16:creationId xmlns:a16="http://schemas.microsoft.com/office/drawing/2014/main" id="{7752C513-CB7F-404B-AEBF-2E86E74E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3-col-0-accent">
            <a:extLst xmlns:a="http://schemas.openxmlformats.org/drawingml/2006/main">
              <a:ext uri="{FF2B5EF4-FFF2-40B4-BE49-F238E27FC236}">
                <a16:creationId xmlns:a16="http://schemas.microsoft.com/office/drawing/2014/main" id="{A60168F8-E869-49B1-A96E-B4893493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s3-col-0-num">
            <a:extLst xmlns:a="http://schemas.openxmlformats.org/drawingml/2006/main">
              <a:ext uri="{FF2B5EF4-FFF2-40B4-BE49-F238E27FC236}">
                <a16:creationId xmlns:a16="http://schemas.microsoft.com/office/drawing/2014/main" id="{55E991CD-DACF-4265-A43E-8D096B95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8117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30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3-col-0-title">
            <a:extLst xmlns:a="http://schemas.openxmlformats.org/drawingml/2006/main">
              <a:ext uri="{FF2B5EF4-FFF2-40B4-BE49-F238E27FC236}">
                <a16:creationId xmlns:a16="http://schemas.microsoft.com/office/drawing/2014/main" id="{1362B3F3-4E13-4B1C-8BC5-AACD3FF1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717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Ledger mismatch</a:t>
            </a:r>
          </a:p>
        </p:txBody>
      </p:sp>
      <p:sp>
        <p:nvSpPr>
          <p:cNvPr id="7" name="s3-col-0-zh">
            <a:extLst xmlns:a="http://schemas.openxmlformats.org/drawingml/2006/main">
              <a:ext uri="{FF2B5EF4-FFF2-40B4-BE49-F238E27FC236}">
                <a16:creationId xmlns:a16="http://schemas.microsoft.com/office/drawing/2014/main" id="{2156A96E-820A-4CBD-BBE1-B9F61B89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s3-col-0-panel">
            <a:extLst xmlns:a="http://schemas.openxmlformats.org/drawingml/2006/main">
              <a:ext uri="{FF2B5EF4-FFF2-40B4-BE49-F238E27FC236}">
                <a16:creationId xmlns:a16="http://schemas.microsoft.com/office/drawing/2014/main" id="{DA219C84-E0FA-450F-9B5E-DCCDC531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33725"/>
            <a:ext cx="3333750" cy="1628775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9" name="s3-col-0-bullet-0-dot">
            <a:extLst xmlns:a="http://schemas.openxmlformats.org/drawingml/2006/main">
              <a:ext uri="{FF2B5EF4-FFF2-40B4-BE49-F238E27FC236}">
                <a16:creationId xmlns:a16="http://schemas.microsoft.com/office/drawing/2014/main" id="{C39024FF-D555-421E-B406-85897552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s3-col-0-bullet-0-text">
            <a:extLst xmlns:a="http://schemas.openxmlformats.org/drawingml/2006/main">
              <a:ext uri="{FF2B5EF4-FFF2-40B4-BE49-F238E27FC236}">
                <a16:creationId xmlns:a16="http://schemas.microsoft.com/office/drawing/2014/main" id="{7B9F3EFD-11FA-4269-837E-C9290FDC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10 shares entered as 100</a:t>
            </a:r>
          </a:p>
        </p:txBody>
      </p:sp>
      <p:sp>
        <p:nvSpPr>
          <p:cNvPr id="11" name="s3-col-0-bullet-1-dot">
            <a:extLst xmlns:a="http://schemas.openxmlformats.org/drawingml/2006/main">
              <a:ext uri="{FF2B5EF4-FFF2-40B4-BE49-F238E27FC236}">
                <a16:creationId xmlns:a16="http://schemas.microsoft.com/office/drawing/2014/main" id="{475CEE82-0228-45D5-A09D-D4DCECE7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s3-col-0-bullet-1-text">
            <a:extLst xmlns:a="http://schemas.openxmlformats.org/drawingml/2006/main">
              <a:ext uri="{FF2B5EF4-FFF2-40B4-BE49-F238E27FC236}">
                <a16:creationId xmlns:a16="http://schemas.microsoft.com/office/drawing/2014/main" id="{FD9355A5-619F-4CA9-B69A-7CBA2AE6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8142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Manual correction loops</a:t>
            </a:r>
          </a:p>
        </p:txBody>
      </p:sp>
      <p:sp>
        <p:nvSpPr>
          <p:cNvPr id="13" name="s3-col-0-bullet-2-dot">
            <a:extLst xmlns:a="http://schemas.openxmlformats.org/drawingml/2006/main">
              <a:ext uri="{FF2B5EF4-FFF2-40B4-BE49-F238E27FC236}">
                <a16:creationId xmlns:a16="http://schemas.microsoft.com/office/drawing/2014/main" id="{61110ECD-C9BB-47A3-8ACE-F443CDF8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s3-col-0-bullet-2-text">
            <a:extLst xmlns:a="http://schemas.openxmlformats.org/drawingml/2006/main">
              <a:ext uri="{FF2B5EF4-FFF2-40B4-BE49-F238E27FC236}">
                <a16:creationId xmlns:a16="http://schemas.microsoft.com/office/drawing/2014/main" id="{4246E302-D610-4BA7-B266-BAA673CD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Audit trail unclear</a:t>
            </a:r>
          </a:p>
        </p:txBody>
      </p:sp>
      <p:sp>
        <p:nvSpPr>
          <p:cNvPr id="15" name="s3-col-1-accent">
            <a:extLst xmlns:a="http://schemas.openxmlformats.org/drawingml/2006/main">
              <a:ext uri="{FF2B5EF4-FFF2-40B4-BE49-F238E27FC236}">
                <a16:creationId xmlns:a16="http://schemas.microsoft.com/office/drawing/2014/main" id="{CC5A9F8B-132F-4895-BD82-3A03B19F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543050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C90"/>
          </a:solidFill>
          <a:ln xmlns:a="http://schemas.openxmlformats.org/drawingml/2006/main" w="0">
            <a:solidFill>
              <a:srgbClr val="174C90"/>
            </a:solidFill>
            <a:prstDash val="solid"/>
          </a:ln>
        </p:spPr>
      </p:sp>
      <p:sp>
        <p:nvSpPr>
          <p:cNvPr id="16" name="s3-col-1-num">
            <a:extLst xmlns:a="http://schemas.openxmlformats.org/drawingml/2006/main">
              <a:ext uri="{FF2B5EF4-FFF2-40B4-BE49-F238E27FC236}">
                <a16:creationId xmlns:a16="http://schemas.microsoft.com/office/drawing/2014/main" id="{02FFE8D2-9DDC-476F-9195-2D7A0A3D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8117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5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305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3-col-1-title">
            <a:extLst xmlns:a="http://schemas.openxmlformats.org/drawingml/2006/main">
              <a:ext uri="{FF2B5EF4-FFF2-40B4-BE49-F238E27FC236}">
                <a16:creationId xmlns:a16="http://schemas.microsoft.com/office/drawing/2014/main" id="{61240DE3-A08C-4EB2-B8DE-E3FD3984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3717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Stale visibility</a:t>
            </a:r>
          </a:p>
        </p:txBody>
      </p:sp>
      <p:sp>
        <p:nvSpPr>
          <p:cNvPr id="18" name="s3-col-1-zh">
            <a:extLst xmlns:a="http://schemas.openxmlformats.org/drawingml/2006/main">
              <a:ext uri="{FF2B5EF4-FFF2-40B4-BE49-F238E27FC236}">
                <a16:creationId xmlns:a16="http://schemas.microsoft.com/office/drawing/2014/main" id="{F84A6070-BAAA-40EF-A627-7FB911CD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7051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9" name="s3-col-1-panel">
            <a:extLst xmlns:a="http://schemas.openxmlformats.org/drawingml/2006/main">
              <a:ext uri="{FF2B5EF4-FFF2-40B4-BE49-F238E27FC236}">
                <a16:creationId xmlns:a16="http://schemas.microsoft.com/office/drawing/2014/main" id="{8244CDAC-8DC6-4100-8F33-CDEB8E46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133725"/>
            <a:ext cx="3333750" cy="1628775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0" name="s3-col-1-bullet-0-dot">
            <a:extLst xmlns:a="http://schemas.openxmlformats.org/drawingml/2006/main">
              <a:ext uri="{FF2B5EF4-FFF2-40B4-BE49-F238E27FC236}">
                <a16:creationId xmlns:a16="http://schemas.microsoft.com/office/drawing/2014/main" id="{E7624E89-80C6-4B0F-A27E-DBEE6572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400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90"/>
          </a:solidFill>
          <a:ln xmlns:a="http://schemas.openxmlformats.org/drawingml/2006/main" w="0">
            <a:solidFill>
              <a:srgbClr val="174C90"/>
            </a:solidFill>
            <a:prstDash val="solid"/>
          </a:ln>
        </p:spPr>
      </p:sp>
      <p:sp>
        <p:nvSpPr>
          <p:cNvPr id="21" name="s3-col-1-bullet-0-text">
            <a:extLst xmlns:a="http://schemas.openxmlformats.org/drawingml/2006/main">
              <a:ext uri="{FF2B5EF4-FFF2-40B4-BE49-F238E27FC236}">
                <a16:creationId xmlns:a16="http://schemas.microsoft.com/office/drawing/2014/main" id="{E2784A7F-2206-4384-997D-CB1767FE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3337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Position lags behind</a:t>
            </a:r>
          </a:p>
        </p:txBody>
      </p:sp>
      <p:sp>
        <p:nvSpPr>
          <p:cNvPr id="22" name="s3-col-1-bullet-1-dot">
            <a:extLst xmlns:a="http://schemas.openxmlformats.org/drawingml/2006/main">
              <a:ext uri="{FF2B5EF4-FFF2-40B4-BE49-F238E27FC236}">
                <a16:creationId xmlns:a16="http://schemas.microsoft.com/office/drawing/2014/main" id="{CBBAA586-5F80-4E78-AD4D-4964E257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48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90"/>
          </a:solidFill>
          <a:ln xmlns:a="http://schemas.openxmlformats.org/drawingml/2006/main" w="0">
            <a:solidFill>
              <a:srgbClr val="174C90"/>
            </a:solidFill>
            <a:prstDash val="solid"/>
          </a:ln>
        </p:spPr>
      </p:sp>
      <p:sp>
        <p:nvSpPr>
          <p:cNvPr id="23" name="s3-col-1-bullet-1-text">
            <a:extLst xmlns:a="http://schemas.openxmlformats.org/drawingml/2006/main">
              <a:ext uri="{FF2B5EF4-FFF2-40B4-BE49-F238E27FC236}">
                <a16:creationId xmlns:a16="http://schemas.microsoft.com/office/drawing/2014/main" id="{680B44EE-B150-4175-BC65-77F9FCDB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78142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P&amp;L stays uncertain</a:t>
            </a:r>
          </a:p>
        </p:txBody>
      </p:sp>
      <p:sp>
        <p:nvSpPr>
          <p:cNvPr id="24" name="s3-col-1-bullet-2-dot">
            <a:extLst xmlns:a="http://schemas.openxmlformats.org/drawingml/2006/main">
              <a:ext uri="{FF2B5EF4-FFF2-40B4-BE49-F238E27FC236}">
                <a16:creationId xmlns:a16="http://schemas.microsoft.com/office/drawing/2014/main" id="{D4F29C3E-C5E8-4524-B8FF-BAC6624A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295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90"/>
          </a:solidFill>
          <a:ln xmlns:a="http://schemas.openxmlformats.org/drawingml/2006/main" w="0">
            <a:solidFill>
              <a:srgbClr val="174C90"/>
            </a:solidFill>
            <a:prstDash val="solid"/>
          </a:ln>
        </p:spPr>
      </p:sp>
      <p:sp>
        <p:nvSpPr>
          <p:cNvPr id="25" name="s3-col-1-bullet-2-text">
            <a:extLst xmlns:a="http://schemas.openxmlformats.org/drawingml/2006/main">
              <a:ext uri="{FF2B5EF4-FFF2-40B4-BE49-F238E27FC236}">
                <a16:creationId xmlns:a16="http://schemas.microsoft.com/office/drawing/2014/main" id="{3840968C-98BB-465D-B0EC-A5B7CAAC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22910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Decisions arrive late</a:t>
            </a:r>
          </a:p>
        </p:txBody>
      </p:sp>
      <p:sp>
        <p:nvSpPr>
          <p:cNvPr id="26" name="s3-col-2-accent">
            <a:extLst xmlns:a="http://schemas.openxmlformats.org/drawingml/2006/main">
              <a:ext uri="{FF2B5EF4-FFF2-40B4-BE49-F238E27FC236}">
                <a16:creationId xmlns:a16="http://schemas.microsoft.com/office/drawing/2014/main" id="{54A651B3-597A-40D0-9477-9F5A6055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43050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7" name="s3-col-2-num">
            <a:extLst xmlns:a="http://schemas.openxmlformats.org/drawingml/2006/main">
              <a:ext uri="{FF2B5EF4-FFF2-40B4-BE49-F238E27FC236}">
                <a16:creationId xmlns:a16="http://schemas.microsoft.com/office/drawing/2014/main" id="{4FA438B2-0E46-4144-AC95-E5155DB6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8117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5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305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8" name="s3-col-2-title">
            <a:extLst xmlns:a="http://schemas.openxmlformats.org/drawingml/2006/main">
              <a:ext uri="{FF2B5EF4-FFF2-40B4-BE49-F238E27FC236}">
                <a16:creationId xmlns:a16="http://schemas.microsoft.com/office/drawing/2014/main" id="{8CBD4AD1-6E98-455F-A70B-87DC4BA3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717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Quote outage</a:t>
            </a:r>
          </a:p>
        </p:txBody>
      </p:sp>
      <p:sp>
        <p:nvSpPr>
          <p:cNvPr id="29" name="s3-col-2-zh">
            <a:extLst xmlns:a="http://schemas.openxmlformats.org/drawingml/2006/main">
              <a:ext uri="{FF2B5EF4-FFF2-40B4-BE49-F238E27FC236}">
                <a16:creationId xmlns:a16="http://schemas.microsoft.com/office/drawing/2014/main" id="{FDB2ED1A-16B1-4BE1-AAA3-319D0FDA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051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0" name="s3-col-2-panel">
            <a:extLst xmlns:a="http://schemas.openxmlformats.org/drawingml/2006/main">
              <a:ext uri="{FF2B5EF4-FFF2-40B4-BE49-F238E27FC236}">
                <a16:creationId xmlns:a16="http://schemas.microsoft.com/office/drawing/2014/main" id="{24D9CDDE-D9EA-4F91-B9C5-E65DD235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33725"/>
            <a:ext cx="3333750" cy="1628775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31" name="s3-col-2-bullet-0-dot">
            <a:extLst xmlns:a="http://schemas.openxmlformats.org/drawingml/2006/main">
              <a:ext uri="{FF2B5EF4-FFF2-40B4-BE49-F238E27FC236}">
                <a16:creationId xmlns:a16="http://schemas.microsoft.com/office/drawing/2014/main" id="{7C72FE32-89BA-42F1-8951-2120CE47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00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32" name="s3-col-2-bullet-0-text">
            <a:extLst xmlns:a="http://schemas.openxmlformats.org/drawingml/2006/main">
              <a:ext uri="{FF2B5EF4-FFF2-40B4-BE49-F238E27FC236}">
                <a16:creationId xmlns:a16="http://schemas.microsoft.com/office/drawing/2014/main" id="{9323CB3B-24A7-4F13-974F-C7EAE37C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337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Provider timeout</a:t>
            </a:r>
          </a:p>
        </p:txBody>
      </p:sp>
      <p:sp>
        <p:nvSpPr>
          <p:cNvPr id="33" name="s3-col-2-bullet-1-dot">
            <a:extLst xmlns:a="http://schemas.openxmlformats.org/drawingml/2006/main">
              <a:ext uri="{FF2B5EF4-FFF2-40B4-BE49-F238E27FC236}">
                <a16:creationId xmlns:a16="http://schemas.microsoft.com/office/drawing/2014/main" id="{EBA847F9-A01D-4A37-9A55-F3C48F0D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48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34" name="s3-col-2-bullet-1-text">
            <a:extLst xmlns:a="http://schemas.openxmlformats.org/drawingml/2006/main">
              <a:ext uri="{FF2B5EF4-FFF2-40B4-BE49-F238E27FC236}">
                <a16:creationId xmlns:a16="http://schemas.microsoft.com/office/drawing/2014/main" id="{6EEF73C4-CBF4-4014-BB9E-3D98B4D5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8142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Dashboard stalls</a:t>
            </a:r>
          </a:p>
        </p:txBody>
      </p:sp>
      <p:sp>
        <p:nvSpPr>
          <p:cNvPr id="35" name="s3-col-2-bullet-2-dot">
            <a:extLst xmlns:a="http://schemas.openxmlformats.org/drawingml/2006/main">
              <a:ext uri="{FF2B5EF4-FFF2-40B4-BE49-F238E27FC236}">
                <a16:creationId xmlns:a16="http://schemas.microsoft.com/office/drawing/2014/main" id="{43C93D22-A7F8-4D01-9053-1A16ACCA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95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36" name="s3-col-2-bullet-2-text">
            <a:extLst xmlns:a="http://schemas.openxmlformats.org/drawingml/2006/main">
              <a:ext uri="{FF2B5EF4-FFF2-40B4-BE49-F238E27FC236}">
                <a16:creationId xmlns:a16="http://schemas.microsoft.com/office/drawing/2014/main" id="{654FEA71-C07F-4DBE-97AF-BE0C7239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2910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Trust collapses</a:t>
            </a:r>
          </a:p>
        </p:txBody>
      </p:sp>
      <p:sp>
        <p:nvSpPr>
          <p:cNvPr id="37" name="s3-summary-band">
            <a:extLst xmlns:a="http://schemas.openxmlformats.org/drawingml/2006/main">
              <a:ext uri="{FF2B5EF4-FFF2-40B4-BE49-F238E27FC236}">
                <a16:creationId xmlns:a16="http://schemas.microsoft.com/office/drawing/2014/main" id="{AB9A3213-BF31-42FF-B60E-A8D3B4D7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7823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38" name="s3-summary">
            <a:extLst xmlns:a="http://schemas.openxmlformats.org/drawingml/2006/main">
              <a:ext uri="{FF2B5EF4-FFF2-40B4-BE49-F238E27FC236}">
                <a16:creationId xmlns:a16="http://schemas.microsoft.com/office/drawing/2014/main" id="{E408EDDD-D08E-4FBA-9645-4342B200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real problem is trusting everything that happens after execution.</a:t>
            </a:r>
          </a:p>
        </p:txBody>
      </p:sp>
      <p:sp>
        <p:nvSpPr>
          <p:cNvPr id="39" name="s3-footer-note">
            <a:extLst xmlns:a="http://schemas.openxmlformats.org/drawingml/2006/main">
              <a:ext uri="{FF2B5EF4-FFF2-40B4-BE49-F238E27FC236}">
                <a16:creationId xmlns:a16="http://schemas.microsoft.com/office/drawing/2014/main" id="{3AD51EDC-F567-432E-A2C1-45DF2C2B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Design target: accurate · explainable · resilient</a:t>
            </a:r>
          </a:p>
        </p:txBody>
      </p:sp>
      <p:sp>
        <p:nvSpPr>
          <p:cNvPr id="40" name="s3-footer-page">
            <a:extLst xmlns:a="http://schemas.openxmlformats.org/drawingml/2006/main">
              <a:ext uri="{FF2B5EF4-FFF2-40B4-BE49-F238E27FC236}">
                <a16:creationId xmlns:a16="http://schemas.microsoft.com/office/drawing/2014/main" id="{19490472-8F8D-4B72-83DF-A73230FC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46723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title-en">
            <a:extLst xmlns:a="http://schemas.openxmlformats.org/drawingml/2006/main">
              <a:ext uri="{FF2B5EF4-FFF2-40B4-BE49-F238E27FC236}">
                <a16:creationId xmlns:a16="http://schemas.microsoft.com/office/drawing/2014/main" id="{6F24A1FF-9A88-487F-8375-EAFA133D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Four owners, one integrated delivery</a:t>
            </a:r>
          </a:p>
        </p:txBody>
      </p:sp>
      <p:sp>
        <p:nvSpPr>
          <p:cNvPr id="2" name="s6-title-zh">
            <a:extLst xmlns:a="http://schemas.openxmlformats.org/drawingml/2006/main">
              <a:ext uri="{FF2B5EF4-FFF2-40B4-BE49-F238E27FC236}">
                <a16:creationId xmlns:a16="http://schemas.microsoft.com/office/drawing/2014/main" id="{5102D7F7-F018-4AAB-9EDC-85747228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6-title-rule">
            <a:extLst xmlns:a="http://schemas.openxmlformats.org/drawingml/2006/main">
              <a:ext uri="{FF2B5EF4-FFF2-40B4-BE49-F238E27FC236}">
                <a16:creationId xmlns:a16="http://schemas.microsoft.com/office/drawing/2014/main" id="{54C825A1-7538-423A-8AF2-98D8A323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33400" y="1581150"/>
          <a:ext xmlns:a="http://schemas.openxmlformats.org/drawingml/2006/main" cx="111252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00200"/>
                <a:gridCol w="2476500"/>
                <a:gridCol w="3829050"/>
                <a:gridCol w="3219450"/>
              </a:tblGrid>
              <a:tr h="598714">
                <a:tc>
                  <a:txBody>
                    <a:bodyPr/>
                    <a:lstStyle/>
                    <a:p>
                      <a:r>
                        <a:rPr sz="1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Member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Primary role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Owns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Presentation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Product &amp; story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Requirements + flow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Open + close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Backend &amp; domain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Booking + positions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Architecture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Frontend &amp;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React UX + MySQL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Core logic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Reliability &amp; QA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Redis + testing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Live demo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Shared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Integration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API contracts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End to end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Outcome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Complete system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Deployed stack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One proof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s6-correction">
            <a:extLst xmlns:a="http://schemas.openxmlformats.org/drawingml/2006/main">
              <a:ext uri="{FF2B5EF4-FFF2-40B4-BE49-F238E27FC236}">
                <a16:creationId xmlns:a16="http://schemas.microsoft.com/office/drawing/2014/main" id="{A25BB6E9-1501-46BA-9ECD-C1F3B5DE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11125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6" name="s6-correction-text">
            <a:extLst xmlns:a="http://schemas.openxmlformats.org/drawingml/2006/main">
              <a:ext uri="{FF2B5EF4-FFF2-40B4-BE49-F238E27FC236}">
                <a16:creationId xmlns:a16="http://schemas.microsoft.com/office/drawing/2014/main" id="{C3F5D618-F47E-406B-9D63-9D039CE6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5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Shared ownership: integration · testing · delivery</a:t>
            </a:r>
          </a:p>
        </p:txBody>
      </p:sp>
      <p:sp>
        <p:nvSpPr>
          <p:cNvPr id="7" name="s6-footer-note">
            <a:extLst xmlns:a="http://schemas.openxmlformats.org/drawingml/2006/main">
              <a:ext uri="{FF2B5EF4-FFF2-40B4-BE49-F238E27FC236}">
                <a16:creationId xmlns:a16="http://schemas.microsoft.com/office/drawing/2014/main" id="{D4B727FB-7A01-4F69-B512-331BD15E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Group 05 — Give me five</a:t>
            </a:r>
          </a:p>
        </p:txBody>
      </p:sp>
      <p:sp>
        <p:nvSpPr>
          <p:cNvPr id="8" name="s6-footer-page">
            <a:extLst xmlns:a="http://schemas.openxmlformats.org/drawingml/2006/main">
              <a:ext uri="{FF2B5EF4-FFF2-40B4-BE49-F238E27FC236}">
                <a16:creationId xmlns:a16="http://schemas.microsoft.com/office/drawing/2014/main" id="{19DAEECD-3FB5-4FFC-8842-FCED0AF2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599381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title-en">
            <a:extLst xmlns:a="http://schemas.openxmlformats.org/drawingml/2006/main">
              <a:ext uri="{FF2B5EF4-FFF2-40B4-BE49-F238E27FC236}">
                <a16:creationId xmlns:a16="http://schemas.microsoft.com/office/drawing/2014/main" id="{B3AA4E52-6D48-4D3A-B230-0E53F911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Three acts, one proof point</a:t>
            </a:r>
          </a:p>
        </p:txBody>
      </p:sp>
      <p:sp>
        <p:nvSpPr>
          <p:cNvPr id="2" name="s2-title-zh">
            <a:extLst xmlns:a="http://schemas.openxmlformats.org/drawingml/2006/main">
              <a:ext uri="{FF2B5EF4-FFF2-40B4-BE49-F238E27FC236}">
                <a16:creationId xmlns:a16="http://schemas.microsoft.com/office/drawing/2014/main" id="{105C1188-864F-49A9-87DB-9150387A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2-title-rule">
            <a:extLst xmlns:a="http://schemas.openxmlformats.org/drawingml/2006/main">
              <a:ext uri="{FF2B5EF4-FFF2-40B4-BE49-F238E27FC236}">
                <a16:creationId xmlns:a16="http://schemas.microsoft.com/office/drawing/2014/main" id="{EFD7A45D-0B9C-4D1F-8864-994D4C24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2-big-en">
            <a:extLst xmlns:a="http://schemas.openxmlformats.org/drawingml/2006/main">
              <a:ext uri="{FF2B5EF4-FFF2-40B4-BE49-F238E27FC236}">
                <a16:creationId xmlns:a16="http://schemas.microsoft.com/office/drawing/2014/main" id="{474052DF-A3AC-41D3-A4EC-2CCBCDF9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WHY</a:t>
            </a:r>
          </a:p>
          <a:p xmlns:a="http://schemas.openxmlformats.org/drawingml/2006/main">
            <a:pPr algn="l">
              <a:buNone/>
              <a:defRPr sz="26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BUILD</a:t>
            </a:r>
          </a:p>
          <a:p xmlns:a="http://schemas.openxmlformats.org/drawingml/2006/main">
            <a:pPr algn="l">
              <a:buNone/>
              <a:defRPr sz="26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PROVE</a:t>
            </a:r>
          </a:p>
        </p:txBody>
      </p:sp>
      <p:sp>
        <p:nvSpPr>
          <p:cNvPr id="5" name="s2-big-zh">
            <a:extLst xmlns:a="http://schemas.openxmlformats.org/drawingml/2006/main">
              <a:ext uri="{FF2B5EF4-FFF2-40B4-BE49-F238E27FC236}">
                <a16:creationId xmlns:a16="http://schemas.microsoft.com/office/drawing/2014/main" id="{D307E958-F5B2-4317-A493-5D480C33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2-not-trading">
            <a:extLst xmlns:a="http://schemas.openxmlformats.org/drawingml/2006/main">
              <a:ext uri="{FF2B5EF4-FFF2-40B4-BE49-F238E27FC236}">
                <a16:creationId xmlns:a16="http://schemas.microsoft.com/office/drawing/2014/main" id="{96DCFAAF-B319-4AA3-A37A-727ED792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4953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7" name="s2-not-trading-en">
            <a:extLst xmlns:a="http://schemas.openxmlformats.org/drawingml/2006/main">
              <a:ext uri="{FF2B5EF4-FFF2-40B4-BE49-F238E27FC236}">
                <a16:creationId xmlns:a16="http://schemas.microsoft.com/office/drawing/2014/main" id="{8D7D91DE-99C5-4F73-9777-D661C48C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443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 i="0">
                <a:solidFill>
                  <a:srgbClr val="93C5FD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93C5FD"/>
                </a:solidFill>
                <a:latin typeface="Arial"/>
                <a:ea typeface="Arial"/>
                <a:cs typeface="Arial"/>
              </a:rPr>
              <a:t>10–12 MINUTES</a:t>
            </a:r>
          </a:p>
        </p:txBody>
      </p:sp>
      <p:sp>
        <p:nvSpPr>
          <p:cNvPr id="8" name="s2-not-trading-main">
            <a:extLst xmlns:a="http://schemas.openxmlformats.org/drawingml/2006/main">
              <a:ext uri="{FF2B5EF4-FFF2-40B4-BE49-F238E27FC236}">
                <a16:creationId xmlns:a16="http://schemas.microsoft.com/office/drawing/2014/main" id="{4E990B12-BF19-447F-BAE5-27EFE2F9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demo is the proof</a:t>
            </a:r>
          </a:p>
        </p:txBody>
      </p:sp>
      <p:sp>
        <p:nvSpPr>
          <p:cNvPr id="9" name="s2-step1-box">
            <a:extLst xmlns:a="http://schemas.openxmlformats.org/drawingml/2006/main">
              <a:ext uri="{FF2B5EF4-FFF2-40B4-BE49-F238E27FC236}">
                <a16:creationId xmlns:a16="http://schemas.microsoft.com/office/drawing/2014/main" id="{6B6C3600-98C4-40C8-9901-32FF8746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57350"/>
            <a:ext cx="4667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0" name="s2-step1-en">
            <a:extLst xmlns:a="http://schemas.openxmlformats.org/drawingml/2006/main">
              <a:ext uri="{FF2B5EF4-FFF2-40B4-BE49-F238E27FC236}">
                <a16:creationId xmlns:a16="http://schemas.microsoft.com/office/drawing/2014/main" id="{FDD5E824-F965-4522-984E-D7E3C36E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71650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1 · Problem and product value</a:t>
            </a:r>
          </a:p>
        </p:txBody>
      </p:sp>
      <p:sp>
        <p:nvSpPr>
          <p:cNvPr id="11" name="s2-step1-zh">
            <a:extLst xmlns:a="http://schemas.openxmlformats.org/drawingml/2006/main">
              <a:ext uri="{FF2B5EF4-FFF2-40B4-BE49-F238E27FC236}">
                <a16:creationId xmlns:a16="http://schemas.microsoft.com/office/drawing/2014/main" id="{5568A87E-AE3B-42A9-8282-D684B3A5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383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2" name="s2-step2-box">
            <a:extLst xmlns:a="http://schemas.openxmlformats.org/drawingml/2006/main">
              <a:ext uri="{FF2B5EF4-FFF2-40B4-BE49-F238E27FC236}">
                <a16:creationId xmlns:a16="http://schemas.microsoft.com/office/drawing/2014/main" id="{E234E2E9-C625-4CDB-BAA1-9CE7055E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43225"/>
            <a:ext cx="4667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3" name="s2-step2-en">
            <a:extLst xmlns:a="http://schemas.openxmlformats.org/drawingml/2006/main">
              <a:ext uri="{FF2B5EF4-FFF2-40B4-BE49-F238E27FC236}">
                <a16:creationId xmlns:a16="http://schemas.microsoft.com/office/drawing/2014/main" id="{01B30F92-7CFC-4AFD-BB25-7AC9143F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57525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2 · Architecture and core logic</a:t>
            </a:r>
          </a:p>
        </p:txBody>
      </p:sp>
      <p:sp>
        <p:nvSpPr>
          <p:cNvPr id="14" name="s2-step2-zh">
            <a:extLst xmlns:a="http://schemas.openxmlformats.org/drawingml/2006/main">
              <a:ext uri="{FF2B5EF4-FFF2-40B4-BE49-F238E27FC236}">
                <a16:creationId xmlns:a16="http://schemas.microsoft.com/office/drawing/2014/main" id="{96B86F17-A775-4482-AD51-B836DFF9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2422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5" name="s2-step3-box">
            <a:extLst xmlns:a="http://schemas.openxmlformats.org/drawingml/2006/main">
              <a:ext uri="{FF2B5EF4-FFF2-40B4-BE49-F238E27FC236}">
                <a16:creationId xmlns:a16="http://schemas.microsoft.com/office/drawing/2014/main" id="{FE626A1A-9417-4556-B3C3-9A115037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667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6" name="s2-step3-en">
            <a:extLst xmlns:a="http://schemas.openxmlformats.org/drawingml/2006/main">
              <a:ext uri="{FF2B5EF4-FFF2-40B4-BE49-F238E27FC236}">
                <a16:creationId xmlns:a16="http://schemas.microsoft.com/office/drawing/2014/main" id="{CEBD0C95-F54C-4C33-B87B-58ED228A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43400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3 · Outage demo and takeaways</a:t>
            </a:r>
          </a:p>
        </p:txBody>
      </p:sp>
      <p:sp>
        <p:nvSpPr>
          <p:cNvPr id="17" name="s2-step3-zh">
            <a:extLst xmlns:a="http://schemas.openxmlformats.org/drawingml/2006/main">
              <a:ext uri="{FF2B5EF4-FFF2-40B4-BE49-F238E27FC236}">
                <a16:creationId xmlns:a16="http://schemas.microsoft.com/office/drawing/2014/main" id="{8CA7E3EC-664A-49BB-B934-904A3822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101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cxnSp>
        <p:nvCxnSpPr>
          <p:cNvPr id="115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8734425" y="2647950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116" name=""/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8734425" y="393382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0" name="s2-footer-note">
            <a:extLst xmlns:a="http://schemas.openxmlformats.org/drawingml/2006/main">
              <a:ext uri="{FF2B5EF4-FFF2-40B4-BE49-F238E27FC236}">
                <a16:creationId xmlns:a16="http://schemas.microsoft.com/office/drawing/2014/main" id="{CF14F8B0-B47C-4B77-93C5-3A80EB30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Product  →  Engineering  →  Proof</a:t>
            </a:r>
          </a:p>
        </p:txBody>
      </p:sp>
      <p:sp>
        <p:nvSpPr>
          <p:cNvPr id="21" name="s2-footer-page">
            <a:extLst xmlns:a="http://schemas.openxmlformats.org/drawingml/2006/main">
              <a:ext uri="{FF2B5EF4-FFF2-40B4-BE49-F238E27FC236}">
                <a16:creationId xmlns:a16="http://schemas.microsoft.com/office/drawing/2014/main" id="{5DA9ADE4-1212-436A-B97F-9752C3F7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876175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title-en">
            <a:extLst xmlns:a="http://schemas.openxmlformats.org/drawingml/2006/main">
              <a:ext uri="{FF2B5EF4-FFF2-40B4-BE49-F238E27FC236}">
                <a16:creationId xmlns:a16="http://schemas.microsoft.com/office/drawing/2014/main" id="{B3AA4E52-6D48-4D3A-B230-0E53F911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After execution, TradeFlow owns the truth</a:t>
            </a:r>
          </a:p>
        </p:txBody>
      </p:sp>
      <p:sp>
        <p:nvSpPr>
          <p:cNvPr id="2" name="s2-title-zh">
            <a:extLst xmlns:a="http://schemas.openxmlformats.org/drawingml/2006/main">
              <a:ext uri="{FF2B5EF4-FFF2-40B4-BE49-F238E27FC236}">
                <a16:creationId xmlns:a16="http://schemas.microsoft.com/office/drawing/2014/main" id="{105C1188-864F-49A9-87DB-9150387A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2-title-rule">
            <a:extLst xmlns:a="http://schemas.openxmlformats.org/drawingml/2006/main">
              <a:ext uri="{FF2B5EF4-FFF2-40B4-BE49-F238E27FC236}">
                <a16:creationId xmlns:a16="http://schemas.microsoft.com/office/drawing/2014/main" id="{EFD7A45D-0B9C-4D1F-8864-994D4C24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2-big-en">
            <a:extLst xmlns:a="http://schemas.openxmlformats.org/drawingml/2006/main">
              <a:ext uri="{FF2B5EF4-FFF2-40B4-BE49-F238E27FC236}">
                <a16:creationId xmlns:a16="http://schemas.microsoft.com/office/drawing/2014/main" id="{474052DF-A3AC-41D3-A4EC-2CCBCDF9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Confirmed trade in.</a:t>
            </a:r>
          </a:p>
          <a:p xmlns:a="http://schemas.openxmlformats.org/drawingml/2006/main">
            <a:pPr algn="l">
              <a:buNone/>
              <a:defRPr sz="26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Trusted position out.</a:t>
            </a:r>
          </a:p>
        </p:txBody>
      </p:sp>
      <p:sp>
        <p:nvSpPr>
          <p:cNvPr id="5" name="s2-big-zh">
            <a:extLst xmlns:a="http://schemas.openxmlformats.org/drawingml/2006/main">
              <a:ext uri="{FF2B5EF4-FFF2-40B4-BE49-F238E27FC236}">
                <a16:creationId xmlns:a16="http://schemas.microsoft.com/office/drawing/2014/main" id="{D307E958-F5B2-4317-A493-5D480C33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2-not-trading">
            <a:extLst xmlns:a="http://schemas.openxmlformats.org/drawingml/2006/main">
              <a:ext uri="{FF2B5EF4-FFF2-40B4-BE49-F238E27FC236}">
                <a16:creationId xmlns:a16="http://schemas.microsoft.com/office/drawing/2014/main" id="{96DCFAAF-B319-4AA3-A37A-727ED792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4953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7" name="s2-not-trading-en">
            <a:extLst xmlns:a="http://schemas.openxmlformats.org/drawingml/2006/main">
              <a:ext uri="{FF2B5EF4-FFF2-40B4-BE49-F238E27FC236}">
                <a16:creationId xmlns:a16="http://schemas.microsoft.com/office/drawing/2014/main" id="{8D7D91DE-99C5-4F73-9777-D661C48C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443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 i="0">
                <a:solidFill>
                  <a:srgbClr val="93C5FD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93C5FD"/>
                </a:solidFill>
                <a:latin typeface="Arial"/>
                <a:ea typeface="Arial"/>
                <a:cs typeface="Arial"/>
              </a:rPr>
              <a:t>SYSTEM BOUNDARY</a:t>
            </a:r>
          </a:p>
        </p:txBody>
      </p:sp>
      <p:sp>
        <p:nvSpPr>
          <p:cNvPr id="8" name="s2-not-trading-main">
            <a:extLst xmlns:a="http://schemas.openxmlformats.org/drawingml/2006/main">
              <a:ext uri="{FF2B5EF4-FFF2-40B4-BE49-F238E27FC236}">
                <a16:creationId xmlns:a16="http://schemas.microsoft.com/office/drawing/2014/main" id="{4E990B12-BF19-447F-BAE5-27EFE2F9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Not an exchange or OMS</a:t>
            </a:r>
          </a:p>
        </p:txBody>
      </p:sp>
      <p:sp>
        <p:nvSpPr>
          <p:cNvPr id="9" name="s2-step1-box">
            <a:extLst xmlns:a="http://schemas.openxmlformats.org/drawingml/2006/main">
              <a:ext uri="{FF2B5EF4-FFF2-40B4-BE49-F238E27FC236}">
                <a16:creationId xmlns:a16="http://schemas.microsoft.com/office/drawing/2014/main" id="{6B6C3600-98C4-40C8-9901-32FF8746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57350"/>
            <a:ext cx="4667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0" name="s2-step1-en">
            <a:extLst xmlns:a="http://schemas.openxmlformats.org/drawingml/2006/main">
              <a:ext uri="{FF2B5EF4-FFF2-40B4-BE49-F238E27FC236}">
                <a16:creationId xmlns:a16="http://schemas.microsoft.com/office/drawing/2014/main" id="{FDD5E824-F965-4522-984E-D7E3C36E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71650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Receive the confirmed trade</a:t>
            </a:r>
          </a:p>
        </p:txBody>
      </p:sp>
      <p:sp>
        <p:nvSpPr>
          <p:cNvPr id="11" name="s2-step1-zh">
            <a:extLst xmlns:a="http://schemas.openxmlformats.org/drawingml/2006/main">
              <a:ext uri="{FF2B5EF4-FFF2-40B4-BE49-F238E27FC236}">
                <a16:creationId xmlns:a16="http://schemas.microsoft.com/office/drawing/2014/main" id="{5568A87E-AE3B-42A9-8282-D684B3A5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383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2" name="s2-step2-box">
            <a:extLst xmlns:a="http://schemas.openxmlformats.org/drawingml/2006/main">
              <a:ext uri="{FF2B5EF4-FFF2-40B4-BE49-F238E27FC236}">
                <a16:creationId xmlns:a16="http://schemas.microsoft.com/office/drawing/2014/main" id="{E234E2E9-C625-4CDB-BAA1-9CE7055E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43225"/>
            <a:ext cx="4667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3" name="s2-step2-en">
            <a:extLst xmlns:a="http://schemas.openxmlformats.org/drawingml/2006/main">
              <a:ext uri="{FF2B5EF4-FFF2-40B4-BE49-F238E27FC236}">
                <a16:creationId xmlns:a16="http://schemas.microsoft.com/office/drawing/2014/main" id="{01B30F92-7CFC-4AFD-BB25-7AC9143F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57525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Validate, audit, and book</a:t>
            </a:r>
          </a:p>
        </p:txBody>
      </p:sp>
      <p:sp>
        <p:nvSpPr>
          <p:cNvPr id="14" name="s2-step2-zh">
            <a:extLst xmlns:a="http://schemas.openxmlformats.org/drawingml/2006/main">
              <a:ext uri="{FF2B5EF4-FFF2-40B4-BE49-F238E27FC236}">
                <a16:creationId xmlns:a16="http://schemas.microsoft.com/office/drawing/2014/main" id="{96B86F17-A775-4482-AD51-B836DFF9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2422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5" name="s2-step3-box">
            <a:extLst xmlns:a="http://schemas.openxmlformats.org/drawingml/2006/main">
              <a:ext uri="{FF2B5EF4-FFF2-40B4-BE49-F238E27FC236}">
                <a16:creationId xmlns:a16="http://schemas.microsoft.com/office/drawing/2014/main" id="{FE626A1A-9417-4556-B3C3-9A115037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667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6" name="s2-step3-en">
            <a:extLst xmlns:a="http://schemas.openxmlformats.org/drawingml/2006/main">
              <a:ext uri="{FF2B5EF4-FFF2-40B4-BE49-F238E27FC236}">
                <a16:creationId xmlns:a16="http://schemas.microsoft.com/office/drawing/2014/main" id="{CEBD0C95-F54C-4C33-B87B-58ED228A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43400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Recompute positions and P&amp;L</a:t>
            </a:r>
          </a:p>
        </p:txBody>
      </p:sp>
      <p:sp>
        <p:nvSpPr>
          <p:cNvPr id="17" name="s2-step3-zh">
            <a:extLst xmlns:a="http://schemas.openxmlformats.org/drawingml/2006/main">
              <a:ext uri="{FF2B5EF4-FFF2-40B4-BE49-F238E27FC236}">
                <a16:creationId xmlns:a16="http://schemas.microsoft.com/office/drawing/2014/main" id="{8CA7E3EC-664A-49BB-B934-904A3822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101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cxnSp>
        <p:nvCxnSpPr>
          <p:cNvPr id="115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8734425" y="2647950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116" name=""/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8734425" y="393382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0" name="s2-footer-note">
            <a:extLst xmlns:a="http://schemas.openxmlformats.org/drawingml/2006/main">
              <a:ext uri="{FF2B5EF4-FFF2-40B4-BE49-F238E27FC236}">
                <a16:creationId xmlns:a16="http://schemas.microsoft.com/office/drawing/2014/main" id="{CF14F8B0-B47C-4B77-93C5-3A80EB30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MySQL = system of record · Redis = quote cache</a:t>
            </a:r>
          </a:p>
        </p:txBody>
      </p:sp>
      <p:sp>
        <p:nvSpPr>
          <p:cNvPr id="21" name="s2-footer-page">
            <a:extLst xmlns:a="http://schemas.openxmlformats.org/drawingml/2006/main">
              <a:ext uri="{FF2B5EF4-FFF2-40B4-BE49-F238E27FC236}">
                <a16:creationId xmlns:a16="http://schemas.microsoft.com/office/drawing/2014/main" id="{5DA9ADE4-1212-436A-B97F-9752C3F7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876175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title-en">
            <a:extLst xmlns:a="http://schemas.openxmlformats.org/drawingml/2006/main">
              <a:ext uri="{FF2B5EF4-FFF2-40B4-BE49-F238E27FC236}">
                <a16:creationId xmlns:a16="http://schemas.microsoft.com/office/drawing/2014/main" id="{59A25792-A80A-4007-97E6-29782363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One timeline, one coherent architecture</a:t>
            </a:r>
          </a:p>
        </p:txBody>
      </p:sp>
      <p:sp>
        <p:nvSpPr>
          <p:cNvPr id="2" name="s5-title-zh">
            <a:extLst xmlns:a="http://schemas.openxmlformats.org/drawingml/2006/main">
              <a:ext uri="{FF2B5EF4-FFF2-40B4-BE49-F238E27FC236}">
                <a16:creationId xmlns:a16="http://schemas.microsoft.com/office/drawing/2014/main" id="{D2E1F51B-F0A0-4EBD-BBD1-0041A533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5-title-rule">
            <a:extLst xmlns:a="http://schemas.openxmlformats.org/drawingml/2006/main">
              <a:ext uri="{FF2B5EF4-FFF2-40B4-BE49-F238E27FC236}">
                <a16:creationId xmlns:a16="http://schemas.microsoft.com/office/drawing/2014/main" id="{E19C4680-95F8-4D3C-A869-4682A85C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5-frontend-box">
            <a:extLst xmlns:a="http://schemas.openxmlformats.org/drawingml/2006/main">
              <a:ext uri="{FF2B5EF4-FFF2-40B4-BE49-F238E27FC236}">
                <a16:creationId xmlns:a16="http://schemas.microsoft.com/office/drawing/2014/main" id="{FE4CE10B-15BF-4D6B-BD7C-AB124310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2381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5" name="s5-frontend-en">
            <a:extLst xmlns:a="http://schemas.openxmlformats.org/drawingml/2006/main">
              <a:ext uri="{FF2B5EF4-FFF2-40B4-BE49-F238E27FC236}">
                <a16:creationId xmlns:a16="http://schemas.microsoft.com/office/drawing/2014/main" id="{91DF06B7-5656-4D1D-A954-2CE61467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React Trade Console</a:t>
            </a:r>
          </a:p>
        </p:txBody>
      </p:sp>
      <p:sp>
        <p:nvSpPr>
          <p:cNvPr id="6" name="s5-frontend-zh">
            <a:extLst xmlns:a="http://schemas.openxmlformats.org/drawingml/2006/main">
              <a:ext uri="{FF2B5EF4-FFF2-40B4-BE49-F238E27FC236}">
                <a16:creationId xmlns:a16="http://schemas.microsoft.com/office/drawing/2014/main" id="{03A398C2-768D-421F-ACE8-AC961D66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BD5E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7" name="s5-api-box">
            <a:extLst xmlns:a="http://schemas.openxmlformats.org/drawingml/2006/main">
              <a:ext uri="{FF2B5EF4-FFF2-40B4-BE49-F238E27FC236}">
                <a16:creationId xmlns:a16="http://schemas.microsoft.com/office/drawing/2014/main" id="{BD475ECC-353A-453C-9FF8-941B737F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33550"/>
            <a:ext cx="4267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8" name="s5-api-en">
            <a:extLst xmlns:a="http://schemas.openxmlformats.org/drawingml/2006/main">
              <a:ext uri="{FF2B5EF4-FFF2-40B4-BE49-F238E27FC236}">
                <a16:creationId xmlns:a16="http://schemas.microsoft.com/office/drawing/2014/main" id="{F9C53E2B-20CF-461B-A45F-579107F9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47850"/>
            <a:ext cx="403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55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Spring Boot REST API</a:t>
            </a:r>
          </a:p>
        </p:txBody>
      </p:sp>
      <p:sp>
        <p:nvSpPr>
          <p:cNvPr id="9" name="s5-api-zh">
            <a:extLst xmlns:a="http://schemas.openxmlformats.org/drawingml/2006/main">
              <a:ext uri="{FF2B5EF4-FFF2-40B4-BE49-F238E27FC236}">
                <a16:creationId xmlns:a16="http://schemas.microsoft.com/office/drawing/2014/main" id="{30E409B2-D719-44FC-B15E-E1A9E477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145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" name="s5-provider-box">
            <a:extLst xmlns:a="http://schemas.openxmlformats.org/drawingml/2006/main">
              <a:ext uri="{FF2B5EF4-FFF2-40B4-BE49-F238E27FC236}">
                <a16:creationId xmlns:a16="http://schemas.microsoft.com/office/drawing/2014/main" id="{114D6700-806C-45D3-A915-0C7A0838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33550"/>
            <a:ext cx="2381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B45309"/>
            </a:solidFill>
            <a:prstDash val="solid"/>
          </a:ln>
        </p:spPr>
      </p:sp>
      <p:sp>
        <p:nvSpPr>
          <p:cNvPr id="11" name="s5-provider-en">
            <a:extLst xmlns:a="http://schemas.openxmlformats.org/drawingml/2006/main">
              <a:ext uri="{FF2B5EF4-FFF2-40B4-BE49-F238E27FC236}">
                <a16:creationId xmlns:a16="http://schemas.microsoft.com/office/drawing/2014/main" id="{8B2EBC0F-E8C1-4859-942B-399962DF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4785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Market Provider</a:t>
            </a:r>
          </a:p>
        </p:txBody>
      </p:sp>
      <p:sp>
        <p:nvSpPr>
          <p:cNvPr id="12" name="s5-provider-zh">
            <a:extLst xmlns:a="http://schemas.openxmlformats.org/drawingml/2006/main">
              <a:ext uri="{FF2B5EF4-FFF2-40B4-BE49-F238E27FC236}">
                <a16:creationId xmlns:a16="http://schemas.microsoft.com/office/drawing/2014/main" id="{DCF942EA-7569-45B5-9FDC-8F8A4982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145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3" name="s5-service-shell">
            <a:extLst xmlns:a="http://schemas.openxmlformats.org/drawingml/2006/main">
              <a:ext uri="{FF2B5EF4-FFF2-40B4-BE49-F238E27FC236}">
                <a16:creationId xmlns:a16="http://schemas.microsoft.com/office/drawing/2014/main" id="{B7BAAA44-6EFF-4B42-9A60-02A24B0A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86100"/>
            <a:ext cx="70485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4" name="s5-service-label">
            <a:extLst xmlns:a="http://schemas.openxmlformats.org/drawingml/2006/main">
              <a:ext uri="{FF2B5EF4-FFF2-40B4-BE49-F238E27FC236}">
                <a16:creationId xmlns:a16="http://schemas.microsoft.com/office/drawing/2014/main" id="{59F21A53-24B1-45E5-AE00-EBA7A822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57550"/>
            <a:ext cx="651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2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25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 &amp; DOMAIN</a:t>
            </a:r>
          </a:p>
        </p:txBody>
      </p:sp>
      <p:sp>
        <p:nvSpPr>
          <p:cNvPr id="15" name="s5-service-0-box">
            <a:extLst xmlns:a="http://schemas.openxmlformats.org/drawingml/2006/main">
              <a:ext uri="{FF2B5EF4-FFF2-40B4-BE49-F238E27FC236}">
                <a16:creationId xmlns:a16="http://schemas.microsoft.com/office/drawing/2014/main" id="{24E7F42A-AEA5-48BF-B78C-E1C642D8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14750"/>
            <a:ext cx="1428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6" name="s5-service-0-en">
            <a:extLst xmlns:a="http://schemas.openxmlformats.org/drawingml/2006/main">
              <a:ext uri="{FF2B5EF4-FFF2-40B4-BE49-F238E27FC236}">
                <a16:creationId xmlns:a16="http://schemas.microsoft.com/office/drawing/2014/main" id="{55167D51-D993-47D4-AEC5-9F7C368B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29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Trade</a:t>
            </a:r>
          </a:p>
        </p:txBody>
      </p:sp>
      <p:sp>
        <p:nvSpPr>
          <p:cNvPr id="17" name="s5-service-0-zh">
            <a:extLst xmlns:a="http://schemas.openxmlformats.org/drawingml/2006/main">
              <a:ext uri="{FF2B5EF4-FFF2-40B4-BE49-F238E27FC236}">
                <a16:creationId xmlns:a16="http://schemas.microsoft.com/office/drawing/2014/main" id="{156FB500-4533-42ED-81BA-41DF50B5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957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" name="s5-service-1-box">
            <a:extLst xmlns:a="http://schemas.openxmlformats.org/drawingml/2006/main">
              <a:ext uri="{FF2B5EF4-FFF2-40B4-BE49-F238E27FC236}">
                <a16:creationId xmlns:a16="http://schemas.microsoft.com/office/drawing/2014/main" id="{FC39CD63-BEF1-46B9-9B27-6812E603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1428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9" name="s5-service-1-en">
            <a:extLst xmlns:a="http://schemas.openxmlformats.org/drawingml/2006/main">
              <a:ext uri="{FF2B5EF4-FFF2-40B4-BE49-F238E27FC236}">
                <a16:creationId xmlns:a16="http://schemas.microsoft.com/office/drawing/2014/main" id="{BF373813-2F25-4F26-8AF4-46B2FA84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29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20" name="s5-service-1-zh">
            <a:extLst xmlns:a="http://schemas.openxmlformats.org/drawingml/2006/main">
              <a:ext uri="{FF2B5EF4-FFF2-40B4-BE49-F238E27FC236}">
                <a16:creationId xmlns:a16="http://schemas.microsoft.com/office/drawing/2014/main" id="{2D4E9891-9CA5-4646-AECF-374817D8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957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1" name="s5-service-2-box">
            <a:extLst xmlns:a="http://schemas.openxmlformats.org/drawingml/2006/main">
              <a:ext uri="{FF2B5EF4-FFF2-40B4-BE49-F238E27FC236}">
                <a16:creationId xmlns:a16="http://schemas.microsoft.com/office/drawing/2014/main" id="{68E64D5F-EC21-4BDA-BDB9-9135D068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14750"/>
            <a:ext cx="1428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2" name="s5-service-2-en">
            <a:extLst xmlns:a="http://schemas.openxmlformats.org/drawingml/2006/main">
              <a:ext uri="{FF2B5EF4-FFF2-40B4-BE49-F238E27FC236}">
                <a16:creationId xmlns:a16="http://schemas.microsoft.com/office/drawing/2014/main" id="{2AF3548C-4292-41A7-B86B-4134D5CE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29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Position</a:t>
            </a:r>
          </a:p>
        </p:txBody>
      </p:sp>
      <p:sp>
        <p:nvSpPr>
          <p:cNvPr id="23" name="s5-service-2-zh">
            <a:extLst xmlns:a="http://schemas.openxmlformats.org/drawingml/2006/main">
              <a:ext uri="{FF2B5EF4-FFF2-40B4-BE49-F238E27FC236}">
                <a16:creationId xmlns:a16="http://schemas.microsoft.com/office/drawing/2014/main" id="{1D0F80EC-177A-4B99-A287-9236A2E9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957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" name="s5-service-3-box">
            <a:extLst xmlns:a="http://schemas.openxmlformats.org/drawingml/2006/main">
              <a:ext uri="{FF2B5EF4-FFF2-40B4-BE49-F238E27FC236}">
                <a16:creationId xmlns:a16="http://schemas.microsoft.com/office/drawing/2014/main" id="{73E7FDCF-5BA7-488E-8140-F7A4E25D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14750"/>
            <a:ext cx="1428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5" name="s5-service-3-en">
            <a:extLst xmlns:a="http://schemas.openxmlformats.org/drawingml/2006/main">
              <a:ext uri="{FF2B5EF4-FFF2-40B4-BE49-F238E27FC236}">
                <a16:creationId xmlns:a16="http://schemas.microsoft.com/office/drawing/2014/main" id="{ABA8EA58-1617-4088-ABB0-85F4DF93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29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P&amp;L</a:t>
            </a:r>
          </a:p>
        </p:txBody>
      </p:sp>
      <p:sp>
        <p:nvSpPr>
          <p:cNvPr id="26" name="s5-service-3-zh">
            <a:extLst xmlns:a="http://schemas.openxmlformats.org/drawingml/2006/main">
              <a:ext uri="{FF2B5EF4-FFF2-40B4-BE49-F238E27FC236}">
                <a16:creationId xmlns:a16="http://schemas.microsoft.com/office/drawing/2014/main" id="{FE8548D5-8265-450A-BD01-4733CA2F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957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7" name="s5-mysql-box">
            <a:extLst xmlns:a="http://schemas.openxmlformats.org/drawingml/2006/main">
              <a:ext uri="{FF2B5EF4-FFF2-40B4-BE49-F238E27FC236}">
                <a16:creationId xmlns:a16="http://schemas.microsoft.com/office/drawing/2014/main" id="{9C644367-51E7-4959-800E-4D9ADC18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91150"/>
            <a:ext cx="276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74C90"/>
            </a:solidFill>
            <a:prstDash val="solid"/>
          </a:ln>
        </p:spPr>
      </p:sp>
      <p:sp>
        <p:nvSpPr>
          <p:cNvPr id="28" name="s5-mysql-en">
            <a:extLst xmlns:a="http://schemas.openxmlformats.org/drawingml/2006/main">
              <a:ext uri="{FF2B5EF4-FFF2-40B4-BE49-F238E27FC236}">
                <a16:creationId xmlns:a16="http://schemas.microsoft.com/office/drawing/2014/main" id="{8432874D-B1E8-4F8B-AACE-CBAB5F93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05450"/>
            <a:ext cx="2533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MySQL + Flyway</a:t>
            </a:r>
          </a:p>
        </p:txBody>
      </p:sp>
      <p:sp>
        <p:nvSpPr>
          <p:cNvPr id="29" name="s5-mysql-zh">
            <a:extLst xmlns:a="http://schemas.openxmlformats.org/drawingml/2006/main">
              <a:ext uri="{FF2B5EF4-FFF2-40B4-BE49-F238E27FC236}">
                <a16:creationId xmlns:a16="http://schemas.microsoft.com/office/drawing/2014/main" id="{C2E445B3-89F8-40BE-AF99-F7B5082F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721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0" name="s5-redis-box">
            <a:extLst xmlns:a="http://schemas.openxmlformats.org/drawingml/2006/main">
              <a:ext uri="{FF2B5EF4-FFF2-40B4-BE49-F238E27FC236}">
                <a16:creationId xmlns:a16="http://schemas.microsoft.com/office/drawing/2014/main" id="{9AA959F3-2F7E-49A7-8693-DFE78BC0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91150"/>
            <a:ext cx="276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74C90"/>
            </a:solidFill>
            <a:prstDash val="solid"/>
          </a:ln>
        </p:spPr>
      </p:sp>
      <p:sp>
        <p:nvSpPr>
          <p:cNvPr id="31" name="s5-redis-en">
            <a:extLst xmlns:a="http://schemas.openxmlformats.org/drawingml/2006/main">
              <a:ext uri="{FF2B5EF4-FFF2-40B4-BE49-F238E27FC236}">
                <a16:creationId xmlns:a16="http://schemas.microsoft.com/office/drawing/2014/main" id="{EDB955F3-CDB0-40C2-894B-E0B91C04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505450"/>
            <a:ext cx="2533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Redis Quote Cache</a:t>
            </a:r>
          </a:p>
        </p:txBody>
      </p:sp>
      <p:sp>
        <p:nvSpPr>
          <p:cNvPr id="32" name="s5-redis-zh">
            <a:extLst xmlns:a="http://schemas.openxmlformats.org/drawingml/2006/main">
              <a:ext uri="{FF2B5EF4-FFF2-40B4-BE49-F238E27FC236}">
                <a16:creationId xmlns:a16="http://schemas.microsoft.com/office/drawing/2014/main" id="{A3D7BBE8-EF55-4EA2-B5CD-F06D9EF2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7721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cxnSp>
        <p:nvCxnSpPr>
          <p:cNvPr id="241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05150" y="21526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242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153400" y="215265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243" name=""/>
          <p:cNvCxnSpPr>
            <a:stCxn xmlns:a="http://schemas.openxmlformats.org/drawingml/2006/main" id="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5191125" y="2571750"/>
            <a:ext cx="828675" cy="1143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244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248150" y="41624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BD5E1"/>
            </a:solidFill>
            <a:prstDash val="solid"/>
            <a:tailEnd type="triangle" w="med" len="med"/>
          </a:ln>
        </p:spPr>
      </p:cxnSp>
      <p:cxnSp>
        <p:nvCxnSpPr>
          <p:cNvPr id="245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5905500" y="41624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BD5E1"/>
            </a:solidFill>
            <a:prstDash val="solid"/>
            <a:tailEnd type="triangle" w="med" len="med"/>
          </a:ln>
        </p:spPr>
      </p:cxnSp>
      <p:cxnSp>
        <p:nvCxnSpPr>
          <p:cNvPr id="246" name=""/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562850" y="41624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BD5E1"/>
            </a:solidFill>
            <a:prstDash val="solid"/>
            <a:tailEnd type="triangle" w="med" len="med"/>
          </a:ln>
        </p:spPr>
      </p:cxnSp>
      <p:cxnSp>
        <p:nvCxnSpPr>
          <p:cNvPr id="247" name=""/>
          <p:cNvCxnSpPr>
            <a:stCxn xmlns:a="http://schemas.openxmlformats.org/drawingml/2006/main" id="15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3533775" y="4610100"/>
            <a:ext cx="514350" cy="781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248" name=""/>
          <p:cNvCxnSpPr>
            <a:stCxn xmlns:a="http://schemas.openxmlformats.org/drawingml/2006/main" id="24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 flipH="1">
            <a:off x="8143875" y="4610100"/>
            <a:ext cx="361950" cy="781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249" name=""/>
          <p:cNvCxnSpPr>
            <a:stCxn xmlns:a="http://schemas.openxmlformats.org/drawingml/2006/main" id="10" idx="2"/>
            <a:endCxn xmlns:a="http://schemas.openxmlformats.org/drawingml/2006/main" id="30" idx="3"/>
          </p:cNvCxnSpPr>
          <p:nvPr/>
        </p:nvCxnSpPr>
        <p:spPr>
          <a:xfrm xmlns:a="http://schemas.openxmlformats.org/drawingml/2006/main" flipH="1">
            <a:off x="9525000" y="2571750"/>
            <a:ext cx="619125" cy="315277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20955">
            <a:solidFill>
              <a:srgbClr val="B45309"/>
            </a:solidFill>
            <a:prstDash val="solid"/>
            <a:tailEnd type="triangle" w="med" len="med"/>
          </a:ln>
        </p:spPr>
      </p:cxnSp>
      <p:sp>
        <p:nvSpPr>
          <p:cNvPr id="42" name="s5-direction">
            <a:extLst xmlns:a="http://schemas.openxmlformats.org/drawingml/2006/main">
              <a:ext uri="{FF2B5EF4-FFF2-40B4-BE49-F238E27FC236}">
                <a16:creationId xmlns:a16="http://schemas.microsoft.com/office/drawing/2014/main" id="{F681BCF8-0D87-43AD-9D1A-E817208F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1061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  →  application  →  domain  ←  infrastructure</a:t>
            </a:r>
          </a:p>
        </p:txBody>
      </p:sp>
      <p:sp>
        <p:nvSpPr>
          <p:cNvPr id="43" name="s5-footer-note">
            <a:extLst xmlns:a="http://schemas.openxmlformats.org/drawingml/2006/main">
              <a:ext uri="{FF2B5EF4-FFF2-40B4-BE49-F238E27FC236}">
                <a16:creationId xmlns:a16="http://schemas.microsoft.com/office/drawing/2014/main" id="{67308164-F8ED-4418-BCA2-5FD6CE42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MySQL records facts; Redis stores only market quotes</a:t>
            </a:r>
          </a:p>
        </p:txBody>
      </p:sp>
      <p:sp>
        <p:nvSpPr>
          <p:cNvPr id="44" name="s5-footer-page">
            <a:extLst xmlns:a="http://schemas.openxmlformats.org/drawingml/2006/main">
              <a:ext uri="{FF2B5EF4-FFF2-40B4-BE49-F238E27FC236}">
                <a16:creationId xmlns:a16="http://schemas.microsoft.com/office/drawing/2014/main" id="{A1761409-4FE2-46C3-965A-055E0A95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858774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title-en">
            <a:extLst xmlns:a="http://schemas.openxmlformats.org/drawingml/2006/main">
              <a:ext uri="{FF2B5EF4-FFF2-40B4-BE49-F238E27FC236}">
                <a16:creationId xmlns:a16="http://schemas.microsoft.com/office/drawing/2014/main" id="{6F24A1FF-9A88-487F-8375-EAFA133D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Records, computation, and cache stay separate</a:t>
            </a:r>
          </a:p>
        </p:txBody>
      </p:sp>
      <p:sp>
        <p:nvSpPr>
          <p:cNvPr id="2" name="s6-title-zh">
            <a:extLst xmlns:a="http://schemas.openxmlformats.org/drawingml/2006/main">
              <a:ext uri="{FF2B5EF4-FFF2-40B4-BE49-F238E27FC236}">
                <a16:creationId xmlns:a16="http://schemas.microsoft.com/office/drawing/2014/main" id="{5102D7F7-F018-4AAB-9EDC-85747228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6-title-rule">
            <a:extLst xmlns:a="http://schemas.openxmlformats.org/drawingml/2006/main">
              <a:ext uri="{FF2B5EF4-FFF2-40B4-BE49-F238E27FC236}">
                <a16:creationId xmlns:a16="http://schemas.microsoft.com/office/drawing/2014/main" id="{54C825A1-7538-423A-8AF2-98D8A323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33400" y="1581150"/>
          <a:ext xmlns:a="http://schemas.openxmlformats.org/drawingml/2006/main" cx="111252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00200"/>
                <a:gridCol w="2476500"/>
                <a:gridCol w="3829050"/>
                <a:gridCol w="3219450"/>
              </a:tblGrid>
              <a:tr h="598714">
                <a:tc>
                  <a:txBody>
                    <a:bodyPr/>
                    <a:lstStyle/>
                    <a:p>
                      <a:r>
                        <a:rPr sz="1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Core technology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Responsibility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Why it matters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UI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React 19 + TS + Vite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Trade console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Fast feedback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API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Java 21 + Spring Boot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Business workflow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Testable rules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Record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MySQL 8.4 + Flyway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Trades + snapshots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Durable audit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Cache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Redis 7.4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Market quotes only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Safe fallback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External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Finnhub / Mock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Quote source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Live or deterministic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Delivery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Docker + Nginx + CI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Build, test, run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Repeatable demo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s6-correction">
            <a:extLst xmlns:a="http://schemas.openxmlformats.org/drawingml/2006/main">
              <a:ext uri="{FF2B5EF4-FFF2-40B4-BE49-F238E27FC236}">
                <a16:creationId xmlns:a16="http://schemas.microsoft.com/office/drawing/2014/main" id="{A25BB6E9-1501-46BA-9ECD-C1F3B5DE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11125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6" name="s6-correction-text">
            <a:extLst xmlns:a="http://schemas.openxmlformats.org/drawingml/2006/main">
              <a:ext uri="{FF2B5EF4-FFF2-40B4-BE49-F238E27FC236}">
                <a16:creationId xmlns:a16="http://schemas.microsoft.com/office/drawing/2014/main" id="{C3F5D618-F47E-406B-9D63-9D039CE6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5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MySQL is authoritative. Redis can be deleted and rebuilt.</a:t>
            </a:r>
          </a:p>
        </p:txBody>
      </p:sp>
      <p:sp>
        <p:nvSpPr>
          <p:cNvPr id="7" name="s6-footer-note">
            <a:extLst xmlns:a="http://schemas.openxmlformats.org/drawingml/2006/main">
              <a:ext uri="{FF2B5EF4-FFF2-40B4-BE49-F238E27FC236}">
                <a16:creationId xmlns:a16="http://schemas.microsoft.com/office/drawing/2014/main" id="{D4B727FB-7A01-4F69-B512-331BD15E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Source-verified: pom.xml · package.json · compose.yaml</a:t>
            </a:r>
          </a:p>
        </p:txBody>
      </p:sp>
      <p:sp>
        <p:nvSpPr>
          <p:cNvPr id="8" name="s6-footer-page">
            <a:extLst xmlns:a="http://schemas.openxmlformats.org/drawingml/2006/main">
              <a:ext uri="{FF2B5EF4-FFF2-40B4-BE49-F238E27FC236}">
                <a16:creationId xmlns:a16="http://schemas.microsoft.com/office/drawing/2014/main" id="{19DAEECD-3FB5-4FFC-8842-FCED0AF2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599381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title-en">
            <a:extLst xmlns:a="http://schemas.openxmlformats.org/drawingml/2006/main">
              <a:ext uri="{FF2B5EF4-FFF2-40B4-BE49-F238E27FC236}">
                <a16:creationId xmlns:a16="http://schemas.microsoft.com/office/drawing/2014/main" id="{91BC34CB-420B-4E6A-AE55-C639A10E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Invalid trades never enter the ledger</a:t>
            </a:r>
          </a:p>
        </p:txBody>
      </p:sp>
      <p:sp>
        <p:nvSpPr>
          <p:cNvPr id="2" name="s7-title-zh">
            <a:extLst xmlns:a="http://schemas.openxmlformats.org/drawingml/2006/main">
              <a:ext uri="{FF2B5EF4-FFF2-40B4-BE49-F238E27FC236}">
                <a16:creationId xmlns:a16="http://schemas.microsoft.com/office/drawing/2014/main" id="{AC56DD76-0B92-4F18-A0DB-B9AD41F8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7-title-rule">
            <a:extLst xmlns:a="http://schemas.openxmlformats.org/drawingml/2006/main">
              <a:ext uri="{FF2B5EF4-FFF2-40B4-BE49-F238E27FC236}">
                <a16:creationId xmlns:a16="http://schemas.microsoft.com/office/drawing/2014/main" id="{CE7545AA-8DA7-4E73-A45F-6B32E301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7-intro">
            <a:extLst xmlns:a="http://schemas.openxmlformats.org/drawingml/2006/main">
              <a:ext uri="{FF2B5EF4-FFF2-40B4-BE49-F238E27FC236}">
                <a16:creationId xmlns:a16="http://schemas.microsoft.com/office/drawing/2014/main" id="{09EF9C93-48B2-4C2B-86C3-3DF860CD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Booking is a gate—not a status label.</a:t>
            </a:r>
          </a:p>
        </p:txBody>
      </p:sp>
      <p:sp>
        <p:nvSpPr>
          <p:cNvPr id="5" name="s7-left-panel">
            <a:extLst xmlns:a="http://schemas.openxmlformats.org/drawingml/2006/main">
              <a:ext uri="{FF2B5EF4-FFF2-40B4-BE49-F238E27FC236}">
                <a16:creationId xmlns:a16="http://schemas.microsoft.com/office/drawing/2014/main" id="{61E03A9E-314D-4D92-A8BC-F8137760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514350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s7-left-title">
            <a:extLst xmlns:a="http://schemas.openxmlformats.org/drawingml/2006/main">
              <a:ext uri="{FF2B5EF4-FFF2-40B4-BE49-F238E27FC236}">
                <a16:creationId xmlns:a16="http://schemas.microsoft.com/office/drawing/2014/main" id="{9537FE98-B466-4190-9704-A5B11ABA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Input checks</a:t>
            </a:r>
          </a:p>
        </p:txBody>
      </p:sp>
      <p:sp>
        <p:nvSpPr>
          <p:cNvPr id="7" name="s7-left-0-dot">
            <a:extLst xmlns:a="http://schemas.openxmlformats.org/drawingml/2006/main">
              <a:ext uri="{FF2B5EF4-FFF2-40B4-BE49-F238E27FC236}">
                <a16:creationId xmlns:a16="http://schemas.microsoft.com/office/drawing/2014/main" id="{F4850D09-A9E5-4829-B841-60772CA8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s7-left-0-text">
            <a:extLst xmlns:a="http://schemas.openxmlformats.org/drawingml/2006/main">
              <a:ext uri="{FF2B5EF4-FFF2-40B4-BE49-F238E27FC236}">
                <a16:creationId xmlns:a16="http://schemas.microsoft.com/office/drawing/2014/main" id="{C46725F3-B993-452B-BDE7-A894FFE8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Verified security + active USD account</a:t>
            </a:r>
          </a:p>
        </p:txBody>
      </p:sp>
      <p:sp>
        <p:nvSpPr>
          <p:cNvPr id="9" name="s7-left-1-dot">
            <a:extLst xmlns:a="http://schemas.openxmlformats.org/drawingml/2006/main">
              <a:ext uri="{FF2B5EF4-FFF2-40B4-BE49-F238E27FC236}">
                <a16:creationId xmlns:a16="http://schemas.microsoft.com/office/drawing/2014/main" id="{CE17B0CB-C5DD-4534-A85E-9D732C91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9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s7-left-1-text">
            <a:extLst xmlns:a="http://schemas.openxmlformats.org/drawingml/2006/main">
              <a:ext uri="{FF2B5EF4-FFF2-40B4-BE49-F238E27FC236}">
                <a16:creationId xmlns:a16="http://schemas.microsoft.com/office/drawing/2014/main" id="{53DFD2B4-3DC6-4214-BDB0-15EDF09C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Valid quantity, price, and execution time</a:t>
            </a:r>
          </a:p>
        </p:txBody>
      </p:sp>
      <p:sp>
        <p:nvSpPr>
          <p:cNvPr id="11" name="s7-left-2-dot">
            <a:extLst xmlns:a="http://schemas.openxmlformats.org/drawingml/2006/main">
              <a:ext uri="{FF2B5EF4-FFF2-40B4-BE49-F238E27FC236}">
                <a16:creationId xmlns:a16="http://schemas.microsoft.com/office/drawing/2014/main" id="{A7C5331F-1FF9-44BE-87FD-02E87E89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05275"/>
            <a:ext cx="85725" cy="857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s7-left-2-text">
            <a:extLst xmlns:a="http://schemas.openxmlformats.org/drawingml/2006/main">
              <a:ext uri="{FF2B5EF4-FFF2-40B4-BE49-F238E27FC236}">
                <a16:creationId xmlns:a16="http://schemas.microsoft.com/office/drawing/2014/main" id="{29D18D71-1412-4F36-95BE-5B5F1485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38600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​</a:t>
            </a:r>
          </a:p>
        </p:txBody>
      </p:sp>
      <p:sp>
        <p:nvSpPr>
          <p:cNvPr id="13" name="s7-left-3-dot">
            <a:extLst xmlns:a="http://schemas.openxmlformats.org/drawingml/2006/main">
              <a:ext uri="{FF2B5EF4-FFF2-40B4-BE49-F238E27FC236}">
                <a16:creationId xmlns:a16="http://schemas.microsoft.com/office/drawing/2014/main" id="{2573CCC4-C43E-4E5C-9693-9A41813A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85725" cy="857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s7-left-3-text">
            <a:extLst xmlns:a="http://schemas.openxmlformats.org/drawingml/2006/main">
              <a:ext uri="{FF2B5EF4-FFF2-40B4-BE49-F238E27FC236}">
                <a16:creationId xmlns:a16="http://schemas.microsoft.com/office/drawing/2014/main" id="{08E76A03-186F-43F6-90A4-8DFAF18B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​</a:t>
            </a:r>
          </a:p>
        </p:txBody>
      </p:sp>
      <p:sp>
        <p:nvSpPr>
          <p:cNvPr id="15" name="s7-right-panel">
            <a:extLst xmlns:a="http://schemas.openxmlformats.org/drawingml/2006/main">
              <a:ext uri="{FF2B5EF4-FFF2-40B4-BE49-F238E27FC236}">
                <a16:creationId xmlns:a16="http://schemas.microsoft.com/office/drawing/2014/main" id="{CBE553F2-6C94-483A-AB3C-D255A946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05050"/>
            <a:ext cx="567690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6" name="s7-right-title">
            <a:extLst xmlns:a="http://schemas.openxmlformats.org/drawingml/2006/main">
              <a:ext uri="{FF2B5EF4-FFF2-40B4-BE49-F238E27FC236}">
                <a16:creationId xmlns:a16="http://schemas.microsoft.com/office/drawing/2014/main" id="{6EAEFB9C-FE57-4ECE-AA01-09848CC0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43175"/>
            <a:ext cx="518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5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85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Position-safe rules</a:t>
            </a:r>
          </a:p>
        </p:txBody>
      </p:sp>
      <p:sp>
        <p:nvSpPr>
          <p:cNvPr id="17" name="s7-right-0-dot">
            <a:extLst xmlns:a="http://schemas.openxmlformats.org/drawingml/2006/main">
              <a:ext uri="{FF2B5EF4-FFF2-40B4-BE49-F238E27FC236}">
                <a16:creationId xmlns:a16="http://schemas.microsoft.com/office/drawing/2014/main" id="{C19F42B5-495E-4648-A399-12746BB1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71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90"/>
          </a:solidFill>
          <a:ln xmlns:a="http://schemas.openxmlformats.org/drawingml/2006/main" w="0">
            <a:solidFill>
              <a:srgbClr val="174C90"/>
            </a:solidFill>
            <a:prstDash val="solid"/>
          </a:ln>
        </p:spPr>
      </p:sp>
      <p:sp>
        <p:nvSpPr>
          <p:cNvPr id="18" name="s7-right-0-text">
            <a:extLst xmlns:a="http://schemas.openxmlformats.org/drawingml/2006/main">
              <a:ext uri="{FF2B5EF4-FFF2-40B4-BE49-F238E27FC236}">
                <a16:creationId xmlns:a16="http://schemas.microsoft.com/office/drawing/2014/main" id="{18C8B4C7-B2A4-4701-A95E-8DB6C4E7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SELL never exceeds holdings at execution</a:t>
            </a:r>
          </a:p>
        </p:txBody>
      </p:sp>
      <p:sp>
        <p:nvSpPr>
          <p:cNvPr id="19" name="s7-right-1-dot">
            <a:extLst xmlns:a="http://schemas.openxmlformats.org/drawingml/2006/main">
              <a:ext uri="{FF2B5EF4-FFF2-40B4-BE49-F238E27FC236}">
                <a16:creationId xmlns:a16="http://schemas.microsoft.com/office/drawing/2014/main" id="{5E134174-937B-43A2-B5EF-0F23D01A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71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90"/>
          </a:solidFill>
          <a:ln xmlns:a="http://schemas.openxmlformats.org/drawingml/2006/main" w="0">
            <a:solidFill>
              <a:srgbClr val="174C90"/>
            </a:solidFill>
            <a:prstDash val="solid"/>
          </a:ln>
        </p:spPr>
      </p:sp>
      <p:sp>
        <p:nvSpPr>
          <p:cNvPr id="20" name="s7-right-1-text">
            <a:extLst xmlns:a="http://schemas.openxmlformats.org/drawingml/2006/main">
              <a:ext uri="{FF2B5EF4-FFF2-40B4-BE49-F238E27FC236}">
                <a16:creationId xmlns:a16="http://schemas.microsoft.com/office/drawing/2014/main" id="{0A79904A-F8E6-4B73-89A7-979CA2D3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05225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Cancel or amend replays the full timeline</a:t>
            </a:r>
          </a:p>
        </p:txBody>
      </p:sp>
      <p:sp>
        <p:nvSpPr>
          <p:cNvPr id="21" name="s7-right-2-dot">
            <a:extLst xmlns:a="http://schemas.openxmlformats.org/drawingml/2006/main">
              <a:ext uri="{FF2B5EF4-FFF2-40B4-BE49-F238E27FC236}">
                <a16:creationId xmlns:a16="http://schemas.microsoft.com/office/drawing/2014/main" id="{108B12DA-46BB-4D27-811F-382135C4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71975"/>
            <a:ext cx="85725" cy="857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s7-right-2-text">
            <a:extLst xmlns:a="http://schemas.openxmlformats.org/drawingml/2006/main">
              <a:ext uri="{FF2B5EF4-FFF2-40B4-BE49-F238E27FC236}">
                <a16:creationId xmlns:a16="http://schemas.microsoft.com/office/drawing/2014/main" id="{BA7924F7-01D5-43E0-B94E-9A78FC46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0530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​</a:t>
            </a:r>
          </a:p>
        </p:txBody>
      </p:sp>
      <p:sp>
        <p:nvSpPr>
          <p:cNvPr id="23" name="s7-result">
            <a:extLst xmlns:a="http://schemas.openxmlformats.org/drawingml/2006/main">
              <a:ext uri="{FF2B5EF4-FFF2-40B4-BE49-F238E27FC236}">
                <a16:creationId xmlns:a16="http://schemas.microsoft.com/office/drawing/2014/main" id="{05557013-1E50-41B7-99C3-86045722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24500"/>
            <a:ext cx="914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24" name="s7-result-text">
            <a:extLst xmlns:a="http://schemas.openxmlformats.org/drawingml/2006/main">
              <a:ext uri="{FF2B5EF4-FFF2-40B4-BE49-F238E27FC236}">
                <a16:creationId xmlns:a16="http://schemas.microsoft.com/office/drawing/2014/main" id="{A0104A3C-5A77-426E-A23C-B8F23482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629275"/>
            <a:ext cx="872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 → BOOKED    |    INVALID → RFC Problem Details</a:t>
            </a:r>
          </a:p>
        </p:txBody>
      </p:sp>
      <p:sp>
        <p:nvSpPr>
          <p:cNvPr id="25" name="s7-footer-note">
            <a:extLst xmlns:a="http://schemas.openxmlformats.org/drawingml/2006/main">
              <a:ext uri="{FF2B5EF4-FFF2-40B4-BE49-F238E27FC236}">
                <a16:creationId xmlns:a16="http://schemas.microsoft.com/office/drawing/2014/main" id="{391F0DAA-9852-460C-856F-8266004E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Only BOOKED trades affect positions and P&amp;L</a:t>
            </a:r>
          </a:p>
        </p:txBody>
      </p:sp>
      <p:sp>
        <p:nvSpPr>
          <p:cNvPr id="26" name="s7-footer-page">
            <a:extLst xmlns:a="http://schemas.openxmlformats.org/drawingml/2006/main">
              <a:ext uri="{FF2B5EF4-FFF2-40B4-BE49-F238E27FC236}">
                <a16:creationId xmlns:a16="http://schemas.microsoft.com/office/drawing/2014/main" id="{5A3056BD-F77E-4795-81B6-2A776C05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96461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8-title-en">
            <a:extLst xmlns:a="http://schemas.openxmlformats.org/drawingml/2006/main">
              <a:ext uri="{FF2B5EF4-FFF2-40B4-BE49-F238E27FC236}">
                <a16:creationId xmlns:a16="http://schemas.microsoft.com/office/drawing/2014/main" id="{ABE165A9-FB04-4BCE-887A-D6B55DE6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One example beats three formulas</a:t>
            </a:r>
          </a:p>
        </p:txBody>
      </p:sp>
      <p:sp>
        <p:nvSpPr>
          <p:cNvPr id="2" name="s8-title-zh">
            <a:extLst xmlns:a="http://schemas.openxmlformats.org/drawingml/2006/main">
              <a:ext uri="{FF2B5EF4-FFF2-40B4-BE49-F238E27FC236}">
                <a16:creationId xmlns:a16="http://schemas.microsoft.com/office/drawing/2014/main" id="{0021B581-631F-4F0C-BA75-2B48E82F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8-title-rule">
            <a:extLst xmlns:a="http://schemas.openxmlformats.org/drawingml/2006/main">
              <a:ext uri="{FF2B5EF4-FFF2-40B4-BE49-F238E27FC236}">
                <a16:creationId xmlns:a16="http://schemas.microsoft.com/office/drawing/2014/main" id="{E909A2D9-743C-4542-BED7-96F2C691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8-left-shell">
            <a:extLst xmlns:a="http://schemas.openxmlformats.org/drawingml/2006/main">
              <a:ext uri="{FF2B5EF4-FFF2-40B4-BE49-F238E27FC236}">
                <a16:creationId xmlns:a16="http://schemas.microsoft.com/office/drawing/2014/main" id="{BA481775-A168-4FD1-BF22-677347F3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1435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s8-left-title">
            <a:extLst xmlns:a="http://schemas.openxmlformats.org/drawingml/2006/main">
              <a:ext uri="{FF2B5EF4-FFF2-40B4-BE49-F238E27FC236}">
                <a16:creationId xmlns:a16="http://schemas.microsoft.com/office/drawing/2014/main" id="{E175519D-6563-4F85-81F7-002EC687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2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92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Position replay</a:t>
            </a:r>
          </a:p>
        </p:txBody>
      </p:sp>
      <p:sp>
        <p:nvSpPr>
          <p:cNvPr id="6" name="s8-p1-box">
            <a:extLst xmlns:a="http://schemas.openxmlformats.org/drawingml/2006/main">
              <a:ext uri="{FF2B5EF4-FFF2-40B4-BE49-F238E27FC236}">
                <a16:creationId xmlns:a16="http://schemas.microsoft.com/office/drawing/2014/main" id="{E19DB466-9F8B-42F3-BBF2-AD2EE6B1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4095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7" name="s8-p1-en">
            <a:extLst xmlns:a="http://schemas.openxmlformats.org/drawingml/2006/main">
              <a:ext uri="{FF2B5EF4-FFF2-40B4-BE49-F238E27FC236}">
                <a16:creationId xmlns:a16="http://schemas.microsoft.com/office/drawing/2014/main" id="{36584333-57E5-4805-88E2-885E0960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BUY 10 AAPL @ $100</a:t>
            </a:r>
          </a:p>
        </p:txBody>
      </p:sp>
      <p:sp>
        <p:nvSpPr>
          <p:cNvPr id="8" name="s8-p1-zh">
            <a:extLst xmlns:a="http://schemas.openxmlformats.org/drawingml/2006/main">
              <a:ext uri="{FF2B5EF4-FFF2-40B4-BE49-F238E27FC236}">
                <a16:creationId xmlns:a16="http://schemas.microsoft.com/office/drawing/2014/main" id="{04A44534-04DC-46BC-ABB5-01E98431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9" name="s8-p2-box">
            <a:extLst xmlns:a="http://schemas.openxmlformats.org/drawingml/2006/main">
              <a:ext uri="{FF2B5EF4-FFF2-40B4-BE49-F238E27FC236}">
                <a16:creationId xmlns:a16="http://schemas.microsoft.com/office/drawing/2014/main" id="{8905FA38-9ADA-489A-A997-7BB22A4D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4095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0" name="s8-p2-en">
            <a:extLst xmlns:a="http://schemas.openxmlformats.org/drawingml/2006/main">
              <a:ext uri="{FF2B5EF4-FFF2-40B4-BE49-F238E27FC236}">
                <a16:creationId xmlns:a16="http://schemas.microsoft.com/office/drawing/2014/main" id="{5288D339-4CF1-4DB2-BF75-28656ADB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6710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SELL 4 AAPL @ $110</a:t>
            </a:r>
          </a:p>
        </p:txBody>
      </p:sp>
      <p:sp>
        <p:nvSpPr>
          <p:cNvPr id="11" name="s8-p2-zh">
            <a:extLst xmlns:a="http://schemas.openxmlformats.org/drawingml/2006/main">
              <a:ext uri="{FF2B5EF4-FFF2-40B4-BE49-F238E27FC236}">
                <a16:creationId xmlns:a16="http://schemas.microsoft.com/office/drawing/2014/main" id="{093B76F9-6671-40CD-A5AB-823A7659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2" name="s8-p3-box">
            <a:extLst xmlns:a="http://schemas.openxmlformats.org/drawingml/2006/main">
              <a:ext uri="{FF2B5EF4-FFF2-40B4-BE49-F238E27FC236}">
                <a16:creationId xmlns:a16="http://schemas.microsoft.com/office/drawing/2014/main" id="{DF818DBC-710B-4A42-BB42-85E4D827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4095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3" name="s8-p3-en">
            <a:extLst xmlns:a="http://schemas.openxmlformats.org/drawingml/2006/main">
              <a:ext uri="{FF2B5EF4-FFF2-40B4-BE49-F238E27FC236}">
                <a16:creationId xmlns:a16="http://schemas.microsoft.com/office/drawing/2014/main" id="{C04ABEFD-CEF7-4F6D-9F51-0F74B5C4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3865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Open: 6 shares @ $100 cost</a:t>
            </a:r>
          </a:p>
        </p:txBody>
      </p:sp>
      <p:sp>
        <p:nvSpPr>
          <p:cNvPr id="14" name="s8-p3-zh">
            <a:extLst xmlns:a="http://schemas.openxmlformats.org/drawingml/2006/main">
              <a:ext uri="{FF2B5EF4-FFF2-40B4-BE49-F238E27FC236}">
                <a16:creationId xmlns:a16="http://schemas.microsoft.com/office/drawing/2014/main" id="{DD7E1196-10BD-455A-BA0D-63BBD12F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cxnSp>
        <p:nvCxnSpPr>
          <p:cNvPr id="108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2962275" y="304800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109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962275" y="40195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7" name="s8-right-shell">
            <a:extLst xmlns:a="http://schemas.openxmlformats.org/drawingml/2006/main">
              <a:ext uri="{FF2B5EF4-FFF2-40B4-BE49-F238E27FC236}">
                <a16:creationId xmlns:a16="http://schemas.microsoft.com/office/drawing/2014/main" id="{4045F9F6-8ECB-4BC2-A19F-F638EE95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62100"/>
            <a:ext cx="5676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18" name="s8-right-title">
            <a:extLst xmlns:a="http://schemas.openxmlformats.org/drawingml/2006/main">
              <a:ext uri="{FF2B5EF4-FFF2-40B4-BE49-F238E27FC236}">
                <a16:creationId xmlns:a16="http://schemas.microsoft.com/office/drawing/2014/main" id="{3F23A276-3704-4C3A-9816-514C26D0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90700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9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At a $123.46 quote</a:t>
            </a:r>
          </a:p>
        </p:txBody>
      </p:sp>
      <p:sp>
        <p:nvSpPr>
          <p:cNvPr id="19" name="s8-formula-rule1">
            <a:extLst xmlns:a="http://schemas.openxmlformats.org/drawingml/2006/main">
              <a:ext uri="{FF2B5EF4-FFF2-40B4-BE49-F238E27FC236}">
                <a16:creationId xmlns:a16="http://schemas.microsoft.com/office/drawing/2014/main" id="{C48FD4FE-6446-414D-9FE9-DDDAA31D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24100"/>
            <a:ext cx="510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0" name="s8-formula1-en">
            <a:extLst xmlns:a="http://schemas.openxmlformats.org/drawingml/2006/main">
              <a:ext uri="{FF2B5EF4-FFF2-40B4-BE49-F238E27FC236}">
                <a16:creationId xmlns:a16="http://schemas.microsoft.com/office/drawing/2014/main" id="{75F08B05-1623-4203-9851-ADA61EA6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43175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Market value   6 × $123.46 = $740.76</a:t>
            </a:r>
          </a:p>
        </p:txBody>
      </p:sp>
      <p:sp>
        <p:nvSpPr>
          <p:cNvPr id="21" name="s8-formula1-zh">
            <a:extLst xmlns:a="http://schemas.openxmlformats.org/drawingml/2006/main">
              <a:ext uri="{FF2B5EF4-FFF2-40B4-BE49-F238E27FC236}">
                <a16:creationId xmlns:a16="http://schemas.microsoft.com/office/drawing/2014/main" id="{C8824AAA-9DCD-4213-85B9-99A3F9B9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86075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2" name="s8-formula2-en">
            <a:extLst xmlns:a="http://schemas.openxmlformats.org/drawingml/2006/main">
              <a:ext uri="{FF2B5EF4-FFF2-40B4-BE49-F238E27FC236}">
                <a16:creationId xmlns:a16="http://schemas.microsoft.com/office/drawing/2014/main" id="{E02A42EB-209F-4066-B380-B2EC7336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71850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Cost basis     6 × $100.00 = $600.00</a:t>
            </a:r>
          </a:p>
        </p:txBody>
      </p:sp>
      <p:sp>
        <p:nvSpPr>
          <p:cNvPr id="23" name="s8-formula2-zh">
            <a:extLst xmlns:a="http://schemas.openxmlformats.org/drawingml/2006/main">
              <a:ext uri="{FF2B5EF4-FFF2-40B4-BE49-F238E27FC236}">
                <a16:creationId xmlns:a16="http://schemas.microsoft.com/office/drawing/2014/main" id="{ABE928E6-FDC1-4BC9-AA84-87C92FDF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1475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" name="s8-formula3-en">
            <a:extLst xmlns:a="http://schemas.openxmlformats.org/drawingml/2006/main">
              <a:ext uri="{FF2B5EF4-FFF2-40B4-BE49-F238E27FC236}">
                <a16:creationId xmlns:a16="http://schemas.microsoft.com/office/drawing/2014/main" id="{241ACEFA-CDBB-41FC-9F44-D25DCD95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00525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Unrealized P&amp;L   +$140.76  (+23.46%)</a:t>
            </a:r>
          </a:p>
        </p:txBody>
      </p:sp>
      <p:sp>
        <p:nvSpPr>
          <p:cNvPr id="25" name="s8-formula3-zh">
            <a:extLst xmlns:a="http://schemas.openxmlformats.org/drawingml/2006/main">
              <a:ext uri="{FF2B5EF4-FFF2-40B4-BE49-F238E27FC236}">
                <a16:creationId xmlns:a16="http://schemas.microsoft.com/office/drawing/2014/main" id="{621EE739-7138-4BA1-A01B-112FE162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43425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6" name="s8-snapshot">
            <a:extLst xmlns:a="http://schemas.openxmlformats.org/drawingml/2006/main">
              <a:ext uri="{FF2B5EF4-FFF2-40B4-BE49-F238E27FC236}">
                <a16:creationId xmlns:a16="http://schemas.microsoft.com/office/drawing/2014/main" id="{897ADD62-B184-4384-AB86-A0EBB644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125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27" name="s8-snapshot-text">
            <a:extLst xmlns:a="http://schemas.openxmlformats.org/drawingml/2006/main">
              <a:ext uri="{FF2B5EF4-FFF2-40B4-BE49-F238E27FC236}">
                <a16:creationId xmlns:a16="http://schemas.microsoft.com/office/drawing/2014/main" id="{F6ACB8AF-C86B-4954-8C43-3897EDA4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25" b="1" i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325" b="1" i="0">
                <a:solidFill>
                  <a:srgbClr val="15803D"/>
                </a:solidFill>
                <a:latin typeface="Arial"/>
                <a:ea typeface="Arial"/>
                <a:cs typeface="Arial"/>
              </a:rPr>
              <a:t>BOOKED only · weighted-average cost · decimal-safe backend</a:t>
            </a:r>
          </a:p>
        </p:txBody>
      </p:sp>
      <p:sp>
        <p:nvSpPr>
          <p:cNvPr id="28" name="s8-footer-note">
            <a:extLst xmlns:a="http://schemas.openxmlformats.org/drawingml/2006/main">
              <a:ext uri="{FF2B5EF4-FFF2-40B4-BE49-F238E27FC236}">
                <a16:creationId xmlns:a16="http://schemas.microsoft.com/office/drawing/2014/main" id="{0497B748-F7BB-4F44-A8DF-B751F271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Example follows the automated final-demo journey</a:t>
            </a:r>
          </a:p>
        </p:txBody>
      </p:sp>
      <p:sp>
        <p:nvSpPr>
          <p:cNvPr id="29" name="s8-footer-page">
            <a:extLst xmlns:a="http://schemas.openxmlformats.org/drawingml/2006/main">
              <a:ext uri="{FF2B5EF4-FFF2-40B4-BE49-F238E27FC236}">
                <a16:creationId xmlns:a16="http://schemas.microsoft.com/office/drawing/2014/main" id="{757B4E42-4A8A-4E55-9FC8-C35C0BEF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536475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title-en">
            <a:extLst xmlns:a="http://schemas.openxmlformats.org/drawingml/2006/main">
              <a:ext uri="{FF2B5EF4-FFF2-40B4-BE49-F238E27FC236}">
                <a16:creationId xmlns:a16="http://schemas.microsoft.com/office/drawing/2014/main" id="{7E8C0DF6-3050-4400-9F3E-CA35D70A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Outages degrade service—not truth</a:t>
            </a:r>
          </a:p>
        </p:txBody>
      </p:sp>
      <p:sp>
        <p:nvSpPr>
          <p:cNvPr id="2" name="s9-title-zh">
            <a:extLst xmlns:a="http://schemas.openxmlformats.org/drawingml/2006/main">
              <a:ext uri="{FF2B5EF4-FFF2-40B4-BE49-F238E27FC236}">
                <a16:creationId xmlns:a16="http://schemas.microsoft.com/office/drawing/2014/main" id="{5A8CCDE4-CEE5-475F-89D3-B875D57B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9-title-rule">
            <a:extLst xmlns:a="http://schemas.openxmlformats.org/drawingml/2006/main">
              <a:ext uri="{FF2B5EF4-FFF2-40B4-BE49-F238E27FC236}">
                <a16:creationId xmlns:a16="http://schemas.microsoft.com/office/drawing/2014/main" id="{DA570A82-915E-45BE-8A49-E9B23E2B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9-trigger">
            <a:extLst xmlns:a="http://schemas.openxmlformats.org/drawingml/2006/main">
              <a:ext uri="{FF2B5EF4-FFF2-40B4-BE49-F238E27FC236}">
                <a16:creationId xmlns:a16="http://schemas.microsoft.com/office/drawing/2014/main" id="{6F8CE7B8-EC95-46D6-AAAB-D2A999F7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Fresh quote first · retained quote second</a:t>
            </a:r>
          </a:p>
        </p:txBody>
      </p:sp>
      <p:sp>
        <p:nvSpPr>
          <p:cNvPr id="5" name="s9-n1-box">
            <a:extLst xmlns:a="http://schemas.openxmlformats.org/drawingml/2006/main">
              <a:ext uri="{FF2B5EF4-FFF2-40B4-BE49-F238E27FC236}">
                <a16:creationId xmlns:a16="http://schemas.microsoft.com/office/drawing/2014/main" id="{4892D6C9-A32E-4CC8-ABE7-4549A384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19325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6" name="s9-n1-en">
            <a:extLst xmlns:a="http://schemas.openxmlformats.org/drawingml/2006/main">
              <a:ext uri="{FF2B5EF4-FFF2-40B4-BE49-F238E27FC236}">
                <a16:creationId xmlns:a16="http://schemas.microsoft.com/office/drawing/2014/main" id="{00057872-CF3B-4A6C-BDD8-C4756EA1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Refresh</a:t>
            </a:r>
          </a:p>
        </p:txBody>
      </p:sp>
      <p:sp>
        <p:nvSpPr>
          <p:cNvPr id="7" name="s9-n1-zh">
            <a:extLst xmlns:a="http://schemas.openxmlformats.org/drawingml/2006/main">
              <a:ext uri="{FF2B5EF4-FFF2-40B4-BE49-F238E27FC236}">
                <a16:creationId xmlns:a16="http://schemas.microsoft.com/office/drawing/2014/main" id="{F6FBA117-AEC1-4918-BF47-DCEED9AB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03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s9-n2-box">
            <a:extLst xmlns:a="http://schemas.openxmlformats.org/drawingml/2006/main">
              <a:ext uri="{FF2B5EF4-FFF2-40B4-BE49-F238E27FC236}">
                <a16:creationId xmlns:a16="http://schemas.microsoft.com/office/drawing/2014/main" id="{5E7B1FB6-4051-423F-A050-2E231FD3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19325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B45309"/>
            </a:solidFill>
            <a:prstDash val="solid"/>
          </a:ln>
        </p:spPr>
      </p:sp>
      <p:sp>
        <p:nvSpPr>
          <p:cNvPr id="9" name="s9-n2-en">
            <a:extLst xmlns:a="http://schemas.openxmlformats.org/drawingml/2006/main">
              <a:ext uri="{FF2B5EF4-FFF2-40B4-BE49-F238E27FC236}">
                <a16:creationId xmlns:a16="http://schemas.microsoft.com/office/drawing/2014/main" id="{A31407FB-D06D-4087-AA74-00614A4E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3362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Finnhub</a:t>
            </a:r>
          </a:p>
        </p:txBody>
      </p:sp>
      <p:sp>
        <p:nvSpPr>
          <p:cNvPr id="10" name="s9-n2-zh">
            <a:extLst xmlns:a="http://schemas.openxmlformats.org/drawingml/2006/main">
              <a:ext uri="{FF2B5EF4-FFF2-40B4-BE49-F238E27FC236}">
                <a16:creationId xmlns:a16="http://schemas.microsoft.com/office/drawing/2014/main" id="{14505D57-F9BB-4E20-9213-84C09796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03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" name="s9-n3-box">
            <a:extLst xmlns:a="http://schemas.openxmlformats.org/drawingml/2006/main">
              <a:ext uri="{FF2B5EF4-FFF2-40B4-BE49-F238E27FC236}">
                <a16:creationId xmlns:a16="http://schemas.microsoft.com/office/drawing/2014/main" id="{8FEE3FA8-7B91-4E72-8339-BEDC62BB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19325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2" name="s9-n3-en">
            <a:extLst xmlns:a="http://schemas.openxmlformats.org/drawingml/2006/main">
              <a:ext uri="{FF2B5EF4-FFF2-40B4-BE49-F238E27FC236}">
                <a16:creationId xmlns:a16="http://schemas.microsoft.com/office/drawing/2014/main" id="{AEF7972C-0A33-42D7-8F39-1D6D3C10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Redis</a:t>
            </a:r>
          </a:p>
        </p:txBody>
      </p:sp>
      <p:sp>
        <p:nvSpPr>
          <p:cNvPr id="13" name="s9-n3-zh">
            <a:extLst xmlns:a="http://schemas.openxmlformats.org/drawingml/2006/main">
              <a:ext uri="{FF2B5EF4-FFF2-40B4-BE49-F238E27FC236}">
                <a16:creationId xmlns:a16="http://schemas.microsoft.com/office/drawing/2014/main" id="{321EE06B-73BC-4A36-91AE-36F7148D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003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4" name="s9-n4-box">
            <a:extLst xmlns:a="http://schemas.openxmlformats.org/drawingml/2006/main">
              <a:ext uri="{FF2B5EF4-FFF2-40B4-BE49-F238E27FC236}">
                <a16:creationId xmlns:a16="http://schemas.microsoft.com/office/drawing/2014/main" id="{C3F5B9C0-26B0-4F15-9F59-C95A1A4A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19325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15" name="s9-n4-en">
            <a:extLst xmlns:a="http://schemas.openxmlformats.org/drawingml/2006/main">
              <a:ext uri="{FF2B5EF4-FFF2-40B4-BE49-F238E27FC236}">
                <a16:creationId xmlns:a16="http://schemas.microsoft.com/office/drawing/2014/main" id="{D63F5215-F0A3-493C-AB72-BEBAF55C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3362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P&amp;L</a:t>
            </a:r>
          </a:p>
        </p:txBody>
      </p:sp>
      <p:sp>
        <p:nvSpPr>
          <p:cNvPr id="16" name="s9-n4-zh">
            <a:extLst xmlns:a="http://schemas.openxmlformats.org/drawingml/2006/main">
              <a:ext uri="{FF2B5EF4-FFF2-40B4-BE49-F238E27FC236}">
                <a16:creationId xmlns:a16="http://schemas.microsoft.com/office/drawing/2014/main" id="{9054EFC8-DE46-4916-87BA-FDA82A6E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003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BD5E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cxnSp>
        <p:nvCxnSpPr>
          <p:cNvPr id="127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19400" y="26670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128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543550" y="26670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129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267700" y="26670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0" name="s9-cache-shortcut">
            <a:extLst xmlns:a="http://schemas.openxmlformats.org/drawingml/2006/main">
              <a:ext uri="{FF2B5EF4-FFF2-40B4-BE49-F238E27FC236}">
                <a16:creationId xmlns:a16="http://schemas.microsoft.com/office/drawing/2014/main" id="{4330FC79-93FD-4F45-8DD8-A7B9B765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24225"/>
            <a:ext cx="3790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5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Fresh cache avoids a provider call</a:t>
            </a:r>
          </a:p>
        </p:txBody>
      </p:sp>
      <p:sp>
        <p:nvSpPr>
          <p:cNvPr id="21" name="s9-card-0">
            <a:extLst xmlns:a="http://schemas.openxmlformats.org/drawingml/2006/main">
              <a:ext uri="{FF2B5EF4-FFF2-40B4-BE49-F238E27FC236}">
                <a16:creationId xmlns:a16="http://schemas.microsoft.com/office/drawing/2014/main" id="{5938CDF1-ACF8-4819-A622-A7496D4D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67175"/>
            <a:ext cx="33337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22" name="s9-card-0-title">
            <a:extLst xmlns:a="http://schemas.openxmlformats.org/drawingml/2006/main">
              <a:ext uri="{FF2B5EF4-FFF2-40B4-BE49-F238E27FC236}">
                <a16:creationId xmlns:a16="http://schemas.microsoft.com/office/drawing/2014/main" id="{79B0F409-1DA1-4DE4-85D1-6A2CFBC4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7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77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Normal path</a:t>
            </a:r>
          </a:p>
        </p:txBody>
      </p:sp>
      <p:sp>
        <p:nvSpPr>
          <p:cNvPr id="23" name="s9-card-0-zh">
            <a:extLst xmlns:a="http://schemas.openxmlformats.org/drawingml/2006/main">
              <a:ext uri="{FF2B5EF4-FFF2-40B4-BE49-F238E27FC236}">
                <a16:creationId xmlns:a16="http://schemas.microsoft.com/office/drawing/2014/main" id="{8B88F74E-B9E6-4A40-B30C-DFFDCF4A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2876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" name="s9-card-0-body">
            <a:extLst xmlns:a="http://schemas.openxmlformats.org/drawingml/2006/main">
              <a:ext uri="{FF2B5EF4-FFF2-40B4-BE49-F238E27FC236}">
                <a16:creationId xmlns:a16="http://schemas.microsoft.com/office/drawing/2014/main" id="{8707F811-8853-40E9-A3A4-9787E3F7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2876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Quote &lt;60s: return immediately.</a:t>
            </a:r>
          </a:p>
        </p:txBody>
      </p:sp>
      <p:sp>
        <p:nvSpPr>
          <p:cNvPr id="25" name="s9-card-1">
            <a:extLst xmlns:a="http://schemas.openxmlformats.org/drawingml/2006/main">
              <a:ext uri="{FF2B5EF4-FFF2-40B4-BE49-F238E27FC236}">
                <a16:creationId xmlns:a16="http://schemas.microsoft.com/office/drawing/2014/main" id="{7D25A475-FC3B-4FDB-BAA8-DF7185EA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067175"/>
            <a:ext cx="33337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6" name="s9-card-1-title">
            <a:extLst xmlns:a="http://schemas.openxmlformats.org/drawingml/2006/main">
              <a:ext uri="{FF2B5EF4-FFF2-40B4-BE49-F238E27FC236}">
                <a16:creationId xmlns:a16="http://schemas.microsoft.com/office/drawing/2014/main" id="{4A55A980-1333-4439-9D1E-242CA2D1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286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Outage path</a:t>
            </a:r>
          </a:p>
        </p:txBody>
      </p:sp>
      <p:sp>
        <p:nvSpPr>
          <p:cNvPr id="27" name="s9-card-1-zh">
            <a:extLst xmlns:a="http://schemas.openxmlformats.org/drawingml/2006/main">
              <a:ext uri="{FF2B5EF4-FFF2-40B4-BE49-F238E27FC236}">
                <a16:creationId xmlns:a16="http://schemas.microsoft.com/office/drawing/2014/main" id="{1D49B535-590C-4676-B68D-D81D0AB6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600575"/>
            <a:ext cx="2876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" name="s9-card-1-body">
            <a:extLst xmlns:a="http://schemas.openxmlformats.org/drawingml/2006/main">
              <a:ext uri="{FF2B5EF4-FFF2-40B4-BE49-F238E27FC236}">
                <a16:creationId xmlns:a16="http://schemas.microsoft.com/office/drawing/2014/main" id="{CA83E65A-F65F-4769-9D0F-03F8DA69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981575"/>
            <a:ext cx="2876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Provider fails: CACHED + STALE.</a:t>
            </a:r>
          </a:p>
        </p:txBody>
      </p:sp>
      <p:sp>
        <p:nvSpPr>
          <p:cNvPr id="29" name="s9-card-2">
            <a:extLst xmlns:a="http://schemas.openxmlformats.org/drawingml/2006/main">
              <a:ext uri="{FF2B5EF4-FFF2-40B4-BE49-F238E27FC236}">
                <a16:creationId xmlns:a16="http://schemas.microsoft.com/office/drawing/2014/main" id="{A2982143-1F98-45C0-83DD-441FAB4B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67175"/>
            <a:ext cx="33337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30" name="s9-card-2-title">
            <a:extLst xmlns:a="http://schemas.openxmlformats.org/drawingml/2006/main">
              <a:ext uri="{FF2B5EF4-FFF2-40B4-BE49-F238E27FC236}">
                <a16:creationId xmlns:a16="http://schemas.microsoft.com/office/drawing/2014/main" id="{936B5AF3-AC7D-47DE-9738-EC198B58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86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75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775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Truthful UI</a:t>
            </a:r>
          </a:p>
        </p:txBody>
      </p:sp>
      <p:sp>
        <p:nvSpPr>
          <p:cNvPr id="31" name="s9-card-2-zh">
            <a:extLst xmlns:a="http://schemas.openxmlformats.org/drawingml/2006/main">
              <a:ext uri="{FF2B5EF4-FFF2-40B4-BE49-F238E27FC236}">
                <a16:creationId xmlns:a16="http://schemas.microsoft.com/office/drawing/2014/main" id="{35DA3190-0465-4D83-A3C6-3BF0CE2B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00575"/>
            <a:ext cx="2876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2" name="s9-card-2-body">
            <a:extLst xmlns:a="http://schemas.openxmlformats.org/drawingml/2006/main">
              <a:ext uri="{FF2B5EF4-FFF2-40B4-BE49-F238E27FC236}">
                <a16:creationId xmlns:a16="http://schemas.microsoft.com/office/drawing/2014/main" id="{67A7F6AF-7340-4ADD-A14C-47C1FB11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81575"/>
            <a:ext cx="2876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No cache: price stays null.</a:t>
            </a:r>
          </a:p>
        </p:txBody>
      </p:sp>
      <p:sp>
        <p:nvSpPr>
          <p:cNvPr id="33" name="s9-footer-note">
            <a:extLst xmlns:a="http://schemas.openxmlformats.org/drawingml/2006/main">
              <a:ext uri="{FF2B5EF4-FFF2-40B4-BE49-F238E27FC236}">
                <a16:creationId xmlns:a16="http://schemas.microsoft.com/office/drawing/2014/main" id="{7F644C6B-B656-4243-A606-572E6FFE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Finnhub failure never auto-switches to Mock</a:t>
            </a:r>
          </a:p>
        </p:txBody>
      </p:sp>
      <p:sp>
        <p:nvSpPr>
          <p:cNvPr id="34" name="s9-footer-page">
            <a:extLst xmlns:a="http://schemas.openxmlformats.org/drawingml/2006/main">
              <a:ext uri="{FF2B5EF4-FFF2-40B4-BE49-F238E27FC236}">
                <a16:creationId xmlns:a16="http://schemas.microsoft.com/office/drawing/2014/main" id="{721A7811-128E-473F-B044-21A1E6B2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416973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title-en">
            <a:extLst xmlns:a="http://schemas.openxmlformats.org/drawingml/2006/main">
              <a:ext uri="{FF2B5EF4-FFF2-40B4-BE49-F238E27FC236}">
                <a16:creationId xmlns:a16="http://schemas.microsoft.com/office/drawing/2014/main" id="{7E8C0DF6-3050-4400-9F3E-CA35D70A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Live demo: watch the status change</a:t>
            </a:r>
          </a:p>
        </p:txBody>
      </p:sp>
      <p:sp>
        <p:nvSpPr>
          <p:cNvPr id="2" name="s9-title-zh">
            <a:extLst xmlns:a="http://schemas.openxmlformats.org/drawingml/2006/main">
              <a:ext uri="{FF2B5EF4-FFF2-40B4-BE49-F238E27FC236}">
                <a16:creationId xmlns:a16="http://schemas.microsoft.com/office/drawing/2014/main" id="{5A8CCDE4-CEE5-475F-89D3-B875D57B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9-title-rule">
            <a:extLst xmlns:a="http://schemas.openxmlformats.org/drawingml/2006/main">
              <a:ext uri="{FF2B5EF4-FFF2-40B4-BE49-F238E27FC236}">
                <a16:creationId xmlns:a16="http://schemas.microsoft.com/office/drawing/2014/main" id="{DA570A82-915E-45BE-8A49-E9B23E2B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9-trigger">
            <a:extLst xmlns:a="http://schemas.openxmlformats.org/drawingml/2006/main">
              <a:ext uri="{FF2B5EF4-FFF2-40B4-BE49-F238E27FC236}">
                <a16:creationId xmlns:a16="http://schemas.microsoft.com/office/drawing/2014/main" id="{6F8CE7B8-EC95-46D6-AAAB-D2A999F7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Normal booking → outage → fallback → recovery</a:t>
            </a:r>
          </a:p>
        </p:txBody>
      </p:sp>
      <p:sp>
        <p:nvSpPr>
          <p:cNvPr id="5" name="s9-n1-box">
            <a:extLst xmlns:a="http://schemas.openxmlformats.org/drawingml/2006/main">
              <a:ext uri="{FF2B5EF4-FFF2-40B4-BE49-F238E27FC236}">
                <a16:creationId xmlns:a16="http://schemas.microsoft.com/office/drawing/2014/main" id="{4892D6C9-A32E-4CC8-ABE7-4549A384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19325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6" name="s9-n1-en">
            <a:extLst xmlns:a="http://schemas.openxmlformats.org/drawingml/2006/main">
              <a:ext uri="{FF2B5EF4-FFF2-40B4-BE49-F238E27FC236}">
                <a16:creationId xmlns:a16="http://schemas.microsoft.com/office/drawing/2014/main" id="{00057872-CF3B-4A6C-BDD8-C4756EA1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BOOK</a:t>
            </a:r>
          </a:p>
        </p:txBody>
      </p:sp>
      <p:sp>
        <p:nvSpPr>
          <p:cNvPr id="7" name="s9-n1-zh">
            <a:extLst xmlns:a="http://schemas.openxmlformats.org/drawingml/2006/main">
              <a:ext uri="{FF2B5EF4-FFF2-40B4-BE49-F238E27FC236}">
                <a16:creationId xmlns:a16="http://schemas.microsoft.com/office/drawing/2014/main" id="{F6FBA117-AEC1-4918-BF47-DCEED9AB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03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s9-n2-box">
            <a:extLst xmlns:a="http://schemas.openxmlformats.org/drawingml/2006/main">
              <a:ext uri="{FF2B5EF4-FFF2-40B4-BE49-F238E27FC236}">
                <a16:creationId xmlns:a16="http://schemas.microsoft.com/office/drawing/2014/main" id="{5E7B1FB6-4051-423F-A050-2E231FD3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19325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B45309"/>
            </a:solidFill>
            <a:prstDash val="solid"/>
          </a:ln>
        </p:spPr>
      </p:sp>
      <p:sp>
        <p:nvSpPr>
          <p:cNvPr id="9" name="s9-n2-en">
            <a:extLst xmlns:a="http://schemas.openxmlformats.org/drawingml/2006/main">
              <a:ext uri="{FF2B5EF4-FFF2-40B4-BE49-F238E27FC236}">
                <a16:creationId xmlns:a16="http://schemas.microsoft.com/office/drawing/2014/main" id="{A31407FB-D06D-4087-AA74-00614A4E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3362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LIVE quote</a:t>
            </a:r>
          </a:p>
        </p:txBody>
      </p:sp>
      <p:sp>
        <p:nvSpPr>
          <p:cNvPr id="10" name="s9-n2-zh">
            <a:extLst xmlns:a="http://schemas.openxmlformats.org/drawingml/2006/main">
              <a:ext uri="{FF2B5EF4-FFF2-40B4-BE49-F238E27FC236}">
                <a16:creationId xmlns:a16="http://schemas.microsoft.com/office/drawing/2014/main" id="{14505D57-F9BB-4E20-9213-84C09796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03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" name="s9-n3-box">
            <a:extLst xmlns:a="http://schemas.openxmlformats.org/drawingml/2006/main">
              <a:ext uri="{FF2B5EF4-FFF2-40B4-BE49-F238E27FC236}">
                <a16:creationId xmlns:a16="http://schemas.microsoft.com/office/drawing/2014/main" id="{8FEE3FA8-7B91-4E72-8339-BEDC62BB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19325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2" name="s9-n3-en">
            <a:extLst xmlns:a="http://schemas.openxmlformats.org/drawingml/2006/main">
              <a:ext uri="{FF2B5EF4-FFF2-40B4-BE49-F238E27FC236}">
                <a16:creationId xmlns:a16="http://schemas.microsoft.com/office/drawing/2014/main" id="{AEF7972C-0A33-42D7-8F39-1D6D3C10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965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SIMULATE OUTAGE</a:t>
            </a:r>
          </a:p>
        </p:txBody>
      </p:sp>
      <p:sp>
        <p:nvSpPr>
          <p:cNvPr id="13" name="s9-n3-zh">
            <a:extLst xmlns:a="http://schemas.openxmlformats.org/drawingml/2006/main">
              <a:ext uri="{FF2B5EF4-FFF2-40B4-BE49-F238E27FC236}">
                <a16:creationId xmlns:a16="http://schemas.microsoft.com/office/drawing/2014/main" id="{321EE06B-73BC-4A36-91AE-36F7148D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003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4" name="s9-n4-box">
            <a:extLst xmlns:a="http://schemas.openxmlformats.org/drawingml/2006/main">
              <a:ext uri="{FF2B5EF4-FFF2-40B4-BE49-F238E27FC236}">
                <a16:creationId xmlns:a16="http://schemas.microsoft.com/office/drawing/2014/main" id="{C3F5B9C0-26B0-4F15-9F59-C95A1A4A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19325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15" name="s9-n4-en">
            <a:extLst xmlns:a="http://schemas.openxmlformats.org/drawingml/2006/main">
              <a:ext uri="{FF2B5EF4-FFF2-40B4-BE49-F238E27FC236}">
                <a16:creationId xmlns:a16="http://schemas.microsoft.com/office/drawing/2014/main" id="{D63F5215-F0A3-493C-AB72-BEBAF55C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3362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STALE + CACHED</a:t>
            </a:r>
          </a:p>
        </p:txBody>
      </p:sp>
      <p:sp>
        <p:nvSpPr>
          <p:cNvPr id="16" name="s9-n4-zh">
            <a:extLst xmlns:a="http://schemas.openxmlformats.org/drawingml/2006/main">
              <a:ext uri="{FF2B5EF4-FFF2-40B4-BE49-F238E27FC236}">
                <a16:creationId xmlns:a16="http://schemas.microsoft.com/office/drawing/2014/main" id="{9054EFC8-DE46-4916-87BA-FDA82A6E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003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BD5E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cxnSp>
        <p:nvCxnSpPr>
          <p:cNvPr id="127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19400" y="26670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128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543550" y="26670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129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267700" y="26670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0" name="s9-cache-shortcut">
            <a:extLst xmlns:a="http://schemas.openxmlformats.org/drawingml/2006/main">
              <a:ext uri="{FF2B5EF4-FFF2-40B4-BE49-F238E27FC236}">
                <a16:creationId xmlns:a16="http://schemas.microsoft.com/office/drawing/2014/main" id="{4330FC79-93FD-4F45-8DD8-A7B9B765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24225"/>
            <a:ext cx="3790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5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Same retained price; a different trust label</a:t>
            </a:r>
          </a:p>
        </p:txBody>
      </p:sp>
      <p:sp>
        <p:nvSpPr>
          <p:cNvPr id="21" name="s9-card-0">
            <a:extLst xmlns:a="http://schemas.openxmlformats.org/drawingml/2006/main">
              <a:ext uri="{FF2B5EF4-FFF2-40B4-BE49-F238E27FC236}">
                <a16:creationId xmlns:a16="http://schemas.microsoft.com/office/drawing/2014/main" id="{5938CDF1-ACF8-4819-A622-A7496D4D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67175"/>
            <a:ext cx="33337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22" name="s9-card-0-title">
            <a:extLst xmlns:a="http://schemas.openxmlformats.org/drawingml/2006/main">
              <a:ext uri="{FF2B5EF4-FFF2-40B4-BE49-F238E27FC236}">
                <a16:creationId xmlns:a16="http://schemas.microsoft.com/office/drawing/2014/main" id="{79B0F409-1DA1-4DE4-85D1-6A2CFBC4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7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77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1 · Buy 10, sell 4</a:t>
            </a:r>
          </a:p>
        </p:txBody>
      </p:sp>
      <p:sp>
        <p:nvSpPr>
          <p:cNvPr id="23" name="s9-card-0-zh">
            <a:extLst xmlns:a="http://schemas.openxmlformats.org/drawingml/2006/main">
              <a:ext uri="{FF2B5EF4-FFF2-40B4-BE49-F238E27FC236}">
                <a16:creationId xmlns:a16="http://schemas.microsoft.com/office/drawing/2014/main" id="{8B88F74E-B9E6-4A40-B30C-DFFDCF4A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2876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" name="s9-card-0-body">
            <a:extLst xmlns:a="http://schemas.openxmlformats.org/drawingml/2006/main">
              <a:ext uri="{FF2B5EF4-FFF2-40B4-BE49-F238E27FC236}">
                <a16:creationId xmlns:a16="http://schemas.microsoft.com/office/drawing/2014/main" id="{8707F811-8853-40E9-A3A4-9787E3F7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2876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Position becomes 6.</a:t>
            </a:r>
          </a:p>
        </p:txBody>
      </p:sp>
      <p:sp>
        <p:nvSpPr>
          <p:cNvPr id="25" name="s9-card-1">
            <a:extLst xmlns:a="http://schemas.openxmlformats.org/drawingml/2006/main">
              <a:ext uri="{FF2B5EF4-FFF2-40B4-BE49-F238E27FC236}">
                <a16:creationId xmlns:a16="http://schemas.microsoft.com/office/drawing/2014/main" id="{7D25A475-FC3B-4FDB-BAA8-DF7185EA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067175"/>
            <a:ext cx="33337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6" name="s9-card-1-title">
            <a:extLst xmlns:a="http://schemas.openxmlformats.org/drawingml/2006/main">
              <a:ext uri="{FF2B5EF4-FFF2-40B4-BE49-F238E27FC236}">
                <a16:creationId xmlns:a16="http://schemas.microsoft.com/office/drawing/2014/main" id="{4A55A980-1333-4439-9D1E-242CA2D1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286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2 · Pull a quote</a:t>
            </a:r>
          </a:p>
        </p:txBody>
      </p:sp>
      <p:sp>
        <p:nvSpPr>
          <p:cNvPr id="27" name="s9-card-1-zh">
            <a:extLst xmlns:a="http://schemas.openxmlformats.org/drawingml/2006/main">
              <a:ext uri="{FF2B5EF4-FFF2-40B4-BE49-F238E27FC236}">
                <a16:creationId xmlns:a16="http://schemas.microsoft.com/office/drawing/2014/main" id="{1D49B535-590C-4676-B68D-D81D0AB6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600575"/>
            <a:ext cx="2876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" name="s9-card-1-body">
            <a:extLst xmlns:a="http://schemas.openxmlformats.org/drawingml/2006/main">
              <a:ext uri="{FF2B5EF4-FFF2-40B4-BE49-F238E27FC236}">
                <a16:creationId xmlns:a16="http://schemas.microsoft.com/office/drawing/2014/main" id="{CA83E65A-F65F-4769-9D0F-03F8DA69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981575"/>
            <a:ext cx="2876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P&amp;L updates immediately.</a:t>
            </a:r>
          </a:p>
        </p:txBody>
      </p:sp>
      <p:sp>
        <p:nvSpPr>
          <p:cNvPr id="29" name="s9-card-2">
            <a:extLst xmlns:a="http://schemas.openxmlformats.org/drawingml/2006/main">
              <a:ext uri="{FF2B5EF4-FFF2-40B4-BE49-F238E27FC236}">
                <a16:creationId xmlns:a16="http://schemas.microsoft.com/office/drawing/2014/main" id="{A2982143-1F98-45C0-83DD-441FAB4B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67175"/>
            <a:ext cx="33337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30" name="s9-card-2-title">
            <a:extLst xmlns:a="http://schemas.openxmlformats.org/drawingml/2006/main">
              <a:ext uri="{FF2B5EF4-FFF2-40B4-BE49-F238E27FC236}">
                <a16:creationId xmlns:a16="http://schemas.microsoft.com/office/drawing/2014/main" id="{936B5AF3-AC7D-47DE-9738-EC198B58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86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75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775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3 · Break provider</a:t>
            </a:r>
          </a:p>
        </p:txBody>
      </p:sp>
      <p:sp>
        <p:nvSpPr>
          <p:cNvPr id="31" name="s9-card-2-zh">
            <a:extLst xmlns:a="http://schemas.openxmlformats.org/drawingml/2006/main">
              <a:ext uri="{FF2B5EF4-FFF2-40B4-BE49-F238E27FC236}">
                <a16:creationId xmlns:a16="http://schemas.microsoft.com/office/drawing/2014/main" id="{35DA3190-0465-4D83-A3C6-3BF0CE2B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00575"/>
            <a:ext cx="2876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2" name="s9-card-2-body">
            <a:extLst xmlns:a="http://schemas.openxmlformats.org/drawingml/2006/main">
              <a:ext uri="{FF2B5EF4-FFF2-40B4-BE49-F238E27FC236}">
                <a16:creationId xmlns:a16="http://schemas.microsoft.com/office/drawing/2014/main" id="{67A7F6AF-7340-4ADD-A14C-47C1FB11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81575"/>
            <a:ext cx="2876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P&amp;L stays visible with a warning.</a:t>
            </a:r>
          </a:p>
        </p:txBody>
      </p:sp>
      <p:sp>
        <p:nvSpPr>
          <p:cNvPr id="33" name="s9-footer-note">
            <a:extLst xmlns:a="http://schemas.openxmlformats.org/drawingml/2006/main">
              <a:ext uri="{FF2B5EF4-FFF2-40B4-BE49-F238E27FC236}">
                <a16:creationId xmlns:a16="http://schemas.microsoft.com/office/drawing/2014/main" id="{7F644C6B-B656-4243-A606-572E6FFE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localhost:3100 · isolated Compose project: equity-demo</a:t>
            </a:r>
          </a:p>
        </p:txBody>
      </p:sp>
      <p:sp>
        <p:nvSpPr>
          <p:cNvPr id="34" name="s9-footer-page">
            <a:extLst xmlns:a="http://schemas.openxmlformats.org/drawingml/2006/main">
              <a:ext uri="{FF2B5EF4-FFF2-40B4-BE49-F238E27FC236}">
                <a16:creationId xmlns:a16="http://schemas.microsoft.com/office/drawing/2014/main" id="{721A7811-128E-473F-B044-21A1E6B2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416973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-left-accent">
            <a:extLst xmlns:a="http://schemas.openxmlformats.org/drawingml/2006/main">
              <a:ext uri="{FF2B5EF4-FFF2-40B4-BE49-F238E27FC236}">
                <a16:creationId xmlns:a16="http://schemas.microsoft.com/office/drawing/2014/main" id="{46B482F5-5E8B-44DF-8EC7-C0210B6E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s1-kicker">
            <a:extLst xmlns:a="http://schemas.openxmlformats.org/drawingml/2006/main">
              <a:ext uri="{FF2B5EF4-FFF2-40B4-BE49-F238E27FC236}">
                <a16:creationId xmlns:a16="http://schemas.microsoft.com/office/drawing/2014/main" id="{E4BFA3FC-5856-4494-85D4-42CB2620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TAKEAWAY &amp; Q&amp;A</a:t>
            </a:r>
          </a:p>
        </p:txBody>
      </p:sp>
      <p:sp>
        <p:nvSpPr>
          <p:cNvPr id="3" name="s1-title">
            <a:extLst xmlns:a="http://schemas.openxmlformats.org/drawingml/2006/main">
              <a:ext uri="{FF2B5EF4-FFF2-40B4-BE49-F238E27FC236}">
                <a16:creationId xmlns:a16="http://schemas.microsoft.com/office/drawing/2014/main" id="{C6635B09-06FE-497A-81DE-39906FC3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0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60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Trust the ledger.</a:t>
            </a:r>
          </a:p>
        </p:txBody>
      </p:sp>
      <p:sp>
        <p:nvSpPr>
          <p:cNvPr id="4" name="s1-subtitle-en">
            <a:extLst xmlns:a="http://schemas.openxmlformats.org/drawingml/2006/main">
              <a:ext uri="{FF2B5EF4-FFF2-40B4-BE49-F238E27FC236}">
                <a16:creationId xmlns:a16="http://schemas.microsoft.com/office/drawing/2014/main" id="{EDF9140E-E1DF-4A2C-9D1E-32FE70D2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75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2075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TradeFlow validates before booking, recomputes from an auditable ledger, and labels degraded market data honestly.</a:t>
            </a:r>
          </a:p>
        </p:txBody>
      </p:sp>
      <p:sp>
        <p:nvSpPr>
          <p:cNvPr id="5" name="s1-subtitle-zh">
            <a:extLst xmlns:a="http://schemas.openxmlformats.org/drawingml/2006/main">
              <a:ext uri="{FF2B5EF4-FFF2-40B4-BE49-F238E27FC236}">
                <a16:creationId xmlns:a16="http://schemas.microsoft.com/office/drawing/2014/main" id="{DFE87931-AC7E-4009-BCED-CAFC3712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29075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1-purpose">
            <a:extLst xmlns:a="http://schemas.openxmlformats.org/drawingml/2006/main">
              <a:ext uri="{FF2B5EF4-FFF2-40B4-BE49-F238E27FC236}">
                <a16:creationId xmlns:a16="http://schemas.microsoft.com/office/drawing/2014/main" id="{39071DA9-97FE-4F48-AEDB-015EA9BB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ACCURATE  →  AUDITABLE  →  RESILIENT</a:t>
            </a:r>
          </a:p>
        </p:txBody>
      </p:sp>
      <p:sp>
        <p:nvSpPr>
          <p:cNvPr id="7" name="s1-circle-validate">
            <a:extLst xmlns:a="http://schemas.openxmlformats.org/drawingml/2006/main">
              <a:ext uri="{FF2B5EF4-FFF2-40B4-BE49-F238E27FC236}">
                <a16:creationId xmlns:a16="http://schemas.microsoft.com/office/drawing/2014/main" id="{7E872ABB-C27F-4EE7-83B5-4F310B30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8" name="s1-circle-book">
            <a:extLst xmlns:a="http://schemas.openxmlformats.org/drawingml/2006/main">
              <a:ext uri="{FF2B5EF4-FFF2-40B4-BE49-F238E27FC236}">
                <a16:creationId xmlns:a16="http://schemas.microsoft.com/office/drawing/2014/main" id="{326B4211-4896-44E8-8714-CCBDCC2D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6230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" name="s1-circle-value">
            <a:extLst xmlns:a="http://schemas.openxmlformats.org/drawingml/2006/main">
              <a:ext uri="{FF2B5EF4-FFF2-40B4-BE49-F238E27FC236}">
                <a16:creationId xmlns:a16="http://schemas.microsoft.com/office/drawing/2014/main" id="{8DD85B42-9FB8-4F83-A828-033B5BB2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1485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9050">
            <a:solidFill>
              <a:srgbClr val="0F172A"/>
            </a:solidFill>
            <a:prstDash val="solid"/>
          </a:ln>
        </p:spPr>
      </p:sp>
      <p:cxnSp>
        <p:nvCxnSpPr>
          <p:cNvPr id="7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9353550" y="2390775"/>
            <a:ext cx="190500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  <a:tailEnd type="triangle" w="med" len="med"/>
          </a:ln>
        </p:spPr>
      </p:cxnSp>
      <p:cxnSp>
        <p:nvCxnSpPr>
          <p:cNvPr id="72" name=""/>
          <p:cNvCxnSpPr>
            <a:stCxn xmlns:a="http://schemas.openxmlformats.org/drawingml/2006/main" id="8" idx="2"/>
            <a:endCxn xmlns:a="http://schemas.openxmlformats.org/drawingml/2006/main" id="9" idx="6"/>
          </p:cNvCxnSpPr>
          <p:nvPr/>
        </p:nvCxnSpPr>
        <p:spPr>
          <a:xfrm xmlns:a="http://schemas.openxmlformats.org/drawingml/2006/main" flipH="1">
            <a:off x="9353550" y="3743325"/>
            <a:ext cx="190500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  <a:tailEnd type="triangle" w="med" len="med"/>
          </a:ln>
        </p:spPr>
      </p:cxnSp>
      <p:sp>
        <p:nvSpPr>
          <p:cNvPr id="12" name="s1-circle-validate-text">
            <a:extLst xmlns:a="http://schemas.openxmlformats.org/drawingml/2006/main">
              <a:ext uri="{FF2B5EF4-FFF2-40B4-BE49-F238E27FC236}">
                <a16:creationId xmlns:a16="http://schemas.microsoft.com/office/drawing/2014/main" id="{115D2BFF-717C-488F-89A5-8B966628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24075"/>
            <a:ext cx="1009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3" name="s1-circle-book-text">
            <a:extLst xmlns:a="http://schemas.openxmlformats.org/drawingml/2006/main">
              <a:ext uri="{FF2B5EF4-FFF2-40B4-BE49-F238E27FC236}">
                <a16:creationId xmlns:a16="http://schemas.microsoft.com/office/drawing/2014/main" id="{9C89AE84-A77B-47C8-BBC4-8CB2F8B2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76625"/>
            <a:ext cx="81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REPLAY</a:t>
            </a:r>
          </a:p>
        </p:txBody>
      </p:sp>
      <p:sp>
        <p:nvSpPr>
          <p:cNvPr id="14" name="s1-circle-value-text">
            <a:extLst xmlns:a="http://schemas.openxmlformats.org/drawingml/2006/main">
              <a:ext uri="{FF2B5EF4-FFF2-40B4-BE49-F238E27FC236}">
                <a16:creationId xmlns:a16="http://schemas.microsoft.com/office/drawing/2014/main" id="{3BEC6C82-1002-4AC4-B18D-F071C1D4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29175"/>
            <a:ext cx="81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5" name="s1-verified">
            <a:extLst xmlns:a="http://schemas.openxmlformats.org/drawingml/2006/main">
              <a:ext uri="{FF2B5EF4-FFF2-40B4-BE49-F238E27FC236}">
                <a16:creationId xmlns:a16="http://schemas.microsoft.com/office/drawing/2014/main" id="{DA2C1152-3E57-4475-BBFF-E4C6993E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7239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5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QUESTIONS?</a:t>
            </a:r>
          </a:p>
        </p:txBody>
      </p:sp>
      <p:sp>
        <p:nvSpPr>
          <p:cNvPr id="16" name="s1-footer-note">
            <a:extLst xmlns:a="http://schemas.openxmlformats.org/drawingml/2006/main">
              <a:ext uri="{FF2B5EF4-FFF2-40B4-BE49-F238E27FC236}">
                <a16:creationId xmlns:a16="http://schemas.microsoft.com/office/drawing/2014/main" id="{1B910B0C-1844-415C-AD13-90E63D0D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TradeFlow · Group 05 · Thank you</a:t>
            </a:r>
          </a:p>
        </p:txBody>
      </p:sp>
      <p:sp>
        <p:nvSpPr>
          <p:cNvPr id="17" name="s1-footer-page">
            <a:extLst xmlns:a="http://schemas.openxmlformats.org/drawingml/2006/main">
              <a:ext uri="{FF2B5EF4-FFF2-40B4-BE49-F238E27FC236}">
                <a16:creationId xmlns:a16="http://schemas.microsoft.com/office/drawing/2014/main" id="{B1E06B8E-3018-4274-8AD3-1FC48F49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847338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2026-07-29T10:58:18.6470000Z</dcterms:created>
  <dcterms:modified xsi:type="dcterms:W3CDTF">2026-07-29T10:58:18.6470000Z</dcterms:modified>
</coreProperties>
</file>