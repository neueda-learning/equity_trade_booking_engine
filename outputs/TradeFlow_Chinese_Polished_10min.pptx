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267c02da604f84" /><Relationship Type="http://schemas.openxmlformats.org/officeDocument/2006/relationships/extended-properties" Target="/docProps/app.xml" Id="Redbc2a4f21204ca2" /><Relationship Type="http://schemas.openxmlformats.org/officeDocument/2006/relationships/officeDocument" Target="/ppt/presentation.xml" Id="Rf7721d55dd5b40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10c638ad7548d8"/>
  </p:sldMasterIdLst>
  <p:notesMasterIdLst>
    <p:notesMasterId xmlns:r="http://schemas.openxmlformats.org/officeDocument/2006/relationships" r:id="Rd4489cc2f4e641be"/>
  </p:notesMasterIdLst>
  <p:sldIdLst>
    <p:sldId xmlns:r="http://schemas.openxmlformats.org/officeDocument/2006/relationships" id="256" r:id="Re8e3cf3011e045d5"/>
    <p:sldId xmlns:r="http://schemas.openxmlformats.org/officeDocument/2006/relationships" id="257" r:id="R83e957e3a0324e1b"/>
    <p:sldId xmlns:r="http://schemas.openxmlformats.org/officeDocument/2006/relationships" id="258" r:id="R29860db0f996467f"/>
    <p:sldId xmlns:r="http://schemas.openxmlformats.org/officeDocument/2006/relationships" id="259" r:id="Rf92a09c5022a42df"/>
    <p:sldId xmlns:r="http://schemas.openxmlformats.org/officeDocument/2006/relationships" id="260" r:id="Rf5408099ba934a05"/>
    <p:sldId xmlns:r="http://schemas.openxmlformats.org/officeDocument/2006/relationships" id="261" r:id="Rb84572d1ffed4e1e"/>
    <p:sldId xmlns:r="http://schemas.openxmlformats.org/officeDocument/2006/relationships" id="262" r:id="Ra6e9559b39534665"/>
    <p:sldId xmlns:r="http://schemas.openxmlformats.org/officeDocument/2006/relationships" id="263" r:id="R0335ff100e214018"/>
    <p:sldId xmlns:r="http://schemas.openxmlformats.org/officeDocument/2006/relationships" id="264" r:id="Rcbdc89dae5c54e8a"/>
    <p:sldId xmlns:r="http://schemas.openxmlformats.org/officeDocument/2006/relationships" id="265" r:id="Rb24b636850e1442c"/>
    <p:sldId xmlns:r="http://schemas.openxmlformats.org/officeDocument/2006/relationships" id="266" r:id="R6e3b91f8bfe34904"/>
    <p:sldId xmlns:r="http://schemas.openxmlformats.org/officeDocument/2006/relationships" id="267" r:id="Rfaf9b366d1694c6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3e590607e647c6" /><Relationship Type="http://schemas.openxmlformats.org/officeDocument/2006/relationships/slideMaster" Target="/ppt/slideMasters/slideMaster1.xml" Id="R7210c638ad7548d8" /><Relationship Type="http://schemas.openxmlformats.org/officeDocument/2006/relationships/notesMaster" Target="/ppt/notesMasters/notesMaster1.xml" Id="Rd4489cc2f4e641be" /><Relationship Type="http://schemas.openxmlformats.org/officeDocument/2006/relationships/presProps" Target="/ppt/presProps.xml" Id="Rbbdeffa7eb0340ac" /><Relationship Type="http://schemas.openxmlformats.org/officeDocument/2006/relationships/tableStyles" Target="/ppt/tableStyles.xml" Id="Refaaf36bd0df4163" /><Relationship Type="http://schemas.openxmlformats.org/officeDocument/2006/relationships/slide" Target="/ppt/slides/slide1.xml" Id="Re8e3cf3011e045d5" /><Relationship Type="http://schemas.openxmlformats.org/officeDocument/2006/relationships/slide" Target="/ppt/slides/slide2.xml" Id="R83e957e3a0324e1b" /><Relationship Type="http://schemas.openxmlformats.org/officeDocument/2006/relationships/slide" Target="/ppt/slides/slide3.xml" Id="R29860db0f996467f" /><Relationship Type="http://schemas.openxmlformats.org/officeDocument/2006/relationships/slide" Target="/ppt/slides/slide4.xml" Id="Rf92a09c5022a42df" /><Relationship Type="http://schemas.openxmlformats.org/officeDocument/2006/relationships/slide" Target="/ppt/slides/slide5.xml" Id="Rf5408099ba934a05" /><Relationship Type="http://schemas.openxmlformats.org/officeDocument/2006/relationships/slide" Target="/ppt/slides/slide6.xml" Id="Rb84572d1ffed4e1e" /><Relationship Type="http://schemas.openxmlformats.org/officeDocument/2006/relationships/slide" Target="/ppt/slides/slide7.xml" Id="Ra6e9559b39534665" /><Relationship Type="http://schemas.openxmlformats.org/officeDocument/2006/relationships/slide" Target="/ppt/slides/slide8.xml" Id="R0335ff100e214018" /><Relationship Type="http://schemas.openxmlformats.org/officeDocument/2006/relationships/slide" Target="/ppt/slides/slide9.xml" Id="Rcbdc89dae5c54e8a" /><Relationship Type="http://schemas.openxmlformats.org/officeDocument/2006/relationships/slide" Target="/ppt/slides/slide10.xml" Id="Rb24b636850e1442c" /><Relationship Type="http://schemas.openxmlformats.org/officeDocument/2006/relationships/slide" Target="/ppt/slides/slide11.xml" Id="R6e3b91f8bfe34904" /><Relationship Type="http://schemas.openxmlformats.org/officeDocument/2006/relationships/slide" Target="/ppt/slides/slide12.xml" Id="Rfaf9b366d1694c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418dc3069b4f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4824a2a51b4222" /><Relationship Type="http://schemas.openxmlformats.org/officeDocument/2006/relationships/notesMaster" Target="/ppt/notesMasters/notesMaster1.xml" Id="R5722396d428c4a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96f9eec0584e8b" /><Relationship Type="http://schemas.openxmlformats.org/officeDocument/2006/relationships/notesMaster" Target="/ppt/notesMasters/notesMaster1.xml" Id="R7073153a2f034e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48dd0917e447ee" /><Relationship Type="http://schemas.openxmlformats.org/officeDocument/2006/relationships/notesMaster" Target="/ppt/notesMasters/notesMaster1.xml" Id="R988ceedecd9145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970af267314bf8" /><Relationship Type="http://schemas.openxmlformats.org/officeDocument/2006/relationships/notesMaster" Target="/ppt/notesMasters/notesMaster1.xml" Id="R1190f973396c4a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bd6dbc07bc4ff5" /><Relationship Type="http://schemas.openxmlformats.org/officeDocument/2006/relationships/notesMaster" Target="/ppt/notesMasters/notesMaster1.xml" Id="R5fb31f9acc8e4a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b329a95c744bde" /><Relationship Type="http://schemas.openxmlformats.org/officeDocument/2006/relationships/notesMaster" Target="/ppt/notesMasters/notesMaster1.xml" Id="R370e47f0bfae42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683aac6eb9425d" /><Relationship Type="http://schemas.openxmlformats.org/officeDocument/2006/relationships/notesMaster" Target="/ppt/notesMasters/notesMaster1.xml" Id="Rf11f0fa27b0c4b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02bf210ff1437f" /><Relationship Type="http://schemas.openxmlformats.org/officeDocument/2006/relationships/notesMaster" Target="/ppt/notesMasters/notesMaster1.xml" Id="Re4acb8777ce841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4a9fff710c453d" /><Relationship Type="http://schemas.openxmlformats.org/officeDocument/2006/relationships/notesMaster" Target="/ppt/notesMasters/notesMaster1.xml" Id="R1ee7b8c9fac14f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50432b50c14977" /><Relationship Type="http://schemas.openxmlformats.org/officeDocument/2006/relationships/notesMaster" Target="/ppt/notesMasters/notesMaster1.xml" Id="R727fbec5464341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5226a707134522" /><Relationship Type="http://schemas.openxmlformats.org/officeDocument/2006/relationships/notesMaster" Target="/ppt/notesMasters/notesMaster1.xml" Id="Rba07c91a7d1940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5e4ad8226c4516" /><Relationship Type="http://schemas.openxmlformats.org/officeDocument/2006/relationships/notesMaster" Target="/ppt/notesMasters/notesMaster1.xml" Id="Rc820e170238e4a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[演讲者 A | 约 25 秒] 大家好。TradeFlow 把已确认成交转化为可信的持仓与盈亏；即使行情网络出现故障，账簿事实依然可靠。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[演讲者 A | 约 45 秒] 想象一位交易员拿到成交确认后，还要面对表格账簿和延迟行情：多一个零，就会同时扭曲持仓和盈亏。TradeFlow 解决的正是这段交易后不确定性。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[演讲者 A | 约 35 秒] 我们分别主责产品、领域逻辑、界面与数据，以及可靠性，但集成、测试和交付是共同责任。因此最终呈现的是一个完整系统，而不是四块拼接功能。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[演讲者 A | 约 20 秒] 我们先说明业务问题，再解释关键工程决策，最后用一次行情中断现场证明设计。讲解约七分钟，演示约三分钟，结尾控制在一分钟内。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[演讲者 B | 约 40 秒] TradeFlow 不负责订单撮合，而是从确认成交开始。它校验事实、保留审计链，并把已入账交易重算为当前持仓与未实现盈亏。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[演讲者 B | 约 55 秒] 我们选择模块化单体，让交易、校验、持仓和盈亏共享同一条业务时间线，同时保持清晰边界。MySQL 是权威记录，Redis 可丢弃，绝不保存业务数据的唯一副本。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[演讲者 B | 约 45 秒] 关键不是罗列技术名，而是职责分离：MySQL 保存记录，后端负责计算，Redis 只加速行情并提供安全降级。Docker 与持续集成让最终演示可以重复运行。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[演讲者 C | 约 55 秒] 交易要么有效并入账，要么在持久化之前被拒绝。业务规则还会回放完整时间线，确保卖出、取消或修改都不会制造隐藏的负持仓。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[演讲者 C | 约 55 秒] 演示中先以一百美元买入十股，再以一百一十美元卖出四股，剩余六股、成本基础六百美元。报价为 123.46 美元时，市值 740.76 美元，未实现盈利 140.76 美元，也就是 23.46%。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[演讲者 D | 约 55 秒] 缓存在正常状态下提供速度，在外部中断时提供保留报价。系统不会把过期数据冒充实时数据；如果没有缓存，就返回空值，而不是伪造零价格。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[演讲者 D | 约 3 分钟演示] 我会买入十股、卖出四股，再刷新实时报价，让持仓和盈亏更新。随后模拟行情中断，请观察 LIVE 变为 CACHED + STALE、数值带警告继续可用，并在服务恢复后回到 LIVE。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[演讲者 A | 约 25 秒] 最后的结论很简单：入账前校验、从可审计账簿重算、依赖失败时显式降级。谢谢大家，欢迎提问。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15b145fbb40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9f68312ee94833" /><Relationship Type="http://schemas.openxmlformats.org/officeDocument/2006/relationships/slideLayout" Target="/ppt/slideLayouts/slideLayout1.xml" Id="R9822b86628af4f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22b86628af4f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63bdf76be4a41" /><Relationship Type="http://schemas.openxmlformats.org/officeDocument/2006/relationships/notesSlide" Target="/ppt/notesSlides/notesSlide1.xml" Id="Raa02dc67bcb14e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f7d23e08948c2" /><Relationship Type="http://schemas.openxmlformats.org/officeDocument/2006/relationships/notesSlide" Target="/ppt/notesSlides/notesSlide2.xml" Id="R01ed664b59ab46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73219d2aa4260" /><Relationship Type="http://schemas.openxmlformats.org/officeDocument/2006/relationships/notesSlide" Target="/ppt/notesSlides/notesSlide3.xml" Id="R876e847234dc4b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daf9bc5c34a42" /><Relationship Type="http://schemas.openxmlformats.org/officeDocument/2006/relationships/notesSlide" Target="/ppt/notesSlides/notesSlide4.xml" Id="R8284ed4dd46e4b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6b24d0c634bbf" /><Relationship Type="http://schemas.openxmlformats.org/officeDocument/2006/relationships/notesSlide" Target="/ppt/notesSlides/notesSlide5.xml" Id="Rdbc36d2e36fd4a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392db5f0b405e" /><Relationship Type="http://schemas.openxmlformats.org/officeDocument/2006/relationships/notesSlide" Target="/ppt/notesSlides/notesSlide6.xml" Id="Rfef6f6fb7d9949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52bf0c265420f" /><Relationship Type="http://schemas.openxmlformats.org/officeDocument/2006/relationships/notesSlide" Target="/ppt/notesSlides/notesSlide7.xml" Id="Rd83456eb20274f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853765c574000" /><Relationship Type="http://schemas.openxmlformats.org/officeDocument/2006/relationships/notesSlide" Target="/ppt/notesSlides/notesSlide8.xml" Id="R18a62d40ff3a41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c4a11776d4fc9" /><Relationship Type="http://schemas.openxmlformats.org/officeDocument/2006/relationships/notesSlide" Target="/ppt/notesSlides/notesSlide9.xml" Id="Rdda08033a72142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4fdf9fe164a0e" /><Relationship Type="http://schemas.openxmlformats.org/officeDocument/2006/relationships/notesSlide" Target="/ppt/notesSlides/notesSlide10.xml" Id="R3d4059b5009b4b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19ef7359b4f62" /><Relationship Type="http://schemas.openxmlformats.org/officeDocument/2006/relationships/notesSlide" Target="/ppt/notesSlides/notesSlide11.xml" Id="R76c29a20132446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45852c8ad4129" /><Relationship Type="http://schemas.openxmlformats.org/officeDocument/2006/relationships/notesSlide" Target="/ppt/notesSlides/notesSlide12.xml" Id="R69fd4028b32d41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-left-accent">
            <a:extLst xmlns:a="http://schemas.openxmlformats.org/drawingml/2006/main">
              <a:ext uri="{FF2B5EF4-FFF2-40B4-BE49-F238E27FC236}">
                <a16:creationId xmlns:a16="http://schemas.microsoft.com/office/drawing/2014/main" id="{46B482F5-5E8B-44DF-8EC7-C0210B6E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s1-kicker">
            <a:extLst xmlns:a="http://schemas.openxmlformats.org/drawingml/2006/main">
              <a:ext uri="{FF2B5EF4-FFF2-40B4-BE49-F238E27FC236}">
                <a16:creationId xmlns:a16="http://schemas.microsoft.com/office/drawing/2014/main" id="{E4BFA3FC-5856-4494-85D4-42CB2620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最终项目 · 第 5 组</a:t>
            </a:r>
          </a:p>
        </p:txBody>
      </p:sp>
      <p:sp>
        <p:nvSpPr>
          <p:cNvPr id="3" name="s1-title">
            <a:extLst xmlns:a="http://schemas.openxmlformats.org/drawingml/2006/main">
              <a:ext uri="{FF2B5EF4-FFF2-40B4-BE49-F238E27FC236}">
                <a16:creationId xmlns:a16="http://schemas.microsoft.com/office/drawing/2014/main" id="{C6635B09-06FE-497A-81DE-39906FC3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0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60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TradeFlow</a:t>
            </a:r>
          </a:p>
        </p:txBody>
      </p:sp>
      <p:sp>
        <p:nvSpPr>
          <p:cNvPr id="4" name="s1-subtitle-en">
            <a:extLst xmlns:a="http://schemas.openxmlformats.org/drawingml/2006/main">
              <a:ext uri="{FF2B5EF4-FFF2-40B4-BE49-F238E27FC236}">
                <a16:creationId xmlns:a16="http://schemas.microsoft.com/office/drawing/2014/main" id="{EDF9140E-E1DF-4A2C-9D1E-32FE70D2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75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2075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把已成交股票交易转化为可信持仓与盈亏的韧性入账引擎。</a:t>
            </a:r>
          </a:p>
        </p:txBody>
      </p:sp>
      <p:sp>
        <p:nvSpPr>
          <p:cNvPr id="5" name="s1-subtitle-zh">
            <a:extLst xmlns:a="http://schemas.openxmlformats.org/drawingml/2006/main">
              <a:ext uri="{FF2B5EF4-FFF2-40B4-BE49-F238E27FC236}">
                <a16:creationId xmlns:a16="http://schemas.microsoft.com/office/drawing/2014/main" id="{DFE87931-AC7E-4009-BCED-CAFC3712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1-purpose">
            <a:extLst xmlns:a="http://schemas.openxmlformats.org/drawingml/2006/main">
              <a:ext uri="{FF2B5EF4-FFF2-40B4-BE49-F238E27FC236}">
                <a16:creationId xmlns:a16="http://schemas.microsoft.com/office/drawing/2014/main" id="{39071DA9-97FE-4F48-AEDB-015EA9BB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校验  →  入账  →  估值  →  故障降级</a:t>
            </a:r>
          </a:p>
        </p:txBody>
      </p:sp>
      <p:sp>
        <p:nvSpPr>
          <p:cNvPr id="7" name="s1-circle-validate">
            <a:extLst xmlns:a="http://schemas.openxmlformats.org/drawingml/2006/main">
              <a:ext uri="{FF2B5EF4-FFF2-40B4-BE49-F238E27FC236}">
                <a16:creationId xmlns:a16="http://schemas.microsoft.com/office/drawing/2014/main" id="{7E872ABB-C27F-4EE7-83B5-4F310B3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s1-circle-book">
            <a:extLst xmlns:a="http://schemas.openxmlformats.org/drawingml/2006/main">
              <a:ext uri="{FF2B5EF4-FFF2-40B4-BE49-F238E27FC236}">
                <a16:creationId xmlns:a16="http://schemas.microsoft.com/office/drawing/2014/main" id="{326B4211-4896-44E8-8714-CCBDCC2D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623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s1-circle-value">
            <a:extLst xmlns:a="http://schemas.openxmlformats.org/drawingml/2006/main">
              <a:ext uri="{FF2B5EF4-FFF2-40B4-BE49-F238E27FC236}">
                <a16:creationId xmlns:a16="http://schemas.microsoft.com/office/drawing/2014/main" id="{8DD85B42-9FB8-4F83-A828-033B5BB2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cxnSp>
        <p:nvCxnSpPr>
          <p:cNvPr id="7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9353550" y="2390775"/>
            <a:ext cx="1905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8" idx="2"/>
            <a:endCxn xmlns:a="http://schemas.openxmlformats.org/drawingml/2006/main" id="9" idx="6"/>
          </p:cNvCxnSpPr>
          <p:nvPr/>
        </p:nvCxnSpPr>
        <p:spPr>
          <a:xfrm xmlns:a="http://schemas.openxmlformats.org/drawingml/2006/main" flipH="1">
            <a:off x="9353550" y="3743325"/>
            <a:ext cx="1905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  <a:tailEnd type="triangle" w="med" len="med"/>
          </a:ln>
        </p:spPr>
      </p:cxnSp>
      <p:sp>
        <p:nvSpPr>
          <p:cNvPr id="12" name="s1-circle-validate-text">
            <a:extLst xmlns:a="http://schemas.openxmlformats.org/drawingml/2006/main">
              <a:ext uri="{FF2B5EF4-FFF2-40B4-BE49-F238E27FC236}">
                <a16:creationId xmlns:a16="http://schemas.microsoft.com/office/drawing/2014/main" id="{115D2BFF-717C-488F-89A5-8B966628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2407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校验</a:t>
            </a:r>
          </a:p>
        </p:txBody>
      </p:sp>
      <p:sp>
        <p:nvSpPr>
          <p:cNvPr id="13" name="s1-circle-book-text">
            <a:extLst xmlns:a="http://schemas.openxmlformats.org/drawingml/2006/main">
              <a:ext uri="{FF2B5EF4-FFF2-40B4-BE49-F238E27FC236}">
                <a16:creationId xmlns:a16="http://schemas.microsoft.com/office/drawing/2014/main" id="{9C89AE84-A77B-47C8-BBC4-8CB2F8B2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7662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入账</a:t>
            </a:r>
          </a:p>
        </p:txBody>
      </p:sp>
      <p:sp>
        <p:nvSpPr>
          <p:cNvPr id="14" name="s1-circle-value-text">
            <a:extLst xmlns:a="http://schemas.openxmlformats.org/drawingml/2006/main">
              <a:ext uri="{FF2B5EF4-FFF2-40B4-BE49-F238E27FC236}">
                <a16:creationId xmlns:a16="http://schemas.microsoft.com/office/drawing/2014/main" id="{3BEC6C82-1002-4AC4-B18D-F071C1D4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2917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估值</a:t>
            </a:r>
          </a:p>
        </p:txBody>
      </p:sp>
      <p:sp>
        <p:nvSpPr>
          <p:cNvPr id="15" name="s1-verified">
            <a:extLst xmlns:a="http://schemas.openxmlformats.org/drawingml/2006/main">
              <a:ext uri="{FF2B5EF4-FFF2-40B4-BE49-F238E27FC236}">
                <a16:creationId xmlns:a16="http://schemas.microsoft.com/office/drawing/2014/main" id="{DA2C1152-3E57-4475-BBFF-E4C6993E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239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 人团队 · 现场演示</a:t>
            </a:r>
          </a:p>
        </p:txBody>
      </p:sp>
      <p:sp>
        <p:nvSpPr>
          <p:cNvPr id="16" name="s1-footer-note">
            <a:extLst xmlns:a="http://schemas.openxmlformats.org/drawingml/2006/main">
              <a:ext uri="{FF2B5EF4-FFF2-40B4-BE49-F238E27FC236}">
                <a16:creationId xmlns:a16="http://schemas.microsoft.com/office/drawing/2014/main" id="{1B910B0C-1844-415C-AD13-90E63D0D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股票交易入账引擎 · React + Spring Boot + MySQL + Redis</a:t>
            </a:r>
          </a:p>
        </p:txBody>
      </p:sp>
      <p:sp>
        <p:nvSpPr>
          <p:cNvPr id="17" name="s1-footer-page">
            <a:extLst xmlns:a="http://schemas.openxmlformats.org/drawingml/2006/main">
              <a:ext uri="{FF2B5EF4-FFF2-40B4-BE49-F238E27FC236}">
                <a16:creationId xmlns:a16="http://schemas.microsoft.com/office/drawing/2014/main" id="{B1E06B8E-3018-4274-8AD3-1FC48F49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84733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title-en">
            <a:extLst xmlns:a="http://schemas.openxmlformats.org/drawingml/2006/main">
              <a:ext uri="{FF2B5EF4-FFF2-40B4-BE49-F238E27FC236}">
                <a16:creationId xmlns:a16="http://schemas.microsoft.com/office/drawing/2014/main" id="{40AEF6D3-26CD-4698-9729-F76241B6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成交结束，风险并未结束</a:t>
            </a:r>
          </a:p>
        </p:txBody>
      </p:sp>
      <p:sp>
        <p:nvSpPr>
          <p:cNvPr id="2" name="s3-title-zh">
            <a:extLst xmlns:a="http://schemas.openxmlformats.org/drawingml/2006/main">
              <a:ext uri="{FF2B5EF4-FFF2-40B4-BE49-F238E27FC236}">
                <a16:creationId xmlns:a16="http://schemas.microsoft.com/office/drawing/2014/main" id="{7093247D-0B9A-4607-95E4-BADCA643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3-title-rule">
            <a:extLst xmlns:a="http://schemas.openxmlformats.org/drawingml/2006/main">
              <a:ext uri="{FF2B5EF4-FFF2-40B4-BE49-F238E27FC236}">
                <a16:creationId xmlns:a16="http://schemas.microsoft.com/office/drawing/2014/main" id="{7752C513-CB7F-404B-AEBF-2E86E74E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3-col-0-accent">
            <a:extLst xmlns:a="http://schemas.openxmlformats.org/drawingml/2006/main">
              <a:ext uri="{FF2B5EF4-FFF2-40B4-BE49-F238E27FC236}">
                <a16:creationId xmlns:a16="http://schemas.microsoft.com/office/drawing/2014/main" id="{A60168F8-E869-49B1-A96E-B4893493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s3-col-0-num">
            <a:extLst xmlns:a="http://schemas.openxmlformats.org/drawingml/2006/main">
              <a:ext uri="{FF2B5EF4-FFF2-40B4-BE49-F238E27FC236}">
                <a16:creationId xmlns:a16="http://schemas.microsoft.com/office/drawing/2014/main" id="{55E991CD-DACF-4265-A43E-8D096B95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0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3-col-0-title">
            <a:extLst xmlns:a="http://schemas.openxmlformats.org/drawingml/2006/main">
              <a:ext uri="{FF2B5EF4-FFF2-40B4-BE49-F238E27FC236}">
                <a16:creationId xmlns:a16="http://schemas.microsoft.com/office/drawing/2014/main" id="{1362B3F3-4E13-4B1C-8BC5-AACD3FF1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账簿混乱</a:t>
            </a:r>
          </a:p>
        </p:txBody>
      </p:sp>
      <p:sp>
        <p:nvSpPr>
          <p:cNvPr id="7" name="s3-col-0-zh">
            <a:extLst xmlns:a="http://schemas.openxmlformats.org/drawingml/2006/main">
              <a:ext uri="{FF2B5EF4-FFF2-40B4-BE49-F238E27FC236}">
                <a16:creationId xmlns:a16="http://schemas.microsoft.com/office/drawing/2014/main" id="{2156A96E-820A-4CBD-BBE1-B9F61B89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s3-col-0-panel">
            <a:extLst xmlns:a="http://schemas.openxmlformats.org/drawingml/2006/main">
              <a:ext uri="{FF2B5EF4-FFF2-40B4-BE49-F238E27FC236}">
                <a16:creationId xmlns:a16="http://schemas.microsoft.com/office/drawing/2014/main" id="{DA219C84-E0FA-450F-9B5E-DCCDC531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33725"/>
            <a:ext cx="333375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9" name="s3-col-0-bullet-0-dot">
            <a:extLst xmlns:a="http://schemas.openxmlformats.org/drawingml/2006/main">
              <a:ext uri="{FF2B5EF4-FFF2-40B4-BE49-F238E27FC236}">
                <a16:creationId xmlns:a16="http://schemas.microsoft.com/office/drawing/2014/main" id="{C39024FF-D555-421E-B406-85897552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s3-col-0-bullet-0-text">
            <a:extLst xmlns:a="http://schemas.openxmlformats.org/drawingml/2006/main">
              <a:ext uri="{FF2B5EF4-FFF2-40B4-BE49-F238E27FC236}">
                <a16:creationId xmlns:a16="http://schemas.microsoft.com/office/drawing/2014/main" id="{7B9F3EFD-11FA-4269-837E-C9290FDC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10 股误录为 100 股</a:t>
            </a:r>
          </a:p>
        </p:txBody>
      </p:sp>
      <p:sp>
        <p:nvSpPr>
          <p:cNvPr id="11" name="s3-col-0-bullet-1-dot">
            <a:extLst xmlns:a="http://schemas.openxmlformats.org/drawingml/2006/main">
              <a:ext uri="{FF2B5EF4-FFF2-40B4-BE49-F238E27FC236}">
                <a16:creationId xmlns:a16="http://schemas.microsoft.com/office/drawing/2014/main" id="{475CEE82-0228-45D5-A09D-D4DCECE7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s3-col-0-bullet-1-text">
            <a:extLst xmlns:a="http://schemas.openxmlformats.org/drawingml/2006/main">
              <a:ext uri="{FF2B5EF4-FFF2-40B4-BE49-F238E27FC236}">
                <a16:creationId xmlns:a16="http://schemas.microsoft.com/office/drawing/2014/main" id="{FD9355A5-619F-4CA9-B69A-7CBA2AE6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反复手工更正</a:t>
            </a:r>
          </a:p>
        </p:txBody>
      </p:sp>
      <p:sp>
        <p:nvSpPr>
          <p:cNvPr id="13" name="s3-col-0-bullet-2-dot">
            <a:extLst xmlns:a="http://schemas.openxmlformats.org/drawingml/2006/main">
              <a:ext uri="{FF2B5EF4-FFF2-40B4-BE49-F238E27FC236}">
                <a16:creationId xmlns:a16="http://schemas.microsoft.com/office/drawing/2014/main" id="{61110ECD-C9BB-47A3-8ACE-F443CDF8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s3-col-0-bullet-2-text">
            <a:extLst xmlns:a="http://schemas.openxmlformats.org/drawingml/2006/main">
              <a:ext uri="{FF2B5EF4-FFF2-40B4-BE49-F238E27FC236}">
                <a16:creationId xmlns:a16="http://schemas.microsoft.com/office/drawing/2014/main" id="{4246E302-D610-4BA7-B266-BAA673CD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审计链不清</a:t>
            </a:r>
          </a:p>
        </p:txBody>
      </p:sp>
      <p:sp>
        <p:nvSpPr>
          <p:cNvPr id="15" name="s3-col-1-accent">
            <a:extLst xmlns:a="http://schemas.openxmlformats.org/drawingml/2006/main">
              <a:ext uri="{FF2B5EF4-FFF2-40B4-BE49-F238E27FC236}">
                <a16:creationId xmlns:a16="http://schemas.microsoft.com/office/drawing/2014/main" id="{CC5A9F8B-132F-4895-BD82-3A03B19F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430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16" name="s3-col-1-num">
            <a:extLst xmlns:a="http://schemas.openxmlformats.org/drawingml/2006/main">
              <a:ext uri="{FF2B5EF4-FFF2-40B4-BE49-F238E27FC236}">
                <a16:creationId xmlns:a16="http://schemas.microsoft.com/office/drawing/2014/main" id="{02FFE8D2-9DDC-476F-9195-2D7A0A3D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811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30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3-col-1-title">
            <a:extLst xmlns:a="http://schemas.openxmlformats.org/drawingml/2006/main">
              <a:ext uri="{FF2B5EF4-FFF2-40B4-BE49-F238E27FC236}">
                <a16:creationId xmlns:a16="http://schemas.microsoft.com/office/drawing/2014/main" id="{61240DE3-A08C-4EB2-B8DE-E3FD398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71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视图滞后</a:t>
            </a:r>
          </a:p>
        </p:txBody>
      </p:sp>
      <p:sp>
        <p:nvSpPr>
          <p:cNvPr id="18" name="s3-col-1-zh">
            <a:extLst xmlns:a="http://schemas.openxmlformats.org/drawingml/2006/main">
              <a:ext uri="{FF2B5EF4-FFF2-40B4-BE49-F238E27FC236}">
                <a16:creationId xmlns:a16="http://schemas.microsoft.com/office/drawing/2014/main" id="{F84A6070-BAAA-40EF-A627-7FB911CD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05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9" name="s3-col-1-panel">
            <a:extLst xmlns:a="http://schemas.openxmlformats.org/drawingml/2006/main">
              <a:ext uri="{FF2B5EF4-FFF2-40B4-BE49-F238E27FC236}">
                <a16:creationId xmlns:a16="http://schemas.microsoft.com/office/drawing/2014/main" id="{8244CDAC-8DC6-4100-8F33-CDEB8E46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33725"/>
            <a:ext cx="333375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s3-col-1-bullet-0-dot">
            <a:extLst xmlns:a="http://schemas.openxmlformats.org/drawingml/2006/main">
              <a:ext uri="{FF2B5EF4-FFF2-40B4-BE49-F238E27FC236}">
                <a16:creationId xmlns:a16="http://schemas.microsoft.com/office/drawing/2014/main" id="{E7624E89-80C6-4B0F-A27E-DBEE6572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1" name="s3-col-1-bullet-0-text">
            <a:extLst xmlns:a="http://schemas.openxmlformats.org/drawingml/2006/main">
              <a:ext uri="{FF2B5EF4-FFF2-40B4-BE49-F238E27FC236}">
                <a16:creationId xmlns:a16="http://schemas.microsoft.com/office/drawing/2014/main" id="{E2784A7F-2206-4384-997D-CB1767FE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33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持仓不同步</a:t>
            </a:r>
          </a:p>
        </p:txBody>
      </p:sp>
      <p:sp>
        <p:nvSpPr>
          <p:cNvPr id="22" name="s3-col-1-bullet-1-dot">
            <a:extLst xmlns:a="http://schemas.openxmlformats.org/drawingml/2006/main">
              <a:ext uri="{FF2B5EF4-FFF2-40B4-BE49-F238E27FC236}">
                <a16:creationId xmlns:a16="http://schemas.microsoft.com/office/drawing/2014/main" id="{CBBAA586-5F80-4E78-AD4D-4964E257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3" name="s3-col-1-bullet-1-text">
            <a:extLst xmlns:a="http://schemas.openxmlformats.org/drawingml/2006/main">
              <a:ext uri="{FF2B5EF4-FFF2-40B4-BE49-F238E27FC236}">
                <a16:creationId xmlns:a16="http://schemas.microsoft.com/office/drawing/2014/main" id="{680B44EE-B150-4175-BC65-77F9FCDB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781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盈亏不确定</a:t>
            </a:r>
          </a:p>
        </p:txBody>
      </p:sp>
      <p:sp>
        <p:nvSpPr>
          <p:cNvPr id="24" name="s3-col-1-bullet-2-dot">
            <a:extLst xmlns:a="http://schemas.openxmlformats.org/drawingml/2006/main">
              <a:ext uri="{FF2B5EF4-FFF2-40B4-BE49-F238E27FC236}">
                <a16:creationId xmlns:a16="http://schemas.microsoft.com/office/drawing/2014/main" id="{D4F29C3E-C5E8-4524-B8FF-BAC6624A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5" name="s3-col-1-bullet-2-text">
            <a:extLst xmlns:a="http://schemas.openxmlformats.org/drawingml/2006/main">
              <a:ext uri="{FF2B5EF4-FFF2-40B4-BE49-F238E27FC236}">
                <a16:creationId xmlns:a16="http://schemas.microsoft.com/office/drawing/2014/main" id="{3840968C-98BB-465D-B0EC-A5B7CAAC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2291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决策延迟</a:t>
            </a:r>
          </a:p>
        </p:txBody>
      </p:sp>
      <p:sp>
        <p:nvSpPr>
          <p:cNvPr id="26" name="s3-col-2-accent">
            <a:extLst xmlns:a="http://schemas.openxmlformats.org/drawingml/2006/main">
              <a:ext uri="{FF2B5EF4-FFF2-40B4-BE49-F238E27FC236}">
                <a16:creationId xmlns:a16="http://schemas.microsoft.com/office/drawing/2014/main" id="{54A651B3-597A-40D0-9477-9F5A6055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430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7" name="s3-col-2-num">
            <a:extLst xmlns:a="http://schemas.openxmlformats.org/drawingml/2006/main">
              <a:ext uri="{FF2B5EF4-FFF2-40B4-BE49-F238E27FC236}">
                <a16:creationId xmlns:a16="http://schemas.microsoft.com/office/drawing/2014/main" id="{4FA438B2-0E46-4144-AC95-E5155DB6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30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s3-col-2-title">
            <a:extLst xmlns:a="http://schemas.openxmlformats.org/drawingml/2006/main">
              <a:ext uri="{FF2B5EF4-FFF2-40B4-BE49-F238E27FC236}">
                <a16:creationId xmlns:a16="http://schemas.microsoft.com/office/drawing/2014/main" id="{8CBD4AD1-6E98-455F-A70B-87DC4BA3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71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行情中断</a:t>
            </a:r>
          </a:p>
        </p:txBody>
      </p:sp>
      <p:sp>
        <p:nvSpPr>
          <p:cNvPr id="29" name="s3-col-2-zh">
            <a:extLst xmlns:a="http://schemas.openxmlformats.org/drawingml/2006/main">
              <a:ext uri="{FF2B5EF4-FFF2-40B4-BE49-F238E27FC236}">
                <a16:creationId xmlns:a16="http://schemas.microsoft.com/office/drawing/2014/main" id="{FDB2ED1A-16B1-4BE1-AAA3-319D0FDA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0" name="s3-col-2-panel">
            <a:extLst xmlns:a="http://schemas.openxmlformats.org/drawingml/2006/main">
              <a:ext uri="{FF2B5EF4-FFF2-40B4-BE49-F238E27FC236}">
                <a16:creationId xmlns:a16="http://schemas.microsoft.com/office/drawing/2014/main" id="{24D9CDDE-D9EA-4F91-B9C5-E65DD235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33725"/>
            <a:ext cx="333375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31" name="s3-col-2-bullet-0-dot">
            <a:extLst xmlns:a="http://schemas.openxmlformats.org/drawingml/2006/main">
              <a:ext uri="{FF2B5EF4-FFF2-40B4-BE49-F238E27FC236}">
                <a16:creationId xmlns:a16="http://schemas.microsoft.com/office/drawing/2014/main" id="{7C72FE32-89BA-42F1-8951-2120CE47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2" name="s3-col-2-bullet-0-text">
            <a:extLst xmlns:a="http://schemas.openxmlformats.org/drawingml/2006/main">
              <a:ext uri="{FF2B5EF4-FFF2-40B4-BE49-F238E27FC236}">
                <a16:creationId xmlns:a16="http://schemas.microsoft.com/office/drawing/2014/main" id="{9323CB3B-24A7-4F13-974F-C7EAE37C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外部服务超时</a:t>
            </a:r>
          </a:p>
        </p:txBody>
      </p:sp>
      <p:sp>
        <p:nvSpPr>
          <p:cNvPr id="33" name="s3-col-2-bullet-1-dot">
            <a:extLst xmlns:a="http://schemas.openxmlformats.org/drawingml/2006/main">
              <a:ext uri="{FF2B5EF4-FFF2-40B4-BE49-F238E27FC236}">
                <a16:creationId xmlns:a16="http://schemas.microsoft.com/office/drawing/2014/main" id="{EBA847F9-A01D-4A37-9A55-F3C48F0D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4" name="s3-col-2-bullet-1-text">
            <a:extLst xmlns:a="http://schemas.openxmlformats.org/drawingml/2006/main">
              <a:ext uri="{FF2B5EF4-FFF2-40B4-BE49-F238E27FC236}">
                <a16:creationId xmlns:a16="http://schemas.microsoft.com/office/drawing/2014/main" id="{6EEF73C4-CBF4-4014-BB9E-3D98B4D5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81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看板停止更新</a:t>
            </a:r>
          </a:p>
        </p:txBody>
      </p:sp>
      <p:sp>
        <p:nvSpPr>
          <p:cNvPr id="35" name="s3-col-2-bullet-2-dot">
            <a:extLst xmlns:a="http://schemas.openxmlformats.org/drawingml/2006/main">
              <a:ext uri="{FF2B5EF4-FFF2-40B4-BE49-F238E27FC236}">
                <a16:creationId xmlns:a16="http://schemas.microsoft.com/office/drawing/2014/main" id="{43C93D22-A7F8-4D01-9053-1A16ACCA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6" name="s3-col-2-bullet-2-text">
            <a:extLst xmlns:a="http://schemas.openxmlformats.org/drawingml/2006/main">
              <a:ext uri="{FF2B5EF4-FFF2-40B4-BE49-F238E27FC236}">
                <a16:creationId xmlns:a16="http://schemas.microsoft.com/office/drawing/2014/main" id="{654FEA71-C07F-4DBE-97AF-BE0C7239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用户失去信任</a:t>
            </a:r>
          </a:p>
        </p:txBody>
      </p:sp>
      <p:sp>
        <p:nvSpPr>
          <p:cNvPr id="37" name="s3-summary-band">
            <a:extLst xmlns:a="http://schemas.openxmlformats.org/drawingml/2006/main">
              <a:ext uri="{FF2B5EF4-FFF2-40B4-BE49-F238E27FC236}">
                <a16:creationId xmlns:a16="http://schemas.microsoft.com/office/drawing/2014/main" id="{AB9A3213-BF31-42FF-B60E-A8D3B4D7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7823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8" name="s3-summary">
            <a:extLst xmlns:a="http://schemas.openxmlformats.org/drawingml/2006/main">
              <a:ext uri="{FF2B5EF4-FFF2-40B4-BE49-F238E27FC236}">
                <a16:creationId xmlns:a16="http://schemas.microsoft.com/office/drawing/2014/main" id="{E408EDDD-D08E-4FBA-9645-4342B200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真正的问题不是成交，而是能否信任成交之后的每一步。</a:t>
            </a:r>
          </a:p>
        </p:txBody>
      </p:sp>
      <p:sp>
        <p:nvSpPr>
          <p:cNvPr id="39" name="s3-footer-note">
            <a:extLst xmlns:a="http://schemas.openxmlformats.org/drawingml/2006/main">
              <a:ext uri="{FF2B5EF4-FFF2-40B4-BE49-F238E27FC236}">
                <a16:creationId xmlns:a16="http://schemas.microsoft.com/office/drawing/2014/main" id="{3AD51EDC-F567-432E-A2C1-45DF2C2B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设计目标：准确 · 可解释 · 有韧性</a:t>
            </a:r>
          </a:p>
        </p:txBody>
      </p:sp>
      <p:sp>
        <p:nvSpPr>
          <p:cNvPr id="40" name="s3-footer-page">
            <a:extLst xmlns:a="http://schemas.openxmlformats.org/drawingml/2006/main">
              <a:ext uri="{FF2B5EF4-FFF2-40B4-BE49-F238E27FC236}">
                <a16:creationId xmlns:a16="http://schemas.microsoft.com/office/drawing/2014/main" id="{19490472-8F8D-4B72-83DF-A73230FC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672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title-en">
            <a:extLst xmlns:a="http://schemas.openxmlformats.org/drawingml/2006/main">
              <a:ext uri="{FF2B5EF4-FFF2-40B4-BE49-F238E27FC236}">
                <a16:creationId xmlns:a16="http://schemas.microsoft.com/office/drawing/2014/main" id="{6F24A1FF-9A88-487F-8375-EAFA133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四人分工，一体化交付</a:t>
            </a:r>
          </a:p>
        </p:txBody>
      </p:sp>
      <p:sp>
        <p:nvSpPr>
          <p:cNvPr id="2" name="s6-title-zh">
            <a:extLst xmlns:a="http://schemas.openxmlformats.org/drawingml/2006/main">
              <a:ext uri="{FF2B5EF4-FFF2-40B4-BE49-F238E27FC236}">
                <a16:creationId xmlns:a16="http://schemas.microsoft.com/office/drawing/2014/main" id="{5102D7F7-F018-4AAB-9EDC-8574722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6-title-rule">
            <a:extLst xmlns:a="http://schemas.openxmlformats.org/drawingml/2006/main">
              <a:ext uri="{FF2B5EF4-FFF2-40B4-BE49-F238E27FC236}">
                <a16:creationId xmlns:a16="http://schemas.microsoft.com/office/drawing/2014/main" id="{54C825A1-7538-423A-8AF2-98D8A323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2476500"/>
                <a:gridCol w="3829050"/>
                <a:gridCol w="3219450"/>
              </a:tblGrid>
              <a:tr h="598714"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成员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核心角色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负责内容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汇报环节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产品与叙事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需求 + 流程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开场 + 总结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后端与领域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入账 + 持仓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系统架构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前端与数据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React + MySQL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核心逻辑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可靠性与测试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Redis + QA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现场演示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共享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集成协作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API 契约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端到端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成果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完整系统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已部署技术栈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一次完整证明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6-correction">
            <a:extLst xmlns:a="http://schemas.openxmlformats.org/drawingml/2006/main">
              <a:ext uri="{FF2B5EF4-FFF2-40B4-BE49-F238E27FC236}">
                <a16:creationId xmlns:a16="http://schemas.microsoft.com/office/drawing/2014/main" id="{A25BB6E9-1501-46BA-9ECD-C1F3B5DE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6" name="s6-correction-text">
            <a:extLst xmlns:a="http://schemas.openxmlformats.org/drawingml/2006/main">
              <a:ext uri="{FF2B5EF4-FFF2-40B4-BE49-F238E27FC236}">
                <a16:creationId xmlns:a16="http://schemas.microsoft.com/office/drawing/2014/main" id="{C3F5D618-F47E-406B-9D63-9D039CE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共同负责：集成 · 测试 · 交付</a:t>
            </a:r>
          </a:p>
        </p:txBody>
      </p:sp>
      <p:sp>
        <p:nvSpPr>
          <p:cNvPr id="7" name="s6-footer-note">
            <a:extLst xmlns:a="http://schemas.openxmlformats.org/drawingml/2006/main">
              <a:ext uri="{FF2B5EF4-FFF2-40B4-BE49-F238E27FC236}">
                <a16:creationId xmlns:a16="http://schemas.microsoft.com/office/drawing/2014/main" id="{D4B727FB-7A01-4F69-B512-331BD15E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第 5 组 — Give me five</a:t>
            </a:r>
          </a:p>
        </p:txBody>
      </p:sp>
      <p:sp>
        <p:nvSpPr>
          <p:cNvPr id="8" name="s6-footer-page">
            <a:extLst xmlns:a="http://schemas.openxmlformats.org/drawingml/2006/main">
              <a:ext uri="{FF2B5EF4-FFF2-40B4-BE49-F238E27FC236}">
                <a16:creationId xmlns:a16="http://schemas.microsoft.com/office/drawing/2014/main" id="{19DAEECD-3FB5-4FFC-8842-FCED0AF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59938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title-en">
            <a:extLst xmlns:a="http://schemas.openxmlformats.org/drawingml/2006/main">
              <a:ext uri="{FF2B5EF4-FFF2-40B4-BE49-F238E27FC236}">
                <a16:creationId xmlns:a16="http://schemas.microsoft.com/office/drawing/2014/main" id="{B3AA4E52-6D48-4D3A-B230-0E53F911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三幕叙事，一个证明时刻</a:t>
            </a:r>
          </a:p>
        </p:txBody>
      </p:sp>
      <p:sp>
        <p:nvSpPr>
          <p:cNvPr id="2" name="s2-title-zh">
            <a:extLst xmlns:a="http://schemas.openxmlformats.org/drawingml/2006/main">
              <a:ext uri="{FF2B5EF4-FFF2-40B4-BE49-F238E27FC236}">
                <a16:creationId xmlns:a16="http://schemas.microsoft.com/office/drawing/2014/main" id="{105C1188-864F-49A9-87DB-9150387A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2-title-rule">
            <a:extLst xmlns:a="http://schemas.openxmlformats.org/drawingml/2006/main">
              <a:ext uri="{FF2B5EF4-FFF2-40B4-BE49-F238E27FC236}">
                <a16:creationId xmlns:a16="http://schemas.microsoft.com/office/drawing/2014/main" id="{EFD7A45D-0B9C-4D1F-8864-994D4C24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2-big-en">
            <a:extLst xmlns:a="http://schemas.openxmlformats.org/drawingml/2006/main">
              <a:ext uri="{FF2B5EF4-FFF2-40B4-BE49-F238E27FC236}">
                <a16:creationId xmlns:a16="http://schemas.microsoft.com/office/drawing/2014/main" id="{474052DF-A3AC-41D3-A4EC-2CCBCDF9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为什么</a:t>
            </a:r>
          </a:p>
          <a:p xmlns:a="http://schemas.openxmlformats.org/drawingml/2006/main">
            <a:pPr algn="l">
              <a:buNone/>
              <a:defRPr sz="26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如何做</a:t>
            </a:r>
          </a:p>
          <a:p xmlns:a="http://schemas.openxmlformats.org/drawingml/2006/main">
            <a:pPr algn="l">
              <a:buNone/>
              <a:defRPr sz="26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现场证明</a:t>
            </a:r>
          </a:p>
        </p:txBody>
      </p:sp>
      <p:sp>
        <p:nvSpPr>
          <p:cNvPr id="5" name="s2-big-zh">
            <a:extLst xmlns:a="http://schemas.openxmlformats.org/drawingml/2006/main">
              <a:ext uri="{FF2B5EF4-FFF2-40B4-BE49-F238E27FC236}">
                <a16:creationId xmlns:a16="http://schemas.microsoft.com/office/drawing/2014/main" id="{D307E958-F5B2-4317-A493-5D480C33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2-not-trading">
            <a:extLst xmlns:a="http://schemas.openxmlformats.org/drawingml/2006/main">
              <a:ext uri="{FF2B5EF4-FFF2-40B4-BE49-F238E27FC236}">
                <a16:creationId xmlns:a16="http://schemas.microsoft.com/office/drawing/2014/main" id="{96DCFAAF-B319-4AA3-A37A-727ED792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7" name="s2-not-trading-en">
            <a:extLst xmlns:a="http://schemas.openxmlformats.org/drawingml/2006/main">
              <a:ext uri="{FF2B5EF4-FFF2-40B4-BE49-F238E27FC236}">
                <a16:creationId xmlns:a16="http://schemas.microsoft.com/office/drawing/2014/main" id="{8D7D91DE-99C5-4F73-9777-D661C48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93C5FD"/>
                </a:solidFill>
                <a:latin typeface="Arial"/>
                <a:ea typeface="Arial"/>
                <a:cs typeface="Arial"/>
              </a:rPr>
              <a:t>10–12 分钟</a:t>
            </a:r>
          </a:p>
        </p:txBody>
      </p:sp>
      <p:sp>
        <p:nvSpPr>
          <p:cNvPr id="8" name="s2-not-trading-main">
            <a:extLst xmlns:a="http://schemas.openxmlformats.org/drawingml/2006/main">
              <a:ext uri="{FF2B5EF4-FFF2-40B4-BE49-F238E27FC236}">
                <a16:creationId xmlns:a16="http://schemas.microsoft.com/office/drawing/2014/main" id="{4E990B12-BF19-447F-BAE5-27EFE2F9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演示就是证明</a:t>
            </a:r>
          </a:p>
        </p:txBody>
      </p:sp>
      <p:sp>
        <p:nvSpPr>
          <p:cNvPr id="9" name="s2-step1-box">
            <a:extLst xmlns:a="http://schemas.openxmlformats.org/drawingml/2006/main">
              <a:ext uri="{FF2B5EF4-FFF2-40B4-BE49-F238E27FC236}">
                <a16:creationId xmlns:a16="http://schemas.microsoft.com/office/drawing/2014/main" id="{6B6C3600-98C4-40C8-9901-32FF8746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s2-step1-en">
            <a:extLst xmlns:a="http://schemas.openxmlformats.org/drawingml/2006/main">
              <a:ext uri="{FF2B5EF4-FFF2-40B4-BE49-F238E27FC236}">
                <a16:creationId xmlns:a16="http://schemas.microsoft.com/office/drawing/2014/main" id="{FDD5E824-F965-4522-984E-D7E3C36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1 · 痛点与产品价值</a:t>
            </a:r>
          </a:p>
        </p:txBody>
      </p:sp>
      <p:sp>
        <p:nvSpPr>
          <p:cNvPr id="11" name="s2-step1-zh">
            <a:extLst xmlns:a="http://schemas.openxmlformats.org/drawingml/2006/main">
              <a:ext uri="{FF2B5EF4-FFF2-40B4-BE49-F238E27FC236}">
                <a16:creationId xmlns:a16="http://schemas.microsoft.com/office/drawing/2014/main" id="{5568A87E-AE3B-42A9-8282-D684B3A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s2-step2-box">
            <a:extLst xmlns:a="http://schemas.openxmlformats.org/drawingml/2006/main">
              <a:ext uri="{FF2B5EF4-FFF2-40B4-BE49-F238E27FC236}">
                <a16:creationId xmlns:a16="http://schemas.microsoft.com/office/drawing/2014/main" id="{E234E2E9-C625-4CDB-BAA1-9CE7055E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43225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s2-step2-en">
            <a:extLst xmlns:a="http://schemas.openxmlformats.org/drawingml/2006/main">
              <a:ext uri="{FF2B5EF4-FFF2-40B4-BE49-F238E27FC236}">
                <a16:creationId xmlns:a16="http://schemas.microsoft.com/office/drawing/2014/main" id="{01B30F92-7CFC-4AFD-BB25-7AC9143F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57525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2 · 架构与核心逻辑</a:t>
            </a:r>
          </a:p>
        </p:txBody>
      </p:sp>
      <p:sp>
        <p:nvSpPr>
          <p:cNvPr id="14" name="s2-step2-zh">
            <a:extLst xmlns:a="http://schemas.openxmlformats.org/drawingml/2006/main">
              <a:ext uri="{FF2B5EF4-FFF2-40B4-BE49-F238E27FC236}">
                <a16:creationId xmlns:a16="http://schemas.microsoft.com/office/drawing/2014/main" id="{96B86F17-A775-4482-AD51-B836DFF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2422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s2-step3-box">
            <a:extLst xmlns:a="http://schemas.openxmlformats.org/drawingml/2006/main">
              <a:ext uri="{FF2B5EF4-FFF2-40B4-BE49-F238E27FC236}">
                <a16:creationId xmlns:a16="http://schemas.microsoft.com/office/drawing/2014/main" id="{FE626A1A-9417-4556-B3C3-9A115037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s2-step3-en">
            <a:extLst xmlns:a="http://schemas.openxmlformats.org/drawingml/2006/main">
              <a:ext uri="{FF2B5EF4-FFF2-40B4-BE49-F238E27FC236}">
                <a16:creationId xmlns:a16="http://schemas.microsoft.com/office/drawing/2014/main" id="{CEBD0C95-F54C-4C33-B87B-58ED228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4340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3 · 故障演示与总结</a:t>
            </a:r>
          </a:p>
        </p:txBody>
      </p:sp>
      <p:sp>
        <p:nvSpPr>
          <p:cNvPr id="17" name="s2-step3-zh">
            <a:extLst xmlns:a="http://schemas.openxmlformats.org/drawingml/2006/main">
              <a:ext uri="{FF2B5EF4-FFF2-40B4-BE49-F238E27FC236}">
                <a16:creationId xmlns:a16="http://schemas.microsoft.com/office/drawing/2014/main" id="{8CA7E3EC-664A-49BB-B934-904A3822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115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734425" y="264795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16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734425" y="393382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s2-footer-note">
            <a:extLst xmlns:a="http://schemas.openxmlformats.org/drawingml/2006/main">
              <a:ext uri="{FF2B5EF4-FFF2-40B4-BE49-F238E27FC236}">
                <a16:creationId xmlns:a16="http://schemas.microsoft.com/office/drawing/2014/main" id="{CF14F8B0-B47C-4B77-93C5-3A80EB30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产品  →  工程  →  证明</a:t>
            </a:r>
          </a:p>
        </p:txBody>
      </p:sp>
      <p:sp>
        <p:nvSpPr>
          <p:cNvPr id="21" name="s2-footer-page">
            <a:extLst xmlns:a="http://schemas.openxmlformats.org/drawingml/2006/main">
              <a:ext uri="{FF2B5EF4-FFF2-40B4-BE49-F238E27FC236}">
                <a16:creationId xmlns:a16="http://schemas.microsoft.com/office/drawing/2014/main" id="{5DA9ADE4-1212-436A-B97F-9752C3F7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76175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title-en">
            <a:extLst xmlns:a="http://schemas.openxmlformats.org/drawingml/2006/main">
              <a:ext uri="{FF2B5EF4-FFF2-40B4-BE49-F238E27FC236}">
                <a16:creationId xmlns:a16="http://schemas.microsoft.com/office/drawing/2014/main" id="{B3AA4E52-6D48-4D3A-B230-0E53F911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成交之后，TradeFlow 负责数据可信</a:t>
            </a:r>
          </a:p>
        </p:txBody>
      </p:sp>
      <p:sp>
        <p:nvSpPr>
          <p:cNvPr id="2" name="s2-title-zh">
            <a:extLst xmlns:a="http://schemas.openxmlformats.org/drawingml/2006/main">
              <a:ext uri="{FF2B5EF4-FFF2-40B4-BE49-F238E27FC236}">
                <a16:creationId xmlns:a16="http://schemas.microsoft.com/office/drawing/2014/main" id="{105C1188-864F-49A9-87DB-9150387A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2-title-rule">
            <a:extLst xmlns:a="http://schemas.openxmlformats.org/drawingml/2006/main">
              <a:ext uri="{FF2B5EF4-FFF2-40B4-BE49-F238E27FC236}">
                <a16:creationId xmlns:a16="http://schemas.microsoft.com/office/drawing/2014/main" id="{EFD7A45D-0B9C-4D1F-8864-994D4C24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2-big-en">
            <a:extLst xmlns:a="http://schemas.openxmlformats.org/drawingml/2006/main">
              <a:ext uri="{FF2B5EF4-FFF2-40B4-BE49-F238E27FC236}">
                <a16:creationId xmlns:a16="http://schemas.microsoft.com/office/drawing/2014/main" id="{474052DF-A3AC-41D3-A4EC-2CCBCDF9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成交信息进入</a:t>
            </a:r>
          </a:p>
          <a:p xmlns:a="http://schemas.openxmlformats.org/drawingml/2006/main">
            <a:pPr algn="l">
              <a:buNone/>
              <a:defRPr sz="26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可信持仓输出</a:t>
            </a:r>
          </a:p>
        </p:txBody>
      </p:sp>
      <p:sp>
        <p:nvSpPr>
          <p:cNvPr id="5" name="s2-big-zh">
            <a:extLst xmlns:a="http://schemas.openxmlformats.org/drawingml/2006/main">
              <a:ext uri="{FF2B5EF4-FFF2-40B4-BE49-F238E27FC236}">
                <a16:creationId xmlns:a16="http://schemas.microsoft.com/office/drawing/2014/main" id="{D307E958-F5B2-4317-A493-5D480C33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2-not-trading">
            <a:extLst xmlns:a="http://schemas.openxmlformats.org/drawingml/2006/main">
              <a:ext uri="{FF2B5EF4-FFF2-40B4-BE49-F238E27FC236}">
                <a16:creationId xmlns:a16="http://schemas.microsoft.com/office/drawing/2014/main" id="{96DCFAAF-B319-4AA3-A37A-727ED792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7" name="s2-not-trading-en">
            <a:extLst xmlns:a="http://schemas.openxmlformats.org/drawingml/2006/main">
              <a:ext uri="{FF2B5EF4-FFF2-40B4-BE49-F238E27FC236}">
                <a16:creationId xmlns:a16="http://schemas.microsoft.com/office/drawing/2014/main" id="{8D7D91DE-99C5-4F73-9777-D661C48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93C5FD"/>
                </a:solidFill>
                <a:latin typeface="Arial"/>
                <a:ea typeface="Arial"/>
                <a:cs typeface="Arial"/>
              </a:rPr>
              <a:t>系统边界</a:t>
            </a:r>
          </a:p>
        </p:txBody>
      </p:sp>
      <p:sp>
        <p:nvSpPr>
          <p:cNvPr id="8" name="s2-not-trading-main">
            <a:extLst xmlns:a="http://schemas.openxmlformats.org/drawingml/2006/main">
              <a:ext uri="{FF2B5EF4-FFF2-40B4-BE49-F238E27FC236}">
                <a16:creationId xmlns:a16="http://schemas.microsoft.com/office/drawing/2014/main" id="{4E990B12-BF19-447F-BAE5-27EFE2F9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不是交易所或 OMS</a:t>
            </a:r>
          </a:p>
        </p:txBody>
      </p:sp>
      <p:sp>
        <p:nvSpPr>
          <p:cNvPr id="9" name="s2-step1-box">
            <a:extLst xmlns:a="http://schemas.openxmlformats.org/drawingml/2006/main">
              <a:ext uri="{FF2B5EF4-FFF2-40B4-BE49-F238E27FC236}">
                <a16:creationId xmlns:a16="http://schemas.microsoft.com/office/drawing/2014/main" id="{6B6C3600-98C4-40C8-9901-32FF8746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s2-step1-en">
            <a:extLst xmlns:a="http://schemas.openxmlformats.org/drawingml/2006/main">
              <a:ext uri="{FF2B5EF4-FFF2-40B4-BE49-F238E27FC236}">
                <a16:creationId xmlns:a16="http://schemas.microsoft.com/office/drawing/2014/main" id="{FDD5E824-F965-4522-984E-D7E3C36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接收已成交交易</a:t>
            </a:r>
          </a:p>
        </p:txBody>
      </p:sp>
      <p:sp>
        <p:nvSpPr>
          <p:cNvPr id="11" name="s2-step1-zh">
            <a:extLst xmlns:a="http://schemas.openxmlformats.org/drawingml/2006/main">
              <a:ext uri="{FF2B5EF4-FFF2-40B4-BE49-F238E27FC236}">
                <a16:creationId xmlns:a16="http://schemas.microsoft.com/office/drawing/2014/main" id="{5568A87E-AE3B-42A9-8282-D684B3A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s2-step2-box">
            <a:extLst xmlns:a="http://schemas.openxmlformats.org/drawingml/2006/main">
              <a:ext uri="{FF2B5EF4-FFF2-40B4-BE49-F238E27FC236}">
                <a16:creationId xmlns:a16="http://schemas.microsoft.com/office/drawing/2014/main" id="{E234E2E9-C625-4CDB-BAA1-9CE7055E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43225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s2-step2-en">
            <a:extLst xmlns:a="http://schemas.openxmlformats.org/drawingml/2006/main">
              <a:ext uri="{FF2B5EF4-FFF2-40B4-BE49-F238E27FC236}">
                <a16:creationId xmlns:a16="http://schemas.microsoft.com/office/drawing/2014/main" id="{01B30F92-7CFC-4AFD-BB25-7AC9143F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57525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校验、审计并入账</a:t>
            </a:r>
          </a:p>
        </p:txBody>
      </p:sp>
      <p:sp>
        <p:nvSpPr>
          <p:cNvPr id="14" name="s2-step2-zh">
            <a:extLst xmlns:a="http://schemas.openxmlformats.org/drawingml/2006/main">
              <a:ext uri="{FF2B5EF4-FFF2-40B4-BE49-F238E27FC236}">
                <a16:creationId xmlns:a16="http://schemas.microsoft.com/office/drawing/2014/main" id="{96B86F17-A775-4482-AD51-B836DFF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2422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s2-step3-box">
            <a:extLst xmlns:a="http://schemas.openxmlformats.org/drawingml/2006/main">
              <a:ext uri="{FF2B5EF4-FFF2-40B4-BE49-F238E27FC236}">
                <a16:creationId xmlns:a16="http://schemas.microsoft.com/office/drawing/2014/main" id="{FE626A1A-9417-4556-B3C3-9A115037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s2-step3-en">
            <a:extLst xmlns:a="http://schemas.openxmlformats.org/drawingml/2006/main">
              <a:ext uri="{FF2B5EF4-FFF2-40B4-BE49-F238E27FC236}">
                <a16:creationId xmlns:a16="http://schemas.microsoft.com/office/drawing/2014/main" id="{CEBD0C95-F54C-4C33-B87B-58ED228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4340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重算持仓与盈亏</a:t>
            </a:r>
          </a:p>
        </p:txBody>
      </p:sp>
      <p:sp>
        <p:nvSpPr>
          <p:cNvPr id="17" name="s2-step3-zh">
            <a:extLst xmlns:a="http://schemas.openxmlformats.org/drawingml/2006/main">
              <a:ext uri="{FF2B5EF4-FFF2-40B4-BE49-F238E27FC236}">
                <a16:creationId xmlns:a16="http://schemas.microsoft.com/office/drawing/2014/main" id="{8CA7E3EC-664A-49BB-B934-904A3822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115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734425" y="264795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16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734425" y="393382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s2-footer-note">
            <a:extLst xmlns:a="http://schemas.openxmlformats.org/drawingml/2006/main">
              <a:ext uri="{FF2B5EF4-FFF2-40B4-BE49-F238E27FC236}">
                <a16:creationId xmlns:a16="http://schemas.microsoft.com/office/drawing/2014/main" id="{CF14F8B0-B47C-4B77-93C5-3A80EB30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MySQL = 系统记录 · Redis = 行情缓存</a:t>
            </a:r>
          </a:p>
        </p:txBody>
      </p:sp>
      <p:sp>
        <p:nvSpPr>
          <p:cNvPr id="21" name="s2-footer-page">
            <a:extLst xmlns:a="http://schemas.openxmlformats.org/drawingml/2006/main">
              <a:ext uri="{FF2B5EF4-FFF2-40B4-BE49-F238E27FC236}">
                <a16:creationId xmlns:a16="http://schemas.microsoft.com/office/drawing/2014/main" id="{5DA9ADE4-1212-436A-B97F-9752C3F7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876175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title-en">
            <a:extLst xmlns:a="http://schemas.openxmlformats.org/drawingml/2006/main">
              <a:ext uri="{FF2B5EF4-FFF2-40B4-BE49-F238E27FC236}">
                <a16:creationId xmlns:a16="http://schemas.microsoft.com/office/drawing/2014/main" id="{59A25792-A80A-4007-97E6-29782363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一条业务时间线，一套一致架构</a:t>
            </a:r>
          </a:p>
        </p:txBody>
      </p:sp>
      <p:sp>
        <p:nvSpPr>
          <p:cNvPr id="2" name="s5-title-zh">
            <a:extLst xmlns:a="http://schemas.openxmlformats.org/drawingml/2006/main">
              <a:ext uri="{FF2B5EF4-FFF2-40B4-BE49-F238E27FC236}">
                <a16:creationId xmlns:a16="http://schemas.microsoft.com/office/drawing/2014/main" id="{D2E1F51B-F0A0-4EBD-BBD1-0041A533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5-title-rule">
            <a:extLst xmlns:a="http://schemas.openxmlformats.org/drawingml/2006/main">
              <a:ext uri="{FF2B5EF4-FFF2-40B4-BE49-F238E27FC236}">
                <a16:creationId xmlns:a16="http://schemas.microsoft.com/office/drawing/2014/main" id="{E19C4680-95F8-4D3C-A869-4682A85C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5-frontend-box">
            <a:extLst xmlns:a="http://schemas.openxmlformats.org/drawingml/2006/main">
              <a:ext uri="{FF2B5EF4-FFF2-40B4-BE49-F238E27FC236}">
                <a16:creationId xmlns:a16="http://schemas.microsoft.com/office/drawing/2014/main" id="{FE4CE10B-15BF-4D6B-BD7C-AB124310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5" name="s5-frontend-en">
            <a:extLst xmlns:a="http://schemas.openxmlformats.org/drawingml/2006/main">
              <a:ext uri="{FF2B5EF4-FFF2-40B4-BE49-F238E27FC236}">
                <a16:creationId xmlns:a16="http://schemas.microsoft.com/office/drawing/2014/main" id="{91DF06B7-5656-4D1D-A954-2CE61467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交易台</a:t>
            </a:r>
          </a:p>
        </p:txBody>
      </p:sp>
      <p:sp>
        <p:nvSpPr>
          <p:cNvPr id="6" name="s5-frontend-zh">
            <a:extLst xmlns:a="http://schemas.openxmlformats.org/drawingml/2006/main">
              <a:ext uri="{FF2B5EF4-FFF2-40B4-BE49-F238E27FC236}">
                <a16:creationId xmlns:a16="http://schemas.microsoft.com/office/drawing/2014/main" id="{03A398C2-768D-421F-ACE8-AC961D66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BD5E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" name="s5-api-box">
            <a:extLst xmlns:a="http://schemas.openxmlformats.org/drawingml/2006/main">
              <a:ext uri="{FF2B5EF4-FFF2-40B4-BE49-F238E27FC236}">
                <a16:creationId xmlns:a16="http://schemas.microsoft.com/office/drawing/2014/main" id="{BD475ECC-353A-453C-9FF8-941B737F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33550"/>
            <a:ext cx="4267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s5-api-en">
            <a:extLst xmlns:a="http://schemas.openxmlformats.org/drawingml/2006/main">
              <a:ext uri="{FF2B5EF4-FFF2-40B4-BE49-F238E27FC236}">
                <a16:creationId xmlns:a16="http://schemas.microsoft.com/office/drawing/2014/main" id="{F9C53E2B-20CF-461B-A45F-579107F9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47850"/>
            <a:ext cx="403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API</a:t>
            </a:r>
          </a:p>
        </p:txBody>
      </p:sp>
      <p:sp>
        <p:nvSpPr>
          <p:cNvPr id="9" name="s5-api-zh">
            <a:extLst xmlns:a="http://schemas.openxmlformats.org/drawingml/2006/main">
              <a:ext uri="{FF2B5EF4-FFF2-40B4-BE49-F238E27FC236}">
                <a16:creationId xmlns:a16="http://schemas.microsoft.com/office/drawing/2014/main" id="{30E409B2-D719-44FC-B15E-E1A9E477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145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s5-provider-box">
            <a:extLst xmlns:a="http://schemas.openxmlformats.org/drawingml/2006/main">
              <a:ext uri="{FF2B5EF4-FFF2-40B4-BE49-F238E27FC236}">
                <a16:creationId xmlns:a16="http://schemas.microsoft.com/office/drawing/2014/main" id="{114D6700-806C-45D3-A915-0C7A0838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</p:sp>
      <p:sp>
        <p:nvSpPr>
          <p:cNvPr id="11" name="s5-provider-en">
            <a:extLst xmlns:a="http://schemas.openxmlformats.org/drawingml/2006/main">
              <a:ext uri="{FF2B5EF4-FFF2-40B4-BE49-F238E27FC236}">
                <a16:creationId xmlns:a16="http://schemas.microsoft.com/office/drawing/2014/main" id="{8B2EBC0F-E8C1-4859-942B-399962DF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478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行情提供方</a:t>
            </a:r>
          </a:p>
        </p:txBody>
      </p:sp>
      <p:sp>
        <p:nvSpPr>
          <p:cNvPr id="12" name="s5-provider-zh">
            <a:extLst xmlns:a="http://schemas.openxmlformats.org/drawingml/2006/main">
              <a:ext uri="{FF2B5EF4-FFF2-40B4-BE49-F238E27FC236}">
                <a16:creationId xmlns:a16="http://schemas.microsoft.com/office/drawing/2014/main" id="{DCF942EA-7569-45B5-9FDC-8F8A4982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s5-service-shell">
            <a:extLst xmlns:a="http://schemas.openxmlformats.org/drawingml/2006/main">
              <a:ext uri="{FF2B5EF4-FFF2-40B4-BE49-F238E27FC236}">
                <a16:creationId xmlns:a16="http://schemas.microsoft.com/office/drawing/2014/main" id="{B7BAAA44-6EFF-4B42-9A60-02A24B0A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86100"/>
            <a:ext cx="7048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s5-service-label">
            <a:extLst xmlns:a="http://schemas.openxmlformats.org/drawingml/2006/main">
              <a:ext uri="{FF2B5EF4-FFF2-40B4-BE49-F238E27FC236}">
                <a16:creationId xmlns:a16="http://schemas.microsoft.com/office/drawing/2014/main" id="{59F21A53-24B1-45E5-AE00-EBA7A822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57550"/>
            <a:ext cx="651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2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应用与领域服务</a:t>
            </a:r>
          </a:p>
        </p:txBody>
      </p:sp>
      <p:sp>
        <p:nvSpPr>
          <p:cNvPr id="15" name="s5-service-0-box">
            <a:extLst xmlns:a="http://schemas.openxmlformats.org/drawingml/2006/main">
              <a:ext uri="{FF2B5EF4-FFF2-40B4-BE49-F238E27FC236}">
                <a16:creationId xmlns:a16="http://schemas.microsoft.com/office/drawing/2014/main" id="{24E7F42A-AEA5-48BF-B78C-E1C642D8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6" name="s5-service-0-en">
            <a:extLst xmlns:a="http://schemas.openxmlformats.org/drawingml/2006/main">
              <a:ext uri="{FF2B5EF4-FFF2-40B4-BE49-F238E27FC236}">
                <a16:creationId xmlns:a16="http://schemas.microsoft.com/office/drawing/2014/main" id="{55167D51-D993-47D4-AEC5-9F7C368B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交易</a:t>
            </a:r>
          </a:p>
        </p:txBody>
      </p:sp>
      <p:sp>
        <p:nvSpPr>
          <p:cNvPr id="17" name="s5-service-0-zh">
            <a:extLst xmlns:a="http://schemas.openxmlformats.org/drawingml/2006/main">
              <a:ext uri="{FF2B5EF4-FFF2-40B4-BE49-F238E27FC236}">
                <a16:creationId xmlns:a16="http://schemas.microsoft.com/office/drawing/2014/main" id="{156FB500-4533-42ED-81BA-41DF50B5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s5-service-1-box">
            <a:extLst xmlns:a="http://schemas.openxmlformats.org/drawingml/2006/main">
              <a:ext uri="{FF2B5EF4-FFF2-40B4-BE49-F238E27FC236}">
                <a16:creationId xmlns:a16="http://schemas.microsoft.com/office/drawing/2014/main" id="{FC39CD63-BEF1-46B9-9B27-6812E603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9" name="s5-service-1-en">
            <a:extLst xmlns:a="http://schemas.openxmlformats.org/drawingml/2006/main">
              <a:ext uri="{FF2B5EF4-FFF2-40B4-BE49-F238E27FC236}">
                <a16:creationId xmlns:a16="http://schemas.microsoft.com/office/drawing/2014/main" id="{BF373813-2F25-4F26-8AF4-46B2FA84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校验</a:t>
            </a:r>
          </a:p>
        </p:txBody>
      </p:sp>
      <p:sp>
        <p:nvSpPr>
          <p:cNvPr id="20" name="s5-service-1-zh">
            <a:extLst xmlns:a="http://schemas.openxmlformats.org/drawingml/2006/main">
              <a:ext uri="{FF2B5EF4-FFF2-40B4-BE49-F238E27FC236}">
                <a16:creationId xmlns:a16="http://schemas.microsoft.com/office/drawing/2014/main" id="{2D4E9891-9CA5-4646-AECF-374817D8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1" name="s5-service-2-box">
            <a:extLst xmlns:a="http://schemas.openxmlformats.org/drawingml/2006/main">
              <a:ext uri="{FF2B5EF4-FFF2-40B4-BE49-F238E27FC236}">
                <a16:creationId xmlns:a16="http://schemas.microsoft.com/office/drawing/2014/main" id="{68E64D5F-EC21-4BDA-BDB9-9135D068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2" name="s5-service-2-en">
            <a:extLst xmlns:a="http://schemas.openxmlformats.org/drawingml/2006/main">
              <a:ext uri="{FF2B5EF4-FFF2-40B4-BE49-F238E27FC236}">
                <a16:creationId xmlns:a16="http://schemas.microsoft.com/office/drawing/2014/main" id="{2AF3548C-4292-41A7-B86B-4134D5CE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持仓</a:t>
            </a:r>
          </a:p>
        </p:txBody>
      </p:sp>
      <p:sp>
        <p:nvSpPr>
          <p:cNvPr id="23" name="s5-service-2-zh">
            <a:extLst xmlns:a="http://schemas.openxmlformats.org/drawingml/2006/main">
              <a:ext uri="{FF2B5EF4-FFF2-40B4-BE49-F238E27FC236}">
                <a16:creationId xmlns:a16="http://schemas.microsoft.com/office/drawing/2014/main" id="{1D0F80EC-177A-4B99-A287-9236A2E9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s5-service-3-box">
            <a:extLst xmlns:a="http://schemas.openxmlformats.org/drawingml/2006/main">
              <a:ext uri="{FF2B5EF4-FFF2-40B4-BE49-F238E27FC236}">
                <a16:creationId xmlns:a16="http://schemas.microsoft.com/office/drawing/2014/main" id="{73E7FDCF-5BA7-488E-8140-F7A4E25D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5" name="s5-service-3-en">
            <a:extLst xmlns:a="http://schemas.openxmlformats.org/drawingml/2006/main">
              <a:ext uri="{FF2B5EF4-FFF2-40B4-BE49-F238E27FC236}">
                <a16:creationId xmlns:a16="http://schemas.microsoft.com/office/drawing/2014/main" id="{ABA8EA58-1617-4088-ABB0-85F4DF93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盈亏</a:t>
            </a:r>
          </a:p>
        </p:txBody>
      </p:sp>
      <p:sp>
        <p:nvSpPr>
          <p:cNvPr id="26" name="s5-service-3-zh">
            <a:extLst xmlns:a="http://schemas.openxmlformats.org/drawingml/2006/main">
              <a:ext uri="{FF2B5EF4-FFF2-40B4-BE49-F238E27FC236}">
                <a16:creationId xmlns:a16="http://schemas.microsoft.com/office/drawing/2014/main" id="{FE8548D5-8265-450A-BD01-4733CA2F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" name="s5-mysql-box">
            <a:extLst xmlns:a="http://schemas.openxmlformats.org/drawingml/2006/main">
              <a:ext uri="{FF2B5EF4-FFF2-40B4-BE49-F238E27FC236}">
                <a16:creationId xmlns:a16="http://schemas.microsoft.com/office/drawing/2014/main" id="{9C644367-51E7-4959-800E-4D9ADC18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91150"/>
            <a:ext cx="276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4C90"/>
            </a:solidFill>
            <a:prstDash val="solid"/>
          </a:ln>
        </p:spPr>
      </p:sp>
      <p:sp>
        <p:nvSpPr>
          <p:cNvPr id="28" name="s5-mysql-en">
            <a:extLst xmlns:a="http://schemas.openxmlformats.org/drawingml/2006/main">
              <a:ext uri="{FF2B5EF4-FFF2-40B4-BE49-F238E27FC236}">
                <a16:creationId xmlns:a16="http://schemas.microsoft.com/office/drawing/2014/main" id="{8432874D-B1E8-4F8B-AACE-CBAB5F93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0545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MySQL + Flyway</a:t>
            </a:r>
          </a:p>
        </p:txBody>
      </p:sp>
      <p:sp>
        <p:nvSpPr>
          <p:cNvPr id="29" name="s5-mysql-zh">
            <a:extLst xmlns:a="http://schemas.openxmlformats.org/drawingml/2006/main">
              <a:ext uri="{FF2B5EF4-FFF2-40B4-BE49-F238E27FC236}">
                <a16:creationId xmlns:a16="http://schemas.microsoft.com/office/drawing/2014/main" id="{C2E445B3-89F8-40BE-AF99-F7B5082F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72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0" name="s5-redis-box">
            <a:extLst xmlns:a="http://schemas.openxmlformats.org/drawingml/2006/main">
              <a:ext uri="{FF2B5EF4-FFF2-40B4-BE49-F238E27FC236}">
                <a16:creationId xmlns:a16="http://schemas.microsoft.com/office/drawing/2014/main" id="{9AA959F3-2F7E-49A7-8693-DFE78BC0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91150"/>
            <a:ext cx="276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4C90"/>
            </a:solidFill>
            <a:prstDash val="solid"/>
          </a:ln>
        </p:spPr>
      </p:sp>
      <p:sp>
        <p:nvSpPr>
          <p:cNvPr id="31" name="s5-redis-en">
            <a:extLst xmlns:a="http://schemas.openxmlformats.org/drawingml/2006/main">
              <a:ext uri="{FF2B5EF4-FFF2-40B4-BE49-F238E27FC236}">
                <a16:creationId xmlns:a16="http://schemas.microsoft.com/office/drawing/2014/main" id="{EDB955F3-CDB0-40C2-894B-E0B91C04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50545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Redis 行情缓存</a:t>
            </a:r>
          </a:p>
        </p:txBody>
      </p:sp>
      <p:sp>
        <p:nvSpPr>
          <p:cNvPr id="32" name="s5-redis-zh">
            <a:extLst xmlns:a="http://schemas.openxmlformats.org/drawingml/2006/main">
              <a:ext uri="{FF2B5EF4-FFF2-40B4-BE49-F238E27FC236}">
                <a16:creationId xmlns:a16="http://schemas.microsoft.com/office/drawing/2014/main" id="{A3D7BBE8-EF55-4EA2-B5CD-F06D9EF2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72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24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05150" y="21526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24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53400" y="21526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243" name=""/>
          <p:cNvCxnSpPr>
            <a:stCxn xmlns:a="http://schemas.openxmlformats.org/drawingml/2006/main" id="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5191125" y="2571750"/>
            <a:ext cx="828675" cy="1143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244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248150" y="41624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245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905500" y="41624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246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562850" y="41624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247" name=""/>
          <p:cNvCxnSpPr>
            <a:stCxn xmlns:a="http://schemas.openxmlformats.org/drawingml/2006/main" id="1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533775" y="4610100"/>
            <a:ext cx="514350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248" name=""/>
          <p:cNvCxnSpPr>
            <a:stCxn xmlns:a="http://schemas.openxmlformats.org/drawingml/2006/main" id="24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8143875" y="4610100"/>
            <a:ext cx="361950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249" name=""/>
          <p:cNvCxnSpPr>
            <a:stCxn xmlns:a="http://schemas.openxmlformats.org/drawingml/2006/main" id="10" idx="2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9525000" y="2571750"/>
            <a:ext cx="619125" cy="31527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0955">
            <a:solidFill>
              <a:srgbClr val="B45309"/>
            </a:solidFill>
            <a:prstDash val="solid"/>
            <a:tailEnd type="triangle" w="med" len="med"/>
          </a:ln>
        </p:spPr>
      </p:cxnSp>
      <p:sp>
        <p:nvSpPr>
          <p:cNvPr id="42" name="s5-direction">
            <a:extLst xmlns:a="http://schemas.openxmlformats.org/drawingml/2006/main">
              <a:ext uri="{FF2B5EF4-FFF2-40B4-BE49-F238E27FC236}">
                <a16:creationId xmlns:a16="http://schemas.microsoft.com/office/drawing/2014/main" id="{F681BCF8-0D87-43AD-9D1A-E817208F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  →  应用  →  领域  ←  基础设施</a:t>
            </a:r>
          </a:p>
        </p:txBody>
      </p:sp>
      <p:sp>
        <p:nvSpPr>
          <p:cNvPr id="43" name="s5-footer-note">
            <a:extLst xmlns:a="http://schemas.openxmlformats.org/drawingml/2006/main">
              <a:ext uri="{FF2B5EF4-FFF2-40B4-BE49-F238E27FC236}">
                <a16:creationId xmlns:a16="http://schemas.microsoft.com/office/drawing/2014/main" id="{67308164-F8ED-4418-BCA2-5FD6CE42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MySQL 记录事实；Redis 只缓存行情</a:t>
            </a:r>
          </a:p>
        </p:txBody>
      </p:sp>
      <p:sp>
        <p:nvSpPr>
          <p:cNvPr id="44" name="s5-footer-page">
            <a:extLst xmlns:a="http://schemas.openxmlformats.org/drawingml/2006/main">
              <a:ext uri="{FF2B5EF4-FFF2-40B4-BE49-F238E27FC236}">
                <a16:creationId xmlns:a16="http://schemas.microsoft.com/office/drawing/2014/main" id="{A1761409-4FE2-46C3-965A-055E0A95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858774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title-en">
            <a:extLst xmlns:a="http://schemas.openxmlformats.org/drawingml/2006/main">
              <a:ext uri="{FF2B5EF4-FFF2-40B4-BE49-F238E27FC236}">
                <a16:creationId xmlns:a16="http://schemas.microsoft.com/office/drawing/2014/main" id="{6F24A1FF-9A88-487F-8375-EAFA133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记录、计算与缓存各司其职</a:t>
            </a:r>
          </a:p>
        </p:txBody>
      </p:sp>
      <p:sp>
        <p:nvSpPr>
          <p:cNvPr id="2" name="s6-title-zh">
            <a:extLst xmlns:a="http://schemas.openxmlformats.org/drawingml/2006/main">
              <a:ext uri="{FF2B5EF4-FFF2-40B4-BE49-F238E27FC236}">
                <a16:creationId xmlns:a16="http://schemas.microsoft.com/office/drawing/2014/main" id="{5102D7F7-F018-4AAB-9EDC-8574722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6-title-rule">
            <a:extLst xmlns:a="http://schemas.openxmlformats.org/drawingml/2006/main">
              <a:ext uri="{FF2B5EF4-FFF2-40B4-BE49-F238E27FC236}">
                <a16:creationId xmlns:a16="http://schemas.microsoft.com/office/drawing/2014/main" id="{54C825A1-7538-423A-8AF2-98D8A323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2476500"/>
                <a:gridCol w="3829050"/>
                <a:gridCol w="3219450"/>
              </a:tblGrid>
              <a:tr h="598714"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层级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核心技术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职责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价值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界面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React 19 + TS + Vite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交易控制台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快速反馈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接口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Java 21 + Spring Boot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业务工作流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规则可测试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MySQL 8.4 + Flyway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交易 + 快照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审计持久化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缓存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Redis 7.4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仅缓存行情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安全降级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外部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Finnhub / Mock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报价来源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实时或可重复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交付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Docker + Nginx + CI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构建测试运行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演示可复现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6-correction">
            <a:extLst xmlns:a="http://schemas.openxmlformats.org/drawingml/2006/main">
              <a:ext uri="{FF2B5EF4-FFF2-40B4-BE49-F238E27FC236}">
                <a16:creationId xmlns:a16="http://schemas.microsoft.com/office/drawing/2014/main" id="{A25BB6E9-1501-46BA-9ECD-C1F3B5DE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6" name="s6-correction-text">
            <a:extLst xmlns:a="http://schemas.openxmlformats.org/drawingml/2006/main">
              <a:ext uri="{FF2B5EF4-FFF2-40B4-BE49-F238E27FC236}">
                <a16:creationId xmlns:a16="http://schemas.microsoft.com/office/drawing/2014/main" id="{C3F5D618-F47E-406B-9D63-9D039CE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MySQL 是权威数据源；Redis 可删除并重建。</a:t>
            </a:r>
          </a:p>
        </p:txBody>
      </p:sp>
      <p:sp>
        <p:nvSpPr>
          <p:cNvPr id="7" name="s6-footer-note">
            <a:extLst xmlns:a="http://schemas.openxmlformats.org/drawingml/2006/main">
              <a:ext uri="{FF2B5EF4-FFF2-40B4-BE49-F238E27FC236}">
                <a16:creationId xmlns:a16="http://schemas.microsoft.com/office/drawing/2014/main" id="{D4B727FB-7A01-4F69-B512-331BD15E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版本来源：pom.xml · package.json · compose.yaml</a:t>
            </a:r>
          </a:p>
        </p:txBody>
      </p:sp>
      <p:sp>
        <p:nvSpPr>
          <p:cNvPr id="8" name="s6-footer-page">
            <a:extLst xmlns:a="http://schemas.openxmlformats.org/drawingml/2006/main">
              <a:ext uri="{FF2B5EF4-FFF2-40B4-BE49-F238E27FC236}">
                <a16:creationId xmlns:a16="http://schemas.microsoft.com/office/drawing/2014/main" id="{19DAEECD-3FB5-4FFC-8842-FCED0AF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599381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title-en">
            <a:extLst xmlns:a="http://schemas.openxmlformats.org/drawingml/2006/main">
              <a:ext uri="{FF2B5EF4-FFF2-40B4-BE49-F238E27FC236}">
                <a16:creationId xmlns:a16="http://schemas.microsoft.com/office/drawing/2014/main" id="{91BC34CB-420B-4E6A-AE55-C639A10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无效交易永远不会进入账簿</a:t>
            </a:r>
          </a:p>
        </p:txBody>
      </p:sp>
      <p:sp>
        <p:nvSpPr>
          <p:cNvPr id="2" name="s7-title-zh">
            <a:extLst xmlns:a="http://schemas.openxmlformats.org/drawingml/2006/main">
              <a:ext uri="{FF2B5EF4-FFF2-40B4-BE49-F238E27FC236}">
                <a16:creationId xmlns:a16="http://schemas.microsoft.com/office/drawing/2014/main" id="{AC56DD76-0B92-4F18-A0DB-B9AD41F8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7-title-rule">
            <a:extLst xmlns:a="http://schemas.openxmlformats.org/drawingml/2006/main">
              <a:ext uri="{FF2B5EF4-FFF2-40B4-BE49-F238E27FC236}">
                <a16:creationId xmlns:a16="http://schemas.microsoft.com/office/drawing/2014/main" id="{CE7545AA-8DA7-4E73-A45F-6B32E301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7-intro">
            <a:extLst xmlns:a="http://schemas.openxmlformats.org/drawingml/2006/main">
              <a:ext uri="{FF2B5EF4-FFF2-40B4-BE49-F238E27FC236}">
                <a16:creationId xmlns:a16="http://schemas.microsoft.com/office/drawing/2014/main" id="{09EF9C93-48B2-4C2B-86C3-3DF860CD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入账是一道门，而不是一个状态标签。</a:t>
            </a:r>
          </a:p>
        </p:txBody>
      </p:sp>
      <p:sp>
        <p:nvSpPr>
          <p:cNvPr id="5" name="s7-left-panel">
            <a:extLst xmlns:a="http://schemas.openxmlformats.org/drawingml/2006/main">
              <a:ext uri="{FF2B5EF4-FFF2-40B4-BE49-F238E27FC236}">
                <a16:creationId xmlns:a16="http://schemas.microsoft.com/office/drawing/2014/main" id="{61E03A9E-314D-4D92-A8BC-F8137760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51435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s7-left-title">
            <a:extLst xmlns:a="http://schemas.openxmlformats.org/drawingml/2006/main">
              <a:ext uri="{FF2B5EF4-FFF2-40B4-BE49-F238E27FC236}">
                <a16:creationId xmlns:a16="http://schemas.microsoft.com/office/drawing/2014/main" id="{9537FE98-B466-4190-9704-A5B11ABA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输入校验</a:t>
            </a:r>
          </a:p>
        </p:txBody>
      </p:sp>
      <p:sp>
        <p:nvSpPr>
          <p:cNvPr id="7" name="s7-left-0-dot">
            <a:extLst xmlns:a="http://schemas.openxmlformats.org/drawingml/2006/main">
              <a:ext uri="{FF2B5EF4-FFF2-40B4-BE49-F238E27FC236}">
                <a16:creationId xmlns:a16="http://schemas.microsoft.com/office/drawing/2014/main" id="{F4850D09-A9E5-4829-B841-60772CA8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s7-left-0-text">
            <a:extLst xmlns:a="http://schemas.openxmlformats.org/drawingml/2006/main">
              <a:ext uri="{FF2B5EF4-FFF2-40B4-BE49-F238E27FC236}">
                <a16:creationId xmlns:a16="http://schemas.microsoft.com/office/drawing/2014/main" id="{C46725F3-B993-452B-BDE7-A894FFE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已验证证券 + 启用的美元账户</a:t>
            </a:r>
          </a:p>
        </p:txBody>
      </p:sp>
      <p:sp>
        <p:nvSpPr>
          <p:cNvPr id="9" name="s7-left-1-dot">
            <a:extLst xmlns:a="http://schemas.openxmlformats.org/drawingml/2006/main">
              <a:ext uri="{FF2B5EF4-FFF2-40B4-BE49-F238E27FC236}">
                <a16:creationId xmlns:a16="http://schemas.microsoft.com/office/drawing/2014/main" id="{CE17B0CB-C5DD-4534-A85E-9D732C91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9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s7-left-1-text">
            <a:extLst xmlns:a="http://schemas.openxmlformats.org/drawingml/2006/main">
              <a:ext uri="{FF2B5EF4-FFF2-40B4-BE49-F238E27FC236}">
                <a16:creationId xmlns:a16="http://schemas.microsoft.com/office/drawing/2014/main" id="{53DFD2B4-3DC6-4214-BDB0-15EDF09C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数量、价格与成交时间有效</a:t>
            </a:r>
          </a:p>
        </p:txBody>
      </p:sp>
      <p:sp>
        <p:nvSpPr>
          <p:cNvPr id="11" name="s7-left-2-dot">
            <a:extLst xmlns:a="http://schemas.openxmlformats.org/drawingml/2006/main">
              <a:ext uri="{FF2B5EF4-FFF2-40B4-BE49-F238E27FC236}">
                <a16:creationId xmlns:a16="http://schemas.microsoft.com/office/drawing/2014/main" id="{A7C5331F-1FF9-44BE-87FD-02E87E8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85725" cy="857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s7-left-2-text">
            <a:extLst xmlns:a="http://schemas.openxmlformats.org/drawingml/2006/main">
              <a:ext uri="{FF2B5EF4-FFF2-40B4-BE49-F238E27FC236}">
                <a16:creationId xmlns:a16="http://schemas.microsoft.com/office/drawing/2014/main" id="{29D18D71-1412-4F36-95BE-5B5F1485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​</a:t>
            </a:r>
          </a:p>
        </p:txBody>
      </p:sp>
      <p:sp>
        <p:nvSpPr>
          <p:cNvPr id="13" name="s7-left-3-dot">
            <a:extLst xmlns:a="http://schemas.openxmlformats.org/drawingml/2006/main">
              <a:ext uri="{FF2B5EF4-FFF2-40B4-BE49-F238E27FC236}">
                <a16:creationId xmlns:a16="http://schemas.microsoft.com/office/drawing/2014/main" id="{2573CCC4-C43E-4E5C-9693-9A41813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85725" cy="857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s7-left-3-text">
            <a:extLst xmlns:a="http://schemas.openxmlformats.org/drawingml/2006/main">
              <a:ext uri="{FF2B5EF4-FFF2-40B4-BE49-F238E27FC236}">
                <a16:creationId xmlns:a16="http://schemas.microsoft.com/office/drawing/2014/main" id="{08E76A03-186F-43F6-90A4-8DFAF18B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​</a:t>
            </a:r>
          </a:p>
        </p:txBody>
      </p:sp>
      <p:sp>
        <p:nvSpPr>
          <p:cNvPr id="15" name="s7-right-panel">
            <a:extLst xmlns:a="http://schemas.openxmlformats.org/drawingml/2006/main">
              <a:ext uri="{FF2B5EF4-FFF2-40B4-BE49-F238E27FC236}">
                <a16:creationId xmlns:a16="http://schemas.microsoft.com/office/drawing/2014/main" id="{CBE553F2-6C94-483A-AB3C-D255A946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05050"/>
            <a:ext cx="56769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6" name="s7-right-title">
            <a:extLst xmlns:a="http://schemas.openxmlformats.org/drawingml/2006/main">
              <a:ext uri="{FF2B5EF4-FFF2-40B4-BE49-F238E27FC236}">
                <a16:creationId xmlns:a16="http://schemas.microsoft.com/office/drawing/2014/main" id="{6EAEFB9C-FE57-4ECE-AA01-09848CC0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43175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持仓安全</a:t>
            </a:r>
          </a:p>
        </p:txBody>
      </p:sp>
      <p:sp>
        <p:nvSpPr>
          <p:cNvPr id="17" name="s7-right-0-dot">
            <a:extLst xmlns:a="http://schemas.openxmlformats.org/drawingml/2006/main">
              <a:ext uri="{FF2B5EF4-FFF2-40B4-BE49-F238E27FC236}">
                <a16:creationId xmlns:a16="http://schemas.microsoft.com/office/drawing/2014/main" id="{C19F42B5-495E-4648-A399-12746BB1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71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18" name="s7-right-0-text">
            <a:extLst xmlns:a="http://schemas.openxmlformats.org/drawingml/2006/main">
              <a:ext uri="{FF2B5EF4-FFF2-40B4-BE49-F238E27FC236}">
                <a16:creationId xmlns:a16="http://schemas.microsoft.com/office/drawing/2014/main" id="{18C8B4C7-B2A4-4701-A95E-8DB6C4E7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卖出不超过成交时点持仓</a:t>
            </a:r>
          </a:p>
        </p:txBody>
      </p:sp>
      <p:sp>
        <p:nvSpPr>
          <p:cNvPr id="19" name="s7-right-1-dot">
            <a:extLst xmlns:a="http://schemas.openxmlformats.org/drawingml/2006/main">
              <a:ext uri="{FF2B5EF4-FFF2-40B4-BE49-F238E27FC236}">
                <a16:creationId xmlns:a16="http://schemas.microsoft.com/office/drawing/2014/main" id="{5E134174-937B-43A2-B5EF-0F23D01A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71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0" name="s7-right-1-text">
            <a:extLst xmlns:a="http://schemas.openxmlformats.org/drawingml/2006/main">
              <a:ext uri="{FF2B5EF4-FFF2-40B4-BE49-F238E27FC236}">
                <a16:creationId xmlns:a16="http://schemas.microsoft.com/office/drawing/2014/main" id="{0A79904A-F8E6-4B73-89A7-979CA2D3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05225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取消或修改会回放完整时间线</a:t>
            </a:r>
          </a:p>
        </p:txBody>
      </p:sp>
      <p:sp>
        <p:nvSpPr>
          <p:cNvPr id="21" name="s7-right-2-dot">
            <a:extLst xmlns:a="http://schemas.openxmlformats.org/drawingml/2006/main">
              <a:ext uri="{FF2B5EF4-FFF2-40B4-BE49-F238E27FC236}">
                <a16:creationId xmlns:a16="http://schemas.microsoft.com/office/drawing/2014/main" id="{108B12DA-46BB-4D27-811F-382135C4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71975"/>
            <a:ext cx="85725" cy="857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s7-right-2-text">
            <a:extLst xmlns:a="http://schemas.openxmlformats.org/drawingml/2006/main">
              <a:ext uri="{FF2B5EF4-FFF2-40B4-BE49-F238E27FC236}">
                <a16:creationId xmlns:a16="http://schemas.microsoft.com/office/drawing/2014/main" id="{BA7924F7-01D5-43E0-B94E-9A78FC46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​</a:t>
            </a:r>
          </a:p>
        </p:txBody>
      </p:sp>
      <p:sp>
        <p:nvSpPr>
          <p:cNvPr id="23" name="s7-result">
            <a:extLst xmlns:a="http://schemas.openxmlformats.org/drawingml/2006/main">
              <a:ext uri="{FF2B5EF4-FFF2-40B4-BE49-F238E27FC236}">
                <a16:creationId xmlns:a16="http://schemas.microsoft.com/office/drawing/2014/main" id="{05557013-1E50-41B7-99C3-86045722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24" name="s7-result-text">
            <a:extLst xmlns:a="http://schemas.openxmlformats.org/drawingml/2006/main">
              <a:ext uri="{FF2B5EF4-FFF2-40B4-BE49-F238E27FC236}">
                <a16:creationId xmlns:a16="http://schemas.microsoft.com/office/drawing/2014/main" id="{A0104A3C-5A77-426E-A23C-B8F23482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29275"/>
            <a:ext cx="872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有效 → BOOKED    |    无效 → 结构化错误</a:t>
            </a:r>
          </a:p>
        </p:txBody>
      </p:sp>
      <p:sp>
        <p:nvSpPr>
          <p:cNvPr id="25" name="s7-footer-note">
            <a:extLst xmlns:a="http://schemas.openxmlformats.org/drawingml/2006/main">
              <a:ext uri="{FF2B5EF4-FFF2-40B4-BE49-F238E27FC236}">
                <a16:creationId xmlns:a16="http://schemas.microsoft.com/office/drawing/2014/main" id="{391F0DAA-9852-460C-856F-8266004E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只有 BOOKED 交易影响持仓与盈亏</a:t>
            </a:r>
          </a:p>
        </p:txBody>
      </p:sp>
      <p:sp>
        <p:nvSpPr>
          <p:cNvPr id="26" name="s7-footer-page">
            <a:extLst xmlns:a="http://schemas.openxmlformats.org/drawingml/2006/main">
              <a:ext uri="{FF2B5EF4-FFF2-40B4-BE49-F238E27FC236}">
                <a16:creationId xmlns:a16="http://schemas.microsoft.com/office/drawing/2014/main" id="{5A3056BD-F77E-4795-81B6-2A776C05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96461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title-en">
            <a:extLst xmlns:a="http://schemas.openxmlformats.org/drawingml/2006/main">
              <a:ext uri="{FF2B5EF4-FFF2-40B4-BE49-F238E27FC236}">
                <a16:creationId xmlns:a16="http://schemas.microsoft.com/office/drawing/2014/main" id="{ABE165A9-FB04-4BCE-887A-D6B55DE6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一个数字例子胜过三条公式</a:t>
            </a:r>
          </a:p>
        </p:txBody>
      </p:sp>
      <p:sp>
        <p:nvSpPr>
          <p:cNvPr id="2" name="s8-title-zh">
            <a:extLst xmlns:a="http://schemas.openxmlformats.org/drawingml/2006/main">
              <a:ext uri="{FF2B5EF4-FFF2-40B4-BE49-F238E27FC236}">
                <a16:creationId xmlns:a16="http://schemas.microsoft.com/office/drawing/2014/main" id="{0021B581-631F-4F0C-BA75-2B48E82F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8-title-rule">
            <a:extLst xmlns:a="http://schemas.openxmlformats.org/drawingml/2006/main">
              <a:ext uri="{FF2B5EF4-FFF2-40B4-BE49-F238E27FC236}">
                <a16:creationId xmlns:a16="http://schemas.microsoft.com/office/drawing/2014/main" id="{E909A2D9-743C-4542-BED7-96F2C691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8-left-shell">
            <a:extLst xmlns:a="http://schemas.openxmlformats.org/drawingml/2006/main">
              <a:ext uri="{FF2B5EF4-FFF2-40B4-BE49-F238E27FC236}">
                <a16:creationId xmlns:a16="http://schemas.microsoft.com/office/drawing/2014/main" id="{BA481775-A168-4FD1-BF22-677347F3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1435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s8-left-title">
            <a:extLst xmlns:a="http://schemas.openxmlformats.org/drawingml/2006/main">
              <a:ext uri="{FF2B5EF4-FFF2-40B4-BE49-F238E27FC236}">
                <a16:creationId xmlns:a16="http://schemas.microsoft.com/office/drawing/2014/main" id="{E175519D-6563-4F85-81F7-002EC687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2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2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持仓回放</a:t>
            </a:r>
          </a:p>
        </p:txBody>
      </p:sp>
      <p:sp>
        <p:nvSpPr>
          <p:cNvPr id="6" name="s8-p1-box">
            <a:extLst xmlns:a="http://schemas.openxmlformats.org/drawingml/2006/main">
              <a:ext uri="{FF2B5EF4-FFF2-40B4-BE49-F238E27FC236}">
                <a16:creationId xmlns:a16="http://schemas.microsoft.com/office/drawing/2014/main" id="{E19DB466-9F8B-42F3-BBF2-AD2EE6B1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7" name="s8-p1-en">
            <a:extLst xmlns:a="http://schemas.openxmlformats.org/drawingml/2006/main">
              <a:ext uri="{FF2B5EF4-FFF2-40B4-BE49-F238E27FC236}">
                <a16:creationId xmlns:a16="http://schemas.microsoft.com/office/drawing/2014/main" id="{36584333-57E5-4805-88E2-885E0960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买入 10 股 AAPL @ $100</a:t>
            </a:r>
          </a:p>
        </p:txBody>
      </p:sp>
      <p:sp>
        <p:nvSpPr>
          <p:cNvPr id="8" name="s8-p1-zh">
            <a:extLst xmlns:a="http://schemas.openxmlformats.org/drawingml/2006/main">
              <a:ext uri="{FF2B5EF4-FFF2-40B4-BE49-F238E27FC236}">
                <a16:creationId xmlns:a16="http://schemas.microsoft.com/office/drawing/2014/main" id="{04A44534-04DC-46BC-ABB5-01E98431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" name="s8-p2-box">
            <a:extLst xmlns:a="http://schemas.openxmlformats.org/drawingml/2006/main">
              <a:ext uri="{FF2B5EF4-FFF2-40B4-BE49-F238E27FC236}">
                <a16:creationId xmlns:a16="http://schemas.microsoft.com/office/drawing/2014/main" id="{8905FA38-9ADA-489A-A997-7BB22A4D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0" name="s8-p2-en">
            <a:extLst xmlns:a="http://schemas.openxmlformats.org/drawingml/2006/main">
              <a:ext uri="{FF2B5EF4-FFF2-40B4-BE49-F238E27FC236}">
                <a16:creationId xmlns:a16="http://schemas.microsoft.com/office/drawing/2014/main" id="{5288D339-4CF1-4DB2-BF75-28656ADB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卖出 4 股 AAPL @ $110</a:t>
            </a:r>
          </a:p>
        </p:txBody>
      </p:sp>
      <p:sp>
        <p:nvSpPr>
          <p:cNvPr id="11" name="s8-p2-zh">
            <a:extLst xmlns:a="http://schemas.openxmlformats.org/drawingml/2006/main">
              <a:ext uri="{FF2B5EF4-FFF2-40B4-BE49-F238E27FC236}">
                <a16:creationId xmlns:a16="http://schemas.microsoft.com/office/drawing/2014/main" id="{093B76F9-6671-40CD-A5AB-823A7659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s8-p3-box">
            <a:extLst xmlns:a="http://schemas.openxmlformats.org/drawingml/2006/main">
              <a:ext uri="{FF2B5EF4-FFF2-40B4-BE49-F238E27FC236}">
                <a16:creationId xmlns:a16="http://schemas.microsoft.com/office/drawing/2014/main" id="{DF818DBC-710B-4A42-BB42-85E4D827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3" name="s8-p3-en">
            <a:extLst xmlns:a="http://schemas.openxmlformats.org/drawingml/2006/main">
              <a:ext uri="{FF2B5EF4-FFF2-40B4-BE49-F238E27FC236}">
                <a16:creationId xmlns:a16="http://schemas.microsoft.com/office/drawing/2014/main" id="{C04ABEFD-CEF7-4F6D-9F51-0F74B5C4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剩余：6 股，成本 $100</a:t>
            </a:r>
          </a:p>
        </p:txBody>
      </p:sp>
      <p:sp>
        <p:nvSpPr>
          <p:cNvPr id="14" name="s8-p3-zh">
            <a:extLst xmlns:a="http://schemas.openxmlformats.org/drawingml/2006/main">
              <a:ext uri="{FF2B5EF4-FFF2-40B4-BE49-F238E27FC236}">
                <a16:creationId xmlns:a16="http://schemas.microsoft.com/office/drawing/2014/main" id="{DD7E1196-10BD-455A-BA0D-63BBD12F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108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962275" y="30480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09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962275" y="40195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7" name="s8-right-shell">
            <a:extLst xmlns:a="http://schemas.openxmlformats.org/drawingml/2006/main">
              <a:ext uri="{FF2B5EF4-FFF2-40B4-BE49-F238E27FC236}">
                <a16:creationId xmlns:a16="http://schemas.microsoft.com/office/drawing/2014/main" id="{4045F9F6-8ECB-4BC2-A19F-F638EE95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62100"/>
            <a:ext cx="5676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8" name="s8-right-title">
            <a:extLst xmlns:a="http://schemas.openxmlformats.org/drawingml/2006/main">
              <a:ext uri="{FF2B5EF4-FFF2-40B4-BE49-F238E27FC236}">
                <a16:creationId xmlns:a16="http://schemas.microsoft.com/office/drawing/2014/main" id="{3F23A276-3704-4C3A-9816-514C26D0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9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报价为 $123.46 时</a:t>
            </a:r>
          </a:p>
        </p:txBody>
      </p:sp>
      <p:sp>
        <p:nvSpPr>
          <p:cNvPr id="19" name="s8-formula-rule1">
            <a:extLst xmlns:a="http://schemas.openxmlformats.org/drawingml/2006/main">
              <a:ext uri="{FF2B5EF4-FFF2-40B4-BE49-F238E27FC236}">
                <a16:creationId xmlns:a16="http://schemas.microsoft.com/office/drawing/2014/main" id="{C48FD4FE-6446-414D-9FE9-DDDAA31D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s8-formula1-en">
            <a:extLst xmlns:a="http://schemas.openxmlformats.org/drawingml/2006/main">
              <a:ext uri="{FF2B5EF4-FFF2-40B4-BE49-F238E27FC236}">
                <a16:creationId xmlns:a16="http://schemas.microsoft.com/office/drawing/2014/main" id="{75F08B05-1623-4203-9851-ADA61EA6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43175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市值       6 × $123.46 = $740.76</a:t>
            </a:r>
          </a:p>
        </p:txBody>
      </p:sp>
      <p:sp>
        <p:nvSpPr>
          <p:cNvPr id="21" name="s8-formula1-zh">
            <a:extLst xmlns:a="http://schemas.openxmlformats.org/drawingml/2006/main">
              <a:ext uri="{FF2B5EF4-FFF2-40B4-BE49-F238E27FC236}">
                <a16:creationId xmlns:a16="http://schemas.microsoft.com/office/drawing/2014/main" id="{C8824AAA-9DCD-4213-85B9-99A3F9B9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860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2" name="s8-formula2-en">
            <a:extLst xmlns:a="http://schemas.openxmlformats.org/drawingml/2006/main">
              <a:ext uri="{FF2B5EF4-FFF2-40B4-BE49-F238E27FC236}">
                <a16:creationId xmlns:a16="http://schemas.microsoft.com/office/drawing/2014/main" id="{E02A42EB-209F-4066-B380-B2EC7336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成本       6 × $100.00 = $600.00</a:t>
            </a:r>
          </a:p>
        </p:txBody>
      </p:sp>
      <p:sp>
        <p:nvSpPr>
          <p:cNvPr id="23" name="s8-formula2-zh">
            <a:extLst xmlns:a="http://schemas.openxmlformats.org/drawingml/2006/main">
              <a:ext uri="{FF2B5EF4-FFF2-40B4-BE49-F238E27FC236}">
                <a16:creationId xmlns:a16="http://schemas.microsoft.com/office/drawing/2014/main" id="{ABE928E6-FDC1-4BC9-AA84-87C92FDF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s8-formula3-en">
            <a:extLst xmlns:a="http://schemas.openxmlformats.org/drawingml/2006/main">
              <a:ext uri="{FF2B5EF4-FFF2-40B4-BE49-F238E27FC236}">
                <a16:creationId xmlns:a16="http://schemas.microsoft.com/office/drawing/2014/main" id="{241ACEFA-CDBB-41FC-9F44-D25DCD95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00525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未实现盈亏   +$140.76（+23.46%）</a:t>
            </a:r>
          </a:p>
        </p:txBody>
      </p:sp>
      <p:sp>
        <p:nvSpPr>
          <p:cNvPr id="25" name="s8-formula3-zh">
            <a:extLst xmlns:a="http://schemas.openxmlformats.org/drawingml/2006/main">
              <a:ext uri="{FF2B5EF4-FFF2-40B4-BE49-F238E27FC236}">
                <a16:creationId xmlns:a16="http://schemas.microsoft.com/office/drawing/2014/main" id="{621EE739-7138-4BA1-A01B-112FE162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4342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" name="s8-snapshot">
            <a:extLst xmlns:a="http://schemas.openxmlformats.org/drawingml/2006/main">
              <a:ext uri="{FF2B5EF4-FFF2-40B4-BE49-F238E27FC236}">
                <a16:creationId xmlns:a16="http://schemas.microsoft.com/office/drawing/2014/main" id="{897ADD62-B184-4384-AB86-A0EBB644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7" name="s8-snapshot-text">
            <a:extLst xmlns:a="http://schemas.openxmlformats.org/drawingml/2006/main">
              <a:ext uri="{FF2B5EF4-FFF2-40B4-BE49-F238E27FC236}">
                <a16:creationId xmlns:a16="http://schemas.microsoft.com/office/drawing/2014/main" id="{F6ACB8AF-C86B-4954-8C43-3897EDA4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5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325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仅回放 BOOKED · 加权平均成本 · 后端十进制计算</a:t>
            </a:r>
          </a:p>
        </p:txBody>
      </p:sp>
      <p:sp>
        <p:nvSpPr>
          <p:cNvPr id="28" name="s8-footer-note">
            <a:extLst xmlns:a="http://schemas.openxmlformats.org/drawingml/2006/main">
              <a:ext uri="{FF2B5EF4-FFF2-40B4-BE49-F238E27FC236}">
                <a16:creationId xmlns:a16="http://schemas.microsoft.com/office/drawing/2014/main" id="{0497B748-F7BB-4F44-A8DF-B751F271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示例来自自动化最终演示流程</a:t>
            </a:r>
          </a:p>
        </p:txBody>
      </p:sp>
      <p:sp>
        <p:nvSpPr>
          <p:cNvPr id="29" name="s8-footer-page">
            <a:extLst xmlns:a="http://schemas.openxmlformats.org/drawingml/2006/main">
              <a:ext uri="{FF2B5EF4-FFF2-40B4-BE49-F238E27FC236}">
                <a16:creationId xmlns:a16="http://schemas.microsoft.com/office/drawing/2014/main" id="{757B4E42-4A8A-4E55-9FC8-C35C0BEF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536475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title-en">
            <a:extLst xmlns:a="http://schemas.openxmlformats.org/drawingml/2006/main">
              <a:ext uri="{FF2B5EF4-FFF2-40B4-BE49-F238E27FC236}">
                <a16:creationId xmlns:a16="http://schemas.microsoft.com/office/drawing/2014/main" id="{7E8C0DF6-3050-4400-9F3E-CA35D70A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中断降低实时性，不降低可信度</a:t>
            </a:r>
          </a:p>
        </p:txBody>
      </p:sp>
      <p:sp>
        <p:nvSpPr>
          <p:cNvPr id="2" name="s9-title-zh">
            <a:extLst xmlns:a="http://schemas.openxmlformats.org/drawingml/2006/main">
              <a:ext uri="{FF2B5EF4-FFF2-40B4-BE49-F238E27FC236}">
                <a16:creationId xmlns:a16="http://schemas.microsoft.com/office/drawing/2014/main" id="{5A8CCDE4-CEE5-475F-89D3-B875D57B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9-title-rule">
            <a:extLst xmlns:a="http://schemas.openxmlformats.org/drawingml/2006/main">
              <a:ext uri="{FF2B5EF4-FFF2-40B4-BE49-F238E27FC236}">
                <a16:creationId xmlns:a16="http://schemas.microsoft.com/office/drawing/2014/main" id="{DA570A82-915E-45BE-8A49-E9B23E2B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9-trigger">
            <a:extLst xmlns:a="http://schemas.openxmlformats.org/drawingml/2006/main">
              <a:ext uri="{FF2B5EF4-FFF2-40B4-BE49-F238E27FC236}">
                <a16:creationId xmlns:a16="http://schemas.microsoft.com/office/drawing/2014/main" id="{6F8CE7B8-EC95-46D6-AAAB-D2A999F7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先查新鲜报价 · 再用保留报价</a:t>
            </a:r>
          </a:p>
        </p:txBody>
      </p:sp>
      <p:sp>
        <p:nvSpPr>
          <p:cNvPr id="5" name="s9-n1-box">
            <a:extLst xmlns:a="http://schemas.openxmlformats.org/drawingml/2006/main">
              <a:ext uri="{FF2B5EF4-FFF2-40B4-BE49-F238E27FC236}">
                <a16:creationId xmlns:a16="http://schemas.microsoft.com/office/drawing/2014/main" id="{4892D6C9-A32E-4CC8-ABE7-4549A384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s9-n1-en">
            <a:extLst xmlns:a="http://schemas.openxmlformats.org/drawingml/2006/main">
              <a:ext uri="{FF2B5EF4-FFF2-40B4-BE49-F238E27FC236}">
                <a16:creationId xmlns:a16="http://schemas.microsoft.com/office/drawing/2014/main" id="{00057872-CF3B-4A6C-BDD8-C4756EA1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刷新</a:t>
            </a:r>
          </a:p>
        </p:txBody>
      </p:sp>
      <p:sp>
        <p:nvSpPr>
          <p:cNvPr id="7" name="s9-n1-zh">
            <a:extLst xmlns:a="http://schemas.openxmlformats.org/drawingml/2006/main">
              <a:ext uri="{FF2B5EF4-FFF2-40B4-BE49-F238E27FC236}">
                <a16:creationId xmlns:a16="http://schemas.microsoft.com/office/drawing/2014/main" id="{F6FBA117-AEC1-4918-BF47-DCEED9AB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s9-n2-box">
            <a:extLst xmlns:a="http://schemas.openxmlformats.org/drawingml/2006/main">
              <a:ext uri="{FF2B5EF4-FFF2-40B4-BE49-F238E27FC236}">
                <a16:creationId xmlns:a16="http://schemas.microsoft.com/office/drawing/2014/main" id="{5E7B1FB6-4051-423F-A050-2E231FD3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</p:sp>
      <p:sp>
        <p:nvSpPr>
          <p:cNvPr id="9" name="s9-n2-en">
            <a:extLst xmlns:a="http://schemas.openxmlformats.org/drawingml/2006/main">
              <a:ext uri="{FF2B5EF4-FFF2-40B4-BE49-F238E27FC236}">
                <a16:creationId xmlns:a16="http://schemas.microsoft.com/office/drawing/2014/main" id="{A31407FB-D06D-4087-AA74-00614A4E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Finnhub</a:t>
            </a:r>
          </a:p>
        </p:txBody>
      </p:sp>
      <p:sp>
        <p:nvSpPr>
          <p:cNvPr id="10" name="s9-n2-zh">
            <a:extLst xmlns:a="http://schemas.openxmlformats.org/drawingml/2006/main">
              <a:ext uri="{FF2B5EF4-FFF2-40B4-BE49-F238E27FC236}">
                <a16:creationId xmlns:a16="http://schemas.microsoft.com/office/drawing/2014/main" id="{14505D57-F9BB-4E20-9213-84C09796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s9-n3-box">
            <a:extLst xmlns:a="http://schemas.openxmlformats.org/drawingml/2006/main">
              <a:ext uri="{FF2B5EF4-FFF2-40B4-BE49-F238E27FC236}">
                <a16:creationId xmlns:a16="http://schemas.microsoft.com/office/drawing/2014/main" id="{8FEE3FA8-7B91-4E72-8339-BEDC62BB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2" name="s9-n3-en">
            <a:extLst xmlns:a="http://schemas.openxmlformats.org/drawingml/2006/main">
              <a:ext uri="{FF2B5EF4-FFF2-40B4-BE49-F238E27FC236}">
                <a16:creationId xmlns:a16="http://schemas.microsoft.com/office/drawing/2014/main" id="{AEF7972C-0A33-42D7-8F39-1D6D3C10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Redis</a:t>
            </a:r>
          </a:p>
        </p:txBody>
      </p:sp>
      <p:sp>
        <p:nvSpPr>
          <p:cNvPr id="13" name="s9-n3-zh">
            <a:extLst xmlns:a="http://schemas.openxmlformats.org/drawingml/2006/main">
              <a:ext uri="{FF2B5EF4-FFF2-40B4-BE49-F238E27FC236}">
                <a16:creationId xmlns:a16="http://schemas.microsoft.com/office/drawing/2014/main" id="{321EE06B-73BC-4A36-91AE-36F7148D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s9-n4-box">
            <a:extLst xmlns:a="http://schemas.openxmlformats.org/drawingml/2006/main">
              <a:ext uri="{FF2B5EF4-FFF2-40B4-BE49-F238E27FC236}">
                <a16:creationId xmlns:a16="http://schemas.microsoft.com/office/drawing/2014/main" id="{C3F5B9C0-26B0-4F15-9F59-C95A1A4A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15" name="s9-n4-en">
            <a:extLst xmlns:a="http://schemas.openxmlformats.org/drawingml/2006/main">
              <a:ext uri="{FF2B5EF4-FFF2-40B4-BE49-F238E27FC236}">
                <a16:creationId xmlns:a16="http://schemas.microsoft.com/office/drawing/2014/main" id="{D63F5215-F0A3-493C-AB72-BEBAF55C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盈亏</a:t>
            </a:r>
          </a:p>
        </p:txBody>
      </p:sp>
      <p:sp>
        <p:nvSpPr>
          <p:cNvPr id="16" name="s9-n4-zh">
            <a:extLst xmlns:a="http://schemas.openxmlformats.org/drawingml/2006/main">
              <a:ext uri="{FF2B5EF4-FFF2-40B4-BE49-F238E27FC236}">
                <a16:creationId xmlns:a16="http://schemas.microsoft.com/office/drawing/2014/main" id="{9054EFC8-DE46-4916-87BA-FDA82A6E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BD5E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127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1940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28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54355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29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26770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s9-cache-shortcut">
            <a:extLst xmlns:a="http://schemas.openxmlformats.org/drawingml/2006/main">
              <a:ext uri="{FF2B5EF4-FFF2-40B4-BE49-F238E27FC236}">
                <a16:creationId xmlns:a16="http://schemas.microsoft.com/office/drawing/2014/main" id="{4330FC79-93FD-4F45-8DD8-A7B9B765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24225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新鲜缓存可跳过外部调用</a:t>
            </a:r>
          </a:p>
        </p:txBody>
      </p:sp>
      <p:sp>
        <p:nvSpPr>
          <p:cNvPr id="21" name="s9-card-0">
            <a:extLst xmlns:a="http://schemas.openxmlformats.org/drawingml/2006/main">
              <a:ext uri="{FF2B5EF4-FFF2-40B4-BE49-F238E27FC236}">
                <a16:creationId xmlns:a16="http://schemas.microsoft.com/office/drawing/2014/main" id="{5938CDF1-ACF8-4819-A622-A7496D4D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2" name="s9-card-0-title">
            <a:extLst xmlns:a="http://schemas.openxmlformats.org/drawingml/2006/main">
              <a:ext uri="{FF2B5EF4-FFF2-40B4-BE49-F238E27FC236}">
                <a16:creationId xmlns:a16="http://schemas.microsoft.com/office/drawing/2014/main" id="{79B0F409-1DA1-4DE4-85D1-6A2CFBC4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正常路径</a:t>
            </a:r>
          </a:p>
        </p:txBody>
      </p:sp>
      <p:sp>
        <p:nvSpPr>
          <p:cNvPr id="23" name="s9-card-0-zh">
            <a:extLst xmlns:a="http://schemas.openxmlformats.org/drawingml/2006/main">
              <a:ext uri="{FF2B5EF4-FFF2-40B4-BE49-F238E27FC236}">
                <a16:creationId xmlns:a16="http://schemas.microsoft.com/office/drawing/2014/main" id="{8B88F74E-B9E6-4A40-B30C-DFFDCF4A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s9-card-0-body">
            <a:extLst xmlns:a="http://schemas.openxmlformats.org/drawingml/2006/main">
              <a:ext uri="{FF2B5EF4-FFF2-40B4-BE49-F238E27FC236}">
                <a16:creationId xmlns:a16="http://schemas.microsoft.com/office/drawing/2014/main" id="{8707F811-8853-40E9-A3A4-9787E3F7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报价 &lt;60 秒：立即返回。</a:t>
            </a:r>
          </a:p>
        </p:txBody>
      </p:sp>
      <p:sp>
        <p:nvSpPr>
          <p:cNvPr id="25" name="s9-card-1">
            <a:extLst xmlns:a="http://schemas.openxmlformats.org/drawingml/2006/main">
              <a:ext uri="{FF2B5EF4-FFF2-40B4-BE49-F238E27FC236}">
                <a16:creationId xmlns:a16="http://schemas.microsoft.com/office/drawing/2014/main" id="{7D25A475-FC3B-4FDB-BAA8-DF7185EA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6" name="s9-card-1-title">
            <a:extLst xmlns:a="http://schemas.openxmlformats.org/drawingml/2006/main">
              <a:ext uri="{FF2B5EF4-FFF2-40B4-BE49-F238E27FC236}">
                <a16:creationId xmlns:a16="http://schemas.microsoft.com/office/drawing/2014/main" id="{4A55A980-1333-4439-9D1E-242CA2D1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中断路径</a:t>
            </a:r>
          </a:p>
        </p:txBody>
      </p:sp>
      <p:sp>
        <p:nvSpPr>
          <p:cNvPr id="27" name="s9-card-1-zh">
            <a:extLst xmlns:a="http://schemas.openxmlformats.org/drawingml/2006/main">
              <a:ext uri="{FF2B5EF4-FFF2-40B4-BE49-F238E27FC236}">
                <a16:creationId xmlns:a16="http://schemas.microsoft.com/office/drawing/2014/main" id="{1D49B535-590C-4676-B68D-D81D0AB6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s9-card-1-body">
            <a:extLst xmlns:a="http://schemas.openxmlformats.org/drawingml/2006/main">
              <a:ext uri="{FF2B5EF4-FFF2-40B4-BE49-F238E27FC236}">
                <a16:creationId xmlns:a16="http://schemas.microsoft.com/office/drawing/2014/main" id="{CA83E65A-F65F-4769-9D0F-03F8DA69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提供方失败：CACHED + STALE。</a:t>
            </a:r>
          </a:p>
        </p:txBody>
      </p:sp>
      <p:sp>
        <p:nvSpPr>
          <p:cNvPr id="29" name="s9-card-2">
            <a:extLst xmlns:a="http://schemas.openxmlformats.org/drawingml/2006/main">
              <a:ext uri="{FF2B5EF4-FFF2-40B4-BE49-F238E27FC236}">
                <a16:creationId xmlns:a16="http://schemas.microsoft.com/office/drawing/2014/main" id="{A2982143-1F98-45C0-83DD-441FAB4B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30" name="s9-card-2-title">
            <a:extLst xmlns:a="http://schemas.openxmlformats.org/drawingml/2006/main">
              <a:ext uri="{FF2B5EF4-FFF2-40B4-BE49-F238E27FC236}">
                <a16:creationId xmlns:a16="http://schemas.microsoft.com/office/drawing/2014/main" id="{936B5AF3-AC7D-47DE-9738-EC198B58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如实展示</a:t>
            </a:r>
          </a:p>
        </p:txBody>
      </p:sp>
      <p:sp>
        <p:nvSpPr>
          <p:cNvPr id="31" name="s9-card-2-zh">
            <a:extLst xmlns:a="http://schemas.openxmlformats.org/drawingml/2006/main">
              <a:ext uri="{FF2B5EF4-FFF2-40B4-BE49-F238E27FC236}">
                <a16:creationId xmlns:a16="http://schemas.microsoft.com/office/drawing/2014/main" id="{35DA3190-0465-4D83-A3C6-3BF0CE2B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2" name="s9-card-2-body">
            <a:extLst xmlns:a="http://schemas.openxmlformats.org/drawingml/2006/main">
              <a:ext uri="{FF2B5EF4-FFF2-40B4-BE49-F238E27FC236}">
                <a16:creationId xmlns:a16="http://schemas.microsoft.com/office/drawing/2014/main" id="{67A7F6AF-7340-4ADD-A14C-47C1FB11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无缓存：价格保持为空。</a:t>
            </a:r>
          </a:p>
        </p:txBody>
      </p:sp>
      <p:sp>
        <p:nvSpPr>
          <p:cNvPr id="33" name="s9-footer-note">
            <a:extLst xmlns:a="http://schemas.openxmlformats.org/drawingml/2006/main">
              <a:ext uri="{FF2B5EF4-FFF2-40B4-BE49-F238E27FC236}">
                <a16:creationId xmlns:a16="http://schemas.microsoft.com/office/drawing/2014/main" id="{7F644C6B-B656-4243-A606-572E6FFE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Finnhub 失败时不会自动切换到 Mock</a:t>
            </a:r>
          </a:p>
        </p:txBody>
      </p:sp>
      <p:sp>
        <p:nvSpPr>
          <p:cNvPr id="34" name="s9-footer-page">
            <a:extLst xmlns:a="http://schemas.openxmlformats.org/drawingml/2006/main">
              <a:ext uri="{FF2B5EF4-FFF2-40B4-BE49-F238E27FC236}">
                <a16:creationId xmlns:a16="http://schemas.microsoft.com/office/drawing/2014/main" id="{721A7811-128E-473F-B044-21A1E6B2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16973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title-en">
            <a:extLst xmlns:a="http://schemas.openxmlformats.org/drawingml/2006/main">
              <a:ext uri="{FF2B5EF4-FFF2-40B4-BE49-F238E27FC236}">
                <a16:creationId xmlns:a16="http://schemas.microsoft.com/office/drawing/2014/main" id="{7E8C0DF6-3050-4400-9F3E-CA35D70A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现场演示：请关注状态变化</a:t>
            </a:r>
          </a:p>
        </p:txBody>
      </p:sp>
      <p:sp>
        <p:nvSpPr>
          <p:cNvPr id="2" name="s9-title-zh">
            <a:extLst xmlns:a="http://schemas.openxmlformats.org/drawingml/2006/main">
              <a:ext uri="{FF2B5EF4-FFF2-40B4-BE49-F238E27FC236}">
                <a16:creationId xmlns:a16="http://schemas.microsoft.com/office/drawing/2014/main" id="{5A8CCDE4-CEE5-475F-89D3-B875D57B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9-title-rule">
            <a:extLst xmlns:a="http://schemas.openxmlformats.org/drawingml/2006/main">
              <a:ext uri="{FF2B5EF4-FFF2-40B4-BE49-F238E27FC236}">
                <a16:creationId xmlns:a16="http://schemas.microsoft.com/office/drawing/2014/main" id="{DA570A82-915E-45BE-8A49-E9B23E2B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9-trigger">
            <a:extLst xmlns:a="http://schemas.openxmlformats.org/drawingml/2006/main">
              <a:ext uri="{FF2B5EF4-FFF2-40B4-BE49-F238E27FC236}">
                <a16:creationId xmlns:a16="http://schemas.microsoft.com/office/drawing/2014/main" id="{6F8CE7B8-EC95-46D6-AAAB-D2A999F7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正常入账 → 中断 → 降级 → 恢复</a:t>
            </a:r>
          </a:p>
        </p:txBody>
      </p:sp>
      <p:sp>
        <p:nvSpPr>
          <p:cNvPr id="5" name="s9-n1-box">
            <a:extLst xmlns:a="http://schemas.openxmlformats.org/drawingml/2006/main">
              <a:ext uri="{FF2B5EF4-FFF2-40B4-BE49-F238E27FC236}">
                <a16:creationId xmlns:a16="http://schemas.microsoft.com/office/drawing/2014/main" id="{4892D6C9-A32E-4CC8-ABE7-4549A384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s9-n1-en">
            <a:extLst xmlns:a="http://schemas.openxmlformats.org/drawingml/2006/main">
              <a:ext uri="{FF2B5EF4-FFF2-40B4-BE49-F238E27FC236}">
                <a16:creationId xmlns:a16="http://schemas.microsoft.com/office/drawing/2014/main" id="{00057872-CF3B-4A6C-BDD8-C4756EA1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入账</a:t>
            </a:r>
          </a:p>
        </p:txBody>
      </p:sp>
      <p:sp>
        <p:nvSpPr>
          <p:cNvPr id="7" name="s9-n1-zh">
            <a:extLst xmlns:a="http://schemas.openxmlformats.org/drawingml/2006/main">
              <a:ext uri="{FF2B5EF4-FFF2-40B4-BE49-F238E27FC236}">
                <a16:creationId xmlns:a16="http://schemas.microsoft.com/office/drawing/2014/main" id="{F6FBA117-AEC1-4918-BF47-DCEED9AB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s9-n2-box">
            <a:extLst xmlns:a="http://schemas.openxmlformats.org/drawingml/2006/main">
              <a:ext uri="{FF2B5EF4-FFF2-40B4-BE49-F238E27FC236}">
                <a16:creationId xmlns:a16="http://schemas.microsoft.com/office/drawing/2014/main" id="{5E7B1FB6-4051-423F-A050-2E231FD3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</p:sp>
      <p:sp>
        <p:nvSpPr>
          <p:cNvPr id="9" name="s9-n2-en">
            <a:extLst xmlns:a="http://schemas.openxmlformats.org/drawingml/2006/main">
              <a:ext uri="{FF2B5EF4-FFF2-40B4-BE49-F238E27FC236}">
                <a16:creationId xmlns:a16="http://schemas.microsoft.com/office/drawing/2014/main" id="{A31407FB-D06D-4087-AA74-00614A4E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LIVE 报价</a:t>
            </a:r>
          </a:p>
        </p:txBody>
      </p:sp>
      <p:sp>
        <p:nvSpPr>
          <p:cNvPr id="10" name="s9-n2-zh">
            <a:extLst xmlns:a="http://schemas.openxmlformats.org/drawingml/2006/main">
              <a:ext uri="{FF2B5EF4-FFF2-40B4-BE49-F238E27FC236}">
                <a16:creationId xmlns:a16="http://schemas.microsoft.com/office/drawing/2014/main" id="{14505D57-F9BB-4E20-9213-84C09796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s9-n3-box">
            <a:extLst xmlns:a="http://schemas.openxmlformats.org/drawingml/2006/main">
              <a:ext uri="{FF2B5EF4-FFF2-40B4-BE49-F238E27FC236}">
                <a16:creationId xmlns:a16="http://schemas.microsoft.com/office/drawing/2014/main" id="{8FEE3FA8-7B91-4E72-8339-BEDC62BB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2" name="s9-n3-en">
            <a:extLst xmlns:a="http://schemas.openxmlformats.org/drawingml/2006/main">
              <a:ext uri="{FF2B5EF4-FFF2-40B4-BE49-F238E27FC236}">
                <a16:creationId xmlns:a16="http://schemas.microsoft.com/office/drawing/2014/main" id="{AEF7972C-0A33-42D7-8F39-1D6D3C10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模拟中断</a:t>
            </a:r>
          </a:p>
        </p:txBody>
      </p:sp>
      <p:sp>
        <p:nvSpPr>
          <p:cNvPr id="13" name="s9-n3-zh">
            <a:extLst xmlns:a="http://schemas.openxmlformats.org/drawingml/2006/main">
              <a:ext uri="{FF2B5EF4-FFF2-40B4-BE49-F238E27FC236}">
                <a16:creationId xmlns:a16="http://schemas.microsoft.com/office/drawing/2014/main" id="{321EE06B-73BC-4A36-91AE-36F7148D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s9-n4-box">
            <a:extLst xmlns:a="http://schemas.openxmlformats.org/drawingml/2006/main">
              <a:ext uri="{FF2B5EF4-FFF2-40B4-BE49-F238E27FC236}">
                <a16:creationId xmlns:a16="http://schemas.microsoft.com/office/drawing/2014/main" id="{C3F5B9C0-26B0-4F15-9F59-C95A1A4A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15" name="s9-n4-en">
            <a:extLst xmlns:a="http://schemas.openxmlformats.org/drawingml/2006/main">
              <a:ext uri="{FF2B5EF4-FFF2-40B4-BE49-F238E27FC236}">
                <a16:creationId xmlns:a16="http://schemas.microsoft.com/office/drawing/2014/main" id="{D63F5215-F0A3-493C-AB72-BEBAF55C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STALE + CACHED</a:t>
            </a:r>
          </a:p>
        </p:txBody>
      </p:sp>
      <p:sp>
        <p:nvSpPr>
          <p:cNvPr id="16" name="s9-n4-zh">
            <a:extLst xmlns:a="http://schemas.openxmlformats.org/drawingml/2006/main">
              <a:ext uri="{FF2B5EF4-FFF2-40B4-BE49-F238E27FC236}">
                <a16:creationId xmlns:a16="http://schemas.microsoft.com/office/drawing/2014/main" id="{9054EFC8-DE46-4916-87BA-FDA82A6E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BD5E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127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1940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28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54355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29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26770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s9-cache-shortcut">
            <a:extLst xmlns:a="http://schemas.openxmlformats.org/drawingml/2006/main">
              <a:ext uri="{FF2B5EF4-FFF2-40B4-BE49-F238E27FC236}">
                <a16:creationId xmlns:a16="http://schemas.microsoft.com/office/drawing/2014/main" id="{4330FC79-93FD-4F45-8DD8-A7B9B765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24225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价格可保留，但可信度标签必须变化</a:t>
            </a:r>
          </a:p>
        </p:txBody>
      </p:sp>
      <p:sp>
        <p:nvSpPr>
          <p:cNvPr id="21" name="s9-card-0">
            <a:extLst xmlns:a="http://schemas.openxmlformats.org/drawingml/2006/main">
              <a:ext uri="{FF2B5EF4-FFF2-40B4-BE49-F238E27FC236}">
                <a16:creationId xmlns:a16="http://schemas.microsoft.com/office/drawing/2014/main" id="{5938CDF1-ACF8-4819-A622-A7496D4D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2" name="s9-card-0-title">
            <a:extLst xmlns:a="http://schemas.openxmlformats.org/drawingml/2006/main">
              <a:ext uri="{FF2B5EF4-FFF2-40B4-BE49-F238E27FC236}">
                <a16:creationId xmlns:a16="http://schemas.microsoft.com/office/drawing/2014/main" id="{79B0F409-1DA1-4DE4-85D1-6A2CFBC4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1 · 买 10，卖 4</a:t>
            </a:r>
          </a:p>
        </p:txBody>
      </p:sp>
      <p:sp>
        <p:nvSpPr>
          <p:cNvPr id="23" name="s9-card-0-zh">
            <a:extLst xmlns:a="http://schemas.openxmlformats.org/drawingml/2006/main">
              <a:ext uri="{FF2B5EF4-FFF2-40B4-BE49-F238E27FC236}">
                <a16:creationId xmlns:a16="http://schemas.microsoft.com/office/drawing/2014/main" id="{8B88F74E-B9E6-4A40-B30C-DFFDCF4A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s9-card-0-body">
            <a:extLst xmlns:a="http://schemas.openxmlformats.org/drawingml/2006/main">
              <a:ext uri="{FF2B5EF4-FFF2-40B4-BE49-F238E27FC236}">
                <a16:creationId xmlns:a16="http://schemas.microsoft.com/office/drawing/2014/main" id="{8707F811-8853-40E9-A3A4-9787E3F7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持仓变为 6。</a:t>
            </a:r>
          </a:p>
        </p:txBody>
      </p:sp>
      <p:sp>
        <p:nvSpPr>
          <p:cNvPr id="25" name="s9-card-1">
            <a:extLst xmlns:a="http://schemas.openxmlformats.org/drawingml/2006/main">
              <a:ext uri="{FF2B5EF4-FFF2-40B4-BE49-F238E27FC236}">
                <a16:creationId xmlns:a16="http://schemas.microsoft.com/office/drawing/2014/main" id="{7D25A475-FC3B-4FDB-BAA8-DF7185EA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6" name="s9-card-1-title">
            <a:extLst xmlns:a="http://schemas.openxmlformats.org/drawingml/2006/main">
              <a:ext uri="{FF2B5EF4-FFF2-40B4-BE49-F238E27FC236}">
                <a16:creationId xmlns:a16="http://schemas.microsoft.com/office/drawing/2014/main" id="{4A55A980-1333-4439-9D1E-242CA2D1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2 · 获取报价</a:t>
            </a:r>
          </a:p>
        </p:txBody>
      </p:sp>
      <p:sp>
        <p:nvSpPr>
          <p:cNvPr id="27" name="s9-card-1-zh">
            <a:extLst xmlns:a="http://schemas.openxmlformats.org/drawingml/2006/main">
              <a:ext uri="{FF2B5EF4-FFF2-40B4-BE49-F238E27FC236}">
                <a16:creationId xmlns:a16="http://schemas.microsoft.com/office/drawing/2014/main" id="{1D49B535-590C-4676-B68D-D81D0AB6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s9-card-1-body">
            <a:extLst xmlns:a="http://schemas.openxmlformats.org/drawingml/2006/main">
              <a:ext uri="{FF2B5EF4-FFF2-40B4-BE49-F238E27FC236}">
                <a16:creationId xmlns:a16="http://schemas.microsoft.com/office/drawing/2014/main" id="{CA83E65A-F65F-4769-9D0F-03F8DA69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盈亏即时更新。</a:t>
            </a:r>
          </a:p>
        </p:txBody>
      </p:sp>
      <p:sp>
        <p:nvSpPr>
          <p:cNvPr id="29" name="s9-card-2">
            <a:extLst xmlns:a="http://schemas.openxmlformats.org/drawingml/2006/main">
              <a:ext uri="{FF2B5EF4-FFF2-40B4-BE49-F238E27FC236}">
                <a16:creationId xmlns:a16="http://schemas.microsoft.com/office/drawing/2014/main" id="{A2982143-1F98-45C0-83DD-441FAB4B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30" name="s9-card-2-title">
            <a:extLst xmlns:a="http://schemas.openxmlformats.org/drawingml/2006/main">
              <a:ext uri="{FF2B5EF4-FFF2-40B4-BE49-F238E27FC236}">
                <a16:creationId xmlns:a16="http://schemas.microsoft.com/office/drawing/2014/main" id="{936B5AF3-AC7D-47DE-9738-EC198B58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3 · 切断服务</a:t>
            </a:r>
          </a:p>
        </p:txBody>
      </p:sp>
      <p:sp>
        <p:nvSpPr>
          <p:cNvPr id="31" name="s9-card-2-zh">
            <a:extLst xmlns:a="http://schemas.openxmlformats.org/drawingml/2006/main">
              <a:ext uri="{FF2B5EF4-FFF2-40B4-BE49-F238E27FC236}">
                <a16:creationId xmlns:a16="http://schemas.microsoft.com/office/drawing/2014/main" id="{35DA3190-0465-4D83-A3C6-3BF0CE2B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2" name="s9-card-2-body">
            <a:extLst xmlns:a="http://schemas.openxmlformats.org/drawingml/2006/main">
              <a:ext uri="{FF2B5EF4-FFF2-40B4-BE49-F238E27FC236}">
                <a16:creationId xmlns:a16="http://schemas.microsoft.com/office/drawing/2014/main" id="{67A7F6AF-7340-4ADD-A14C-47C1FB11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盈亏可用，并显示警告。</a:t>
            </a:r>
          </a:p>
        </p:txBody>
      </p:sp>
      <p:sp>
        <p:nvSpPr>
          <p:cNvPr id="33" name="s9-footer-note">
            <a:extLst xmlns:a="http://schemas.openxmlformats.org/drawingml/2006/main">
              <a:ext uri="{FF2B5EF4-FFF2-40B4-BE49-F238E27FC236}">
                <a16:creationId xmlns:a16="http://schemas.microsoft.com/office/drawing/2014/main" id="{7F644C6B-B656-4243-A606-572E6FFE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localhost:3100 · 独立 Compose 项目：equity-demo</a:t>
            </a:r>
          </a:p>
        </p:txBody>
      </p:sp>
      <p:sp>
        <p:nvSpPr>
          <p:cNvPr id="34" name="s9-footer-page">
            <a:extLst xmlns:a="http://schemas.openxmlformats.org/drawingml/2006/main">
              <a:ext uri="{FF2B5EF4-FFF2-40B4-BE49-F238E27FC236}">
                <a16:creationId xmlns:a16="http://schemas.microsoft.com/office/drawing/2014/main" id="{721A7811-128E-473F-B044-21A1E6B2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416973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-left-accent">
            <a:extLst xmlns:a="http://schemas.openxmlformats.org/drawingml/2006/main">
              <a:ext uri="{FF2B5EF4-FFF2-40B4-BE49-F238E27FC236}">
                <a16:creationId xmlns:a16="http://schemas.microsoft.com/office/drawing/2014/main" id="{46B482F5-5E8B-44DF-8EC7-C0210B6E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s1-kicker">
            <a:extLst xmlns:a="http://schemas.openxmlformats.org/drawingml/2006/main">
              <a:ext uri="{FF2B5EF4-FFF2-40B4-BE49-F238E27FC236}">
                <a16:creationId xmlns:a16="http://schemas.microsoft.com/office/drawing/2014/main" id="{E4BFA3FC-5856-4494-85D4-42CB2620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核心结论与问答</a:t>
            </a:r>
          </a:p>
        </p:txBody>
      </p:sp>
      <p:sp>
        <p:nvSpPr>
          <p:cNvPr id="3" name="s1-title">
            <a:extLst xmlns:a="http://schemas.openxmlformats.org/drawingml/2006/main">
              <a:ext uri="{FF2B5EF4-FFF2-40B4-BE49-F238E27FC236}">
                <a16:creationId xmlns:a16="http://schemas.microsoft.com/office/drawing/2014/main" id="{C6635B09-06FE-497A-81DE-39906FC3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0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60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账簿始终可信</a:t>
            </a:r>
          </a:p>
        </p:txBody>
      </p:sp>
      <p:sp>
        <p:nvSpPr>
          <p:cNvPr id="4" name="s1-subtitle-en">
            <a:extLst xmlns:a="http://schemas.openxmlformats.org/drawingml/2006/main">
              <a:ext uri="{FF2B5EF4-FFF2-40B4-BE49-F238E27FC236}">
                <a16:creationId xmlns:a16="http://schemas.microsoft.com/office/drawing/2014/main" id="{EDF9140E-E1DF-4A2C-9D1E-32FE70D2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75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2075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TradeFlow 在入账前校验、从可审计账簿重算，并如实标注降级行情。</a:t>
            </a:r>
          </a:p>
        </p:txBody>
      </p:sp>
      <p:sp>
        <p:nvSpPr>
          <p:cNvPr id="5" name="s1-subtitle-zh">
            <a:extLst xmlns:a="http://schemas.openxmlformats.org/drawingml/2006/main">
              <a:ext uri="{FF2B5EF4-FFF2-40B4-BE49-F238E27FC236}">
                <a16:creationId xmlns:a16="http://schemas.microsoft.com/office/drawing/2014/main" id="{DFE87931-AC7E-4009-BCED-CAFC3712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1-purpose">
            <a:extLst xmlns:a="http://schemas.openxmlformats.org/drawingml/2006/main">
              <a:ext uri="{FF2B5EF4-FFF2-40B4-BE49-F238E27FC236}">
                <a16:creationId xmlns:a16="http://schemas.microsoft.com/office/drawing/2014/main" id="{39071DA9-97FE-4F48-AEDB-015EA9BB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准确  →  可审计  →  有韧性</a:t>
            </a:r>
          </a:p>
        </p:txBody>
      </p:sp>
      <p:sp>
        <p:nvSpPr>
          <p:cNvPr id="7" name="s1-circle-validate">
            <a:extLst xmlns:a="http://schemas.openxmlformats.org/drawingml/2006/main">
              <a:ext uri="{FF2B5EF4-FFF2-40B4-BE49-F238E27FC236}">
                <a16:creationId xmlns:a16="http://schemas.microsoft.com/office/drawing/2014/main" id="{7E872ABB-C27F-4EE7-83B5-4F310B3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s1-circle-book">
            <a:extLst xmlns:a="http://schemas.openxmlformats.org/drawingml/2006/main">
              <a:ext uri="{FF2B5EF4-FFF2-40B4-BE49-F238E27FC236}">
                <a16:creationId xmlns:a16="http://schemas.microsoft.com/office/drawing/2014/main" id="{326B4211-4896-44E8-8714-CCBDCC2D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623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s1-circle-value">
            <a:extLst xmlns:a="http://schemas.openxmlformats.org/drawingml/2006/main">
              <a:ext uri="{FF2B5EF4-FFF2-40B4-BE49-F238E27FC236}">
                <a16:creationId xmlns:a16="http://schemas.microsoft.com/office/drawing/2014/main" id="{8DD85B42-9FB8-4F83-A828-033B5BB2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cxnSp>
        <p:nvCxnSpPr>
          <p:cNvPr id="7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9353550" y="2390775"/>
            <a:ext cx="1905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8" idx="2"/>
            <a:endCxn xmlns:a="http://schemas.openxmlformats.org/drawingml/2006/main" id="9" idx="6"/>
          </p:cNvCxnSpPr>
          <p:nvPr/>
        </p:nvCxnSpPr>
        <p:spPr>
          <a:xfrm xmlns:a="http://schemas.openxmlformats.org/drawingml/2006/main" flipH="1">
            <a:off x="9353550" y="3743325"/>
            <a:ext cx="1905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  <a:tailEnd type="triangle" w="med" len="med"/>
          </a:ln>
        </p:spPr>
      </p:cxnSp>
      <p:sp>
        <p:nvSpPr>
          <p:cNvPr id="12" name="s1-circle-validate-text">
            <a:extLst xmlns:a="http://schemas.openxmlformats.org/drawingml/2006/main">
              <a:ext uri="{FF2B5EF4-FFF2-40B4-BE49-F238E27FC236}">
                <a16:creationId xmlns:a16="http://schemas.microsoft.com/office/drawing/2014/main" id="{115D2BFF-717C-488F-89A5-8B966628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2407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校验</a:t>
            </a:r>
          </a:p>
        </p:txBody>
      </p:sp>
      <p:sp>
        <p:nvSpPr>
          <p:cNvPr id="13" name="s1-circle-book-text">
            <a:extLst xmlns:a="http://schemas.openxmlformats.org/drawingml/2006/main">
              <a:ext uri="{FF2B5EF4-FFF2-40B4-BE49-F238E27FC236}">
                <a16:creationId xmlns:a16="http://schemas.microsoft.com/office/drawing/2014/main" id="{9C89AE84-A77B-47C8-BBC4-8CB2F8B2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7662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回放</a:t>
            </a:r>
          </a:p>
        </p:txBody>
      </p:sp>
      <p:sp>
        <p:nvSpPr>
          <p:cNvPr id="14" name="s1-circle-value-text">
            <a:extLst xmlns:a="http://schemas.openxmlformats.org/drawingml/2006/main">
              <a:ext uri="{FF2B5EF4-FFF2-40B4-BE49-F238E27FC236}">
                <a16:creationId xmlns:a16="http://schemas.microsoft.com/office/drawing/2014/main" id="{3BEC6C82-1002-4AC4-B18D-F071C1D4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2917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降级</a:t>
            </a:r>
          </a:p>
        </p:txBody>
      </p:sp>
      <p:sp>
        <p:nvSpPr>
          <p:cNvPr id="15" name="s1-verified">
            <a:extLst xmlns:a="http://schemas.openxmlformats.org/drawingml/2006/main">
              <a:ext uri="{FF2B5EF4-FFF2-40B4-BE49-F238E27FC236}">
                <a16:creationId xmlns:a16="http://schemas.microsoft.com/office/drawing/2014/main" id="{DA2C1152-3E57-4475-BBFF-E4C6993E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239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欢迎提问</a:t>
            </a:r>
          </a:p>
        </p:txBody>
      </p:sp>
      <p:sp>
        <p:nvSpPr>
          <p:cNvPr id="16" name="s1-footer-note">
            <a:extLst xmlns:a="http://schemas.openxmlformats.org/drawingml/2006/main">
              <a:ext uri="{FF2B5EF4-FFF2-40B4-BE49-F238E27FC236}">
                <a16:creationId xmlns:a16="http://schemas.microsoft.com/office/drawing/2014/main" id="{1B910B0C-1844-415C-AD13-90E63D0D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TradeFlow · 第 5 组 · 谢谢</a:t>
            </a:r>
          </a:p>
        </p:txBody>
      </p:sp>
      <p:sp>
        <p:nvSpPr>
          <p:cNvPr id="17" name="s1-footer-page">
            <a:extLst xmlns:a="http://schemas.openxmlformats.org/drawingml/2006/main">
              <a:ext uri="{FF2B5EF4-FFF2-40B4-BE49-F238E27FC236}">
                <a16:creationId xmlns:a16="http://schemas.microsoft.com/office/drawing/2014/main" id="{B1E06B8E-3018-4274-8AD3-1FC48F49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84733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2026-07-29T10:58:18.9330000Z</dcterms:created>
  <dcterms:modified xsi:type="dcterms:W3CDTF">2026-07-29T10:58:18.9330000Z</dcterms:modified>
</coreProperties>
</file>