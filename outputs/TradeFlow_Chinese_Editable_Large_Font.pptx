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51429ecf1a4cce" /><Relationship Type="http://schemas.openxmlformats.org/officeDocument/2006/relationships/extended-properties" Target="/docProps/app.xml" Id="Re7081953504847e2" /><Relationship Type="http://schemas.openxmlformats.org/officeDocument/2006/relationships/officeDocument" Target="/ppt/presentation.xml" Id="Rf068800564e2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13d6dd10634b57"/>
  </p:sldMasterIdLst>
  <p:notesMasterIdLst>
    <p:notesMasterId xmlns:r="http://schemas.openxmlformats.org/officeDocument/2006/relationships" r:id="R19d6c9cb011b4fab"/>
  </p:notesMasterIdLst>
  <p:sldIdLst>
    <p:sldId xmlns:r="http://schemas.openxmlformats.org/officeDocument/2006/relationships" id="256" r:id="R565f0bd624ef40e8"/>
    <p:sldId xmlns:r="http://schemas.openxmlformats.org/officeDocument/2006/relationships" id="257" r:id="R28932298482d450d"/>
    <p:sldId xmlns:r="http://schemas.openxmlformats.org/officeDocument/2006/relationships" id="258" r:id="R395a18e701344be9"/>
    <p:sldId xmlns:r="http://schemas.openxmlformats.org/officeDocument/2006/relationships" id="259" r:id="R2c1f08118fb248c3"/>
    <p:sldId xmlns:r="http://schemas.openxmlformats.org/officeDocument/2006/relationships" id="260" r:id="R69636fe871424201"/>
    <p:sldId xmlns:r="http://schemas.openxmlformats.org/officeDocument/2006/relationships" id="261" r:id="Rf8f43b9f4cda4a5e"/>
    <p:sldId xmlns:r="http://schemas.openxmlformats.org/officeDocument/2006/relationships" id="262" r:id="R56415fca2f7c4864"/>
    <p:sldId xmlns:r="http://schemas.openxmlformats.org/officeDocument/2006/relationships" id="263" r:id="Rffb73b1e11b34b50"/>
    <p:sldId xmlns:r="http://schemas.openxmlformats.org/officeDocument/2006/relationships" id="264" r:id="R1e2a5412157d4c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528c5fa9a2489b" /><Relationship Type="http://schemas.openxmlformats.org/officeDocument/2006/relationships/slideMaster" Target="/ppt/slideMasters/slideMaster1.xml" Id="Ra713d6dd10634b57" /><Relationship Type="http://schemas.openxmlformats.org/officeDocument/2006/relationships/notesMaster" Target="/ppt/notesMasters/notesMaster1.xml" Id="R19d6c9cb011b4fab" /><Relationship Type="http://schemas.openxmlformats.org/officeDocument/2006/relationships/presProps" Target="/ppt/presProps.xml" Id="R757541b2554542e9" /><Relationship Type="http://schemas.openxmlformats.org/officeDocument/2006/relationships/tableStyles" Target="/ppt/tableStyles.xml" Id="R549db3d264f24ae0" /><Relationship Type="http://schemas.openxmlformats.org/officeDocument/2006/relationships/slide" Target="/ppt/slides/slide1.xml" Id="R565f0bd624ef40e8" /><Relationship Type="http://schemas.openxmlformats.org/officeDocument/2006/relationships/slide" Target="/ppt/slides/slide2.xml" Id="R28932298482d450d" /><Relationship Type="http://schemas.openxmlformats.org/officeDocument/2006/relationships/slide" Target="/ppt/slides/slide3.xml" Id="R395a18e701344be9" /><Relationship Type="http://schemas.openxmlformats.org/officeDocument/2006/relationships/slide" Target="/ppt/slides/slide4.xml" Id="R2c1f08118fb248c3" /><Relationship Type="http://schemas.openxmlformats.org/officeDocument/2006/relationships/slide" Target="/ppt/slides/slide5.xml" Id="R69636fe871424201" /><Relationship Type="http://schemas.openxmlformats.org/officeDocument/2006/relationships/slide" Target="/ppt/slides/slide6.xml" Id="Rf8f43b9f4cda4a5e" /><Relationship Type="http://schemas.openxmlformats.org/officeDocument/2006/relationships/slide" Target="/ppt/slides/slide7.xml" Id="R56415fca2f7c4864" /><Relationship Type="http://schemas.openxmlformats.org/officeDocument/2006/relationships/slide" Target="/ppt/slides/slide8.xml" Id="Rffb73b1e11b34b50" /><Relationship Type="http://schemas.openxmlformats.org/officeDocument/2006/relationships/slide" Target="/ppt/slides/slide9.xml" Id="R1e2a5412157d4c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bc879d5ac5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fb5e00f4ce40d0" /><Relationship Type="http://schemas.openxmlformats.org/officeDocument/2006/relationships/notesMaster" Target="/ppt/notesMasters/notesMaster1.xml" Id="R831a2c4658a948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47c5a7416d474d" /><Relationship Type="http://schemas.openxmlformats.org/officeDocument/2006/relationships/notesMaster" Target="/ppt/notesMasters/notesMaster1.xml" Id="Rd26a9e70dff44f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f5bdb7add48d1" /><Relationship Type="http://schemas.openxmlformats.org/officeDocument/2006/relationships/notesMaster" Target="/ppt/notesMasters/notesMaster1.xml" Id="R7dfc071d8ecc45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a2ba10c03470a" /><Relationship Type="http://schemas.openxmlformats.org/officeDocument/2006/relationships/notesMaster" Target="/ppt/notesMasters/notesMaster1.xml" Id="R62d05f1df38b4c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77606fbb414323" /><Relationship Type="http://schemas.openxmlformats.org/officeDocument/2006/relationships/notesMaster" Target="/ppt/notesMasters/notesMaster1.xml" Id="R5a1df36f6671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95046a0a6c4643" /><Relationship Type="http://schemas.openxmlformats.org/officeDocument/2006/relationships/notesMaster" Target="/ppt/notesMasters/notesMaster1.xml" Id="Rdca3bd6386ee41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e3e051ed94880" /><Relationship Type="http://schemas.openxmlformats.org/officeDocument/2006/relationships/notesMaster" Target="/ppt/notesMasters/notesMaster1.xml" Id="R9b3c60dddddf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05997ee5cf4136" /><Relationship Type="http://schemas.openxmlformats.org/officeDocument/2006/relationships/notesMaster" Target="/ppt/notesMasters/notesMaster1.xml" Id="R5bd4d47a9f4d4d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d876b44eb7486b" /><Relationship Type="http://schemas.openxmlformats.org/officeDocument/2006/relationships/notesMaster" Target="/ppt/notesMasters/notesMaster1.xml" Id="R1728f827327341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91d3b20de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9504a44da43b8" /><Relationship Type="http://schemas.openxmlformats.org/officeDocument/2006/relationships/slideLayout" Target="/ppt/slideLayouts/slideLayout1.xml" Id="Ra0f53b0bbac5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f53b0bbac5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698302e914107" /><Relationship Type="http://schemas.openxmlformats.org/officeDocument/2006/relationships/notesSlide" Target="/ppt/notesSlides/notesSlide1.xml" Id="Rfde0ad11a5ea4d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bc8ea2533434e" /><Relationship Type="http://schemas.openxmlformats.org/officeDocument/2006/relationships/notesSlide" Target="/ppt/notesSlides/notesSlide2.xml" Id="Rc4e07f347c9f4d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b7ead8c164f11" /><Relationship Type="http://schemas.openxmlformats.org/officeDocument/2006/relationships/notesSlide" Target="/ppt/notesSlides/notesSlide3.xml" Id="R317a452bb61e4e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bffa5449a4c23" /><Relationship Type="http://schemas.openxmlformats.org/officeDocument/2006/relationships/notesSlide" Target="/ppt/notesSlides/notesSlide4.xml" Id="Rcab82c67a76241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e853bfb3c4023" /><Relationship Type="http://schemas.openxmlformats.org/officeDocument/2006/relationships/notesSlide" Target="/ppt/notesSlides/notesSlide5.xml" Id="R6fe7531c227c4f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75a49d1db44da" /><Relationship Type="http://schemas.openxmlformats.org/officeDocument/2006/relationships/notesSlide" Target="/ppt/notesSlides/notesSlide6.xml" Id="R738629387efe44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771d47fc24157" /><Relationship Type="http://schemas.openxmlformats.org/officeDocument/2006/relationships/notesSlide" Target="/ppt/notesSlides/notesSlide7.xml" Id="Re8a1060303184f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ffef6d854bdd" /><Relationship Type="http://schemas.openxmlformats.org/officeDocument/2006/relationships/notesSlide" Target="/ppt/notesSlides/notesSlide8.xml" Id="Rced918f6964746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2442ae5df441a" /><Relationship Type="http://schemas.openxmlformats.org/officeDocument/2006/relationships/notesSlide" Target="/ppt/notesSlides/notesSlide9.xml" Id="Re06f85f2507543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left-accent">
            <a:extLst xmlns:a="http://schemas.openxmlformats.org/drawingml/2006/main">
              <a:ext uri="{FF2B5EF4-FFF2-40B4-BE49-F238E27FC236}">
                <a16:creationId xmlns:a16="http://schemas.microsoft.com/office/drawing/2014/main" id="{46B482F5-5E8B-44DF-8EC7-C0210B6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6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1-kicker">
            <a:extLst xmlns:a="http://schemas.openxmlformats.org/drawingml/2006/main">
              <a:ext uri="{FF2B5EF4-FFF2-40B4-BE49-F238E27FC236}">
                <a16:creationId xmlns:a16="http://schemas.microsoft.com/office/drawing/2014/main" id="{E4BFA3FC-5856-4494-85D4-42CB262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内部股权运营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C6635B09-06FE-497A-81DE-39906F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0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60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</a:t>
            </a:r>
          </a:p>
        </p:txBody>
      </p:sp>
      <p:sp>
        <p:nvSpPr>
          <p:cNvPr id="4" name="s1-subtitle-en">
            <a:extLst xmlns:a="http://schemas.openxmlformats.org/drawingml/2006/main">
              <a:ext uri="{FF2B5EF4-FFF2-40B4-BE49-F238E27FC236}">
                <a16:creationId xmlns:a16="http://schemas.microsoft.com/office/drawing/2014/main" id="{EDF9140E-E1DF-4A2C-9D1E-32FE70D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7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207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用于记录已执行股票交易、更新持仓并计算未实现盈亏的可靠内部工作流。</a:t>
            </a:r>
          </a:p>
        </p:txBody>
      </p:sp>
      <p:sp>
        <p:nvSpPr>
          <p:cNvPr id="5" name="s1-subtitle-zh">
            <a:extLst xmlns:a="http://schemas.openxmlformats.org/drawingml/2006/main">
              <a:ext uri="{FF2B5EF4-FFF2-40B4-BE49-F238E27FC236}">
                <a16:creationId xmlns:a16="http://schemas.microsoft.com/office/drawing/2014/main" id="{DFE87931-AC7E-4009-BCED-CAFC371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1-purpose">
            <a:extLst xmlns:a="http://schemas.openxmlformats.org/drawingml/2006/main">
              <a:ext uri="{FF2B5EF4-FFF2-40B4-BE49-F238E27FC236}">
                <a16:creationId xmlns:a16="http://schemas.microsoft.com/office/drawing/2014/main" id="{39071DA9-97FE-4F48-AEDB-015EA9B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校验  →  入账  →  持仓  →  估值</a:t>
            </a:r>
          </a:p>
        </p:txBody>
      </p:sp>
      <p:sp>
        <p:nvSpPr>
          <p:cNvPr id="7" name="s1-circle-validate">
            <a:extLst xmlns:a="http://schemas.openxmlformats.org/drawingml/2006/main">
              <a:ext uri="{FF2B5EF4-FFF2-40B4-BE49-F238E27FC236}">
                <a16:creationId xmlns:a16="http://schemas.microsoft.com/office/drawing/2014/main" id="{7E872ABB-C27F-4EE7-83B5-4F310B3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s1-circle-book">
            <a:extLst xmlns:a="http://schemas.openxmlformats.org/drawingml/2006/main">
              <a:ext uri="{FF2B5EF4-FFF2-40B4-BE49-F238E27FC236}">
                <a16:creationId xmlns:a16="http://schemas.microsoft.com/office/drawing/2014/main" id="{326B4211-4896-44E8-8714-CCBDCC2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s1-circle-value">
            <a:extLst xmlns:a="http://schemas.openxmlformats.org/drawingml/2006/main">
              <a:ext uri="{FF2B5EF4-FFF2-40B4-BE49-F238E27FC236}">
                <a16:creationId xmlns:a16="http://schemas.microsoft.com/office/drawing/2014/main" id="{8DD85B42-9FB8-4F83-A828-033B5BB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cxnSp>
        <p:nvCxnSpPr>
          <p:cNvPr id="49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9353550" y="239077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9353550" y="3743325"/>
            <a:ext cx="1905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  <a:tailEnd type="triangle" w="med" len="med"/>
          </a:ln>
        </p:spPr>
      </p:cxnSp>
      <p:sp>
        <p:nvSpPr>
          <p:cNvPr id="12" name="s1-circle-validate-text">
            <a:extLst xmlns:a="http://schemas.openxmlformats.org/drawingml/2006/main">
              <a:ext uri="{FF2B5EF4-FFF2-40B4-BE49-F238E27FC236}">
                <a16:creationId xmlns:a16="http://schemas.microsoft.com/office/drawing/2014/main" id="{115D2BFF-717C-488F-89A5-8B966628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240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3" name="s1-circle-book-text">
            <a:extLst xmlns:a="http://schemas.openxmlformats.org/drawingml/2006/main">
              <a:ext uri="{FF2B5EF4-FFF2-40B4-BE49-F238E27FC236}">
                <a16:creationId xmlns:a16="http://schemas.microsoft.com/office/drawing/2014/main" id="{9C89AE84-A77B-47C8-BBC4-8CB2F8B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入账</a:t>
            </a:r>
          </a:p>
        </p:txBody>
      </p:sp>
      <p:sp>
        <p:nvSpPr>
          <p:cNvPr id="14" name="s1-circle-value-text">
            <a:extLst xmlns:a="http://schemas.openxmlformats.org/drawingml/2006/main">
              <a:ext uri="{FF2B5EF4-FFF2-40B4-BE49-F238E27FC236}">
                <a16:creationId xmlns:a16="http://schemas.microsoft.com/office/drawing/2014/main" id="{3BEC6C82-1002-4AC4-B18D-F071C1D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29175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估值</a:t>
            </a:r>
          </a:p>
        </p:txBody>
      </p:sp>
      <p:sp>
        <p:nvSpPr>
          <p:cNvPr id="15" name="s1-verified">
            <a:extLst xmlns:a="http://schemas.openxmlformats.org/drawingml/2006/main">
              <a:ext uri="{FF2B5EF4-FFF2-40B4-BE49-F238E27FC236}">
                <a16:creationId xmlns:a16="http://schemas.microsoft.com/office/drawing/2014/main" id="{DA2C1152-3E57-4475-BBFF-E4C6993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239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已部署并经源码核验</a:t>
            </a:r>
          </a:p>
        </p:txBody>
      </p:sp>
      <p:sp>
        <p:nvSpPr>
          <p:cNvPr id="16" name="s1-footer-note">
            <a:extLst xmlns:a="http://schemas.openxmlformats.org/drawingml/2006/main">
              <a:ext uri="{FF2B5EF4-FFF2-40B4-BE49-F238E27FC236}">
                <a16:creationId xmlns:a16="http://schemas.microsoft.com/office/drawing/2014/main" id="{1B910B0C-1844-415C-AD13-90E63D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TradeFlow · 股票交易入账引擎 · 2026-07-29</a:t>
            </a:r>
          </a:p>
        </p:txBody>
      </p:sp>
      <p:sp>
        <p:nvSpPr>
          <p:cNvPr id="17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B1E06B8E-3018-4274-8AD3-1FC48F4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4733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-en">
            <a:extLst xmlns:a="http://schemas.openxmlformats.org/drawingml/2006/main">
              <a:ext uri="{FF2B5EF4-FFF2-40B4-BE49-F238E27FC236}">
                <a16:creationId xmlns:a16="http://schemas.microsoft.com/office/drawing/2014/main" id="{B3AA4E52-6D48-4D3A-B230-0E53F91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TradeFlow 从成交完成之后开始</a:t>
            </a:r>
          </a:p>
        </p:txBody>
      </p:sp>
      <p:sp>
        <p:nvSpPr>
          <p:cNvPr id="2" name="s2-title-zh">
            <a:extLst xmlns:a="http://schemas.openxmlformats.org/drawingml/2006/main">
              <a:ext uri="{FF2B5EF4-FFF2-40B4-BE49-F238E27FC236}">
                <a16:creationId xmlns:a16="http://schemas.microsoft.com/office/drawing/2014/main" id="{105C1188-864F-49A9-87DB-9150387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EFD7A45D-0B9C-4D1F-8864-994D4C2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2-big-en">
            <a:extLst xmlns:a="http://schemas.openxmlformats.org/drawingml/2006/main">
              <a:ext uri="{FF2B5EF4-FFF2-40B4-BE49-F238E27FC236}">
                <a16:creationId xmlns:a16="http://schemas.microsoft.com/office/drawing/2014/main" id="{474052DF-A3AC-41D3-A4EC-2CCBCDF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交易在外部完成；TradeFlow 接收已经成交的交易信息。</a:t>
            </a:r>
          </a:p>
        </p:txBody>
      </p:sp>
      <p:sp>
        <p:nvSpPr>
          <p:cNvPr id="5" name="s2-big-zh">
            <a:extLst xmlns:a="http://schemas.openxmlformats.org/drawingml/2006/main">
              <a:ext uri="{FF2B5EF4-FFF2-40B4-BE49-F238E27FC236}">
                <a16:creationId xmlns:a16="http://schemas.microsoft.com/office/drawing/2014/main" id="{D307E958-F5B2-4317-A493-5D480C3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2-not-trading">
            <a:extLst xmlns:a="http://schemas.openxmlformats.org/drawingml/2006/main">
              <a:ext uri="{FF2B5EF4-FFF2-40B4-BE49-F238E27FC236}">
                <a16:creationId xmlns:a16="http://schemas.microsoft.com/office/drawing/2014/main" id="{96DCFAAF-B319-4AA3-A37A-727ED79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7" name="s2-not-trading-en">
            <a:extLst xmlns:a="http://schemas.openxmlformats.org/drawingml/2006/main">
              <a:ext uri="{FF2B5EF4-FFF2-40B4-BE49-F238E27FC236}">
                <a16:creationId xmlns:a16="http://schemas.microsoft.com/office/drawing/2014/main" id="{8D7D91DE-99C5-4F73-9777-D661C48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 i="0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93C5FD"/>
                </a:solidFill>
                <a:latin typeface="Arial"/>
                <a:ea typeface="Arial"/>
                <a:cs typeface="Arial"/>
              </a:rPr>
              <a:t>非交易执行场所</a:t>
            </a:r>
          </a:p>
        </p:txBody>
      </p:sp>
      <p:sp>
        <p:nvSpPr>
          <p:cNvPr id="8" name="s2-not-trading-main">
            <a:extLst xmlns:a="http://schemas.openxmlformats.org/drawingml/2006/main">
              <a:ext uri="{FF2B5EF4-FFF2-40B4-BE49-F238E27FC236}">
                <a16:creationId xmlns:a16="http://schemas.microsoft.com/office/drawing/2014/main" id="{4E990B12-BF19-447F-BAE5-27EFE2F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不执行买卖订单</a:t>
            </a:r>
          </a:p>
        </p:txBody>
      </p:sp>
      <p:sp>
        <p:nvSpPr>
          <p:cNvPr id="9" name="s2-step1-box">
            <a:extLst xmlns:a="http://schemas.openxmlformats.org/drawingml/2006/main">
              <a:ext uri="{FF2B5EF4-FFF2-40B4-BE49-F238E27FC236}">
                <a16:creationId xmlns:a16="http://schemas.microsoft.com/office/drawing/2014/main" id="{6B6C3600-98C4-40C8-9901-32FF874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s2-step1-en">
            <a:extLst xmlns:a="http://schemas.openxmlformats.org/drawingml/2006/main">
              <a:ext uri="{FF2B5EF4-FFF2-40B4-BE49-F238E27FC236}">
                <a16:creationId xmlns:a16="http://schemas.microsoft.com/office/drawing/2014/main" id="{FDD5E824-F965-4522-984E-D7E3C36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716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接收成交信息</a:t>
            </a:r>
          </a:p>
        </p:txBody>
      </p:sp>
      <p:sp>
        <p:nvSpPr>
          <p:cNvPr id="11" name="s2-step1-zh">
            <a:extLst xmlns:a="http://schemas.openxmlformats.org/drawingml/2006/main">
              <a:ext uri="{FF2B5EF4-FFF2-40B4-BE49-F238E27FC236}">
                <a16:creationId xmlns:a16="http://schemas.microsoft.com/office/drawing/2014/main" id="{5568A87E-AE3B-42A9-8282-D684B3A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2-step2-box">
            <a:extLst xmlns:a="http://schemas.openxmlformats.org/drawingml/2006/main">
              <a:ext uri="{FF2B5EF4-FFF2-40B4-BE49-F238E27FC236}">
                <a16:creationId xmlns:a16="http://schemas.microsoft.com/office/drawing/2014/main" id="{E234E2E9-C625-4CDB-BAA1-9CE7055E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43225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s2-step2-en">
            <a:extLst xmlns:a="http://schemas.openxmlformats.org/drawingml/2006/main">
              <a:ext uri="{FF2B5EF4-FFF2-40B4-BE49-F238E27FC236}">
                <a16:creationId xmlns:a16="http://schemas.microsoft.com/office/drawing/2014/main" id="{01B30F92-7CFC-4AFD-BB25-7AC9143F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验证数据并记录交易</a:t>
            </a:r>
          </a:p>
        </p:txBody>
      </p:sp>
      <p:sp>
        <p:nvSpPr>
          <p:cNvPr id="14" name="s2-step2-zh">
            <a:extLst xmlns:a="http://schemas.openxmlformats.org/drawingml/2006/main">
              <a:ext uri="{FF2B5EF4-FFF2-40B4-BE49-F238E27FC236}">
                <a16:creationId xmlns:a16="http://schemas.microsoft.com/office/drawing/2014/main" id="{96B86F17-A775-4482-AD51-B836DF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s2-step3-box">
            <a:extLst xmlns:a="http://schemas.openxmlformats.org/drawingml/2006/main">
              <a:ext uri="{FF2B5EF4-FFF2-40B4-BE49-F238E27FC236}">
                <a16:creationId xmlns:a16="http://schemas.microsoft.com/office/drawing/2014/main" id="{FE626A1A-9417-4556-B3C3-9A11503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667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s2-step3-en">
            <a:extLst xmlns:a="http://schemas.openxmlformats.org/drawingml/2006/main">
              <a:ext uri="{FF2B5EF4-FFF2-40B4-BE49-F238E27FC236}">
                <a16:creationId xmlns:a16="http://schemas.microsoft.com/office/drawing/2014/main" id="{CEBD0C95-F54C-4C33-B87B-58ED228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更新持仓与未实现盈亏</a:t>
            </a:r>
          </a:p>
        </p:txBody>
      </p:sp>
      <p:sp>
        <p:nvSpPr>
          <p:cNvPr id="17" name="s2-step3-zh">
            <a:extLst xmlns:a="http://schemas.openxmlformats.org/drawingml/2006/main">
              <a:ext uri="{FF2B5EF4-FFF2-40B4-BE49-F238E27FC236}">
                <a16:creationId xmlns:a16="http://schemas.microsoft.com/office/drawing/2014/main" id="{8CA7E3EC-664A-49BB-B934-904A3822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77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734425" y="26479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734425" y="39338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2-footer-note">
            <a:extLst xmlns:a="http://schemas.openxmlformats.org/drawingml/2006/main">
              <a:ext uri="{FF2B5EF4-FFF2-40B4-BE49-F238E27FC236}">
                <a16:creationId xmlns:a16="http://schemas.microsoft.com/office/drawing/2014/main" id="{CF14F8B0-B47C-4B77-93C5-3A80EB3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来源：已部署应用与代码仓库</a:t>
            </a:r>
          </a:p>
        </p:txBody>
      </p:sp>
      <p:sp>
        <p:nvSpPr>
          <p:cNvPr id="21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5DA9ADE4-1212-436A-B97F-9752C3F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7617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-en">
            <a:extLst xmlns:a="http://schemas.openxmlformats.org/drawingml/2006/main">
              <a:ext uri="{FF2B5EF4-FFF2-40B4-BE49-F238E27FC236}">
                <a16:creationId xmlns:a16="http://schemas.microsoft.com/office/drawing/2014/main" id="{40AEF6D3-26CD-4698-9729-F76241B6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三个关键挑战决定了系统设计</a:t>
            </a:r>
          </a:p>
        </p:txBody>
      </p:sp>
      <p:sp>
        <p:nvSpPr>
          <p:cNvPr id="2" name="s3-title-zh">
            <a:extLst xmlns:a="http://schemas.openxmlformats.org/drawingml/2006/main">
              <a:ext uri="{FF2B5EF4-FFF2-40B4-BE49-F238E27FC236}">
                <a16:creationId xmlns:a16="http://schemas.microsoft.com/office/drawing/2014/main" id="{7093247D-0B9A-4607-95E4-BADCA64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7752C513-CB7F-404B-AEBF-2E86E74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3-col-0-accent">
            <a:extLst xmlns:a="http://schemas.openxmlformats.org/drawingml/2006/main">
              <a:ext uri="{FF2B5EF4-FFF2-40B4-BE49-F238E27FC236}">
                <a16:creationId xmlns:a16="http://schemas.microsoft.com/office/drawing/2014/main" id="{A60168F8-E869-49B1-A96E-B4893493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s3-col-0-num">
            <a:extLst xmlns:a="http://schemas.openxmlformats.org/drawingml/2006/main">
              <a:ext uri="{FF2B5EF4-FFF2-40B4-BE49-F238E27FC236}">
                <a16:creationId xmlns:a16="http://schemas.microsoft.com/office/drawing/2014/main" id="{55E991CD-DACF-4265-A43E-8D096B9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3-col-0-title">
            <a:extLst xmlns:a="http://schemas.openxmlformats.org/drawingml/2006/main">
              <a:ext uri="{FF2B5EF4-FFF2-40B4-BE49-F238E27FC236}">
                <a16:creationId xmlns:a16="http://schemas.microsoft.com/office/drawing/2014/main" id="{1362B3F3-4E13-4B1C-8BC5-AACD3FF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交易准确性</a:t>
            </a:r>
          </a:p>
        </p:txBody>
      </p:sp>
      <p:sp>
        <p:nvSpPr>
          <p:cNvPr id="7" name="s3-col-0-zh">
            <a:extLst xmlns:a="http://schemas.openxmlformats.org/drawingml/2006/main">
              <a:ext uri="{FF2B5EF4-FFF2-40B4-BE49-F238E27FC236}">
                <a16:creationId xmlns:a16="http://schemas.microsoft.com/office/drawing/2014/main" id="{2156A96E-820A-4CBD-BBE1-B9F61B8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3-col-0-panel">
            <a:extLst xmlns:a="http://schemas.openxmlformats.org/drawingml/2006/main">
              <a:ext uri="{FF2B5EF4-FFF2-40B4-BE49-F238E27FC236}">
                <a16:creationId xmlns:a16="http://schemas.microsoft.com/office/drawing/2014/main" id="{DA219C84-E0FA-450F-9B5E-DCCDC53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9" name="s3-col-0-bullet-0-dot">
            <a:extLst xmlns:a="http://schemas.openxmlformats.org/drawingml/2006/main">
              <a:ext uri="{FF2B5EF4-FFF2-40B4-BE49-F238E27FC236}">
                <a16:creationId xmlns:a16="http://schemas.microsoft.com/office/drawing/2014/main" id="{C39024FF-D555-421E-B406-8589755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3-col-0-bullet-0-text">
            <a:extLst xmlns:a="http://schemas.openxmlformats.org/drawingml/2006/main">
              <a:ext uri="{FF2B5EF4-FFF2-40B4-BE49-F238E27FC236}">
                <a16:creationId xmlns:a16="http://schemas.microsoft.com/office/drawing/2014/main" id="{7B9F3EFD-11FA-4269-837E-C9290FDC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错误数量</a:t>
            </a:r>
          </a:p>
        </p:txBody>
      </p:sp>
      <p:sp>
        <p:nvSpPr>
          <p:cNvPr id="11" name="s3-col-0-bullet-1-dot">
            <a:extLst xmlns:a="http://schemas.openxmlformats.org/drawingml/2006/main">
              <a:ext uri="{FF2B5EF4-FFF2-40B4-BE49-F238E27FC236}">
                <a16:creationId xmlns:a16="http://schemas.microsoft.com/office/drawing/2014/main" id="{475CEE82-0228-45D5-A09D-D4DCECE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3-col-0-bullet-1-text">
            <a:extLst xmlns:a="http://schemas.openxmlformats.org/drawingml/2006/main">
              <a:ext uri="{FF2B5EF4-FFF2-40B4-BE49-F238E27FC236}">
                <a16:creationId xmlns:a16="http://schemas.microsoft.com/office/drawing/2014/main" id="{FD9355A5-619F-4CA9-B69A-7CBA2AE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无效价格</a:t>
            </a:r>
          </a:p>
        </p:txBody>
      </p:sp>
      <p:sp>
        <p:nvSpPr>
          <p:cNvPr id="13" name="s3-col-0-bullet-2-dot">
            <a:extLst xmlns:a="http://schemas.openxmlformats.org/drawingml/2006/main">
              <a:ext uri="{FF2B5EF4-FFF2-40B4-BE49-F238E27FC236}">
                <a16:creationId xmlns:a16="http://schemas.microsoft.com/office/drawing/2014/main" id="{61110ECD-C9BB-47A3-8ACE-F443CDF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3-col-0-bullet-2-text">
            <a:extLst xmlns:a="http://schemas.openxmlformats.org/drawingml/2006/main">
              <a:ext uri="{FF2B5EF4-FFF2-40B4-BE49-F238E27FC236}">
                <a16:creationId xmlns:a16="http://schemas.microsoft.com/office/drawing/2014/main" id="{4246E302-D610-4BA7-B266-BAA673C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记录不一致</a:t>
            </a:r>
          </a:p>
        </p:txBody>
      </p:sp>
      <p:sp>
        <p:nvSpPr>
          <p:cNvPr id="15" name="s3-col-1-accent">
            <a:extLst xmlns:a="http://schemas.openxmlformats.org/drawingml/2006/main">
              <a:ext uri="{FF2B5EF4-FFF2-40B4-BE49-F238E27FC236}">
                <a16:creationId xmlns:a16="http://schemas.microsoft.com/office/drawing/2014/main" id="{CC5A9F8B-132F-4895-BD82-3A03B19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6" name="s3-col-1-num">
            <a:extLst xmlns:a="http://schemas.openxmlformats.org/drawingml/2006/main">
              <a:ext uri="{FF2B5EF4-FFF2-40B4-BE49-F238E27FC236}">
                <a16:creationId xmlns:a16="http://schemas.microsoft.com/office/drawing/2014/main" id="{02FFE8D2-9DDC-476F-9195-2D7A0A3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3-col-1-title">
            <a:extLst xmlns:a="http://schemas.openxmlformats.org/drawingml/2006/main">
              <a:ext uri="{FF2B5EF4-FFF2-40B4-BE49-F238E27FC236}">
                <a16:creationId xmlns:a16="http://schemas.microsoft.com/office/drawing/2014/main" id="{61240DE3-A08C-4EB2-B8DE-E3FD398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实时可见性</a:t>
            </a:r>
          </a:p>
        </p:txBody>
      </p:sp>
      <p:sp>
        <p:nvSpPr>
          <p:cNvPr id="18" name="s3-col-1-zh">
            <a:extLst xmlns:a="http://schemas.openxmlformats.org/drawingml/2006/main">
              <a:ext uri="{FF2B5EF4-FFF2-40B4-BE49-F238E27FC236}">
                <a16:creationId xmlns:a16="http://schemas.microsoft.com/office/drawing/2014/main" id="{F84A6070-BAAA-40EF-A627-7FB911CD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s3-col-1-panel">
            <a:extLst xmlns:a="http://schemas.openxmlformats.org/drawingml/2006/main">
              <a:ext uri="{FF2B5EF4-FFF2-40B4-BE49-F238E27FC236}">
                <a16:creationId xmlns:a16="http://schemas.microsoft.com/office/drawing/2014/main" id="{8244CDAC-8DC6-4100-8F33-CDEB8E4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0" name="s3-col-1-bullet-0-dot">
            <a:extLst xmlns:a="http://schemas.openxmlformats.org/drawingml/2006/main">
              <a:ext uri="{FF2B5EF4-FFF2-40B4-BE49-F238E27FC236}">
                <a16:creationId xmlns:a16="http://schemas.microsoft.com/office/drawing/2014/main" id="{E7624E89-80C6-4B0F-A27E-DBEE6572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1" name="s3-col-1-bullet-0-text">
            <a:extLst xmlns:a="http://schemas.openxmlformats.org/drawingml/2006/main">
              <a:ext uri="{FF2B5EF4-FFF2-40B4-BE49-F238E27FC236}">
                <a16:creationId xmlns:a16="http://schemas.microsoft.com/office/drawing/2014/main" id="{E2784A7F-2206-4384-997D-CB1767F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当前持仓</a:t>
            </a:r>
          </a:p>
        </p:txBody>
      </p:sp>
      <p:sp>
        <p:nvSpPr>
          <p:cNvPr id="22" name="s3-col-1-bullet-1-dot">
            <a:extLst xmlns:a="http://schemas.openxmlformats.org/drawingml/2006/main">
              <a:ext uri="{FF2B5EF4-FFF2-40B4-BE49-F238E27FC236}">
                <a16:creationId xmlns:a16="http://schemas.microsoft.com/office/drawing/2014/main" id="{CBBAA586-5F80-4E78-AD4D-4964E25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3" name="s3-col-1-bullet-1-text">
            <a:extLst xmlns:a="http://schemas.openxmlformats.org/drawingml/2006/main">
              <a:ext uri="{FF2B5EF4-FFF2-40B4-BE49-F238E27FC236}">
                <a16:creationId xmlns:a16="http://schemas.microsoft.com/office/drawing/2014/main" id="{680B44EE-B150-4175-BC65-77F9FCDB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投资组合价值</a:t>
            </a:r>
          </a:p>
        </p:txBody>
      </p:sp>
      <p:sp>
        <p:nvSpPr>
          <p:cNvPr id="24" name="s3-col-1-bullet-2-dot">
            <a:extLst xmlns:a="http://schemas.openxmlformats.org/drawingml/2006/main">
              <a:ext uri="{FF2B5EF4-FFF2-40B4-BE49-F238E27FC236}">
                <a16:creationId xmlns:a16="http://schemas.microsoft.com/office/drawing/2014/main" id="{D4F29C3E-C5E8-4524-B8FF-BAC6624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5" name="s3-col-1-bullet-2-text">
            <a:extLst xmlns:a="http://schemas.openxmlformats.org/drawingml/2006/main">
              <a:ext uri="{FF2B5EF4-FFF2-40B4-BE49-F238E27FC236}">
                <a16:creationId xmlns:a16="http://schemas.microsoft.com/office/drawing/2014/main" id="{3840968C-98BB-465D-B0EC-A5B7CAA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未实现盈亏</a:t>
            </a:r>
          </a:p>
        </p:txBody>
      </p:sp>
      <p:sp>
        <p:nvSpPr>
          <p:cNvPr id="26" name="s3-col-2-accent">
            <a:extLst xmlns:a="http://schemas.openxmlformats.org/drawingml/2006/main">
              <a:ext uri="{FF2B5EF4-FFF2-40B4-BE49-F238E27FC236}">
                <a16:creationId xmlns:a16="http://schemas.microsoft.com/office/drawing/2014/main" id="{54A651B3-597A-40D0-9477-9F5A6055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430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s3-col-2-num">
            <a:extLst xmlns:a="http://schemas.openxmlformats.org/drawingml/2006/main">
              <a:ext uri="{FF2B5EF4-FFF2-40B4-BE49-F238E27FC236}">
                <a16:creationId xmlns:a16="http://schemas.microsoft.com/office/drawing/2014/main" id="{4FA438B2-0E46-4144-AC95-E5155DB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30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s3-col-2-title">
            <a:extLst xmlns:a="http://schemas.openxmlformats.org/drawingml/2006/main">
              <a:ext uri="{FF2B5EF4-FFF2-40B4-BE49-F238E27FC236}">
                <a16:creationId xmlns:a16="http://schemas.microsoft.com/office/drawing/2014/main" id="{8CBD4AD1-6E98-455F-A70B-87DC4BA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外部依赖</a:t>
            </a:r>
          </a:p>
        </p:txBody>
      </p:sp>
      <p:sp>
        <p:nvSpPr>
          <p:cNvPr id="29" name="s3-col-2-zh">
            <a:extLst xmlns:a="http://schemas.openxmlformats.org/drawingml/2006/main">
              <a:ext uri="{FF2B5EF4-FFF2-40B4-BE49-F238E27FC236}">
                <a16:creationId xmlns:a16="http://schemas.microsoft.com/office/drawing/2014/main" id="{FDB2ED1A-16B1-4BE1-AAA3-319D0FD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3-col-2-panel">
            <a:extLst xmlns:a="http://schemas.openxmlformats.org/drawingml/2006/main">
              <a:ext uri="{FF2B5EF4-FFF2-40B4-BE49-F238E27FC236}">
                <a16:creationId xmlns:a16="http://schemas.microsoft.com/office/drawing/2014/main" id="{24D9CDDE-D9EA-4F91-B9C5-E65DD23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333375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1" name="s3-col-2-bullet-0-dot">
            <a:extLst xmlns:a="http://schemas.openxmlformats.org/drawingml/2006/main">
              <a:ext uri="{FF2B5EF4-FFF2-40B4-BE49-F238E27FC236}">
                <a16:creationId xmlns:a16="http://schemas.microsoft.com/office/drawing/2014/main" id="{7C72FE32-89BA-42F1-8951-2120CE4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2" name="s3-col-2-bullet-0-text">
            <a:extLst xmlns:a="http://schemas.openxmlformats.org/drawingml/2006/main">
              <a:ext uri="{FF2B5EF4-FFF2-40B4-BE49-F238E27FC236}">
                <a16:creationId xmlns:a16="http://schemas.microsoft.com/office/drawing/2014/main" id="{9323CB3B-24A7-4F13-974F-C7EAE37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API 速率限制</a:t>
            </a:r>
          </a:p>
        </p:txBody>
      </p:sp>
      <p:sp>
        <p:nvSpPr>
          <p:cNvPr id="33" name="s3-col-2-bullet-1-dot">
            <a:extLst xmlns:a="http://schemas.openxmlformats.org/drawingml/2006/main">
              <a:ext uri="{FF2B5EF4-FFF2-40B4-BE49-F238E27FC236}">
                <a16:creationId xmlns:a16="http://schemas.microsoft.com/office/drawing/2014/main" id="{EBA847F9-A01D-4A37-9A55-F3C48F0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4" name="s3-col-2-bullet-1-text">
            <a:extLst xmlns:a="http://schemas.openxmlformats.org/drawingml/2006/main">
              <a:ext uri="{FF2B5EF4-FFF2-40B4-BE49-F238E27FC236}">
                <a16:creationId xmlns:a16="http://schemas.microsoft.com/office/drawing/2014/main" id="{6EEF73C4-CBF4-4014-BB9E-3D98B4D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超时与中断</a:t>
            </a:r>
          </a:p>
        </p:txBody>
      </p:sp>
      <p:sp>
        <p:nvSpPr>
          <p:cNvPr id="35" name="s3-col-2-bullet-2-dot">
            <a:extLst xmlns:a="http://schemas.openxmlformats.org/drawingml/2006/main">
              <a:ext uri="{FF2B5EF4-FFF2-40B4-BE49-F238E27FC236}">
                <a16:creationId xmlns:a16="http://schemas.microsoft.com/office/drawing/2014/main" id="{43C93D22-A7F8-4D01-9053-1A16ACC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6" name="s3-col-2-bullet-2-text">
            <a:extLst xmlns:a="http://schemas.openxmlformats.org/drawingml/2006/main">
              <a:ext uri="{FF2B5EF4-FFF2-40B4-BE49-F238E27FC236}">
                <a16:creationId xmlns:a16="http://schemas.microsoft.com/office/drawing/2014/main" id="{654FEA71-C07F-4DBE-97AF-BE0C723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安全降级</a:t>
            </a:r>
          </a:p>
        </p:txBody>
      </p:sp>
      <p:sp>
        <p:nvSpPr>
          <p:cNvPr id="37" name="s3-summary-band">
            <a:extLst xmlns:a="http://schemas.openxmlformats.org/drawingml/2006/main">
              <a:ext uri="{FF2B5EF4-FFF2-40B4-BE49-F238E27FC236}">
                <a16:creationId xmlns:a16="http://schemas.microsoft.com/office/drawing/2014/main" id="{AB9A3213-BF31-42FF-B60E-A8D3B4D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823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8" name="s3-summary">
            <a:extLst xmlns:a="http://schemas.openxmlformats.org/drawingml/2006/main">
              <a:ext uri="{FF2B5EF4-FFF2-40B4-BE49-F238E27FC236}">
                <a16:creationId xmlns:a16="http://schemas.microsoft.com/office/drawing/2014/main" id="{E408EDDD-D08E-4FBA-9645-4342B20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交易信息中的一个小错误，就可能影响持仓与利润计算。</a:t>
            </a:r>
          </a:p>
        </p:txBody>
      </p:sp>
      <p:sp>
        <p:nvSpPr>
          <p:cNvPr id="39" name="s3-footer-note">
            <a:extLst xmlns:a="http://schemas.openxmlformats.org/drawingml/2006/main">
              <a:ext uri="{FF2B5EF4-FFF2-40B4-BE49-F238E27FC236}">
                <a16:creationId xmlns:a16="http://schemas.microsoft.com/office/drawing/2014/main" id="{3AD51EDC-F567-432E-A2C1-45DF2C2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设计优先级：准确性 · 一致性 · 可靠性</a:t>
            </a:r>
          </a:p>
        </p:txBody>
      </p:sp>
      <p:sp>
        <p:nvSpPr>
          <p:cNvPr id="40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19490472-8F8D-4B72-83DF-A73230FC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672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-en">
            <a:extLst xmlns:a="http://schemas.openxmlformats.org/drawingml/2006/main">
              <a:ext uri="{FF2B5EF4-FFF2-40B4-BE49-F238E27FC236}">
                <a16:creationId xmlns:a16="http://schemas.microsoft.com/office/drawing/2014/main" id="{910B5F1A-6282-419F-9231-A5E54BE2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每一笔交易必须先通过校验，才能影响持仓与盈亏</a:t>
            </a:r>
          </a:p>
        </p:txBody>
      </p:sp>
      <p:sp>
        <p:nvSpPr>
          <p:cNvPr id="2" name="s4-title-zh">
            <a:extLst xmlns:a="http://schemas.openxmlformats.org/drawingml/2006/main">
              <a:ext uri="{FF2B5EF4-FFF2-40B4-BE49-F238E27FC236}">
                <a16:creationId xmlns:a16="http://schemas.microsoft.com/office/drawing/2014/main" id="{893EC3CE-1413-416A-AE58-9D68195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4-title-rule">
            <a:extLst xmlns:a="http://schemas.openxmlformats.org/drawingml/2006/main">
              <a:ext uri="{FF2B5EF4-FFF2-40B4-BE49-F238E27FC236}">
                <a16:creationId xmlns:a16="http://schemas.microsoft.com/office/drawing/2014/main" id="{1817B029-F438-4B62-82A4-E4F8AC6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4-trader-box">
            <a:extLst xmlns:a="http://schemas.openxmlformats.org/drawingml/2006/main">
              <a:ext uri="{FF2B5EF4-FFF2-40B4-BE49-F238E27FC236}">
                <a16:creationId xmlns:a16="http://schemas.microsoft.com/office/drawing/2014/main" id="{FD532894-C38A-43E9-9EE2-D20C346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" name="s4-trader-en">
            <a:extLst xmlns:a="http://schemas.openxmlformats.org/drawingml/2006/main">
              <a:ext uri="{FF2B5EF4-FFF2-40B4-BE49-F238E27FC236}">
                <a16:creationId xmlns:a16="http://schemas.microsoft.com/office/drawing/2014/main" id="{E2F08343-17E2-4CF9-9BC2-A598165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交易员</a:t>
            </a:r>
          </a:p>
        </p:txBody>
      </p:sp>
      <p:sp>
        <p:nvSpPr>
          <p:cNvPr id="6" name="s4-trader-zh">
            <a:extLst xmlns:a="http://schemas.openxmlformats.org/drawingml/2006/main">
              <a:ext uri="{FF2B5EF4-FFF2-40B4-BE49-F238E27FC236}">
                <a16:creationId xmlns:a16="http://schemas.microsoft.com/office/drawing/2014/main" id="{91A03863-2B27-469B-8A10-F43AC1F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03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s4-entry-box">
            <a:extLst xmlns:a="http://schemas.openxmlformats.org/drawingml/2006/main">
              <a:ext uri="{FF2B5EF4-FFF2-40B4-BE49-F238E27FC236}">
                <a16:creationId xmlns:a16="http://schemas.microsoft.com/office/drawing/2014/main" id="{7FBC287D-D8F5-4313-B4B3-03D5E1CB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4-entry-en">
            <a:extLst xmlns:a="http://schemas.openxmlformats.org/drawingml/2006/main">
              <a:ext uri="{FF2B5EF4-FFF2-40B4-BE49-F238E27FC236}">
                <a16:creationId xmlns:a16="http://schemas.microsoft.com/office/drawing/2014/main" id="{123AA2E1-513C-4F6F-8FBA-CC179F3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交易录入</a:t>
            </a:r>
          </a:p>
        </p:txBody>
      </p:sp>
      <p:sp>
        <p:nvSpPr>
          <p:cNvPr id="9" name="s4-entry-zh">
            <a:extLst xmlns:a="http://schemas.openxmlformats.org/drawingml/2006/main">
              <a:ext uri="{FF2B5EF4-FFF2-40B4-BE49-F238E27FC236}">
                <a16:creationId xmlns:a16="http://schemas.microsoft.com/office/drawing/2014/main" id="{64C2BAC9-B924-41C4-A7BA-5D2F870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s4-validate-box">
            <a:extLst xmlns:a="http://schemas.openxmlformats.org/drawingml/2006/main">
              <a:ext uri="{FF2B5EF4-FFF2-40B4-BE49-F238E27FC236}">
                <a16:creationId xmlns:a16="http://schemas.microsoft.com/office/drawing/2014/main" id="{716BD700-2C2F-470D-84D6-832B82A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s4-validate-en">
            <a:extLst xmlns:a="http://schemas.openxmlformats.org/drawingml/2006/main">
              <a:ext uri="{FF2B5EF4-FFF2-40B4-BE49-F238E27FC236}">
                <a16:creationId xmlns:a16="http://schemas.microsoft.com/office/drawing/2014/main" id="{6AE22590-1F83-4CEB-97DD-898F24F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校验服务</a:t>
            </a:r>
          </a:p>
        </p:txBody>
      </p:sp>
      <p:sp>
        <p:nvSpPr>
          <p:cNvPr id="12" name="s4-validate-zh">
            <a:extLst xmlns:a="http://schemas.openxmlformats.org/drawingml/2006/main">
              <a:ext uri="{FF2B5EF4-FFF2-40B4-BE49-F238E27FC236}">
                <a16:creationId xmlns:a16="http://schemas.microsoft.com/office/drawing/2014/main" id="{B5944BCA-CB80-421F-A1D4-18B3B81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s4-booked-box">
            <a:extLst xmlns:a="http://schemas.openxmlformats.org/drawingml/2006/main">
              <a:ext uri="{FF2B5EF4-FFF2-40B4-BE49-F238E27FC236}">
                <a16:creationId xmlns:a16="http://schemas.microsoft.com/office/drawing/2014/main" id="{76DB1200-F94A-48BA-A092-B639F16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05025"/>
            <a:ext cx="12001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s4-booked-en">
            <a:extLst xmlns:a="http://schemas.openxmlformats.org/drawingml/2006/main">
              <a:ext uri="{FF2B5EF4-FFF2-40B4-BE49-F238E27FC236}">
                <a16:creationId xmlns:a16="http://schemas.microsoft.com/office/drawing/2014/main" id="{14653315-4B07-42D2-AD82-42F5804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193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已入账</a:t>
            </a:r>
          </a:p>
        </p:txBody>
      </p:sp>
      <p:sp>
        <p:nvSpPr>
          <p:cNvPr id="15" name="s4-booked-zh">
            <a:extLst xmlns:a="http://schemas.openxmlformats.org/drawingml/2006/main">
              <a:ext uri="{FF2B5EF4-FFF2-40B4-BE49-F238E27FC236}">
                <a16:creationId xmlns:a16="http://schemas.microsoft.com/office/drawing/2014/main" id="{A60270BF-088F-45E8-B719-8693EA8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86025"/>
            <a:ext cx="100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s4-db-box">
            <a:extLst xmlns:a="http://schemas.openxmlformats.org/drawingml/2006/main">
              <a:ext uri="{FF2B5EF4-FFF2-40B4-BE49-F238E27FC236}">
                <a16:creationId xmlns:a16="http://schemas.microsoft.com/office/drawing/2014/main" id="{7A1FC1B1-CC4D-4D9D-BF6F-1DA802CC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7" name="s4-db-en">
            <a:extLst xmlns:a="http://schemas.openxmlformats.org/drawingml/2006/main">
              <a:ext uri="{FF2B5EF4-FFF2-40B4-BE49-F238E27FC236}">
                <a16:creationId xmlns:a16="http://schemas.microsoft.com/office/drawing/2014/main" id="{977C5066-ABA6-481E-BD2E-90FF2394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交易数据库</a:t>
            </a:r>
          </a:p>
        </p:txBody>
      </p:sp>
      <p:sp>
        <p:nvSpPr>
          <p:cNvPr id="18" name="s4-db-zh">
            <a:extLst xmlns:a="http://schemas.openxmlformats.org/drawingml/2006/main">
              <a:ext uri="{FF2B5EF4-FFF2-40B4-BE49-F238E27FC236}">
                <a16:creationId xmlns:a16="http://schemas.microsoft.com/office/drawing/2014/main" id="{9BE69C73-B1DB-4759-B732-53517F5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s4-pos-box">
            <a:extLst xmlns:a="http://schemas.openxmlformats.org/drawingml/2006/main">
              <a:ext uri="{FF2B5EF4-FFF2-40B4-BE49-F238E27FC236}">
                <a16:creationId xmlns:a16="http://schemas.microsoft.com/office/drawing/2014/main" id="{0938E096-E2DB-4141-BE88-498B0E4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1295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0" name="s4-pos-en">
            <a:extLst xmlns:a="http://schemas.openxmlformats.org/drawingml/2006/main">
              <a:ext uri="{FF2B5EF4-FFF2-40B4-BE49-F238E27FC236}">
                <a16:creationId xmlns:a16="http://schemas.microsoft.com/office/drawing/2014/main" id="{971FB43E-7CC3-4B23-BA48-0ABCF79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持仓引擎</a:t>
            </a:r>
          </a:p>
        </p:txBody>
      </p:sp>
      <p:sp>
        <p:nvSpPr>
          <p:cNvPr id="21" name="s4-pos-zh">
            <a:extLst xmlns:a="http://schemas.openxmlformats.org/drawingml/2006/main">
              <a:ext uri="{FF2B5EF4-FFF2-40B4-BE49-F238E27FC236}">
                <a16:creationId xmlns:a16="http://schemas.microsoft.com/office/drawing/2014/main" id="{CF8B65CF-59E5-4592-A113-2755F9C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6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s4-pnl-box">
            <a:extLst xmlns:a="http://schemas.openxmlformats.org/drawingml/2006/main">
              <a:ext uri="{FF2B5EF4-FFF2-40B4-BE49-F238E27FC236}">
                <a16:creationId xmlns:a16="http://schemas.microsoft.com/office/drawing/2014/main" id="{F9BF8DE2-D4A1-4B21-AAE9-A2CEB1AA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05025"/>
            <a:ext cx="1447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3" name="s4-pnl-en">
            <a:extLst xmlns:a="http://schemas.openxmlformats.org/drawingml/2006/main">
              <a:ext uri="{FF2B5EF4-FFF2-40B4-BE49-F238E27FC236}">
                <a16:creationId xmlns:a16="http://schemas.microsoft.com/office/drawing/2014/main" id="{1F26A194-B8AF-4318-B0E2-A16900E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1932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盈亏计算</a:t>
            </a:r>
          </a:p>
        </p:txBody>
      </p:sp>
      <p:sp>
        <p:nvSpPr>
          <p:cNvPr id="24" name="s4-pnl-zh">
            <a:extLst xmlns:a="http://schemas.openxmlformats.org/drawingml/2006/main">
              <a:ext uri="{FF2B5EF4-FFF2-40B4-BE49-F238E27FC236}">
                <a16:creationId xmlns:a16="http://schemas.microsoft.com/office/drawing/2014/main" id="{578F1200-6FA1-46EB-8F3E-5B9A096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8602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3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4668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9900" y="26098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81525" y="26098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91250" y="26098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39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4860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4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467850" y="2609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s4-valid-label">
            <a:extLst xmlns:a="http://schemas.openxmlformats.org/drawingml/2006/main">
              <a:ext uri="{FF2B5EF4-FFF2-40B4-BE49-F238E27FC236}">
                <a16:creationId xmlns:a16="http://schemas.microsoft.com/office/drawing/2014/main" id="{148FCC9A-0568-4E05-A170-662B7C37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7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17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有效</a:t>
            </a:r>
          </a:p>
        </p:txBody>
      </p:sp>
      <p:sp>
        <p:nvSpPr>
          <p:cNvPr id="32" name="s4-invalid-box">
            <a:extLst xmlns:a="http://schemas.openxmlformats.org/drawingml/2006/main">
              <a:ext uri="{FF2B5EF4-FFF2-40B4-BE49-F238E27FC236}">
                <a16:creationId xmlns:a16="http://schemas.microsoft.com/office/drawing/2014/main" id="{9A600897-A7D7-414D-A6F5-6BD1FB9A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343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</p:sp>
      <p:sp>
        <p:nvSpPr>
          <p:cNvPr id="33" name="s4-invalid-en">
            <a:extLst xmlns:a="http://schemas.openxmlformats.org/drawingml/2006/main">
              <a:ext uri="{FF2B5EF4-FFF2-40B4-BE49-F238E27FC236}">
                <a16:creationId xmlns:a16="http://schemas.microsoft.com/office/drawing/2014/main" id="{451D68CE-6144-4439-BCB6-4965C8E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>校验失败——请求被拒绝</a:t>
            </a:r>
          </a:p>
        </p:txBody>
      </p:sp>
      <p:sp>
        <p:nvSpPr>
          <p:cNvPr id="34" name="s4-invalid-zh">
            <a:extLst xmlns:a="http://schemas.openxmlformats.org/drawingml/2006/main">
              <a:ext uri="{FF2B5EF4-FFF2-40B4-BE49-F238E27FC236}">
                <a16:creationId xmlns:a16="http://schemas.microsoft.com/office/drawing/2014/main" id="{DFCC911E-788C-4A57-A6DE-3C55D70B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672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45" name=""/>
          <p:cNvCxnSpPr>
            <a:stCxn xmlns:a="http://schemas.openxmlformats.org/drawingml/2006/main" id="10" idx="2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219450" y="3114675"/>
            <a:ext cx="1524000" cy="120967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B91C1C"/>
            </a:solidFill>
            <a:prstDash val="dash"/>
            <a:tailEnd type="triangle" w="med" len="med"/>
          </a:ln>
        </p:spPr>
      </p:cxnSp>
      <p:sp>
        <p:nvSpPr>
          <p:cNvPr id="36" name="s4-invalid-label">
            <a:extLst xmlns:a="http://schemas.openxmlformats.org/drawingml/2006/main">
              <a:ext uri="{FF2B5EF4-FFF2-40B4-BE49-F238E27FC236}">
                <a16:creationId xmlns:a16="http://schemas.microsoft.com/office/drawing/2014/main" id="{AE7C67EF-113B-483D-B7D0-25B1A763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75" b="1" i="0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75" b="1" i="0">
                <a:solidFill>
                  <a:srgbClr val="B91C1C"/>
                </a:solidFill>
                <a:latin typeface="Arial"/>
                <a:ea typeface="Arial"/>
                <a:cs typeface="Arial"/>
              </a:rPr>
              <a:t>无效</a:t>
            </a:r>
          </a:p>
        </p:txBody>
      </p:sp>
      <p:sp>
        <p:nvSpPr>
          <p:cNvPr id="37" name="s4-rule-panel">
            <a:extLst xmlns:a="http://schemas.openxmlformats.org/drawingml/2006/main">
              <a:ext uri="{FF2B5EF4-FFF2-40B4-BE49-F238E27FC236}">
                <a16:creationId xmlns:a16="http://schemas.microsoft.com/office/drawing/2014/main" id="{A800871B-8345-460F-B5D1-BAE0C48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3752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s4-rule-text">
            <a:extLst xmlns:a="http://schemas.openxmlformats.org/drawingml/2006/main">
              <a:ext uri="{FF2B5EF4-FFF2-40B4-BE49-F238E27FC236}">
                <a16:creationId xmlns:a16="http://schemas.microsoft.com/office/drawing/2014/main" id="{4D09CF6C-1818-4240-B7C1-56F04F7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3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只有 BOOKED 交易会进入持仓与盈亏计算。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325"/>
            </a:pPr>
            <a:r>
              <a:rPr sz="1325"/>
              <a:t>无效请求不会以 REJECTED 状态持久化。</a:t>
            </a:r>
          </a:p>
        </p:txBody>
      </p:sp>
      <p:sp>
        <p:nvSpPr>
          <p:cNvPr id="39" name="s4-footer-note">
            <a:extLst xmlns:a="http://schemas.openxmlformats.org/drawingml/2006/main">
              <a:ext uri="{FF2B5EF4-FFF2-40B4-BE49-F238E27FC236}">
                <a16:creationId xmlns:a16="http://schemas.microsoft.com/office/drawing/2014/main" id="{A9C187F6-6B42-4499-9560-647821B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持久化交易状态：BOOKED / CANCELLED</a:t>
            </a:r>
          </a:p>
        </p:txBody>
      </p:sp>
      <p:sp>
        <p:nvSpPr>
          <p:cNvPr id="40" name="s4-footer-page">
            <a:extLst xmlns:a="http://schemas.openxmlformats.org/drawingml/2006/main">
              <a:ext uri="{FF2B5EF4-FFF2-40B4-BE49-F238E27FC236}">
                <a16:creationId xmlns:a16="http://schemas.microsoft.com/office/drawing/2014/main" id="{D51DE7C5-546A-4EDD-B1A0-C8D770D1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415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-en">
            <a:extLst xmlns:a="http://schemas.openxmlformats.org/drawingml/2006/main">
              <a:ext uri="{FF2B5EF4-FFF2-40B4-BE49-F238E27FC236}">
                <a16:creationId xmlns:a16="http://schemas.microsoft.com/office/drawing/2014/main" id="{59A25792-A80A-4007-97E6-2978236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模块化单体架构让交易、持仓与估值保持一致</a:t>
            </a:r>
          </a:p>
        </p:txBody>
      </p:sp>
      <p:sp>
        <p:nvSpPr>
          <p:cNvPr id="2" name="s5-title-zh">
            <a:extLst xmlns:a="http://schemas.openxmlformats.org/drawingml/2006/main">
              <a:ext uri="{FF2B5EF4-FFF2-40B4-BE49-F238E27FC236}">
                <a16:creationId xmlns:a16="http://schemas.microsoft.com/office/drawing/2014/main" id="{D2E1F51B-F0A0-4EBD-BBD1-0041A53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E19C4680-95F8-4D3C-A869-4682A85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5-frontend-box">
            <a:extLst xmlns:a="http://schemas.openxmlformats.org/drawingml/2006/main">
              <a:ext uri="{FF2B5EF4-FFF2-40B4-BE49-F238E27FC236}">
                <a16:creationId xmlns:a16="http://schemas.microsoft.com/office/drawing/2014/main" id="{FE4CE10B-15BF-4D6B-BD7C-AB124310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5" name="s5-frontend-en">
            <a:extLst xmlns:a="http://schemas.openxmlformats.org/drawingml/2006/main">
              <a:ext uri="{FF2B5EF4-FFF2-40B4-BE49-F238E27FC236}">
                <a16:creationId xmlns:a16="http://schemas.microsoft.com/office/drawing/2014/main" id="{91DF06B7-5656-4D1D-A954-2CE6146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交易控制台</a:t>
            </a:r>
          </a:p>
        </p:txBody>
      </p:sp>
      <p:sp>
        <p:nvSpPr>
          <p:cNvPr id="6" name="s5-frontend-zh">
            <a:extLst xmlns:a="http://schemas.openxmlformats.org/drawingml/2006/main">
              <a:ext uri="{FF2B5EF4-FFF2-40B4-BE49-F238E27FC236}">
                <a16:creationId xmlns:a16="http://schemas.microsoft.com/office/drawing/2014/main" id="{03A398C2-768D-421F-ACE8-AC961D6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s5-api-box">
            <a:extLst xmlns:a="http://schemas.openxmlformats.org/drawingml/2006/main">
              <a:ext uri="{FF2B5EF4-FFF2-40B4-BE49-F238E27FC236}">
                <a16:creationId xmlns:a16="http://schemas.microsoft.com/office/drawing/2014/main" id="{BD475ECC-353A-453C-9FF8-941B737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4267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s5-api-en">
            <a:extLst xmlns:a="http://schemas.openxmlformats.org/drawingml/2006/main">
              <a:ext uri="{FF2B5EF4-FFF2-40B4-BE49-F238E27FC236}">
                <a16:creationId xmlns:a16="http://schemas.microsoft.com/office/drawing/2014/main" id="{F9C53E2B-20CF-461B-A45F-579107F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5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接口层</a:t>
            </a:r>
          </a:p>
        </p:txBody>
      </p:sp>
      <p:sp>
        <p:nvSpPr>
          <p:cNvPr id="9" name="s5-api-zh">
            <a:extLst xmlns:a="http://schemas.openxmlformats.org/drawingml/2006/main">
              <a:ext uri="{FF2B5EF4-FFF2-40B4-BE49-F238E27FC236}">
                <a16:creationId xmlns:a16="http://schemas.microsoft.com/office/drawing/2014/main" id="{30E409B2-D719-44FC-B15E-E1A9E47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145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s5-provider-box">
            <a:extLst xmlns:a="http://schemas.openxmlformats.org/drawingml/2006/main">
              <a:ext uri="{FF2B5EF4-FFF2-40B4-BE49-F238E27FC236}">
                <a16:creationId xmlns:a16="http://schemas.microsoft.com/office/drawing/2014/main" id="{114D6700-806C-45D3-A915-0C7A083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11" name="s5-provider-en">
            <a:extLst xmlns:a="http://schemas.openxmlformats.org/drawingml/2006/main">
              <a:ext uri="{FF2B5EF4-FFF2-40B4-BE49-F238E27FC236}">
                <a16:creationId xmlns:a16="http://schemas.microsoft.com/office/drawing/2014/main" id="{8B2EBC0F-E8C1-4859-942B-399962D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478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Finnhub / Mock</a:t>
            </a:r>
          </a:p>
        </p:txBody>
      </p:sp>
      <p:sp>
        <p:nvSpPr>
          <p:cNvPr id="12" name="s5-provider-zh">
            <a:extLst xmlns:a="http://schemas.openxmlformats.org/drawingml/2006/main">
              <a:ext uri="{FF2B5EF4-FFF2-40B4-BE49-F238E27FC236}">
                <a16:creationId xmlns:a16="http://schemas.microsoft.com/office/drawing/2014/main" id="{DCF942EA-7569-45B5-9FDC-8F8A498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s5-service-shell">
            <a:extLst xmlns:a="http://schemas.openxmlformats.org/drawingml/2006/main">
              <a:ext uri="{FF2B5EF4-FFF2-40B4-BE49-F238E27FC236}">
                <a16:creationId xmlns:a16="http://schemas.microsoft.com/office/drawing/2014/main" id="{B7BAAA44-6EFF-4B42-9A60-02A24B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7048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s5-service-label">
            <a:extLst xmlns:a="http://schemas.openxmlformats.org/drawingml/2006/main">
              <a:ext uri="{FF2B5EF4-FFF2-40B4-BE49-F238E27FC236}">
                <a16:creationId xmlns:a16="http://schemas.microsoft.com/office/drawing/2014/main" id="{59F21A53-24B1-45E5-AE00-EBA7A82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651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应用与领域服务</a:t>
            </a:r>
          </a:p>
        </p:txBody>
      </p:sp>
      <p:sp>
        <p:nvSpPr>
          <p:cNvPr id="15" name="s5-service-0-box">
            <a:extLst xmlns:a="http://schemas.openxmlformats.org/drawingml/2006/main">
              <a:ext uri="{FF2B5EF4-FFF2-40B4-BE49-F238E27FC236}">
                <a16:creationId xmlns:a16="http://schemas.microsoft.com/office/drawing/2014/main" id="{24E7F42A-AEA5-48BF-B78C-E1C642D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5-service-0-en">
            <a:extLst xmlns:a="http://schemas.openxmlformats.org/drawingml/2006/main">
              <a:ext uri="{FF2B5EF4-FFF2-40B4-BE49-F238E27FC236}">
                <a16:creationId xmlns:a16="http://schemas.microsoft.com/office/drawing/2014/main" id="{55167D51-D993-47D4-AEC5-9F7C368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交易服务</a:t>
            </a:r>
          </a:p>
        </p:txBody>
      </p:sp>
      <p:sp>
        <p:nvSpPr>
          <p:cNvPr id="17" name="s5-service-0-zh">
            <a:extLst xmlns:a="http://schemas.openxmlformats.org/drawingml/2006/main">
              <a:ext uri="{FF2B5EF4-FFF2-40B4-BE49-F238E27FC236}">
                <a16:creationId xmlns:a16="http://schemas.microsoft.com/office/drawing/2014/main" id="{156FB500-4533-42ED-81BA-41DF50B5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s5-service-1-box">
            <a:extLst xmlns:a="http://schemas.openxmlformats.org/drawingml/2006/main">
              <a:ext uri="{FF2B5EF4-FFF2-40B4-BE49-F238E27FC236}">
                <a16:creationId xmlns:a16="http://schemas.microsoft.com/office/drawing/2014/main" id="{FC39CD63-BEF1-46B9-9B27-6812E60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9" name="s5-service-1-en">
            <a:extLst xmlns:a="http://schemas.openxmlformats.org/drawingml/2006/main">
              <a:ext uri="{FF2B5EF4-FFF2-40B4-BE49-F238E27FC236}">
                <a16:creationId xmlns:a16="http://schemas.microsoft.com/office/drawing/2014/main" id="{BF373813-2F25-4F26-8AF4-46B2FA8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校验服务</a:t>
            </a:r>
          </a:p>
        </p:txBody>
      </p:sp>
      <p:sp>
        <p:nvSpPr>
          <p:cNvPr id="20" name="s5-service-1-zh">
            <a:extLst xmlns:a="http://schemas.openxmlformats.org/drawingml/2006/main">
              <a:ext uri="{FF2B5EF4-FFF2-40B4-BE49-F238E27FC236}">
                <a16:creationId xmlns:a16="http://schemas.microsoft.com/office/drawing/2014/main" id="{2D4E9891-9CA5-4646-AECF-374817D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s5-service-2-box">
            <a:extLst xmlns:a="http://schemas.openxmlformats.org/drawingml/2006/main">
              <a:ext uri="{FF2B5EF4-FFF2-40B4-BE49-F238E27FC236}">
                <a16:creationId xmlns:a16="http://schemas.microsoft.com/office/drawing/2014/main" id="{68E64D5F-EC21-4BDA-BDB9-9135D068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s5-service-2-en">
            <a:extLst xmlns:a="http://schemas.openxmlformats.org/drawingml/2006/main">
              <a:ext uri="{FF2B5EF4-FFF2-40B4-BE49-F238E27FC236}">
                <a16:creationId xmlns:a16="http://schemas.microsoft.com/office/drawing/2014/main" id="{2AF3548C-4292-41A7-B86B-4134D5CE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持仓服务</a:t>
            </a:r>
          </a:p>
        </p:txBody>
      </p:sp>
      <p:sp>
        <p:nvSpPr>
          <p:cNvPr id="23" name="s5-service-2-zh">
            <a:extLst xmlns:a="http://schemas.openxmlformats.org/drawingml/2006/main">
              <a:ext uri="{FF2B5EF4-FFF2-40B4-BE49-F238E27FC236}">
                <a16:creationId xmlns:a16="http://schemas.microsoft.com/office/drawing/2014/main" id="{1D0F80EC-177A-4B99-A287-9236A2E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5-service-3-box">
            <a:extLst xmlns:a="http://schemas.openxmlformats.org/drawingml/2006/main">
              <a:ext uri="{FF2B5EF4-FFF2-40B4-BE49-F238E27FC236}">
                <a16:creationId xmlns:a16="http://schemas.microsoft.com/office/drawing/2014/main" id="{73E7FDCF-5BA7-488E-8140-F7A4E25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5" name="s5-service-3-en">
            <a:extLst xmlns:a="http://schemas.openxmlformats.org/drawingml/2006/main">
              <a:ext uri="{FF2B5EF4-FFF2-40B4-BE49-F238E27FC236}">
                <a16:creationId xmlns:a16="http://schemas.microsoft.com/office/drawing/2014/main" id="{ABA8EA58-1617-4088-ABB0-85F4DF9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盈亏服务</a:t>
            </a:r>
          </a:p>
        </p:txBody>
      </p:sp>
      <p:sp>
        <p:nvSpPr>
          <p:cNvPr id="26" name="s5-service-3-zh">
            <a:extLst xmlns:a="http://schemas.openxmlformats.org/drawingml/2006/main">
              <a:ext uri="{FF2B5EF4-FFF2-40B4-BE49-F238E27FC236}">
                <a16:creationId xmlns:a16="http://schemas.microsoft.com/office/drawing/2014/main" id="{FE8548D5-8265-450A-BD01-4733CA2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7" name="s5-mysql-box">
            <a:extLst xmlns:a="http://schemas.openxmlformats.org/drawingml/2006/main">
              <a:ext uri="{FF2B5EF4-FFF2-40B4-BE49-F238E27FC236}">
                <a16:creationId xmlns:a16="http://schemas.microsoft.com/office/drawing/2014/main" id="{9C644367-51E7-4959-800E-4D9ADC1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28" name="s5-mysql-en">
            <a:extLst xmlns:a="http://schemas.openxmlformats.org/drawingml/2006/main">
              <a:ext uri="{FF2B5EF4-FFF2-40B4-BE49-F238E27FC236}">
                <a16:creationId xmlns:a16="http://schemas.microsoft.com/office/drawing/2014/main" id="{8432874D-B1E8-4F8B-AACE-CBAB5F9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840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系统记录：账户、交易、估值快照</a:t>
            </a:r>
          </a:p>
        </p:txBody>
      </p:sp>
      <p:sp>
        <p:nvSpPr>
          <p:cNvPr id="29" name="s5-mysql-zh">
            <a:extLst xmlns:a="http://schemas.openxmlformats.org/drawingml/2006/main">
              <a:ext uri="{FF2B5EF4-FFF2-40B4-BE49-F238E27FC236}">
                <a16:creationId xmlns:a16="http://schemas.microsoft.com/office/drawing/2014/main" id="{C2E445B3-89F8-40BE-AF99-F7B5082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s5-redis-box">
            <a:extLst xmlns:a="http://schemas.openxmlformats.org/drawingml/2006/main">
              <a:ext uri="{FF2B5EF4-FFF2-40B4-BE49-F238E27FC236}">
                <a16:creationId xmlns:a16="http://schemas.microsoft.com/office/drawing/2014/main" id="{9AA959F3-2F7E-49A7-8693-DFE78BC0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276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4C90"/>
            </a:solidFill>
            <a:prstDash val="solid"/>
          </a:ln>
        </p:spPr>
      </p:sp>
      <p:sp>
        <p:nvSpPr>
          <p:cNvPr id="31" name="s5-redis-en">
            <a:extLst xmlns:a="http://schemas.openxmlformats.org/drawingml/2006/main">
              <a:ext uri="{FF2B5EF4-FFF2-40B4-BE49-F238E27FC236}">
                <a16:creationId xmlns:a16="http://schemas.microsoft.com/office/drawing/2014/main" id="{EDB955F3-CDB0-40C2-894B-E0B91C04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0545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仅缓存市场报价</a:t>
            </a:r>
          </a:p>
        </p:txBody>
      </p:sp>
      <p:sp>
        <p:nvSpPr>
          <p:cNvPr id="32" name="s5-redis-zh">
            <a:extLst xmlns:a="http://schemas.openxmlformats.org/drawingml/2006/main">
              <a:ext uri="{FF2B5EF4-FFF2-40B4-BE49-F238E27FC236}">
                <a16:creationId xmlns:a16="http://schemas.microsoft.com/office/drawing/2014/main" id="{A3D7BBE8-EF55-4EA2-B5CD-F06D9EF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72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15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21526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53400" y="21526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1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5191125" y="2571750"/>
            <a:ext cx="828675" cy="1143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2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2481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163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0550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164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62850" y="41624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BD5E1"/>
            </a:solidFill>
            <a:prstDash val="solid"/>
            <a:tailEnd type="triangle" w="med" len="med"/>
          </a:ln>
        </p:spPr>
      </p:cxnSp>
      <p:cxnSp>
        <p:nvCxnSpPr>
          <p:cNvPr id="165" name=""/>
          <p:cNvCxnSpPr>
            <a:stCxn xmlns:a="http://schemas.openxmlformats.org/drawingml/2006/main" id="1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533775" y="4610100"/>
            <a:ext cx="5143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6" name=""/>
          <p:cNvCxnSpPr>
            <a:stCxn xmlns:a="http://schemas.openxmlformats.org/drawingml/2006/main" id="2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143875" y="4610100"/>
            <a:ext cx="361950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167" name=""/>
          <p:cNvCxnSpPr>
            <a:stCxn xmlns:a="http://schemas.openxmlformats.org/drawingml/2006/main" id="10" idx="2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9525000" y="2571750"/>
            <a:ext cx="619125" cy="31527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B45309"/>
            </a:solidFill>
            <a:prstDash val="solid"/>
            <a:tailEnd type="triangle" w="med" len="med"/>
          </a:ln>
        </p:spPr>
      </p:cxnSp>
      <p:sp>
        <p:nvSpPr>
          <p:cNvPr id="42" name="s5-direction">
            <a:extLst xmlns:a="http://schemas.openxmlformats.org/drawingml/2006/main">
              <a:ext uri="{FF2B5EF4-FFF2-40B4-BE49-F238E27FC236}">
                <a16:creationId xmlns:a16="http://schemas.microsoft.com/office/drawing/2014/main" id="{F681BCF8-0D87-43AD-9D1A-E817208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1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HTTP API  →  应用层  →  领域层  ←  基础设施</a:t>
            </a:r>
          </a:p>
        </p:txBody>
      </p:sp>
      <p:sp>
        <p:nvSpPr>
          <p:cNvPr id="43" name="s5-footer-note">
            <a:extLst xmlns:a="http://schemas.openxmlformats.org/drawingml/2006/main">
              <a:ext uri="{FF2B5EF4-FFF2-40B4-BE49-F238E27FC236}">
                <a16:creationId xmlns:a16="http://schemas.microsoft.com/office/drawing/2014/main" id="{67308164-F8ED-4418-BCA2-5FD6CE4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MySQL 是系统记录；Redis 是可丢弃缓存</a:t>
            </a:r>
          </a:p>
        </p:txBody>
      </p:sp>
      <p:sp>
        <p:nvSpPr>
          <p:cNvPr id="44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A1761409-4FE2-46C3-965A-055E0A9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5877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title-en">
            <a:extLst xmlns:a="http://schemas.openxmlformats.org/drawingml/2006/main">
              <a:ext uri="{FF2B5EF4-FFF2-40B4-BE49-F238E27FC236}">
                <a16:creationId xmlns:a16="http://schemas.microsoft.com/office/drawing/2014/main" id="{6F24A1FF-9A88-487F-8375-EAFA13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技术栈以可靠持久化、快速行情访问与可测试部署为核心</a:t>
            </a:r>
          </a:p>
        </p:txBody>
      </p:sp>
      <p:sp>
        <p:nvSpPr>
          <p:cNvPr id="2" name="s6-title-zh">
            <a:extLst xmlns:a="http://schemas.openxmlformats.org/drawingml/2006/main">
              <a:ext uri="{FF2B5EF4-FFF2-40B4-BE49-F238E27FC236}">
                <a16:creationId xmlns:a16="http://schemas.microsoft.com/office/drawing/2014/main" id="{5102D7F7-F018-4AAB-9EDC-8574722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54C825A1-7538-423A-8AF2-98D8A32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581150"/>
          <a:ext xmlns:a="http://schemas.openxmlformats.org/drawingml/2006/main" cx="11125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476500"/>
                <a:gridCol w="3829050"/>
                <a:gridCol w="3219450"/>
              </a:tblGrid>
              <a:tr h="598714"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层级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组件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技术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前端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交易控制台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React 19 + TypeScript 6 + Vite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用户界面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后端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REST API 服务器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Spring Boot 3.5.14 + Java 21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业务规则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数据库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账户、交易与估值快照存储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MySQL 8.4 + Flyway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系统记录与持久化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缓存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市场报价缓存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Redis 7.4.2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新鲜缓存与过期降级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外部服务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市场数据提供方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Finnhub API 或确定性模拟源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行情来源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容器化与持续交付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5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Docker Compose + Nginx + GitHub Actions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33B"/>
                          </a:solidFill>
                          <a:latin typeface="Arial"/>
                          <a:ea typeface="Arial"/>
                          <a:cs typeface="Arial"/>
                        </a:rPr>
                        <a:t>运行、测试与部署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6-correction">
            <a:extLst xmlns:a="http://schemas.openxmlformats.org/drawingml/2006/main">
              <a:ext uri="{FF2B5EF4-FFF2-40B4-BE49-F238E27FC236}">
                <a16:creationId xmlns:a16="http://schemas.microsoft.com/office/drawing/2014/main" id="{A25BB6E9-1501-46BA-9ECD-C1F3B5D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6" name="s6-correction-text">
            <a:extLst xmlns:a="http://schemas.openxmlformats.org/drawingml/2006/main">
              <a:ext uri="{FF2B5EF4-FFF2-40B4-BE49-F238E27FC236}">
                <a16:creationId xmlns:a16="http://schemas.microsoft.com/office/drawing/2014/main" id="{C3F5D618-F47E-406B-9D63-9D039CE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源码核验：后端目标版本为 Java 21，而非 Java 17。</a:t>
            </a:r>
          </a:p>
        </p:txBody>
      </p:sp>
      <p:sp>
        <p:nvSpPr>
          <p:cNvPr id="7" name="s6-footer-note">
            <a:extLst xmlns:a="http://schemas.openxmlformats.org/drawingml/2006/main">
              <a:ext uri="{FF2B5EF4-FFF2-40B4-BE49-F238E27FC236}">
                <a16:creationId xmlns:a16="http://schemas.microsoft.com/office/drawing/2014/main" id="{D4B727FB-7A01-4F69-B512-331BD15E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版本已根据 pom.xml、package.json 与 compose.yaml 核验</a:t>
            </a:r>
          </a:p>
        </p:txBody>
      </p:sp>
      <p:sp>
        <p:nvSpPr>
          <p:cNvPr id="8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19DAEECD-3FB5-4FFC-8842-FCED0AF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9938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title-en">
            <a:extLst xmlns:a="http://schemas.openxmlformats.org/drawingml/2006/main">
              <a:ext uri="{FF2B5EF4-FFF2-40B4-BE49-F238E27FC236}">
                <a16:creationId xmlns:a16="http://schemas.microsoft.com/office/drawing/2014/main" id="{91BC34CB-420B-4E6A-AE55-C639A10E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核心功能一：交易入账与校验</a:t>
            </a:r>
          </a:p>
        </p:txBody>
      </p:sp>
      <p:sp>
        <p:nvSpPr>
          <p:cNvPr id="2" name="s7-title-zh">
            <a:extLst xmlns:a="http://schemas.openxmlformats.org/drawingml/2006/main">
              <a:ext uri="{FF2B5EF4-FFF2-40B4-BE49-F238E27FC236}">
                <a16:creationId xmlns:a16="http://schemas.microsoft.com/office/drawing/2014/main" id="{AC56DD76-0B92-4F18-A0DB-B9AD41F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7-title-rule">
            <a:extLst xmlns:a="http://schemas.openxmlformats.org/drawingml/2006/main">
              <a:ext uri="{FF2B5EF4-FFF2-40B4-BE49-F238E27FC236}">
                <a16:creationId xmlns:a16="http://schemas.microsoft.com/office/drawing/2014/main" id="{CE7545AA-8DA7-4E73-A45F-6B32E30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7-intro">
            <a:extLst xmlns:a="http://schemas.openxmlformats.org/drawingml/2006/main">
              <a:ext uri="{FF2B5EF4-FFF2-40B4-BE49-F238E27FC236}">
                <a16:creationId xmlns:a16="http://schemas.microsoft.com/office/drawing/2014/main" id="{09EF9C93-48B2-4C2B-86C3-3DF860C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在写入数据库之前，系统同时校验输入数据与业务规则。</a:t>
            </a:r>
          </a:p>
        </p:txBody>
      </p:sp>
      <p:sp>
        <p:nvSpPr>
          <p:cNvPr id="5" name="s7-left-panel">
            <a:extLst xmlns:a="http://schemas.openxmlformats.org/drawingml/2006/main">
              <a:ext uri="{FF2B5EF4-FFF2-40B4-BE49-F238E27FC236}">
                <a16:creationId xmlns:a16="http://schemas.microsoft.com/office/drawing/2014/main" id="{61E03A9E-314D-4D92-A8BC-F813776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143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9537FE98-B466-4190-9704-A5B11AB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输入校验</a:t>
            </a:r>
          </a:p>
        </p:txBody>
      </p:sp>
      <p:sp>
        <p:nvSpPr>
          <p:cNvPr id="7" name="s7-left-0-dot">
            <a:extLst xmlns:a="http://schemas.openxmlformats.org/drawingml/2006/main">
              <a:ext uri="{FF2B5EF4-FFF2-40B4-BE49-F238E27FC236}">
                <a16:creationId xmlns:a16="http://schemas.microsoft.com/office/drawing/2014/main" id="{F4850D09-A9E5-4829-B841-60772CA8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s7-left-0-text">
            <a:extLst xmlns:a="http://schemas.openxmlformats.org/drawingml/2006/main">
              <a:ext uri="{FF2B5EF4-FFF2-40B4-BE49-F238E27FC236}">
                <a16:creationId xmlns:a16="http://schemas.microsoft.com/office/drawing/2014/main" id="{C46725F3-B993-452B-BDE7-A894FFE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经验证的美股、ADR 或 ETF</a:t>
            </a:r>
          </a:p>
        </p:txBody>
      </p:sp>
      <p:sp>
        <p:nvSpPr>
          <p:cNvPr id="9" name="s7-left-1-dot">
            <a:extLst xmlns:a="http://schemas.openxmlformats.org/drawingml/2006/main">
              <a:ext uri="{FF2B5EF4-FFF2-40B4-BE49-F238E27FC236}">
                <a16:creationId xmlns:a16="http://schemas.microsoft.com/office/drawing/2014/main" id="{CE17B0CB-C5DD-4534-A85E-9D732C9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7-left-1-text">
            <a:extLst xmlns:a="http://schemas.openxmlformats.org/drawingml/2006/main">
              <a:ext uri="{FF2B5EF4-FFF2-40B4-BE49-F238E27FC236}">
                <a16:creationId xmlns:a16="http://schemas.microsoft.com/office/drawing/2014/main" id="{53DFD2B4-3DC6-4214-BDB0-15EDF09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数量与价格必须大于 0</a:t>
            </a:r>
          </a:p>
        </p:txBody>
      </p:sp>
      <p:sp>
        <p:nvSpPr>
          <p:cNvPr id="11" name="s7-left-2-dot">
            <a:extLst xmlns:a="http://schemas.openxmlformats.org/drawingml/2006/main">
              <a:ext uri="{FF2B5EF4-FFF2-40B4-BE49-F238E27FC236}">
                <a16:creationId xmlns:a16="http://schemas.microsoft.com/office/drawing/2014/main" id="{A7C5331F-1FF9-44BE-87FD-02E87E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7-left-2-text">
            <a:extLst xmlns:a="http://schemas.openxmlformats.org/drawingml/2006/main">
              <a:ext uri="{FF2B5EF4-FFF2-40B4-BE49-F238E27FC236}">
                <a16:creationId xmlns:a16="http://schemas.microsoft.com/office/drawing/2014/main" id="{29D18D71-1412-4F36-95BE-5B5F148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成交时间不得超过允许的未来范围</a:t>
            </a:r>
          </a:p>
        </p:txBody>
      </p:sp>
      <p:sp>
        <p:nvSpPr>
          <p:cNvPr id="13" name="s7-left-3-dot">
            <a:extLst xmlns:a="http://schemas.openxmlformats.org/drawingml/2006/main">
              <a:ext uri="{FF2B5EF4-FFF2-40B4-BE49-F238E27FC236}">
                <a16:creationId xmlns:a16="http://schemas.microsoft.com/office/drawing/2014/main" id="{2573CCC4-C43E-4E5C-9693-9A41813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7-left-3-text">
            <a:extLst xmlns:a="http://schemas.openxmlformats.org/drawingml/2006/main">
              <a:ext uri="{FF2B5EF4-FFF2-40B4-BE49-F238E27FC236}">
                <a16:creationId xmlns:a16="http://schemas.microsoft.com/office/drawing/2014/main" id="{08E76A03-186F-43F6-90A4-8DFAF18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必须使用启用的美元证券账户</a:t>
            </a:r>
          </a:p>
        </p:txBody>
      </p:sp>
      <p:sp>
        <p:nvSpPr>
          <p:cNvPr id="15" name="s7-right-panel">
            <a:extLst xmlns:a="http://schemas.openxmlformats.org/drawingml/2006/main">
              <a:ext uri="{FF2B5EF4-FFF2-40B4-BE49-F238E27FC236}">
                <a16:creationId xmlns:a16="http://schemas.microsoft.com/office/drawing/2014/main" id="{CBE553F2-6C94-483A-AB3C-D255A94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56769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6EAEFB9C-FE57-4ECE-AA01-09848CC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8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头寸安全规则</a:t>
            </a:r>
          </a:p>
        </p:txBody>
      </p:sp>
      <p:sp>
        <p:nvSpPr>
          <p:cNvPr id="17" name="s7-right-0-dot">
            <a:extLst xmlns:a="http://schemas.openxmlformats.org/drawingml/2006/main">
              <a:ext uri="{FF2B5EF4-FFF2-40B4-BE49-F238E27FC236}">
                <a16:creationId xmlns:a16="http://schemas.microsoft.com/office/drawing/2014/main" id="{C19F42B5-495E-4648-A399-12746BB1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18" name="s7-right-0-text">
            <a:extLst xmlns:a="http://schemas.openxmlformats.org/drawingml/2006/main">
              <a:ext uri="{FF2B5EF4-FFF2-40B4-BE49-F238E27FC236}">
                <a16:creationId xmlns:a16="http://schemas.microsoft.com/office/drawing/2014/main" id="{18C8B4C7-B2A4-4701-A95E-8DB6C4E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卖出数量不能超过当时持仓</a:t>
            </a:r>
          </a:p>
        </p:txBody>
      </p:sp>
      <p:sp>
        <p:nvSpPr>
          <p:cNvPr id="19" name="s7-right-1-dot">
            <a:extLst xmlns:a="http://schemas.openxmlformats.org/drawingml/2006/main">
              <a:ext uri="{FF2B5EF4-FFF2-40B4-BE49-F238E27FC236}">
                <a16:creationId xmlns:a16="http://schemas.microsoft.com/office/drawing/2014/main" id="{5E134174-937B-43A2-B5EF-0F23D01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0" name="s7-right-1-text">
            <a:extLst xmlns:a="http://schemas.openxmlformats.org/drawingml/2006/main">
              <a:ext uri="{FF2B5EF4-FFF2-40B4-BE49-F238E27FC236}">
                <a16:creationId xmlns:a16="http://schemas.microsoft.com/office/drawing/2014/main" id="{0A79904A-F8E6-4B73-89A7-979CA2D3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052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取消或修改会重新回放交易时间线</a:t>
            </a:r>
          </a:p>
        </p:txBody>
      </p:sp>
      <p:sp>
        <p:nvSpPr>
          <p:cNvPr id="21" name="s7-right-2-dot">
            <a:extLst xmlns:a="http://schemas.openxmlformats.org/drawingml/2006/main">
              <a:ext uri="{FF2B5EF4-FFF2-40B4-BE49-F238E27FC236}">
                <a16:creationId xmlns:a16="http://schemas.microsoft.com/office/drawing/2014/main" id="{108B12DA-46BB-4D27-811F-382135C4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C90"/>
          </a:solidFill>
          <a:ln xmlns:a="http://schemas.openxmlformats.org/drawingml/2006/main" w="0">
            <a:solidFill>
              <a:srgbClr val="174C90"/>
            </a:solidFill>
            <a:prstDash val="solid"/>
          </a:ln>
        </p:spPr>
      </p:sp>
      <p:sp>
        <p:nvSpPr>
          <p:cNvPr id="22" name="s7-right-2-text">
            <a:extLst xmlns:a="http://schemas.openxmlformats.org/drawingml/2006/main">
              <a:ext uri="{FF2B5EF4-FFF2-40B4-BE49-F238E27FC236}">
                <a16:creationId xmlns:a16="http://schemas.microsoft.com/office/drawing/2014/main" id="{BA7924F7-01D5-43E0-B94E-9A78FC4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05300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不支持卖空，任何时点都不得出现负持仓</a:t>
            </a:r>
          </a:p>
        </p:txBody>
      </p:sp>
      <p:sp>
        <p:nvSpPr>
          <p:cNvPr id="23" name="s7-result">
            <a:extLst xmlns:a="http://schemas.openxmlformats.org/drawingml/2006/main">
              <a:ext uri="{FF2B5EF4-FFF2-40B4-BE49-F238E27FC236}">
                <a16:creationId xmlns:a16="http://schemas.microsoft.com/office/drawing/2014/main" id="{05557013-1E50-41B7-99C3-8604572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4" name="s7-result-text">
            <a:extLst xmlns:a="http://schemas.openxmlformats.org/drawingml/2006/main">
              <a:ext uri="{FF2B5EF4-FFF2-40B4-BE49-F238E27FC236}">
                <a16:creationId xmlns:a16="http://schemas.microsoft.com/office/drawing/2014/main" id="{A0104A3C-5A77-426E-A23C-B8F2348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29275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有效 → BOOKED 入账    |    无效 → 返回结构化错误</a:t>
            </a:r>
          </a:p>
        </p:txBody>
      </p:sp>
      <p:sp>
        <p:nvSpPr>
          <p:cNvPr id="25" name="s7-footer-note">
            <a:extLst xmlns:a="http://schemas.openxmlformats.org/drawingml/2006/main">
              <a:ext uri="{FF2B5EF4-FFF2-40B4-BE49-F238E27FC236}">
                <a16:creationId xmlns:a16="http://schemas.microsoft.com/office/drawing/2014/main" id="{391F0DAA-9852-460C-856F-8266004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来源：已部署应用与代码仓库</a:t>
            </a:r>
          </a:p>
        </p:txBody>
      </p:sp>
      <p:sp>
        <p:nvSpPr>
          <p:cNvPr id="26" name="s7-footer-page">
            <a:extLst xmlns:a="http://schemas.openxmlformats.org/drawingml/2006/main">
              <a:ext uri="{FF2B5EF4-FFF2-40B4-BE49-F238E27FC236}">
                <a16:creationId xmlns:a16="http://schemas.microsoft.com/office/drawing/2014/main" id="{5A3056BD-F77E-4795-81B6-2A776C0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646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title-en">
            <a:extLst xmlns:a="http://schemas.openxmlformats.org/drawingml/2006/main">
              <a:ext uri="{FF2B5EF4-FFF2-40B4-BE49-F238E27FC236}">
                <a16:creationId xmlns:a16="http://schemas.microsoft.com/office/drawing/2014/main" id="{ABE165A9-FB04-4BCE-887A-D6B55DE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核心功能二：持仓管理与未实现盈亏</a:t>
            </a:r>
          </a:p>
        </p:txBody>
      </p:sp>
      <p:sp>
        <p:nvSpPr>
          <p:cNvPr id="2" name="s8-title-zh">
            <a:extLst xmlns:a="http://schemas.openxmlformats.org/drawingml/2006/main">
              <a:ext uri="{FF2B5EF4-FFF2-40B4-BE49-F238E27FC236}">
                <a16:creationId xmlns:a16="http://schemas.microsoft.com/office/drawing/2014/main" id="{0021B581-631F-4F0C-BA75-2B48E82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8-title-rule">
            <a:extLst xmlns:a="http://schemas.openxmlformats.org/drawingml/2006/main">
              <a:ext uri="{FF2B5EF4-FFF2-40B4-BE49-F238E27FC236}">
                <a16:creationId xmlns:a16="http://schemas.microsoft.com/office/drawing/2014/main" id="{E909A2D9-743C-4542-BED7-96F2C69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8-left-shell">
            <a:extLst xmlns:a="http://schemas.openxmlformats.org/drawingml/2006/main">
              <a:ext uri="{FF2B5EF4-FFF2-40B4-BE49-F238E27FC236}">
                <a16:creationId xmlns:a16="http://schemas.microsoft.com/office/drawing/2014/main" id="{BA481775-A168-4FD1-BF22-677347F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143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E175519D-6563-4F85-81F7-002EC68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持仓引擎</a:t>
            </a:r>
          </a:p>
        </p:txBody>
      </p:sp>
      <p:sp>
        <p:nvSpPr>
          <p:cNvPr id="6" name="s8-p1-box">
            <a:extLst xmlns:a="http://schemas.openxmlformats.org/drawingml/2006/main">
              <a:ext uri="{FF2B5EF4-FFF2-40B4-BE49-F238E27FC236}">
                <a16:creationId xmlns:a16="http://schemas.microsoft.com/office/drawing/2014/main" id="{E19DB466-9F8B-42F3-BBF2-AD2EE6B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7" name="s8-p1-en">
            <a:extLst xmlns:a="http://schemas.openxmlformats.org/drawingml/2006/main">
              <a:ext uri="{FF2B5EF4-FFF2-40B4-BE49-F238E27FC236}">
                <a16:creationId xmlns:a16="http://schemas.microsoft.com/office/drawing/2014/main" id="{36584333-57E5-4805-88E2-885E0960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只回放已入账交易</a:t>
            </a:r>
          </a:p>
        </p:txBody>
      </p:sp>
      <p:sp>
        <p:nvSpPr>
          <p:cNvPr id="8" name="s8-p1-zh">
            <a:extLst xmlns:a="http://schemas.openxmlformats.org/drawingml/2006/main">
              <a:ext uri="{FF2B5EF4-FFF2-40B4-BE49-F238E27FC236}">
                <a16:creationId xmlns:a16="http://schemas.microsoft.com/office/drawing/2014/main" id="{04A44534-04DC-46BC-ABB5-01E98431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s8-p2-box">
            <a:extLst xmlns:a="http://schemas.openxmlformats.org/drawingml/2006/main">
              <a:ext uri="{FF2B5EF4-FFF2-40B4-BE49-F238E27FC236}">
                <a16:creationId xmlns:a16="http://schemas.microsoft.com/office/drawing/2014/main" id="{8905FA38-9ADA-489A-A997-7BB22A4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0" name="s8-p2-en">
            <a:extLst xmlns:a="http://schemas.openxmlformats.org/drawingml/2006/main">
              <a:ext uri="{FF2B5EF4-FFF2-40B4-BE49-F238E27FC236}">
                <a16:creationId xmlns:a16="http://schemas.microsoft.com/office/drawing/2014/main" id="{5288D339-4CF1-4DB2-BF75-28656ADB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按成交、创建时间与 ID 排序回放</a:t>
            </a:r>
          </a:p>
        </p:txBody>
      </p:sp>
      <p:sp>
        <p:nvSpPr>
          <p:cNvPr id="11" name="s8-p2-zh">
            <a:extLst xmlns:a="http://schemas.openxmlformats.org/drawingml/2006/main">
              <a:ext uri="{FF2B5EF4-FFF2-40B4-BE49-F238E27FC236}">
                <a16:creationId xmlns:a16="http://schemas.microsoft.com/office/drawing/2014/main" id="{093B76F9-6671-40CD-A5AB-823A7659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s8-p3-box">
            <a:extLst xmlns:a="http://schemas.openxmlformats.org/drawingml/2006/main">
              <a:ext uri="{FF2B5EF4-FFF2-40B4-BE49-F238E27FC236}">
                <a16:creationId xmlns:a16="http://schemas.microsoft.com/office/drawing/2014/main" id="{DF818DBC-710B-4A42-BB42-85E4D82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3" name="s8-p3-en">
            <a:extLst xmlns:a="http://schemas.openxmlformats.org/drawingml/2006/main">
              <a:ext uri="{FF2B5EF4-FFF2-40B4-BE49-F238E27FC236}">
                <a16:creationId xmlns:a16="http://schemas.microsoft.com/office/drawing/2014/main" id="{C04ABEFD-CEF7-4F6D-9F51-0F74B5C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4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数量、平均成本与成本基础</a:t>
            </a:r>
          </a:p>
        </p:txBody>
      </p:sp>
      <p:sp>
        <p:nvSpPr>
          <p:cNvPr id="14" name="s8-p3-zh">
            <a:extLst xmlns:a="http://schemas.openxmlformats.org/drawingml/2006/main">
              <a:ext uri="{FF2B5EF4-FFF2-40B4-BE49-F238E27FC236}">
                <a16:creationId xmlns:a16="http://schemas.microsoft.com/office/drawing/2014/main" id="{DD7E1196-10BD-455A-BA0D-63BBD12F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7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962275" y="30480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962275" y="4019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s8-right-shell">
            <a:extLst xmlns:a="http://schemas.openxmlformats.org/drawingml/2006/main">
              <a:ext uri="{FF2B5EF4-FFF2-40B4-BE49-F238E27FC236}">
                <a16:creationId xmlns:a16="http://schemas.microsoft.com/office/drawing/2014/main" id="{4045F9F6-8ECB-4BC2-A19F-F638EE95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56769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3F23A276-3704-4C3A-9816-514C26D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未实现盈亏</a:t>
            </a:r>
          </a:p>
        </p:txBody>
      </p:sp>
      <p:sp>
        <p:nvSpPr>
          <p:cNvPr id="19" name="s8-formula-rule1">
            <a:extLst xmlns:a="http://schemas.openxmlformats.org/drawingml/2006/main">
              <a:ext uri="{FF2B5EF4-FFF2-40B4-BE49-F238E27FC236}">
                <a16:creationId xmlns:a16="http://schemas.microsoft.com/office/drawing/2014/main" id="{C48FD4FE-6446-414D-9FE9-DDDAA31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s8-formula1-en">
            <a:extLst xmlns:a="http://schemas.openxmlformats.org/drawingml/2006/main">
              <a:ext uri="{FF2B5EF4-FFF2-40B4-BE49-F238E27FC236}">
                <a16:creationId xmlns:a16="http://schemas.microsoft.com/office/drawing/2014/main" id="{75F08B05-1623-4203-9851-ADA61EA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市场价值 = 数量 × 市场价格</a:t>
            </a:r>
          </a:p>
        </p:txBody>
      </p:sp>
      <p:sp>
        <p:nvSpPr>
          <p:cNvPr id="21" name="s8-formula1-zh">
            <a:extLst xmlns:a="http://schemas.openxmlformats.org/drawingml/2006/main">
              <a:ext uri="{FF2B5EF4-FFF2-40B4-BE49-F238E27FC236}">
                <a16:creationId xmlns:a16="http://schemas.microsoft.com/office/drawing/2014/main" id="{C8824AAA-9DCD-4213-85B9-99A3F9B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2" name="s8-formula2-en">
            <a:extLst xmlns:a="http://schemas.openxmlformats.org/drawingml/2006/main">
              <a:ext uri="{FF2B5EF4-FFF2-40B4-BE49-F238E27FC236}">
                <a16:creationId xmlns:a16="http://schemas.microsoft.com/office/drawing/2014/main" id="{E02A42EB-209F-4066-B380-B2EC7336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未实现盈亏 = 市场价值 − 成本基础</a:t>
            </a:r>
          </a:p>
        </p:txBody>
      </p:sp>
      <p:sp>
        <p:nvSpPr>
          <p:cNvPr id="23" name="s8-formula2-zh">
            <a:extLst xmlns:a="http://schemas.openxmlformats.org/drawingml/2006/main">
              <a:ext uri="{FF2B5EF4-FFF2-40B4-BE49-F238E27FC236}">
                <a16:creationId xmlns:a16="http://schemas.microsoft.com/office/drawing/2014/main" id="{ABE928E6-FDC1-4BC9-AA84-87C92FDF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8-formula3-en">
            <a:extLst xmlns:a="http://schemas.openxmlformats.org/drawingml/2006/main">
              <a:ext uri="{FF2B5EF4-FFF2-40B4-BE49-F238E27FC236}">
                <a16:creationId xmlns:a16="http://schemas.microsoft.com/office/drawing/2014/main" id="{241ACEFA-CDBB-41FC-9F44-D25DCD9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0052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收益率 = 未实现盈亏 ÷ 成本基础 × 100</a:t>
            </a:r>
          </a:p>
        </p:txBody>
      </p:sp>
      <p:sp>
        <p:nvSpPr>
          <p:cNvPr id="25" name="s8-formula3-zh">
            <a:extLst xmlns:a="http://schemas.openxmlformats.org/drawingml/2006/main">
              <a:ext uri="{FF2B5EF4-FFF2-40B4-BE49-F238E27FC236}">
                <a16:creationId xmlns:a16="http://schemas.microsoft.com/office/drawing/2014/main" id="{621EE739-7138-4BA1-A01B-112FE16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434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6" name="s8-snapshot">
            <a:extLst xmlns:a="http://schemas.openxmlformats.org/drawingml/2006/main">
              <a:ext uri="{FF2B5EF4-FFF2-40B4-BE49-F238E27FC236}">
                <a16:creationId xmlns:a16="http://schemas.microsoft.com/office/drawing/2014/main" id="{897ADD62-B184-4384-AB86-A0EBB64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7" name="s8-snapshot-text">
            <a:extLst xmlns:a="http://schemas.openxmlformats.org/drawingml/2006/main">
              <a:ext uri="{FF2B5EF4-FFF2-40B4-BE49-F238E27FC236}">
                <a16:creationId xmlns:a16="http://schemas.microsoft.com/office/drawing/2014/main" id="{F6ACB8AF-C86B-4954-8C43-3897EDA4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5" b="1" i="0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325" b="1" i="0">
                <a:solidFill>
                  <a:srgbClr val="15803D"/>
                </a:solidFill>
                <a:latin typeface="Arial"/>
                <a:ea typeface="Arial"/>
                <a:cs typeface="Arial"/>
              </a:rPr>
              <a:t>部署核验：5 个持仓全部已定价 · 0 个未定价 · MOCK 行情 · 核验时为新鲜数据</a:t>
            </a:r>
          </a:p>
        </p:txBody>
      </p:sp>
      <p:sp>
        <p:nvSpPr>
          <p:cNvPr id="28" name="s8-footer-note">
            <a:extLst xmlns:a="http://schemas.openxmlformats.org/drawingml/2006/main">
              <a:ext uri="{FF2B5EF4-FFF2-40B4-BE49-F238E27FC236}">
                <a16:creationId xmlns:a16="http://schemas.microsoft.com/office/drawing/2014/main" id="{0497B748-F7BB-4F44-A8DF-B751F27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部署观察时间：2026-07-29 17:05（中国标准时间）</a:t>
            </a:r>
          </a:p>
        </p:txBody>
      </p:sp>
      <p:sp>
        <p:nvSpPr>
          <p:cNvPr id="29" name="s8-footer-page">
            <a:extLst xmlns:a="http://schemas.openxmlformats.org/drawingml/2006/main">
              <a:ext uri="{FF2B5EF4-FFF2-40B4-BE49-F238E27FC236}">
                <a16:creationId xmlns:a16="http://schemas.microsoft.com/office/drawing/2014/main" id="{757B4E42-4A8A-4E55-9FC8-C35C0B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3647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title-en">
            <a:extLst xmlns:a="http://schemas.openxmlformats.org/drawingml/2006/main">
              <a:ext uri="{FF2B5EF4-FFF2-40B4-BE49-F238E27FC236}">
                <a16:creationId xmlns:a16="http://schemas.microsoft.com/office/drawing/2014/main" id="{7E8C0DF6-3050-4400-9F3E-CA35D70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核心功能三：市场数据同步、缓存与透明降级</a:t>
            </a:r>
          </a:p>
        </p:txBody>
      </p:sp>
      <p:sp>
        <p:nvSpPr>
          <p:cNvPr id="2" name="s9-title-zh">
            <a:extLst xmlns:a="http://schemas.openxmlformats.org/drawingml/2006/main">
              <a:ext uri="{FF2B5EF4-FFF2-40B4-BE49-F238E27FC236}">
                <a16:creationId xmlns:a16="http://schemas.microsoft.com/office/drawing/2014/main" id="{5A8CCDE4-CEE5-475F-89D3-B875D57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s9-title-rule">
            <a:extLst xmlns:a="http://schemas.openxmlformats.org/drawingml/2006/main">
              <a:ext uri="{FF2B5EF4-FFF2-40B4-BE49-F238E27FC236}">
                <a16:creationId xmlns:a16="http://schemas.microsoft.com/office/drawing/2014/main" id="{DA570A82-915E-45BE-8A49-E9B23E2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9-trigger">
            <a:extLst xmlns:a="http://schemas.openxmlformats.org/drawingml/2006/main">
              <a:ext uri="{FF2B5EF4-FFF2-40B4-BE49-F238E27FC236}">
                <a16:creationId xmlns:a16="http://schemas.microsoft.com/office/drawing/2014/main" id="{6F8CE7B8-EC95-46D6-AAAB-D2A99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定时估值快照 + 手动刷新</a:t>
            </a:r>
          </a:p>
        </p:txBody>
      </p:sp>
      <p:sp>
        <p:nvSpPr>
          <p:cNvPr id="5" name="s9-n1-box">
            <a:extLst xmlns:a="http://schemas.openxmlformats.org/drawingml/2006/main">
              <a:ext uri="{FF2B5EF4-FFF2-40B4-BE49-F238E27FC236}">
                <a16:creationId xmlns:a16="http://schemas.microsoft.com/office/drawing/2014/main" id="{4892D6C9-A32E-4CC8-ABE7-4549A38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6" name="s9-n1-en">
            <a:extLst xmlns:a="http://schemas.openxmlformats.org/drawingml/2006/main">
              <a:ext uri="{FF2B5EF4-FFF2-40B4-BE49-F238E27FC236}">
                <a16:creationId xmlns:a16="http://schemas.microsoft.com/office/drawing/2014/main" id="{00057872-CF3B-4A6C-BDD8-C4756EA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快照或刷新</a:t>
            </a:r>
          </a:p>
        </p:txBody>
      </p:sp>
      <p:sp>
        <p:nvSpPr>
          <p:cNvPr id="7" name="s9-n1-zh">
            <a:extLst xmlns:a="http://schemas.openxmlformats.org/drawingml/2006/main">
              <a:ext uri="{FF2B5EF4-FFF2-40B4-BE49-F238E27FC236}">
                <a16:creationId xmlns:a16="http://schemas.microsoft.com/office/drawing/2014/main" id="{F6FBA117-AEC1-4918-BF47-DCEED9A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s9-n2-box">
            <a:extLst xmlns:a="http://schemas.openxmlformats.org/drawingml/2006/main">
              <a:ext uri="{FF2B5EF4-FFF2-40B4-BE49-F238E27FC236}">
                <a16:creationId xmlns:a16="http://schemas.microsoft.com/office/drawing/2014/main" id="{5E7B1FB6-4051-423F-A050-2E231FD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9" name="s9-n2-en">
            <a:extLst xmlns:a="http://schemas.openxmlformats.org/drawingml/2006/main">
              <a:ext uri="{FF2B5EF4-FFF2-40B4-BE49-F238E27FC236}">
                <a16:creationId xmlns:a16="http://schemas.microsoft.com/office/drawing/2014/main" id="{A31407FB-D06D-4087-AA74-00614A4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Finnhub / Mock</a:t>
            </a:r>
          </a:p>
        </p:txBody>
      </p:sp>
      <p:sp>
        <p:nvSpPr>
          <p:cNvPr id="10" name="s9-n2-zh">
            <a:extLst xmlns:a="http://schemas.openxmlformats.org/drawingml/2006/main">
              <a:ext uri="{FF2B5EF4-FFF2-40B4-BE49-F238E27FC236}">
                <a16:creationId xmlns:a16="http://schemas.microsoft.com/office/drawing/2014/main" id="{14505D57-F9BB-4E20-9213-84C0979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s9-n3-box">
            <a:extLst xmlns:a="http://schemas.openxmlformats.org/drawingml/2006/main">
              <a:ext uri="{FF2B5EF4-FFF2-40B4-BE49-F238E27FC236}">
                <a16:creationId xmlns:a16="http://schemas.microsoft.com/office/drawing/2014/main" id="{8FEE3FA8-7B91-4E72-8339-BEDC62BB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s9-n3-en">
            <a:extLst xmlns:a="http://schemas.openxmlformats.org/drawingml/2006/main">
              <a:ext uri="{FF2B5EF4-FFF2-40B4-BE49-F238E27FC236}">
                <a16:creationId xmlns:a16="http://schemas.microsoft.com/office/drawing/2014/main" id="{AEF7972C-0A33-42D7-8F39-1D6D3C10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行情缓存</a:t>
            </a:r>
          </a:p>
        </p:txBody>
      </p:sp>
      <p:sp>
        <p:nvSpPr>
          <p:cNvPr id="13" name="s9-n3-zh">
            <a:extLst xmlns:a="http://schemas.openxmlformats.org/drawingml/2006/main">
              <a:ext uri="{FF2B5EF4-FFF2-40B4-BE49-F238E27FC236}">
                <a16:creationId xmlns:a16="http://schemas.microsoft.com/office/drawing/2014/main" id="{321EE06B-73BC-4A36-91AE-36F7148D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s9-n4-box">
            <a:extLst xmlns:a="http://schemas.openxmlformats.org/drawingml/2006/main">
              <a:ext uri="{FF2B5EF4-FFF2-40B4-BE49-F238E27FC236}">
                <a16:creationId xmlns:a16="http://schemas.microsoft.com/office/drawing/2014/main" id="{C3F5B9C0-26B0-4F15-9F59-C95A1A4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095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15" name="s9-n4-en">
            <a:extLst xmlns:a="http://schemas.openxmlformats.org/drawingml/2006/main">
              <a:ext uri="{FF2B5EF4-FFF2-40B4-BE49-F238E27FC236}">
                <a16:creationId xmlns:a16="http://schemas.microsoft.com/office/drawing/2014/main" id="{D63F5215-F0A3-493C-AB72-BEBAF55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盈亏引擎</a:t>
            </a:r>
          </a:p>
        </p:txBody>
      </p:sp>
      <p:sp>
        <p:nvSpPr>
          <p:cNvPr id="16" name="s9-n4-zh">
            <a:extLst xmlns:a="http://schemas.openxmlformats.org/drawingml/2006/main">
              <a:ext uri="{FF2B5EF4-FFF2-40B4-BE49-F238E27FC236}">
                <a16:creationId xmlns:a16="http://schemas.microsoft.com/office/drawing/2014/main" id="{9054EFC8-DE46-4916-87BA-FDA82A6E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03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BD5E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cxnSp>
        <p:nvCxnSpPr>
          <p:cNvPr id="8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194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9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4355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cxnSp>
        <p:nvCxnSpPr>
          <p:cNvPr id="9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67700" y="26670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s9-cache-shortcut">
            <a:extLst xmlns:a="http://schemas.openxmlformats.org/drawingml/2006/main">
              <a:ext uri="{FF2B5EF4-FFF2-40B4-BE49-F238E27FC236}">
                <a16:creationId xmlns:a16="http://schemas.microsoft.com/office/drawing/2014/main" id="{4330FC79-93FD-4F45-8DD8-A7B9B76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2422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5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新鲜缓存可直接返回，避免调用外部 API</a:t>
            </a:r>
          </a:p>
        </p:txBody>
      </p:sp>
      <p:sp>
        <p:nvSpPr>
          <p:cNvPr id="21" name="s9-card-0">
            <a:extLst xmlns:a="http://schemas.openxmlformats.org/drawingml/2006/main">
              <a:ext uri="{FF2B5EF4-FFF2-40B4-BE49-F238E27FC236}">
                <a16:creationId xmlns:a16="http://schemas.microsoft.com/office/drawing/2014/main" id="{5938CDF1-ACF8-4819-A622-A7496D4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s9-card-0-title">
            <a:extLst xmlns:a="http://schemas.openxmlformats.org/drawingml/2006/main">
              <a:ext uri="{FF2B5EF4-FFF2-40B4-BE49-F238E27FC236}">
                <a16:creationId xmlns:a16="http://schemas.microsoft.com/office/drawing/2014/main" id="{79B0F409-1DA1-4DE4-85D1-6A2CFBC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>优先使用新鲜缓存</a:t>
            </a:r>
          </a:p>
        </p:txBody>
      </p:sp>
      <p:sp>
        <p:nvSpPr>
          <p:cNvPr id="23" name="s9-card-0-zh">
            <a:extLst xmlns:a="http://schemas.openxmlformats.org/drawingml/2006/main">
              <a:ext uri="{FF2B5EF4-FFF2-40B4-BE49-F238E27FC236}">
                <a16:creationId xmlns:a16="http://schemas.microsoft.com/office/drawing/2014/main" id="{8B88F74E-B9E6-4A40-B30C-DFFDCF4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4C9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4C9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s9-card-0-body">
            <a:extLst xmlns:a="http://schemas.openxmlformats.org/drawingml/2006/main">
              <a:ext uri="{FF2B5EF4-FFF2-40B4-BE49-F238E27FC236}">
                <a16:creationId xmlns:a16="http://schemas.microsoft.com/office/drawing/2014/main" id="{8707F811-8853-40E9-A3A4-9787E3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60 秒新鲜期加快报价访问。</a:t>
            </a:r>
          </a:p>
        </p:txBody>
      </p:sp>
      <p:sp>
        <p:nvSpPr>
          <p:cNvPr id="25" name="s9-card-1">
            <a:extLst xmlns:a="http://schemas.openxmlformats.org/drawingml/2006/main">
              <a:ext uri="{FF2B5EF4-FFF2-40B4-BE49-F238E27FC236}">
                <a16:creationId xmlns:a16="http://schemas.microsoft.com/office/drawing/2014/main" id="{7D25A475-FC3B-4FDB-BAA8-DF7185E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6" name="s9-card-1-title">
            <a:extLst xmlns:a="http://schemas.openxmlformats.org/drawingml/2006/main">
              <a:ext uri="{FF2B5EF4-FFF2-40B4-BE49-F238E27FC236}">
                <a16:creationId xmlns:a16="http://schemas.microsoft.com/office/drawing/2014/main" id="{4A55A980-1333-4439-9D1E-242CA2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安全降级</a:t>
            </a:r>
          </a:p>
        </p:txBody>
      </p:sp>
      <p:sp>
        <p:nvSpPr>
          <p:cNvPr id="27" name="s9-card-1-zh">
            <a:extLst xmlns:a="http://schemas.openxmlformats.org/drawingml/2006/main">
              <a:ext uri="{FF2B5EF4-FFF2-40B4-BE49-F238E27FC236}">
                <a16:creationId xmlns:a16="http://schemas.microsoft.com/office/drawing/2014/main" id="{1D49B535-590C-4676-B68D-D81D0AB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s9-card-1-body">
            <a:extLst xmlns:a="http://schemas.openxmlformats.org/drawingml/2006/main">
              <a:ext uri="{FF2B5EF4-FFF2-40B4-BE49-F238E27FC236}">
                <a16:creationId xmlns:a16="http://schemas.microsoft.com/office/drawing/2014/main" id="{CA83E65A-F65F-4769-9D0F-03F8DA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外部服务失败时可返回缓存与过期标识。</a:t>
            </a:r>
          </a:p>
        </p:txBody>
      </p:sp>
      <p:sp>
        <p:nvSpPr>
          <p:cNvPr id="29" name="s9-card-2">
            <a:extLst xmlns:a="http://schemas.openxmlformats.org/drawingml/2006/main">
              <a:ext uri="{FF2B5EF4-FFF2-40B4-BE49-F238E27FC236}">
                <a16:creationId xmlns:a16="http://schemas.microsoft.com/office/drawing/2014/main" id="{A2982143-1F98-45C0-83DD-441FAB4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33337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0" name="s9-card-2-title">
            <a:extLst xmlns:a="http://schemas.openxmlformats.org/drawingml/2006/main">
              <a:ext uri="{FF2B5EF4-FFF2-40B4-BE49-F238E27FC236}">
                <a16:creationId xmlns:a16="http://schemas.microsoft.com/office/drawing/2014/main" id="{936B5AF3-AC7D-47DE-9738-EC198B5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75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>不制造虚假确定性</a:t>
            </a:r>
          </a:p>
        </p:txBody>
      </p:sp>
      <p:sp>
        <p:nvSpPr>
          <p:cNvPr id="31" name="s9-card-2-zh">
            <a:extLst xmlns:a="http://schemas.openxmlformats.org/drawingml/2006/main">
              <a:ext uri="{FF2B5EF4-FFF2-40B4-BE49-F238E27FC236}">
                <a16:creationId xmlns:a16="http://schemas.microsoft.com/office/drawing/2014/main" id="{35DA3190-0465-4D83-A3C6-3BF0CE2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287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530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s9-card-2-body">
            <a:extLst xmlns:a="http://schemas.openxmlformats.org/drawingml/2006/main">
              <a:ext uri="{FF2B5EF4-FFF2-40B4-BE49-F238E27FC236}">
                <a16:creationId xmlns:a16="http://schemas.microsoft.com/office/drawing/2014/main" id="{67A7F6AF-7340-4ADD-A14C-47C1FB1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81575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 i="0">
                <a:solidFill>
                  <a:srgbClr val="16233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16233B"/>
                </a:solidFill>
                <a:latin typeface="Arial"/>
                <a:ea typeface="Arial"/>
                <a:cs typeface="Arial"/>
              </a:rPr>
              <a:t>缺失报价保持为空，并明确标注 LIVE / MOCK / CACHED / STALE。</a:t>
            </a:r>
          </a:p>
        </p:txBody>
      </p:sp>
      <p:sp>
        <p:nvSpPr>
          <p:cNvPr id="33" name="s9-footer-note">
            <a:extLst xmlns:a="http://schemas.openxmlformats.org/drawingml/2006/main">
              <a:ext uri="{FF2B5EF4-FFF2-40B4-BE49-F238E27FC236}">
                <a16:creationId xmlns:a16="http://schemas.microsoft.com/office/drawing/2014/main" id="{7F644C6B-B656-4243-A606-572E6FF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当前部署行情源：MOCK · 可通过配置启用 Finnhub</a:t>
            </a:r>
          </a:p>
        </p:txBody>
      </p:sp>
      <p:sp>
        <p:nvSpPr>
          <p:cNvPr id="34" name="s9-footer-page">
            <a:extLst xmlns:a="http://schemas.openxmlformats.org/drawingml/2006/main">
              <a:ext uri="{FF2B5EF4-FFF2-40B4-BE49-F238E27FC236}">
                <a16:creationId xmlns:a16="http://schemas.microsoft.com/office/drawing/2014/main" id="{721A7811-128E-473F-B044-21A1E6B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1697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2026-07-29T09:30:12.7680000Z</dcterms:created>
  <dcterms:modified xsi:type="dcterms:W3CDTF">2026-07-29T09:30:12.7680000Z</dcterms:modified>
</coreProperties>
</file>