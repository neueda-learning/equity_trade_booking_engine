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00:15. Choose one language.
ENGLISH
Hello, we are Group 5. This presentation follows the current TradeFlow product from trade booking to auditable positions, market valuation, and resilient quote handling.
中文
大家好，我们是第五组。这份演示会基于当前 TradeFlow 产品，从交易登记开始，展示可审计持仓、市场估值和具有韧性的行情处理。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00:15. Choose one language.
ENGLISH
TradeFlow makes three promises. Changes remain auditable, positions are recalculated from BOOKED trade facts, and every quote exposes its source and freshness. These promises connect the entire demo.
中文
TradeFlow 有三个核心承诺：所有修改都可审计；持仓从 BOOKED 交易事实重新计算；每个行情都明确展示来源和新鲜度。这三个承诺连接了整个演示。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00:15. Choose one language.
ENGLISH
The live path has four steps: establish the Dashboard baseline, book one AAPL share, replay the position through deletion, and finish with explicit market-data status.
中文
现场路径只有四步：先建立仪表盘基线；登记一股 AAPL；通过删除演示持仓重算；最后展示明确的市场数据状态。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00:20. Choose one language.
ENGLISH
Select Demo Growth and refresh. The baseline is AAPL quantity 8 and MSFT quantity 3, with both a gain and a loss. The source flags say MOCK and FRESH, and the valuation history contains only persisted local snapshots.
中文
选择 Demo Growth 并刷新。基线是 AAPL 数量 8、MSFT 数量 3，同时包含盈利和亏损示例。行情标签明确显示 MOCK 和 FRESH，估值历史只展示本地持久化快照。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00:20. Choose one language.
ENGLISH
Accounts separate securities activity. Demo Growth and Demo Income each keep their own positions. An account can be deactivated without deleting history, and the current product boundary is USD only.
中文
账户用于隔离证券交易活动。Demo Growth 和 Demo Income 各自维护独立持仓。账户可以停用，但不会删除历史；当前产品边界是仅支持 USD。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00:25. Choose one language.
ENGLISH
Open Activity, select Demo Growth and BUY, then type AAPL and choose the search result. The form requires Verified: AAPL, so the ticker is not arbitrary. Enter quantity 1 and price 100, keep the execution time, and book the trade. A new BOOKED row appears.
中文
进入交易活动，选择 Demo Growth 和 BUY，然后输入 AAPL 并选择搜索结果。表单要求显示 Verified: AAPL，所以股票代码不是任意字符串。输入数量 1、价格 100，保留成交时间并提交。账本会新增一条 BOOKED 记录。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00:25. Choose one language.
ENGLISH
The new BUY moves AAPL from 8 to 9. Delete that row and confirm: the record remains as CANCELLED with reason DELETED, while the position returns to 8. Amendment follows the same audit-preserving idea by creating a linked replacement.
中文
新的 BUY 使 AAPL 从 8 变成 9。删除该记录并确认后，原记录会保留为 CANCELLED，原因是 DELETED，同时持仓恢复为 8。修改交易也采用相同的审计保留思路，通过创建关联的替代交易完成。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00:20. Choose one language.
ENGLISH
Positions use weighted-average cost. Market value, unrealized P&amp;L, and return are calculated by the backend with decimal arithmetic. A missing quote remains null; the interface never substitutes a zero market price.
中文
持仓采用加权平均成本。市场价值、未实现盈亏和收益率都由后端使用十进制运算统一计算。如果行情缺失，值保持为 null，界面不会用零价格代替。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00:20. Choose one language.
ENGLISH
CSV bulk booking validates every row and registers a stable fingerprint of normalized table content. Renaming the file, reordering rows, or using equivalent number formats does not bypass the duplicate warning. A second full import requires explicit confirmation.
中文
CSV 批量登记会校验每一行，并为规范化后的整张表生成稳定指纹。修改文件名、调整行顺序或使用等价数字格式，都无法绕过重复提醒。再次完整导入必须由用户明确确认。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00:25. Choose one language.
ENGLISH
The default provider is clearly labelled MOCK. In Finnhub demo mode, a successful quote is LIVE. During an outage, a retained Redis quote becomes CACHED and STALE. Without cache, the API returns a clear 503. It never silently switches to Mock or invents a zero price.
中文
默认行情源会明确标记为 MOCK。在 Finnhub 演示模式下，成功报价显示为 LIVE。数据源故障时，Redis 中保留的报价会标记为 CACHED 和 STALE。如果没有缓存，接口会返回清晰的 503，绝不会偷偷切换到 Mock 或编造零价格。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00:10. Choose one language.
ENGLISH
TradeFlow connects verified booking, replayable positions, audit-preserving corrections, and transparent valuation in one trusted loop. Trades are facts, and trust comes from explainable change. Thank you.
中文
TradeFlow 把已验证交易登记、可重算持仓、保留审计的纠错以及透明估值连接成一个可信闭环。交易是事实，信任来自可解释的变化。谢谢大家。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3F7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6492240"/>
            <a:ext cx="4023360" cy="164592"/>
          </a:xfrm>
          <a:prstGeom prst="rect">
            <a:avLst/>
          </a:prstGeom>
          <a:noFill/>
          <a:ln/>
        </p:spPr>
        <p:txBody>
          <a:bodyPr wrap="square" lIns="0" tIns="0" rIns="0" bIns="0" rtlCol="0" anchor="ctr"/>
          <a:lstStyle/>
          <a:p>
            <a:pPr indent="0" marL="0">
              <a:buNone/>
            </a:pPr>
            <a:r>
              <a:rPr lang="en-US" sz="750" b="1" spc="125" kern="0" dirty="0">
                <a:solidFill>
                  <a:srgbClr val="64748B"/>
                </a:solidFill>
                <a:latin typeface="Arial" pitchFamily="34" charset="0"/>
                <a:ea typeface="Arial" pitchFamily="34" charset="-122"/>
                <a:cs typeface="Arial" pitchFamily="34" charset="-120"/>
              </a:rPr>
              <a:t>EQUITY TRADE BOOKING ENGINE</a:t>
            </a:r>
            <a:endParaRPr lang="en-US" sz="75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7FC"/>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Shape 1"/>
          <p:cNvSpPr/>
          <p:nvPr/>
        </p:nvSpPr>
        <p:spPr>
          <a:xfrm>
            <a:off x="8686800" y="-1554480"/>
            <a:ext cx="4754880" cy="4754880"/>
          </a:xfrm>
          <a:prstGeom prst="ellipse">
            <a:avLst/>
          </a:prstGeom>
          <a:solidFill>
            <a:srgbClr val="DBEAFE">
              <a:alpha val="95000"/>
            </a:srgbClr>
          </a:solidFill>
          <a:ln w="12700">
            <a:solidFill>
              <a:srgbClr val="DBEAFE">
                <a:alpha val="0"/>
              </a:srgbClr>
            </a:solidFill>
            <a:prstDash val="solid"/>
          </a:ln>
        </p:spPr>
      </p:sp>
      <p:sp>
        <p:nvSpPr>
          <p:cNvPr id="4" name="Text 2"/>
          <p:cNvSpPr/>
          <p:nvPr/>
        </p:nvSpPr>
        <p:spPr>
          <a:xfrm>
            <a:off x="685800" y="548640"/>
            <a:ext cx="4114800" cy="201168"/>
          </a:xfrm>
          <a:prstGeom prst="rect">
            <a:avLst/>
          </a:prstGeom>
          <a:noFill/>
          <a:ln/>
        </p:spPr>
        <p:txBody>
          <a:bodyPr wrap="square" lIns="0" tIns="0" rIns="0" bIns="0" rtlCol="0" anchor="ctr"/>
          <a:lstStyle/>
          <a:p>
            <a:pPr indent="0" marL="0">
              <a:buNone/>
            </a:pPr>
            <a:r>
              <a:rPr lang="en-US" sz="1000" b="1" spc="170" kern="0" dirty="0">
                <a:solidFill>
                  <a:srgbClr val="2563EB"/>
                </a:solidFill>
                <a:latin typeface="Arial" pitchFamily="34" charset="0"/>
                <a:ea typeface="Arial" pitchFamily="34" charset="-122"/>
                <a:cs typeface="Arial" pitchFamily="34" charset="-120"/>
              </a:rPr>
              <a:t>GROUP 5  /  GIVE ME FIVE</a:t>
            </a:r>
            <a:endParaRPr lang="en-US" sz="1000" dirty="0"/>
          </a:p>
        </p:txBody>
      </p:sp>
      <p:sp>
        <p:nvSpPr>
          <p:cNvPr id="5" name="Text 3"/>
          <p:cNvSpPr/>
          <p:nvPr/>
        </p:nvSpPr>
        <p:spPr>
          <a:xfrm>
            <a:off x="685800" y="1115568"/>
            <a:ext cx="4023360" cy="1417320"/>
          </a:xfrm>
          <a:prstGeom prst="rect">
            <a:avLst/>
          </a:prstGeom>
          <a:noFill/>
          <a:ln/>
        </p:spPr>
        <p:txBody>
          <a:bodyPr wrap="square" lIns="0" tIns="0" rIns="0" bIns="0" rtlCol="0" anchor="ctr">
            <a:normAutofit/>
          </a:bodyPr>
          <a:lstStyle/>
          <a:p>
            <a:pPr indent="0" marL="0">
              <a:buNone/>
            </a:pPr>
            <a:r>
              <a:rPr lang="en-US" sz="3800" b="1" dirty="0">
                <a:solidFill>
                  <a:srgbClr val="0F172A"/>
                </a:solidFill>
                <a:latin typeface="Arial" pitchFamily="34" charset="0"/>
                <a:ea typeface="Arial" pitchFamily="34" charset="-122"/>
                <a:cs typeface="Arial" pitchFamily="34" charset="-120"/>
              </a:rPr>
              <a:t>Equity Trade</a:t>
            </a:r>
            <a:endParaRPr lang="en-US" sz="3800" dirty="0"/>
          </a:p>
          <a:p>
            <a:pPr indent="0" marL="0">
              <a:buNone/>
            </a:pPr>
            <a:r>
              <a:rPr lang="en-US" sz="3800" b="1" dirty="0">
                <a:solidFill>
                  <a:srgbClr val="0F172A"/>
                </a:solidFill>
                <a:latin typeface="Arial" pitchFamily="34" charset="0"/>
                <a:ea typeface="Arial" pitchFamily="34" charset="-122"/>
                <a:cs typeface="Arial" pitchFamily="34" charset="-120"/>
              </a:rPr>
              <a:t>Booking Engine</a:t>
            </a:r>
            <a:endParaRPr lang="en-US" sz="3800" dirty="0"/>
          </a:p>
        </p:txBody>
      </p:sp>
      <p:sp>
        <p:nvSpPr>
          <p:cNvPr id="6" name="Text 4"/>
          <p:cNvSpPr/>
          <p:nvPr/>
        </p:nvSpPr>
        <p:spPr>
          <a:xfrm>
            <a:off x="704088" y="2880360"/>
            <a:ext cx="3977640" cy="384048"/>
          </a:xfrm>
          <a:prstGeom prst="rect">
            <a:avLst/>
          </a:prstGeom>
          <a:noFill/>
          <a:ln/>
        </p:spPr>
        <p:txBody>
          <a:bodyPr wrap="square" lIns="0" tIns="0" rIns="0" bIns="0" rtlCol="0" anchor="ctr"/>
          <a:lstStyle/>
          <a:p>
            <a:pPr indent="0" marL="0">
              <a:buNone/>
            </a:pPr>
            <a:r>
              <a:rPr lang="en-US" sz="1900" b="1" dirty="0">
                <a:solidFill>
                  <a:srgbClr val="1D4ED8"/>
                </a:solidFill>
                <a:latin typeface="Arial" pitchFamily="34" charset="0"/>
                <a:ea typeface="Arial" pitchFamily="34" charset="-122"/>
                <a:cs typeface="Arial" pitchFamily="34" charset="-120"/>
              </a:rPr>
              <a:t>Trade facts → trusted valuation</a:t>
            </a:r>
            <a:endParaRPr lang="en-US" sz="1900" dirty="0"/>
          </a:p>
        </p:txBody>
      </p:sp>
      <p:sp>
        <p:nvSpPr>
          <p:cNvPr id="7" name="Text 5"/>
          <p:cNvSpPr/>
          <p:nvPr/>
        </p:nvSpPr>
        <p:spPr>
          <a:xfrm>
            <a:off x="704088" y="3438144"/>
            <a:ext cx="4114800" cy="274320"/>
          </a:xfrm>
          <a:prstGeom prst="rect">
            <a:avLst/>
          </a:prstGeom>
          <a:noFill/>
          <a:ln/>
        </p:spPr>
        <p:txBody>
          <a:bodyPr wrap="square" lIns="0" tIns="0" rIns="0" bIns="0" rtlCol="0" anchor="ctr"/>
          <a:lstStyle/>
          <a:p>
            <a:pPr indent="0" marL="0">
              <a:buNone/>
            </a:pPr>
            <a:r>
              <a:rPr lang="en-US" sz="1550" dirty="0">
                <a:solidFill>
                  <a:srgbClr val="64748B"/>
                </a:solidFill>
                <a:latin typeface="Arial" pitchFamily="34" charset="0"/>
                <a:ea typeface="Arial" pitchFamily="34" charset="-122"/>
                <a:cs typeface="Arial" pitchFamily="34" charset="-120"/>
              </a:rPr>
              <a:t>Current product capabilities · live demo</a:t>
            </a:r>
            <a:endParaRPr lang="en-US" sz="1550" dirty="0"/>
          </a:p>
        </p:txBody>
      </p:sp>
      <p:sp>
        <p:nvSpPr>
          <p:cNvPr id="8" name="Shape 6"/>
          <p:cNvSpPr/>
          <p:nvPr/>
        </p:nvSpPr>
        <p:spPr>
          <a:xfrm>
            <a:off x="704088" y="4160520"/>
            <a:ext cx="1143000" cy="310896"/>
          </a:xfrm>
          <a:prstGeom prst="roundRect">
            <a:avLst>
              <a:gd name="adj" fmla="val 20588"/>
            </a:avLst>
          </a:prstGeom>
          <a:solidFill>
            <a:srgbClr val="DBEAFE"/>
          </a:solidFill>
          <a:ln w="12700">
            <a:solidFill>
              <a:srgbClr val="DBEAFE"/>
            </a:solidFill>
            <a:prstDash val="solid"/>
          </a:ln>
        </p:spPr>
      </p:sp>
      <p:sp>
        <p:nvSpPr>
          <p:cNvPr id="9" name="Text 7"/>
          <p:cNvSpPr/>
          <p:nvPr/>
        </p:nvSpPr>
        <p:spPr>
          <a:xfrm>
            <a:off x="704088" y="4201668"/>
            <a:ext cx="1143000" cy="164592"/>
          </a:xfrm>
          <a:prstGeom prst="rect">
            <a:avLst/>
          </a:prstGeom>
          <a:noFill/>
          <a:ln/>
        </p:spPr>
        <p:txBody>
          <a:bodyPr wrap="square" lIns="0" tIns="0" rIns="0" bIns="0" rtlCol="0" anchor="ctr">
            <a:normAutofit/>
          </a:bodyPr>
          <a:lstStyle/>
          <a:p>
            <a:pPr algn="ctr" indent="0" marL="0">
              <a:buNone/>
            </a:pPr>
            <a:r>
              <a:rPr lang="en-US" sz="900" b="1" dirty="0">
                <a:solidFill>
                  <a:srgbClr val="1D4ED8"/>
                </a:solidFill>
                <a:latin typeface="Arial" pitchFamily="34" charset="0"/>
                <a:ea typeface="Arial" pitchFamily="34" charset="-122"/>
                <a:cs typeface="Arial" pitchFamily="34" charset="-120"/>
              </a:rPr>
              <a:t>AUDITABLE</a:t>
            </a:r>
            <a:endParaRPr lang="en-US" sz="900" dirty="0"/>
          </a:p>
        </p:txBody>
      </p:sp>
      <p:sp>
        <p:nvSpPr>
          <p:cNvPr id="10" name="Shape 8"/>
          <p:cNvSpPr/>
          <p:nvPr/>
        </p:nvSpPr>
        <p:spPr>
          <a:xfrm>
            <a:off x="1965960" y="4160520"/>
            <a:ext cx="1234440" cy="310896"/>
          </a:xfrm>
          <a:prstGeom prst="roundRect">
            <a:avLst>
              <a:gd name="adj" fmla="val 20588"/>
            </a:avLst>
          </a:prstGeom>
          <a:solidFill>
            <a:srgbClr val="DBEAFE"/>
          </a:solidFill>
          <a:ln w="12700">
            <a:solidFill>
              <a:srgbClr val="DBEAFE"/>
            </a:solidFill>
            <a:prstDash val="solid"/>
          </a:ln>
        </p:spPr>
      </p:sp>
      <p:sp>
        <p:nvSpPr>
          <p:cNvPr id="11" name="Text 9"/>
          <p:cNvSpPr/>
          <p:nvPr/>
        </p:nvSpPr>
        <p:spPr>
          <a:xfrm>
            <a:off x="1965960" y="4201668"/>
            <a:ext cx="1234440" cy="164592"/>
          </a:xfrm>
          <a:prstGeom prst="rect">
            <a:avLst/>
          </a:prstGeom>
          <a:noFill/>
          <a:ln/>
        </p:spPr>
        <p:txBody>
          <a:bodyPr wrap="square" lIns="0" tIns="0" rIns="0" bIns="0" rtlCol="0" anchor="ctr">
            <a:normAutofit/>
          </a:bodyPr>
          <a:lstStyle/>
          <a:p>
            <a:pPr algn="ctr" indent="0" marL="0">
              <a:buNone/>
            </a:pPr>
            <a:r>
              <a:rPr lang="en-US" sz="900" b="1" dirty="0">
                <a:solidFill>
                  <a:srgbClr val="1D4ED8"/>
                </a:solidFill>
                <a:latin typeface="Arial" pitchFamily="34" charset="0"/>
                <a:ea typeface="Arial" pitchFamily="34" charset="-122"/>
                <a:cs typeface="Arial" pitchFamily="34" charset="-120"/>
              </a:rPr>
              <a:t>REPLAYABLE</a:t>
            </a:r>
            <a:endParaRPr lang="en-US" sz="900" dirty="0"/>
          </a:p>
        </p:txBody>
      </p:sp>
      <p:sp>
        <p:nvSpPr>
          <p:cNvPr id="12" name="Shape 10"/>
          <p:cNvSpPr/>
          <p:nvPr/>
        </p:nvSpPr>
        <p:spPr>
          <a:xfrm>
            <a:off x="3319272" y="4160520"/>
            <a:ext cx="1143000" cy="310896"/>
          </a:xfrm>
          <a:prstGeom prst="roundRect">
            <a:avLst>
              <a:gd name="adj" fmla="val 20588"/>
            </a:avLst>
          </a:prstGeom>
          <a:solidFill>
            <a:srgbClr val="DBEAFE"/>
          </a:solidFill>
          <a:ln w="12700">
            <a:solidFill>
              <a:srgbClr val="DBEAFE"/>
            </a:solidFill>
            <a:prstDash val="solid"/>
          </a:ln>
        </p:spPr>
      </p:sp>
      <p:sp>
        <p:nvSpPr>
          <p:cNvPr id="13" name="Text 11"/>
          <p:cNvSpPr/>
          <p:nvPr/>
        </p:nvSpPr>
        <p:spPr>
          <a:xfrm>
            <a:off x="3319272" y="4201668"/>
            <a:ext cx="1143000" cy="164592"/>
          </a:xfrm>
          <a:prstGeom prst="rect">
            <a:avLst/>
          </a:prstGeom>
          <a:noFill/>
          <a:ln/>
        </p:spPr>
        <p:txBody>
          <a:bodyPr wrap="square" lIns="0" tIns="0" rIns="0" bIns="0" rtlCol="0" anchor="ctr">
            <a:normAutofit/>
          </a:bodyPr>
          <a:lstStyle/>
          <a:p>
            <a:pPr algn="ctr" indent="0" marL="0">
              <a:buNone/>
            </a:pPr>
            <a:r>
              <a:rPr lang="en-US" sz="900" b="1" dirty="0">
                <a:solidFill>
                  <a:srgbClr val="1D4ED8"/>
                </a:solidFill>
                <a:latin typeface="Arial" pitchFamily="34" charset="0"/>
                <a:ea typeface="Arial" pitchFamily="34" charset="-122"/>
                <a:cs typeface="Arial" pitchFamily="34" charset="-120"/>
              </a:rPr>
              <a:t>RESILIENT</a:t>
            </a:r>
            <a:endParaRPr lang="en-US" sz="900" dirty="0"/>
          </a:p>
        </p:txBody>
      </p:sp>
      <p:sp>
        <p:nvSpPr>
          <p:cNvPr id="14" name="Shape 12"/>
          <p:cNvSpPr/>
          <p:nvPr/>
        </p:nvSpPr>
        <p:spPr>
          <a:xfrm>
            <a:off x="4937760" y="1124712"/>
            <a:ext cx="6629400" cy="4178808"/>
          </a:xfrm>
          <a:prstGeom prst="roundRect">
            <a:avLst>
              <a:gd name="adj" fmla="val 1751"/>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15" name="Image 0" descr="Portfolio dashboard showing positions and unrealized profit and loss">    </p:cNvPr>
          <p:cNvPicPr>
            <a:picLocks noChangeAspect="1"/>
          </p:cNvPicPr>
          <p:nvPr/>
        </p:nvPicPr>
        <p:blipFill>
          <a:blip r:embed="rId1"/>
          <a:stretch>
            <a:fillRect/>
          </a:stretch>
        </p:blipFill>
        <p:spPr>
          <a:xfrm>
            <a:off x="4983480" y="1170432"/>
            <a:ext cx="6537960" cy="4087368"/>
          </a:xfrm>
          <a:prstGeom prst="rect">
            <a:avLst/>
          </a:prstGeom>
        </p:spPr>
      </p:pic>
      <p:sp>
        <p:nvSpPr>
          <p:cNvPr id="16" name="Text 13"/>
          <p:cNvSpPr/>
          <p:nvPr/>
        </p:nvSpPr>
        <p:spPr>
          <a:xfrm>
            <a:off x="5074920" y="5632704"/>
            <a:ext cx="6355080" cy="228600"/>
          </a:xfrm>
          <a:prstGeom prst="rect">
            <a:avLst/>
          </a:prstGeom>
          <a:noFill/>
          <a:ln/>
        </p:spPr>
        <p:txBody>
          <a:bodyPr wrap="square" lIns="0" tIns="0" rIns="0" bIns="0" rtlCol="0" anchor="ctr"/>
          <a:lstStyle/>
          <a:p>
            <a:pPr algn="ctr" indent="0" marL="0">
              <a:buNone/>
            </a:pPr>
            <a:r>
              <a:rPr lang="en-US" sz="1050" b="1" spc="55" kern="0" dirty="0">
                <a:solidFill>
                  <a:srgbClr val="64748B"/>
                </a:solidFill>
                <a:latin typeface="Arial" pitchFamily="34" charset="0"/>
                <a:ea typeface="Arial" pitchFamily="34" charset="-122"/>
                <a:cs typeface="Arial" pitchFamily="34" charset="-120"/>
              </a:rPr>
              <a:t>JAVA 21  ·  SPRING BOOT  ·  REACT 19  ·  MYSQL  ·  REDIS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WHY THIS SYSTEM</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Three promises behind every number</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02</a:t>
            </a:r>
            <a:endParaRPr lang="en-US" sz="1800" dirty="0"/>
          </a:p>
        </p:txBody>
      </p:sp>
      <p:sp>
        <p:nvSpPr>
          <p:cNvPr id="5" name="Shape 3"/>
          <p:cNvSpPr/>
          <p:nvPr/>
        </p:nvSpPr>
        <p:spPr>
          <a:xfrm>
            <a:off x="658368" y="1600200"/>
            <a:ext cx="3401568" cy="3383280"/>
          </a:xfrm>
          <a:prstGeom prst="roundRect">
            <a:avLst>
              <a:gd name="adj" fmla="val 2162"/>
            </a:avLst>
          </a:prstGeom>
          <a:solidFill>
            <a:srgbClr val="FFFF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6" name="Shape 4"/>
          <p:cNvSpPr/>
          <p:nvPr/>
        </p:nvSpPr>
        <p:spPr>
          <a:xfrm>
            <a:off x="950976" y="1901952"/>
            <a:ext cx="640080" cy="640080"/>
          </a:xfrm>
          <a:prstGeom prst="ellipse">
            <a:avLst/>
          </a:prstGeom>
          <a:solidFill>
            <a:srgbClr val="EFF6FF"/>
          </a:solidFill>
          <a:ln w="12700">
            <a:solidFill>
              <a:srgbClr val="EFF6FF"/>
            </a:solidFill>
            <a:prstDash val="solid"/>
          </a:ln>
        </p:spPr>
      </p:sp>
      <p:sp>
        <p:nvSpPr>
          <p:cNvPr id="7" name="Text 5"/>
          <p:cNvSpPr/>
          <p:nvPr/>
        </p:nvSpPr>
        <p:spPr>
          <a:xfrm>
            <a:off x="950976" y="2093976"/>
            <a:ext cx="640080" cy="164592"/>
          </a:xfrm>
          <a:prstGeom prst="rect">
            <a:avLst/>
          </a:prstGeom>
          <a:noFill/>
          <a:ln/>
        </p:spPr>
        <p:txBody>
          <a:bodyPr wrap="square" lIns="0" tIns="0" rIns="0" bIns="0" rtlCol="0" anchor="ctr"/>
          <a:lstStyle/>
          <a:p>
            <a:pPr algn="ctr" indent="0" marL="0">
              <a:buNone/>
            </a:pPr>
            <a:r>
              <a:rPr lang="en-US" sz="1200" b="1" dirty="0">
                <a:solidFill>
                  <a:srgbClr val="2563EB"/>
                </a:solidFill>
                <a:latin typeface="Arial" pitchFamily="34" charset="0"/>
                <a:ea typeface="Arial" pitchFamily="34" charset="-122"/>
                <a:cs typeface="Arial" pitchFamily="34" charset="-120"/>
              </a:rPr>
              <a:t>01</a:t>
            </a:r>
            <a:endParaRPr lang="en-US" sz="1200" dirty="0"/>
          </a:p>
        </p:txBody>
      </p:sp>
      <p:sp>
        <p:nvSpPr>
          <p:cNvPr id="8" name="Text 6"/>
          <p:cNvSpPr/>
          <p:nvPr/>
        </p:nvSpPr>
        <p:spPr>
          <a:xfrm>
            <a:off x="950976" y="2761488"/>
            <a:ext cx="2816352" cy="411480"/>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Arial" pitchFamily="34" charset="0"/>
                <a:ea typeface="Arial" pitchFamily="34" charset="-122"/>
                <a:cs typeface="Arial" pitchFamily="34" charset="-120"/>
              </a:rPr>
              <a:t>AUDITABLE</a:t>
            </a:r>
            <a:endParaRPr lang="en-US" sz="2200" dirty="0"/>
          </a:p>
        </p:txBody>
      </p:sp>
      <p:sp>
        <p:nvSpPr>
          <p:cNvPr id="9" name="Text 7"/>
          <p:cNvSpPr/>
          <p:nvPr/>
        </p:nvSpPr>
        <p:spPr>
          <a:xfrm>
            <a:off x="950976" y="3502152"/>
            <a:ext cx="2816352" cy="713232"/>
          </a:xfrm>
          <a:prstGeom prst="rect">
            <a:avLst/>
          </a:prstGeom>
          <a:noFill/>
          <a:ln/>
        </p:spPr>
        <p:txBody>
          <a:bodyPr wrap="square" lIns="0" tIns="0" rIns="0" bIns="0" rtlCol="0" anchor="ctr">
            <a:normAutofit/>
          </a:bodyPr>
          <a:lstStyle/>
          <a:p>
            <a:pPr indent="0" marL="0">
              <a:buNone/>
            </a:pPr>
            <a:r>
              <a:rPr lang="en-US" sz="1700" b="1" dirty="0">
                <a:solidFill>
                  <a:srgbClr val="64748B"/>
                </a:solidFill>
                <a:latin typeface="Arial" pitchFamily="34" charset="0"/>
                <a:ea typeface="Arial" pitchFamily="34" charset="-122"/>
                <a:cs typeface="Arial" pitchFamily="34" charset="-120"/>
              </a:rPr>
              <a:t>Changes never erase history</a:t>
            </a:r>
            <a:endParaRPr lang="en-US" sz="1700" dirty="0"/>
          </a:p>
        </p:txBody>
      </p:sp>
      <p:sp>
        <p:nvSpPr>
          <p:cNvPr id="10" name="Shape 8"/>
          <p:cNvSpPr/>
          <p:nvPr/>
        </p:nvSpPr>
        <p:spPr>
          <a:xfrm>
            <a:off x="4425696" y="1600200"/>
            <a:ext cx="3401568" cy="3383280"/>
          </a:xfrm>
          <a:prstGeom prst="roundRect">
            <a:avLst>
              <a:gd name="adj" fmla="val 2162"/>
            </a:avLst>
          </a:prstGeom>
          <a:solidFill>
            <a:srgbClr val="FFFFFF"/>
          </a:solidFill>
          <a:ln w="10160">
            <a:solidFill>
              <a:srgbClr val="BBF7D0"/>
            </a:solidFill>
            <a:prstDash val="solid"/>
          </a:ln>
          <a:effectLst>
            <a:outerShdw sx="100000" sy="100000" kx="0" ky="0" algn="bl" rotWithShape="0" blurRad="19050" dist="50800" dir="2700000">
              <a:srgbClr val="94A3B8">
                <a:alpha val="13000"/>
              </a:srgbClr>
            </a:outerShdw>
          </a:effectLst>
        </p:spPr>
      </p:sp>
      <p:sp>
        <p:nvSpPr>
          <p:cNvPr id="11" name="Shape 9"/>
          <p:cNvSpPr/>
          <p:nvPr/>
        </p:nvSpPr>
        <p:spPr>
          <a:xfrm>
            <a:off x="4718304" y="1901952"/>
            <a:ext cx="640080" cy="640080"/>
          </a:xfrm>
          <a:prstGeom prst="ellipse">
            <a:avLst/>
          </a:prstGeom>
          <a:solidFill>
            <a:srgbClr val="DCFCE7"/>
          </a:solidFill>
          <a:ln w="12700">
            <a:solidFill>
              <a:srgbClr val="DCFCE7"/>
            </a:solidFill>
            <a:prstDash val="solid"/>
          </a:ln>
        </p:spPr>
      </p:sp>
      <p:sp>
        <p:nvSpPr>
          <p:cNvPr id="12" name="Text 10"/>
          <p:cNvSpPr/>
          <p:nvPr/>
        </p:nvSpPr>
        <p:spPr>
          <a:xfrm>
            <a:off x="4718304" y="2093976"/>
            <a:ext cx="640080" cy="164592"/>
          </a:xfrm>
          <a:prstGeom prst="rect">
            <a:avLst/>
          </a:prstGeom>
          <a:noFill/>
          <a:ln/>
        </p:spPr>
        <p:txBody>
          <a:bodyPr wrap="square" lIns="0" tIns="0" rIns="0" bIns="0" rtlCol="0" anchor="ctr"/>
          <a:lstStyle/>
          <a:p>
            <a:pPr algn="ctr" indent="0" marL="0">
              <a:buNone/>
            </a:pPr>
            <a:r>
              <a:rPr lang="en-US" sz="1200" b="1" dirty="0">
                <a:solidFill>
                  <a:srgbClr val="15803D"/>
                </a:solidFill>
                <a:latin typeface="Arial" pitchFamily="34" charset="0"/>
                <a:ea typeface="Arial" pitchFamily="34" charset="-122"/>
                <a:cs typeface="Arial" pitchFamily="34" charset="-120"/>
              </a:rPr>
              <a:t>02</a:t>
            </a:r>
            <a:endParaRPr lang="en-US" sz="1200" dirty="0"/>
          </a:p>
        </p:txBody>
      </p:sp>
      <p:sp>
        <p:nvSpPr>
          <p:cNvPr id="13" name="Text 11"/>
          <p:cNvSpPr/>
          <p:nvPr/>
        </p:nvSpPr>
        <p:spPr>
          <a:xfrm>
            <a:off x="4718304" y="2761488"/>
            <a:ext cx="2816352" cy="411480"/>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Arial" pitchFamily="34" charset="0"/>
                <a:ea typeface="Arial" pitchFamily="34" charset="-122"/>
                <a:cs typeface="Arial" pitchFamily="34" charset="-120"/>
              </a:rPr>
              <a:t>REPLAYABLE</a:t>
            </a:r>
            <a:endParaRPr lang="en-US" sz="2200" dirty="0"/>
          </a:p>
        </p:txBody>
      </p:sp>
      <p:sp>
        <p:nvSpPr>
          <p:cNvPr id="14" name="Text 12"/>
          <p:cNvSpPr/>
          <p:nvPr/>
        </p:nvSpPr>
        <p:spPr>
          <a:xfrm>
            <a:off x="4718304" y="3502152"/>
            <a:ext cx="2816352" cy="713232"/>
          </a:xfrm>
          <a:prstGeom prst="rect">
            <a:avLst/>
          </a:prstGeom>
          <a:noFill/>
          <a:ln/>
        </p:spPr>
        <p:txBody>
          <a:bodyPr wrap="square" lIns="0" tIns="0" rIns="0" bIns="0" rtlCol="0" anchor="ctr">
            <a:normAutofit/>
          </a:bodyPr>
          <a:lstStyle/>
          <a:p>
            <a:pPr indent="0" marL="0">
              <a:buNone/>
            </a:pPr>
            <a:r>
              <a:rPr lang="en-US" sz="1700" b="1" dirty="0">
                <a:solidFill>
                  <a:srgbClr val="64748B"/>
                </a:solidFill>
                <a:latin typeface="Arial" pitchFamily="34" charset="0"/>
                <a:ea typeface="Arial" pitchFamily="34" charset="-122"/>
                <a:cs typeface="Arial" pitchFamily="34" charset="-120"/>
              </a:rPr>
              <a:t>Positions come from BOOKED trades</a:t>
            </a:r>
            <a:endParaRPr lang="en-US" sz="1700" dirty="0"/>
          </a:p>
        </p:txBody>
      </p:sp>
      <p:sp>
        <p:nvSpPr>
          <p:cNvPr id="15" name="Shape 13"/>
          <p:cNvSpPr/>
          <p:nvPr/>
        </p:nvSpPr>
        <p:spPr>
          <a:xfrm>
            <a:off x="8193024" y="1600200"/>
            <a:ext cx="3401568" cy="3383280"/>
          </a:xfrm>
          <a:prstGeom prst="roundRect">
            <a:avLst>
              <a:gd name="adj" fmla="val 2162"/>
            </a:avLst>
          </a:prstGeom>
          <a:solidFill>
            <a:srgbClr val="FFFFFF"/>
          </a:solidFill>
          <a:ln w="10160">
            <a:solidFill>
              <a:srgbClr val="FDE68A"/>
            </a:solidFill>
            <a:prstDash val="solid"/>
          </a:ln>
          <a:effectLst>
            <a:outerShdw sx="100000" sy="100000" kx="0" ky="0" algn="bl" rotWithShape="0" blurRad="19050" dist="50800" dir="2700000">
              <a:srgbClr val="94A3B8">
                <a:alpha val="13000"/>
              </a:srgbClr>
            </a:outerShdw>
          </a:effectLst>
        </p:spPr>
      </p:sp>
      <p:sp>
        <p:nvSpPr>
          <p:cNvPr id="16" name="Shape 14"/>
          <p:cNvSpPr/>
          <p:nvPr/>
        </p:nvSpPr>
        <p:spPr>
          <a:xfrm>
            <a:off x="8485632" y="1901952"/>
            <a:ext cx="640080" cy="640080"/>
          </a:xfrm>
          <a:prstGeom prst="ellipse">
            <a:avLst/>
          </a:prstGeom>
          <a:solidFill>
            <a:srgbClr val="FEF3C7"/>
          </a:solidFill>
          <a:ln w="12700">
            <a:solidFill>
              <a:srgbClr val="FEF3C7"/>
            </a:solidFill>
            <a:prstDash val="solid"/>
          </a:ln>
        </p:spPr>
      </p:sp>
      <p:sp>
        <p:nvSpPr>
          <p:cNvPr id="17" name="Text 15"/>
          <p:cNvSpPr/>
          <p:nvPr/>
        </p:nvSpPr>
        <p:spPr>
          <a:xfrm>
            <a:off x="8485632" y="2093976"/>
            <a:ext cx="640080" cy="164592"/>
          </a:xfrm>
          <a:prstGeom prst="rect">
            <a:avLst/>
          </a:prstGeom>
          <a:noFill/>
          <a:ln/>
        </p:spPr>
        <p:txBody>
          <a:bodyPr wrap="square" lIns="0" tIns="0" rIns="0" bIns="0" rtlCol="0" anchor="ctr"/>
          <a:lstStyle/>
          <a:p>
            <a:pPr algn="ctr" indent="0" marL="0">
              <a:buNone/>
            </a:pPr>
            <a:r>
              <a:rPr lang="en-US" sz="1200" b="1" dirty="0">
                <a:solidFill>
                  <a:srgbClr val="D97706"/>
                </a:solidFill>
                <a:latin typeface="Arial" pitchFamily="34" charset="0"/>
                <a:ea typeface="Arial" pitchFamily="34" charset="-122"/>
                <a:cs typeface="Arial" pitchFamily="34" charset="-120"/>
              </a:rPr>
              <a:t>03</a:t>
            </a:r>
            <a:endParaRPr lang="en-US" sz="1200" dirty="0"/>
          </a:p>
        </p:txBody>
      </p:sp>
      <p:sp>
        <p:nvSpPr>
          <p:cNvPr id="18" name="Text 16"/>
          <p:cNvSpPr/>
          <p:nvPr/>
        </p:nvSpPr>
        <p:spPr>
          <a:xfrm>
            <a:off x="8485632" y="2761488"/>
            <a:ext cx="2816352" cy="411480"/>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Arial" pitchFamily="34" charset="0"/>
                <a:ea typeface="Arial" pitchFamily="34" charset="-122"/>
                <a:cs typeface="Arial" pitchFamily="34" charset="-120"/>
              </a:rPr>
              <a:t>EXPLAINABLE</a:t>
            </a:r>
            <a:endParaRPr lang="en-US" sz="2200" dirty="0"/>
          </a:p>
        </p:txBody>
      </p:sp>
      <p:sp>
        <p:nvSpPr>
          <p:cNvPr id="19" name="Text 17"/>
          <p:cNvSpPr/>
          <p:nvPr/>
        </p:nvSpPr>
        <p:spPr>
          <a:xfrm>
            <a:off x="8485632" y="3502152"/>
            <a:ext cx="2816352" cy="713232"/>
          </a:xfrm>
          <a:prstGeom prst="rect">
            <a:avLst/>
          </a:prstGeom>
          <a:noFill/>
          <a:ln/>
        </p:spPr>
        <p:txBody>
          <a:bodyPr wrap="square" lIns="0" tIns="0" rIns="0" bIns="0" rtlCol="0" anchor="ctr">
            <a:normAutofit/>
          </a:bodyPr>
          <a:lstStyle/>
          <a:p>
            <a:pPr indent="0" marL="0">
              <a:buNone/>
            </a:pPr>
            <a:r>
              <a:rPr lang="en-US" sz="1700" b="1" dirty="0">
                <a:solidFill>
                  <a:srgbClr val="64748B"/>
                </a:solidFill>
                <a:latin typeface="Arial" pitchFamily="34" charset="0"/>
                <a:ea typeface="Arial" pitchFamily="34" charset="-122"/>
                <a:cs typeface="Arial" pitchFamily="34" charset="-120"/>
              </a:rPr>
              <a:t>Quote source and age stay visible</a:t>
            </a:r>
            <a:endParaRPr lang="en-US" sz="1700" dirty="0"/>
          </a:p>
        </p:txBody>
      </p:sp>
      <p:sp>
        <p:nvSpPr>
          <p:cNvPr id="20" name="Shape 18"/>
          <p:cNvSpPr/>
          <p:nvPr/>
        </p:nvSpPr>
        <p:spPr>
          <a:xfrm>
            <a:off x="1261872" y="5394960"/>
            <a:ext cx="9646920" cy="566928"/>
          </a:xfrm>
          <a:prstGeom prst="roundRect">
            <a:avLst>
              <a:gd name="adj" fmla="val 12903"/>
            </a:avLst>
          </a:prstGeom>
          <a:solidFill>
            <a:srgbClr val="0F172A"/>
          </a:solidFill>
          <a:ln w="12700">
            <a:solidFill>
              <a:srgbClr val="0F172A"/>
            </a:solidFill>
            <a:prstDash val="solid"/>
          </a:ln>
        </p:spPr>
      </p:sp>
      <p:sp>
        <p:nvSpPr>
          <p:cNvPr id="21" name="Text 19"/>
          <p:cNvSpPr/>
          <p:nvPr/>
        </p:nvSpPr>
        <p:spPr>
          <a:xfrm>
            <a:off x="1536192" y="5559552"/>
            <a:ext cx="9098280" cy="21031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Trades are facts. Positions are replayed. Quotes value.</a:t>
            </a:r>
            <a:endParaRPr lang="en-US" sz="17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DEMO ROUTE</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One business loop, four live steps</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03</a:t>
            </a:r>
            <a:endParaRPr lang="en-US" sz="1800" dirty="0"/>
          </a:p>
        </p:txBody>
      </p:sp>
      <p:sp>
        <p:nvSpPr>
          <p:cNvPr id="5" name="Shape 3"/>
          <p:cNvSpPr/>
          <p:nvPr/>
        </p:nvSpPr>
        <p:spPr>
          <a:xfrm>
            <a:off x="566928" y="1737360"/>
            <a:ext cx="2450592" cy="3127248"/>
          </a:xfrm>
          <a:prstGeom prst="roundRect">
            <a:avLst>
              <a:gd name="adj" fmla="val 2985"/>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6" name="Shape 4"/>
          <p:cNvSpPr/>
          <p:nvPr/>
        </p:nvSpPr>
        <p:spPr>
          <a:xfrm>
            <a:off x="1380744" y="2057400"/>
            <a:ext cx="822960" cy="822960"/>
          </a:xfrm>
          <a:prstGeom prst="ellipse">
            <a:avLst/>
          </a:prstGeom>
          <a:solidFill>
            <a:srgbClr val="DBEAFE"/>
          </a:solidFill>
          <a:ln w="12700">
            <a:solidFill>
              <a:srgbClr val="DBEAFE"/>
            </a:solidFill>
            <a:prstDash val="solid"/>
          </a:ln>
        </p:spPr>
      </p:sp>
      <p:sp>
        <p:nvSpPr>
          <p:cNvPr id="7" name="Text 5"/>
          <p:cNvSpPr/>
          <p:nvPr/>
        </p:nvSpPr>
        <p:spPr>
          <a:xfrm>
            <a:off x="1380744" y="2313432"/>
            <a:ext cx="822960" cy="182880"/>
          </a:xfrm>
          <a:prstGeom prst="rect">
            <a:avLst/>
          </a:prstGeom>
          <a:noFill/>
          <a:ln/>
        </p:spPr>
        <p:txBody>
          <a:bodyPr wrap="square" lIns="0" tIns="0" rIns="0" bIns="0" rtlCol="0" anchor="ctr"/>
          <a:lstStyle/>
          <a:p>
            <a:pPr algn="ctr" indent="0" marL="0">
              <a:buNone/>
            </a:pPr>
            <a:r>
              <a:rPr lang="en-US" sz="1400" b="1" dirty="0">
                <a:solidFill>
                  <a:srgbClr val="1D4ED8"/>
                </a:solidFill>
                <a:latin typeface="Arial" pitchFamily="34" charset="0"/>
                <a:ea typeface="Arial" pitchFamily="34" charset="-122"/>
                <a:cs typeface="Arial" pitchFamily="34" charset="-120"/>
              </a:rPr>
              <a:t>01</a:t>
            </a:r>
            <a:endParaRPr lang="en-US" sz="1400" dirty="0"/>
          </a:p>
        </p:txBody>
      </p:sp>
      <p:sp>
        <p:nvSpPr>
          <p:cNvPr id="8" name="Text 6"/>
          <p:cNvSpPr/>
          <p:nvPr/>
        </p:nvSpPr>
        <p:spPr>
          <a:xfrm>
            <a:off x="768096" y="3182112"/>
            <a:ext cx="2048256" cy="256032"/>
          </a:xfrm>
          <a:prstGeom prst="rect">
            <a:avLst/>
          </a:prstGeom>
          <a:noFill/>
          <a:ln/>
        </p:spPr>
        <p:txBody>
          <a:bodyPr wrap="square" lIns="0" tIns="0" rIns="0" bIns="0" rtlCol="0" anchor="ctr">
            <a:normAutofit/>
          </a:bodyPr>
          <a:lstStyle/>
          <a:p>
            <a:pPr algn="ctr" indent="0" marL="0">
              <a:buNone/>
            </a:pPr>
            <a:r>
              <a:rPr lang="en-US" sz="1200" b="1" spc="70" kern="0" dirty="0">
                <a:solidFill>
                  <a:srgbClr val="2563EB"/>
                </a:solidFill>
                <a:latin typeface="Arial" pitchFamily="34" charset="0"/>
                <a:ea typeface="Arial" pitchFamily="34" charset="-122"/>
                <a:cs typeface="Arial" pitchFamily="34" charset="-120"/>
              </a:rPr>
              <a:t>DASHBOARD</a:t>
            </a:r>
            <a:endParaRPr lang="en-US" sz="1200" dirty="0"/>
          </a:p>
        </p:txBody>
      </p:sp>
      <p:sp>
        <p:nvSpPr>
          <p:cNvPr id="9" name="Text 7"/>
          <p:cNvSpPr/>
          <p:nvPr/>
        </p:nvSpPr>
        <p:spPr>
          <a:xfrm>
            <a:off x="768096" y="3584448"/>
            <a:ext cx="2048256" cy="384048"/>
          </a:xfrm>
          <a:prstGeom prst="rect">
            <a:avLst/>
          </a:prstGeom>
          <a:noFill/>
          <a:ln/>
        </p:spPr>
        <p:txBody>
          <a:bodyPr wrap="square" lIns="0" tIns="0" rIns="0" bIns="0" rtlCol="0" anchor="ctr"/>
          <a:lstStyle/>
          <a:p>
            <a:pPr algn="ctr" indent="0" marL="0">
              <a:buNone/>
            </a:pPr>
            <a:r>
              <a:rPr lang="en-US" sz="2300" b="1" dirty="0">
                <a:solidFill>
                  <a:srgbClr val="0F172A"/>
                </a:solidFill>
                <a:latin typeface="Arial" pitchFamily="34" charset="0"/>
                <a:ea typeface="Arial" pitchFamily="34" charset="-122"/>
                <a:cs typeface="Arial" pitchFamily="34" charset="-120"/>
              </a:rPr>
              <a:t>Baseline</a:t>
            </a:r>
            <a:endParaRPr lang="en-US" sz="2300" dirty="0"/>
          </a:p>
        </p:txBody>
      </p:sp>
      <p:sp>
        <p:nvSpPr>
          <p:cNvPr id="10" name="Text 8"/>
          <p:cNvSpPr/>
          <p:nvPr/>
        </p:nvSpPr>
        <p:spPr>
          <a:xfrm>
            <a:off x="768096" y="4169664"/>
            <a:ext cx="2048256" cy="274320"/>
          </a:xfrm>
          <a:prstGeom prst="rect">
            <a:avLst/>
          </a:prstGeom>
          <a:noFill/>
          <a:ln/>
        </p:spPr>
        <p:txBody>
          <a:bodyPr wrap="square" lIns="0" tIns="0" rIns="0" bIns="0" rtlCol="0" anchor="ctr">
            <a:normAutofit/>
          </a:bodyPr>
          <a:lstStyle/>
          <a:p>
            <a:pPr algn="ctr" indent="0" marL="0">
              <a:buNone/>
            </a:pPr>
            <a:r>
              <a:rPr lang="en-US" sz="1500" b="1" dirty="0">
                <a:solidFill>
                  <a:srgbClr val="64748B"/>
                </a:solidFill>
                <a:latin typeface="Arial" pitchFamily="34" charset="0"/>
                <a:ea typeface="Arial" pitchFamily="34" charset="-122"/>
                <a:cs typeface="Arial" pitchFamily="34" charset="-120"/>
              </a:rPr>
              <a:t>AAPL 8</a:t>
            </a:r>
            <a:endParaRPr lang="en-US" sz="1500" dirty="0"/>
          </a:p>
        </p:txBody>
      </p:sp>
      <p:sp>
        <p:nvSpPr>
          <p:cNvPr id="11" name="Shape 9"/>
          <p:cNvSpPr/>
          <p:nvPr/>
        </p:nvSpPr>
        <p:spPr>
          <a:xfrm>
            <a:off x="3054096" y="3291840"/>
            <a:ext cx="347472" cy="0"/>
          </a:xfrm>
          <a:prstGeom prst="line">
            <a:avLst/>
          </a:prstGeom>
          <a:noFill/>
          <a:ln w="25400">
            <a:solidFill>
              <a:srgbClr val="93C5FD"/>
            </a:solidFill>
            <a:prstDash val="solid"/>
            <a:tailEnd type="triangle"/>
          </a:ln>
        </p:spPr>
      </p:sp>
      <p:sp>
        <p:nvSpPr>
          <p:cNvPr id="12" name="Shape 10"/>
          <p:cNvSpPr/>
          <p:nvPr/>
        </p:nvSpPr>
        <p:spPr>
          <a:xfrm>
            <a:off x="3438144" y="1737360"/>
            <a:ext cx="2450592" cy="3127248"/>
          </a:xfrm>
          <a:prstGeom prst="roundRect">
            <a:avLst>
              <a:gd name="adj" fmla="val 2985"/>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3" name="Shape 11"/>
          <p:cNvSpPr/>
          <p:nvPr/>
        </p:nvSpPr>
        <p:spPr>
          <a:xfrm>
            <a:off x="4251960" y="2057400"/>
            <a:ext cx="822960" cy="822960"/>
          </a:xfrm>
          <a:prstGeom prst="ellipse">
            <a:avLst/>
          </a:prstGeom>
          <a:solidFill>
            <a:srgbClr val="DBEAFE"/>
          </a:solidFill>
          <a:ln w="12700">
            <a:solidFill>
              <a:srgbClr val="DBEAFE"/>
            </a:solidFill>
            <a:prstDash val="solid"/>
          </a:ln>
        </p:spPr>
      </p:sp>
      <p:sp>
        <p:nvSpPr>
          <p:cNvPr id="14" name="Text 12"/>
          <p:cNvSpPr/>
          <p:nvPr/>
        </p:nvSpPr>
        <p:spPr>
          <a:xfrm>
            <a:off x="4251960" y="2313432"/>
            <a:ext cx="822960" cy="182880"/>
          </a:xfrm>
          <a:prstGeom prst="rect">
            <a:avLst/>
          </a:prstGeom>
          <a:noFill/>
          <a:ln/>
        </p:spPr>
        <p:txBody>
          <a:bodyPr wrap="square" lIns="0" tIns="0" rIns="0" bIns="0" rtlCol="0" anchor="ctr"/>
          <a:lstStyle/>
          <a:p>
            <a:pPr algn="ctr" indent="0" marL="0">
              <a:buNone/>
            </a:pPr>
            <a:r>
              <a:rPr lang="en-US" sz="1400" b="1" dirty="0">
                <a:solidFill>
                  <a:srgbClr val="1D4ED8"/>
                </a:solidFill>
                <a:latin typeface="Arial" pitchFamily="34" charset="0"/>
                <a:ea typeface="Arial" pitchFamily="34" charset="-122"/>
                <a:cs typeface="Arial" pitchFamily="34" charset="-120"/>
              </a:rPr>
              <a:t>02</a:t>
            </a:r>
            <a:endParaRPr lang="en-US" sz="1400" dirty="0"/>
          </a:p>
        </p:txBody>
      </p:sp>
      <p:sp>
        <p:nvSpPr>
          <p:cNvPr id="15" name="Text 13"/>
          <p:cNvSpPr/>
          <p:nvPr/>
        </p:nvSpPr>
        <p:spPr>
          <a:xfrm>
            <a:off x="3639312" y="3182112"/>
            <a:ext cx="2048256" cy="256032"/>
          </a:xfrm>
          <a:prstGeom prst="rect">
            <a:avLst/>
          </a:prstGeom>
          <a:noFill/>
          <a:ln/>
        </p:spPr>
        <p:txBody>
          <a:bodyPr wrap="square" lIns="0" tIns="0" rIns="0" bIns="0" rtlCol="0" anchor="ctr">
            <a:normAutofit/>
          </a:bodyPr>
          <a:lstStyle/>
          <a:p>
            <a:pPr algn="ctr" indent="0" marL="0">
              <a:buNone/>
            </a:pPr>
            <a:r>
              <a:rPr lang="en-US" sz="1200" b="1" spc="70" kern="0" dirty="0">
                <a:solidFill>
                  <a:srgbClr val="2563EB"/>
                </a:solidFill>
                <a:latin typeface="Arial" pitchFamily="34" charset="0"/>
                <a:ea typeface="Arial" pitchFamily="34" charset="-122"/>
                <a:cs typeface="Arial" pitchFamily="34" charset="-120"/>
              </a:rPr>
              <a:t>ACTIVITY</a:t>
            </a:r>
            <a:endParaRPr lang="en-US" sz="1200" dirty="0"/>
          </a:p>
        </p:txBody>
      </p:sp>
      <p:sp>
        <p:nvSpPr>
          <p:cNvPr id="16" name="Text 14"/>
          <p:cNvSpPr/>
          <p:nvPr/>
        </p:nvSpPr>
        <p:spPr>
          <a:xfrm>
            <a:off x="3639312" y="3584448"/>
            <a:ext cx="2048256" cy="384048"/>
          </a:xfrm>
          <a:prstGeom prst="rect">
            <a:avLst/>
          </a:prstGeom>
          <a:noFill/>
          <a:ln/>
        </p:spPr>
        <p:txBody>
          <a:bodyPr wrap="square" lIns="0" tIns="0" rIns="0" bIns="0" rtlCol="0" anchor="ctr"/>
          <a:lstStyle/>
          <a:p>
            <a:pPr algn="ctr" indent="0" marL="0">
              <a:buNone/>
            </a:pPr>
            <a:r>
              <a:rPr lang="en-US" sz="2300" b="1" dirty="0">
                <a:solidFill>
                  <a:srgbClr val="0F172A"/>
                </a:solidFill>
                <a:latin typeface="Arial" pitchFamily="34" charset="0"/>
                <a:ea typeface="Arial" pitchFamily="34" charset="-122"/>
                <a:cs typeface="Arial" pitchFamily="34" charset="-120"/>
              </a:rPr>
              <a:t>Book</a:t>
            </a:r>
            <a:endParaRPr lang="en-US" sz="2300" dirty="0"/>
          </a:p>
        </p:txBody>
      </p:sp>
      <p:sp>
        <p:nvSpPr>
          <p:cNvPr id="17" name="Text 15"/>
          <p:cNvSpPr/>
          <p:nvPr/>
        </p:nvSpPr>
        <p:spPr>
          <a:xfrm>
            <a:off x="3639312" y="4169664"/>
            <a:ext cx="2048256" cy="274320"/>
          </a:xfrm>
          <a:prstGeom prst="rect">
            <a:avLst/>
          </a:prstGeom>
          <a:noFill/>
          <a:ln/>
        </p:spPr>
        <p:txBody>
          <a:bodyPr wrap="square" lIns="0" tIns="0" rIns="0" bIns="0" rtlCol="0" anchor="ctr">
            <a:normAutofit/>
          </a:bodyPr>
          <a:lstStyle/>
          <a:p>
            <a:pPr algn="ctr" indent="0" marL="0">
              <a:buNone/>
            </a:pPr>
            <a:r>
              <a:rPr lang="en-US" sz="1500" b="1" dirty="0">
                <a:solidFill>
                  <a:srgbClr val="64748B"/>
                </a:solidFill>
                <a:latin typeface="Arial" pitchFamily="34" charset="0"/>
                <a:ea typeface="Arial" pitchFamily="34" charset="-122"/>
                <a:cs typeface="Arial" pitchFamily="34" charset="-120"/>
              </a:rPr>
              <a:t>BUY 1</a:t>
            </a:r>
            <a:endParaRPr lang="en-US" sz="1500" dirty="0"/>
          </a:p>
        </p:txBody>
      </p:sp>
      <p:sp>
        <p:nvSpPr>
          <p:cNvPr id="18" name="Shape 16"/>
          <p:cNvSpPr/>
          <p:nvPr/>
        </p:nvSpPr>
        <p:spPr>
          <a:xfrm>
            <a:off x="5925312" y="3291840"/>
            <a:ext cx="347472" cy="0"/>
          </a:xfrm>
          <a:prstGeom prst="line">
            <a:avLst/>
          </a:prstGeom>
          <a:noFill/>
          <a:ln w="25400">
            <a:solidFill>
              <a:srgbClr val="93C5FD"/>
            </a:solidFill>
            <a:prstDash val="solid"/>
            <a:tailEnd type="triangle"/>
          </a:ln>
        </p:spPr>
      </p:sp>
      <p:sp>
        <p:nvSpPr>
          <p:cNvPr id="19" name="Shape 17"/>
          <p:cNvSpPr/>
          <p:nvPr/>
        </p:nvSpPr>
        <p:spPr>
          <a:xfrm>
            <a:off x="6309360" y="1737360"/>
            <a:ext cx="2450592" cy="3127248"/>
          </a:xfrm>
          <a:prstGeom prst="roundRect">
            <a:avLst>
              <a:gd name="adj" fmla="val 2985"/>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0" name="Shape 18"/>
          <p:cNvSpPr/>
          <p:nvPr/>
        </p:nvSpPr>
        <p:spPr>
          <a:xfrm>
            <a:off x="7123176" y="2057400"/>
            <a:ext cx="822960" cy="822960"/>
          </a:xfrm>
          <a:prstGeom prst="ellipse">
            <a:avLst/>
          </a:prstGeom>
          <a:solidFill>
            <a:srgbClr val="DBEAFE"/>
          </a:solidFill>
          <a:ln w="12700">
            <a:solidFill>
              <a:srgbClr val="DBEAFE"/>
            </a:solidFill>
            <a:prstDash val="solid"/>
          </a:ln>
        </p:spPr>
      </p:sp>
      <p:sp>
        <p:nvSpPr>
          <p:cNvPr id="21" name="Text 19"/>
          <p:cNvSpPr/>
          <p:nvPr/>
        </p:nvSpPr>
        <p:spPr>
          <a:xfrm>
            <a:off x="7123176" y="2313432"/>
            <a:ext cx="822960" cy="182880"/>
          </a:xfrm>
          <a:prstGeom prst="rect">
            <a:avLst/>
          </a:prstGeom>
          <a:noFill/>
          <a:ln/>
        </p:spPr>
        <p:txBody>
          <a:bodyPr wrap="square" lIns="0" tIns="0" rIns="0" bIns="0" rtlCol="0" anchor="ctr"/>
          <a:lstStyle/>
          <a:p>
            <a:pPr algn="ctr" indent="0" marL="0">
              <a:buNone/>
            </a:pPr>
            <a:r>
              <a:rPr lang="en-US" sz="1400" b="1" dirty="0">
                <a:solidFill>
                  <a:srgbClr val="1D4ED8"/>
                </a:solidFill>
                <a:latin typeface="Arial" pitchFamily="34" charset="0"/>
                <a:ea typeface="Arial" pitchFamily="34" charset="-122"/>
                <a:cs typeface="Arial" pitchFamily="34" charset="-120"/>
              </a:rPr>
              <a:t>03</a:t>
            </a:r>
            <a:endParaRPr lang="en-US" sz="1400" dirty="0"/>
          </a:p>
        </p:txBody>
      </p:sp>
      <p:sp>
        <p:nvSpPr>
          <p:cNvPr id="22" name="Text 20"/>
          <p:cNvSpPr/>
          <p:nvPr/>
        </p:nvSpPr>
        <p:spPr>
          <a:xfrm>
            <a:off x="6510528" y="3182112"/>
            <a:ext cx="2048256" cy="256032"/>
          </a:xfrm>
          <a:prstGeom prst="rect">
            <a:avLst/>
          </a:prstGeom>
          <a:noFill/>
          <a:ln/>
        </p:spPr>
        <p:txBody>
          <a:bodyPr wrap="square" lIns="0" tIns="0" rIns="0" bIns="0" rtlCol="0" anchor="ctr">
            <a:normAutofit/>
          </a:bodyPr>
          <a:lstStyle/>
          <a:p>
            <a:pPr algn="ctr" indent="0" marL="0">
              <a:buNone/>
            </a:pPr>
            <a:r>
              <a:rPr lang="en-US" sz="1200" b="1" spc="70" kern="0" dirty="0">
                <a:solidFill>
                  <a:srgbClr val="2563EB"/>
                </a:solidFill>
                <a:latin typeface="Arial" pitchFamily="34" charset="0"/>
                <a:ea typeface="Arial" pitchFamily="34" charset="-122"/>
                <a:cs typeface="Arial" pitchFamily="34" charset="-120"/>
              </a:rPr>
              <a:t>POSITIONS</a:t>
            </a:r>
            <a:endParaRPr lang="en-US" sz="1200" dirty="0"/>
          </a:p>
        </p:txBody>
      </p:sp>
      <p:sp>
        <p:nvSpPr>
          <p:cNvPr id="23" name="Text 21"/>
          <p:cNvSpPr/>
          <p:nvPr/>
        </p:nvSpPr>
        <p:spPr>
          <a:xfrm>
            <a:off x="6510528" y="3584448"/>
            <a:ext cx="2048256" cy="384048"/>
          </a:xfrm>
          <a:prstGeom prst="rect">
            <a:avLst/>
          </a:prstGeom>
          <a:noFill/>
          <a:ln/>
        </p:spPr>
        <p:txBody>
          <a:bodyPr wrap="square" lIns="0" tIns="0" rIns="0" bIns="0" rtlCol="0" anchor="ctr"/>
          <a:lstStyle/>
          <a:p>
            <a:pPr algn="ctr" indent="0" marL="0">
              <a:buNone/>
            </a:pPr>
            <a:r>
              <a:rPr lang="en-US" sz="2300" b="1" dirty="0">
                <a:solidFill>
                  <a:srgbClr val="0F172A"/>
                </a:solidFill>
                <a:latin typeface="Arial" pitchFamily="34" charset="0"/>
                <a:ea typeface="Arial" pitchFamily="34" charset="-122"/>
                <a:cs typeface="Arial" pitchFamily="34" charset="-120"/>
              </a:rPr>
              <a:t>Replay</a:t>
            </a:r>
            <a:endParaRPr lang="en-US" sz="2300" dirty="0"/>
          </a:p>
        </p:txBody>
      </p:sp>
      <p:sp>
        <p:nvSpPr>
          <p:cNvPr id="24" name="Text 22"/>
          <p:cNvSpPr/>
          <p:nvPr/>
        </p:nvSpPr>
        <p:spPr>
          <a:xfrm>
            <a:off x="6510528" y="4169664"/>
            <a:ext cx="2048256" cy="274320"/>
          </a:xfrm>
          <a:prstGeom prst="rect">
            <a:avLst/>
          </a:prstGeom>
          <a:noFill/>
          <a:ln/>
        </p:spPr>
        <p:txBody>
          <a:bodyPr wrap="square" lIns="0" tIns="0" rIns="0" bIns="0" rtlCol="0" anchor="ctr">
            <a:normAutofit/>
          </a:bodyPr>
          <a:lstStyle/>
          <a:p>
            <a:pPr algn="ctr" indent="0" marL="0">
              <a:buNone/>
            </a:pPr>
            <a:r>
              <a:rPr lang="en-US" sz="1500" b="1" dirty="0">
                <a:solidFill>
                  <a:srgbClr val="64748B"/>
                </a:solidFill>
                <a:latin typeface="Arial" pitchFamily="34" charset="0"/>
                <a:ea typeface="Arial" pitchFamily="34" charset="-122"/>
                <a:cs typeface="Arial" pitchFamily="34" charset="-120"/>
              </a:rPr>
              <a:t>8 → 9 → 8</a:t>
            </a:r>
            <a:endParaRPr lang="en-US" sz="1500" dirty="0"/>
          </a:p>
        </p:txBody>
      </p:sp>
      <p:sp>
        <p:nvSpPr>
          <p:cNvPr id="25" name="Shape 23"/>
          <p:cNvSpPr/>
          <p:nvPr/>
        </p:nvSpPr>
        <p:spPr>
          <a:xfrm>
            <a:off x="8796528" y="3291840"/>
            <a:ext cx="347472" cy="0"/>
          </a:xfrm>
          <a:prstGeom prst="line">
            <a:avLst/>
          </a:prstGeom>
          <a:noFill/>
          <a:ln w="25400">
            <a:solidFill>
              <a:srgbClr val="93C5FD"/>
            </a:solidFill>
            <a:prstDash val="solid"/>
            <a:tailEnd type="triangle"/>
          </a:ln>
        </p:spPr>
      </p:sp>
      <p:sp>
        <p:nvSpPr>
          <p:cNvPr id="26" name="Shape 24"/>
          <p:cNvSpPr/>
          <p:nvPr/>
        </p:nvSpPr>
        <p:spPr>
          <a:xfrm>
            <a:off x="9180576" y="1737360"/>
            <a:ext cx="2450592" cy="3127248"/>
          </a:xfrm>
          <a:prstGeom prst="roundRect">
            <a:avLst>
              <a:gd name="adj" fmla="val 2985"/>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27" name="Shape 25"/>
          <p:cNvSpPr/>
          <p:nvPr/>
        </p:nvSpPr>
        <p:spPr>
          <a:xfrm>
            <a:off x="9994392" y="2057400"/>
            <a:ext cx="822960" cy="822960"/>
          </a:xfrm>
          <a:prstGeom prst="ellipse">
            <a:avLst/>
          </a:prstGeom>
          <a:solidFill>
            <a:srgbClr val="2563EB"/>
          </a:solidFill>
          <a:ln w="12700">
            <a:solidFill>
              <a:srgbClr val="2563EB"/>
            </a:solidFill>
            <a:prstDash val="solid"/>
          </a:ln>
        </p:spPr>
      </p:sp>
      <p:sp>
        <p:nvSpPr>
          <p:cNvPr id="28" name="Text 26"/>
          <p:cNvSpPr/>
          <p:nvPr/>
        </p:nvSpPr>
        <p:spPr>
          <a:xfrm>
            <a:off x="9994392" y="2313432"/>
            <a:ext cx="822960" cy="1828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29" name="Text 27"/>
          <p:cNvSpPr/>
          <p:nvPr/>
        </p:nvSpPr>
        <p:spPr>
          <a:xfrm>
            <a:off x="9381744" y="3182112"/>
            <a:ext cx="2048256" cy="256032"/>
          </a:xfrm>
          <a:prstGeom prst="rect">
            <a:avLst/>
          </a:prstGeom>
          <a:noFill/>
          <a:ln/>
        </p:spPr>
        <p:txBody>
          <a:bodyPr wrap="square" lIns="0" tIns="0" rIns="0" bIns="0" rtlCol="0" anchor="ctr">
            <a:normAutofit/>
          </a:bodyPr>
          <a:lstStyle/>
          <a:p>
            <a:pPr algn="ctr" indent="0" marL="0">
              <a:buNone/>
            </a:pPr>
            <a:r>
              <a:rPr lang="en-US" sz="1200" b="1" spc="70" kern="0" dirty="0">
                <a:solidFill>
                  <a:srgbClr val="2563EB"/>
                </a:solidFill>
                <a:latin typeface="Arial" pitchFamily="34" charset="0"/>
                <a:ea typeface="Arial" pitchFamily="34" charset="-122"/>
                <a:cs typeface="Arial" pitchFamily="34" charset="-120"/>
              </a:rPr>
              <a:t>MARKET DATA</a:t>
            </a:r>
            <a:endParaRPr lang="en-US" sz="1200" dirty="0"/>
          </a:p>
        </p:txBody>
      </p:sp>
      <p:sp>
        <p:nvSpPr>
          <p:cNvPr id="30" name="Text 28"/>
          <p:cNvSpPr/>
          <p:nvPr/>
        </p:nvSpPr>
        <p:spPr>
          <a:xfrm>
            <a:off x="9381744" y="3584448"/>
            <a:ext cx="2048256" cy="384048"/>
          </a:xfrm>
          <a:prstGeom prst="rect">
            <a:avLst/>
          </a:prstGeom>
          <a:noFill/>
          <a:ln/>
        </p:spPr>
        <p:txBody>
          <a:bodyPr wrap="square" lIns="0" tIns="0" rIns="0" bIns="0" rtlCol="0" anchor="ctr"/>
          <a:lstStyle/>
          <a:p>
            <a:pPr algn="ctr" indent="0" marL="0">
              <a:buNone/>
            </a:pPr>
            <a:r>
              <a:rPr lang="en-US" sz="2300" b="1" dirty="0">
                <a:solidFill>
                  <a:srgbClr val="0F172A"/>
                </a:solidFill>
                <a:latin typeface="Arial" pitchFamily="34" charset="0"/>
                <a:ea typeface="Arial" pitchFamily="34" charset="-122"/>
                <a:cs typeface="Arial" pitchFamily="34" charset="-120"/>
              </a:rPr>
              <a:t>Explain</a:t>
            </a:r>
            <a:endParaRPr lang="en-US" sz="2300" dirty="0"/>
          </a:p>
        </p:txBody>
      </p:sp>
      <p:sp>
        <p:nvSpPr>
          <p:cNvPr id="31" name="Text 29"/>
          <p:cNvSpPr/>
          <p:nvPr/>
        </p:nvSpPr>
        <p:spPr>
          <a:xfrm>
            <a:off x="9381744" y="4169664"/>
            <a:ext cx="2048256" cy="274320"/>
          </a:xfrm>
          <a:prstGeom prst="rect">
            <a:avLst/>
          </a:prstGeom>
          <a:noFill/>
          <a:ln/>
        </p:spPr>
        <p:txBody>
          <a:bodyPr wrap="square" lIns="0" tIns="0" rIns="0" bIns="0" rtlCol="0" anchor="ctr">
            <a:normAutofit/>
          </a:bodyPr>
          <a:lstStyle/>
          <a:p>
            <a:pPr algn="ctr" indent="0" marL="0">
              <a:buNone/>
            </a:pPr>
            <a:r>
              <a:rPr lang="en-US" sz="1500" b="1" dirty="0">
                <a:solidFill>
                  <a:srgbClr val="64748B"/>
                </a:solidFill>
                <a:latin typeface="Arial" pitchFamily="34" charset="0"/>
                <a:ea typeface="Arial" pitchFamily="34" charset="-122"/>
                <a:cs typeface="Arial" pitchFamily="34" charset="-120"/>
              </a:rPr>
              <a:t>MOCK / LIVE / STALE</a:t>
            </a:r>
            <a:endParaRPr lang="en-US" sz="1500" dirty="0"/>
          </a:p>
        </p:txBody>
      </p:sp>
      <p:sp>
        <p:nvSpPr>
          <p:cNvPr id="32" name="Text 30"/>
          <p:cNvSpPr/>
          <p:nvPr/>
        </p:nvSpPr>
        <p:spPr>
          <a:xfrm>
            <a:off x="3246120" y="5440680"/>
            <a:ext cx="5715000" cy="292608"/>
          </a:xfrm>
          <a:prstGeom prst="rect">
            <a:avLst/>
          </a:prstGeom>
          <a:noFill/>
          <a:ln/>
        </p:spPr>
        <p:txBody>
          <a:bodyPr wrap="square" lIns="0" tIns="0" rIns="0" bIns="0" rtlCol="0" anchor="ctr"/>
          <a:lstStyle/>
          <a:p>
            <a:pPr algn="ctr" indent="0" marL="0">
              <a:buNone/>
            </a:pPr>
            <a:r>
              <a:rPr lang="en-US" sz="1700" b="1" dirty="0">
                <a:solidFill>
                  <a:srgbClr val="1D4ED8"/>
                </a:solidFill>
                <a:latin typeface="Arial" pitchFamily="34" charset="0"/>
                <a:ea typeface="Arial" pitchFamily="34" charset="-122"/>
                <a:cs typeface="Arial" pitchFamily="34" charset="-120"/>
              </a:rPr>
              <a:t>The next slides follow this exact click path.</a:t>
            </a:r>
            <a:endParaRPr lang="en-US" sz="17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DEMO · DASHBOARD</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Start with a trusted baseline</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04</a:t>
            </a:r>
            <a:endParaRPr lang="en-US" sz="1800" dirty="0"/>
          </a:p>
        </p:txBody>
      </p:sp>
      <p:sp>
        <p:nvSpPr>
          <p:cNvPr id="5" name="Shape 3"/>
          <p:cNvSpPr/>
          <p:nvPr/>
        </p:nvSpPr>
        <p:spPr>
          <a:xfrm>
            <a:off x="658368" y="1490472"/>
            <a:ext cx="1691640" cy="932688"/>
          </a:xfrm>
          <a:prstGeom prst="roundRect">
            <a:avLst>
              <a:gd name="adj" fmla="val 784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6" name="Text 4"/>
          <p:cNvSpPr/>
          <p:nvPr/>
        </p:nvSpPr>
        <p:spPr>
          <a:xfrm>
            <a:off x="841248" y="1636776"/>
            <a:ext cx="1325880" cy="164592"/>
          </a:xfrm>
          <a:prstGeom prst="rect">
            <a:avLst/>
          </a:prstGeom>
          <a:noFill/>
          <a:ln/>
        </p:spPr>
        <p:txBody>
          <a:bodyPr wrap="square" lIns="0" tIns="0" rIns="0" bIns="0" rtlCol="0" anchor="ctr"/>
          <a:lstStyle/>
          <a:p>
            <a:pPr indent="0" marL="0">
              <a:buNone/>
            </a:pPr>
            <a:r>
              <a:rPr lang="en-US" sz="900" b="1" spc="80" kern="0" dirty="0">
                <a:solidFill>
                  <a:srgbClr val="64748B"/>
                </a:solidFill>
                <a:latin typeface="Arial" pitchFamily="34" charset="0"/>
                <a:ea typeface="Arial" pitchFamily="34" charset="-122"/>
                <a:cs typeface="Arial" pitchFamily="34" charset="-120"/>
              </a:rPr>
              <a:t>AAPL QUANTITY</a:t>
            </a:r>
            <a:endParaRPr lang="en-US" sz="900" dirty="0"/>
          </a:p>
        </p:txBody>
      </p:sp>
      <p:sp>
        <p:nvSpPr>
          <p:cNvPr id="7" name="Text 5"/>
          <p:cNvSpPr/>
          <p:nvPr/>
        </p:nvSpPr>
        <p:spPr>
          <a:xfrm>
            <a:off x="841248" y="1920240"/>
            <a:ext cx="1325880" cy="329184"/>
          </a:xfrm>
          <a:prstGeom prst="rect">
            <a:avLst/>
          </a:prstGeom>
          <a:noFill/>
          <a:ln/>
        </p:spPr>
        <p:txBody>
          <a:bodyPr wrap="square" lIns="0" tIns="0" rIns="0" bIns="0" rtlCol="0" anchor="ctr">
            <a:normAutofit/>
          </a:bodyPr>
          <a:lstStyle/>
          <a:p>
            <a:pPr indent="0" marL="0">
              <a:buNone/>
            </a:pPr>
            <a:r>
              <a:rPr lang="en-US" sz="2200" b="1" dirty="0">
                <a:solidFill>
                  <a:srgbClr val="1D4ED8"/>
                </a:solidFill>
                <a:latin typeface="Arial" pitchFamily="34" charset="0"/>
                <a:ea typeface="Arial" pitchFamily="34" charset="-122"/>
                <a:cs typeface="Arial" pitchFamily="34" charset="-120"/>
              </a:rPr>
              <a:t>8</a:t>
            </a:r>
            <a:endParaRPr lang="en-US" sz="2200" dirty="0"/>
          </a:p>
        </p:txBody>
      </p:sp>
      <p:sp>
        <p:nvSpPr>
          <p:cNvPr id="8" name="Shape 6"/>
          <p:cNvSpPr/>
          <p:nvPr/>
        </p:nvSpPr>
        <p:spPr>
          <a:xfrm>
            <a:off x="2514600" y="1490472"/>
            <a:ext cx="1691640" cy="932688"/>
          </a:xfrm>
          <a:prstGeom prst="roundRect">
            <a:avLst>
              <a:gd name="adj" fmla="val 784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9" name="Text 7"/>
          <p:cNvSpPr/>
          <p:nvPr/>
        </p:nvSpPr>
        <p:spPr>
          <a:xfrm>
            <a:off x="2697480" y="1636776"/>
            <a:ext cx="1325880" cy="164592"/>
          </a:xfrm>
          <a:prstGeom prst="rect">
            <a:avLst/>
          </a:prstGeom>
          <a:noFill/>
          <a:ln/>
        </p:spPr>
        <p:txBody>
          <a:bodyPr wrap="square" lIns="0" tIns="0" rIns="0" bIns="0" rtlCol="0" anchor="ctr"/>
          <a:lstStyle/>
          <a:p>
            <a:pPr indent="0" marL="0">
              <a:buNone/>
            </a:pPr>
            <a:r>
              <a:rPr lang="en-US" sz="900" b="1" spc="80" kern="0" dirty="0">
                <a:solidFill>
                  <a:srgbClr val="64748B"/>
                </a:solidFill>
                <a:latin typeface="Arial" pitchFamily="34" charset="0"/>
                <a:ea typeface="Arial" pitchFamily="34" charset="-122"/>
                <a:cs typeface="Arial" pitchFamily="34" charset="-120"/>
              </a:rPr>
              <a:t>MSFT QUANTITY</a:t>
            </a:r>
            <a:endParaRPr lang="en-US" sz="900" dirty="0"/>
          </a:p>
        </p:txBody>
      </p:sp>
      <p:sp>
        <p:nvSpPr>
          <p:cNvPr id="10" name="Text 8"/>
          <p:cNvSpPr/>
          <p:nvPr/>
        </p:nvSpPr>
        <p:spPr>
          <a:xfrm>
            <a:off x="2697480" y="1920240"/>
            <a:ext cx="1325880" cy="329184"/>
          </a:xfrm>
          <a:prstGeom prst="rect">
            <a:avLst/>
          </a:prstGeom>
          <a:noFill/>
          <a:ln/>
        </p:spPr>
        <p:txBody>
          <a:bodyPr wrap="square" lIns="0" tIns="0" rIns="0" bIns="0" rtlCol="0" anchor="ctr">
            <a:normAutofit/>
          </a:bodyPr>
          <a:lstStyle/>
          <a:p>
            <a:pPr indent="0" marL="0">
              <a:buNone/>
            </a:pPr>
            <a:r>
              <a:rPr lang="en-US" sz="2200" b="1" dirty="0">
                <a:solidFill>
                  <a:srgbClr val="1D4ED8"/>
                </a:solidFill>
                <a:latin typeface="Arial" pitchFamily="34" charset="0"/>
                <a:ea typeface="Arial" pitchFamily="34" charset="-122"/>
                <a:cs typeface="Arial" pitchFamily="34" charset="-120"/>
              </a:rPr>
              <a:t>3</a:t>
            </a:r>
            <a:endParaRPr lang="en-US" sz="2200" dirty="0"/>
          </a:p>
        </p:txBody>
      </p:sp>
      <p:sp>
        <p:nvSpPr>
          <p:cNvPr id="11" name="Shape 9"/>
          <p:cNvSpPr/>
          <p:nvPr/>
        </p:nvSpPr>
        <p:spPr>
          <a:xfrm>
            <a:off x="658368" y="2660904"/>
            <a:ext cx="3547872" cy="932688"/>
          </a:xfrm>
          <a:prstGeom prst="roundRect">
            <a:avLst>
              <a:gd name="adj" fmla="val 784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2" name="Text 10"/>
          <p:cNvSpPr/>
          <p:nvPr/>
        </p:nvSpPr>
        <p:spPr>
          <a:xfrm>
            <a:off x="841248" y="2807208"/>
            <a:ext cx="3182112" cy="164592"/>
          </a:xfrm>
          <a:prstGeom prst="rect">
            <a:avLst/>
          </a:prstGeom>
          <a:noFill/>
          <a:ln/>
        </p:spPr>
        <p:txBody>
          <a:bodyPr wrap="square" lIns="0" tIns="0" rIns="0" bIns="0" rtlCol="0" anchor="ctr"/>
          <a:lstStyle/>
          <a:p>
            <a:pPr indent="0" marL="0">
              <a:buNone/>
            </a:pPr>
            <a:r>
              <a:rPr lang="en-US" sz="900" b="1" spc="80" kern="0" dirty="0">
                <a:solidFill>
                  <a:srgbClr val="64748B"/>
                </a:solidFill>
                <a:latin typeface="Arial" pitchFamily="34" charset="0"/>
                <a:ea typeface="Arial" pitchFamily="34" charset="-122"/>
                <a:cs typeface="Arial" pitchFamily="34" charset="-120"/>
              </a:rPr>
              <a:t>QUOTE STATUS</a:t>
            </a:r>
            <a:endParaRPr lang="en-US" sz="900" dirty="0"/>
          </a:p>
        </p:txBody>
      </p:sp>
      <p:sp>
        <p:nvSpPr>
          <p:cNvPr id="13" name="Text 11"/>
          <p:cNvSpPr/>
          <p:nvPr/>
        </p:nvSpPr>
        <p:spPr>
          <a:xfrm>
            <a:off x="841248" y="3090672"/>
            <a:ext cx="3182112" cy="329184"/>
          </a:xfrm>
          <a:prstGeom prst="rect">
            <a:avLst/>
          </a:prstGeom>
          <a:noFill/>
          <a:ln/>
        </p:spPr>
        <p:txBody>
          <a:bodyPr wrap="square" lIns="0" tIns="0" rIns="0" bIns="0" rtlCol="0" anchor="ctr">
            <a:normAutofit/>
          </a:bodyPr>
          <a:lstStyle/>
          <a:p>
            <a:pPr indent="0" marL="0">
              <a:buNone/>
            </a:pPr>
            <a:r>
              <a:rPr lang="en-US" sz="2200" b="1" dirty="0">
                <a:solidFill>
                  <a:srgbClr val="15803D"/>
                </a:solidFill>
                <a:latin typeface="Arial" pitchFamily="34" charset="0"/>
                <a:ea typeface="Arial" pitchFamily="34" charset="-122"/>
                <a:cs typeface="Arial" pitchFamily="34" charset="-120"/>
              </a:rPr>
              <a:t>MOCK · FRESH</a:t>
            </a:r>
            <a:endParaRPr lang="en-US" sz="2200" dirty="0"/>
          </a:p>
        </p:txBody>
      </p:sp>
      <p:sp>
        <p:nvSpPr>
          <p:cNvPr id="14" name="Shape 12"/>
          <p:cNvSpPr/>
          <p:nvPr/>
        </p:nvSpPr>
        <p:spPr>
          <a:xfrm>
            <a:off x="658368" y="3867912"/>
            <a:ext cx="3547872" cy="1298448"/>
          </a:xfrm>
          <a:prstGeom prst="roundRect">
            <a:avLst>
              <a:gd name="adj" fmla="val 5634"/>
            </a:avLst>
          </a:prstGeom>
          <a:solidFill>
            <a:srgbClr val="EFF6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15" name="Text 13"/>
          <p:cNvSpPr/>
          <p:nvPr/>
        </p:nvSpPr>
        <p:spPr>
          <a:xfrm>
            <a:off x="896112" y="4187952"/>
            <a:ext cx="3063240" cy="292608"/>
          </a:xfrm>
          <a:prstGeom prst="rect">
            <a:avLst/>
          </a:prstGeom>
          <a:noFill/>
          <a:ln/>
        </p:spPr>
        <p:txBody>
          <a:bodyPr wrap="square" lIns="0" tIns="0" rIns="0" bIns="0" rtlCol="0" anchor="ctr"/>
          <a:lstStyle/>
          <a:p>
            <a:pPr algn="ctr" indent="0" marL="0">
              <a:buNone/>
            </a:pPr>
            <a:r>
              <a:rPr lang="en-US" sz="1900" b="1" dirty="0">
                <a:solidFill>
                  <a:srgbClr val="1D4ED8"/>
                </a:solidFill>
                <a:latin typeface="Arial" pitchFamily="34" charset="0"/>
                <a:ea typeface="Arial" pitchFamily="34" charset="-122"/>
                <a:cs typeface="Arial" pitchFamily="34" charset="-120"/>
              </a:rPr>
              <a:t>ONE GAIN  +  ONE LOSS</a:t>
            </a:r>
            <a:endParaRPr lang="en-US" sz="1900" dirty="0"/>
          </a:p>
        </p:txBody>
      </p:sp>
      <p:sp>
        <p:nvSpPr>
          <p:cNvPr id="16" name="Text 14"/>
          <p:cNvSpPr/>
          <p:nvPr/>
        </p:nvSpPr>
        <p:spPr>
          <a:xfrm>
            <a:off x="896112" y="4645152"/>
            <a:ext cx="3063240" cy="219456"/>
          </a:xfrm>
          <a:prstGeom prst="rect">
            <a:avLst/>
          </a:prstGeom>
          <a:noFill/>
          <a:ln/>
        </p:spPr>
        <p:txBody>
          <a:bodyPr wrap="square" lIns="0" tIns="0" rIns="0" bIns="0" rtlCol="0" anchor="ctr"/>
          <a:lstStyle/>
          <a:p>
            <a:pPr algn="ctr" indent="0" marL="0">
              <a:buNone/>
            </a:pPr>
            <a:r>
              <a:rPr lang="en-US" sz="1450" b="1" dirty="0">
                <a:solidFill>
                  <a:srgbClr val="64748B"/>
                </a:solidFill>
                <a:latin typeface="Arial" pitchFamily="34" charset="0"/>
                <a:ea typeface="Arial" pitchFamily="34" charset="-122"/>
                <a:cs typeface="Arial" pitchFamily="34" charset="-120"/>
              </a:rPr>
              <a:t>Valuation history is persisted locally</a:t>
            </a:r>
            <a:endParaRPr lang="en-US" sz="1450" dirty="0"/>
          </a:p>
        </p:txBody>
      </p:sp>
      <p:sp>
        <p:nvSpPr>
          <p:cNvPr id="17" name="Shape 15"/>
          <p:cNvSpPr/>
          <p:nvPr/>
        </p:nvSpPr>
        <p:spPr>
          <a:xfrm>
            <a:off x="4507992" y="1371600"/>
            <a:ext cx="7059168" cy="4443984"/>
          </a:xfrm>
          <a:prstGeom prst="roundRect">
            <a:avLst>
              <a:gd name="adj" fmla="val 164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18" name="Image 0" descr="Dashboard baseline for Demo Growth">    </p:cNvPr>
          <p:cNvPicPr>
            <a:picLocks noChangeAspect="1"/>
          </p:cNvPicPr>
          <p:nvPr/>
        </p:nvPicPr>
        <p:blipFill>
          <a:blip r:embed="rId1"/>
          <a:stretch>
            <a:fillRect/>
          </a:stretch>
        </p:blipFill>
        <p:spPr>
          <a:xfrm>
            <a:off x="4553712" y="1417320"/>
            <a:ext cx="6967728" cy="4352544"/>
          </a:xfrm>
          <a:prstGeom prst="rect">
            <a:avLst/>
          </a:prstGeom>
        </p:spPr>
      </p:pic>
      <p:sp>
        <p:nvSpPr>
          <p:cNvPr id="19" name="Shape 16"/>
          <p:cNvSpPr/>
          <p:nvPr/>
        </p:nvSpPr>
        <p:spPr>
          <a:xfrm>
            <a:off x="7635240" y="5961888"/>
            <a:ext cx="2057400" cy="310896"/>
          </a:xfrm>
          <a:prstGeom prst="roundRect">
            <a:avLst>
              <a:gd name="adj" fmla="val 20588"/>
            </a:avLst>
          </a:prstGeom>
          <a:solidFill>
            <a:srgbClr val="DBEAFE"/>
          </a:solidFill>
          <a:ln w="12700">
            <a:solidFill>
              <a:srgbClr val="DBEAFE"/>
            </a:solidFill>
            <a:prstDash val="solid"/>
          </a:ln>
        </p:spPr>
      </p:sp>
      <p:sp>
        <p:nvSpPr>
          <p:cNvPr id="20" name="Text 17"/>
          <p:cNvSpPr/>
          <p:nvPr/>
        </p:nvSpPr>
        <p:spPr>
          <a:xfrm>
            <a:off x="7635240" y="6003036"/>
            <a:ext cx="2057400" cy="164592"/>
          </a:xfrm>
          <a:prstGeom prst="rect">
            <a:avLst/>
          </a:prstGeom>
          <a:noFill/>
          <a:ln/>
        </p:spPr>
        <p:txBody>
          <a:bodyPr wrap="square" lIns="0" tIns="0" rIns="0" bIns="0" rtlCol="0" anchor="ctr">
            <a:normAutofit/>
          </a:bodyPr>
          <a:lstStyle/>
          <a:p>
            <a:pPr algn="ctr" indent="0" marL="0">
              <a:buNone/>
            </a:pPr>
            <a:r>
              <a:rPr lang="en-US" sz="900" b="1" dirty="0">
                <a:solidFill>
                  <a:srgbClr val="1D4ED8"/>
                </a:solidFill>
                <a:latin typeface="Arial" pitchFamily="34" charset="0"/>
                <a:ea typeface="Arial" pitchFamily="34" charset="-122"/>
                <a:cs typeface="Arial" pitchFamily="34" charset="-120"/>
              </a:rPr>
              <a:t>REMEMBER AAPL = 8</a:t>
            </a:r>
            <a:endParaRPr lang="en-US" sz="9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DEMO · ACCOUNTS</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Multiple accounts, one clear boundary</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05</a:t>
            </a:r>
            <a:endParaRPr lang="en-US" sz="1800" dirty="0"/>
          </a:p>
        </p:txBody>
      </p:sp>
      <p:sp>
        <p:nvSpPr>
          <p:cNvPr id="5" name="Shape 3"/>
          <p:cNvSpPr/>
          <p:nvPr/>
        </p:nvSpPr>
        <p:spPr>
          <a:xfrm>
            <a:off x="612648" y="1380744"/>
            <a:ext cx="6903720" cy="4352544"/>
          </a:xfrm>
          <a:prstGeom prst="roundRect">
            <a:avLst>
              <a:gd name="adj" fmla="val 1681"/>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6" name="Image 0" descr="Accounts page with Demo Growth and Demo Income">    </p:cNvPr>
          <p:cNvPicPr>
            <a:picLocks noChangeAspect="1"/>
          </p:cNvPicPr>
          <p:nvPr/>
        </p:nvPicPr>
        <p:blipFill>
          <a:blip r:embed="rId1"/>
          <a:stretch>
            <a:fillRect/>
          </a:stretch>
        </p:blipFill>
        <p:spPr>
          <a:xfrm>
            <a:off x="658368" y="1426464"/>
            <a:ext cx="6812280" cy="4261104"/>
          </a:xfrm>
          <a:prstGeom prst="rect">
            <a:avLst/>
          </a:prstGeom>
        </p:spPr>
      </p:pic>
      <p:sp>
        <p:nvSpPr>
          <p:cNvPr id="7" name="Shape 4"/>
          <p:cNvSpPr/>
          <p:nvPr/>
        </p:nvSpPr>
        <p:spPr>
          <a:xfrm>
            <a:off x="7790688" y="1481328"/>
            <a:ext cx="3730752" cy="1078992"/>
          </a:xfrm>
          <a:prstGeom prst="roundRect">
            <a:avLst>
              <a:gd name="adj" fmla="val 6780"/>
            </a:avLst>
          </a:prstGeom>
          <a:solidFill>
            <a:srgbClr val="EFF6FF"/>
          </a:solidFill>
          <a:ln w="10160">
            <a:solidFill>
              <a:srgbClr val="EFF6FF"/>
            </a:solidFill>
            <a:prstDash val="solid"/>
          </a:ln>
        </p:spPr>
      </p:sp>
      <p:sp>
        <p:nvSpPr>
          <p:cNvPr id="8" name="Text 5"/>
          <p:cNvSpPr/>
          <p:nvPr/>
        </p:nvSpPr>
        <p:spPr>
          <a:xfrm>
            <a:off x="8065008" y="1664208"/>
            <a:ext cx="3182112" cy="201168"/>
          </a:xfrm>
          <a:prstGeom prst="rect">
            <a:avLst/>
          </a:prstGeom>
          <a:noFill/>
          <a:ln/>
        </p:spPr>
        <p:txBody>
          <a:bodyPr wrap="square" lIns="0" tIns="0" rIns="0" bIns="0" rtlCol="0" anchor="ctr"/>
          <a:lstStyle/>
          <a:p>
            <a:pPr indent="0" marL="0">
              <a:buNone/>
            </a:pPr>
            <a:r>
              <a:rPr lang="en-US" sz="1200" b="1" spc="80" kern="0" dirty="0">
                <a:solidFill>
                  <a:srgbClr val="2563EB"/>
                </a:solidFill>
                <a:latin typeface="Arial" pitchFamily="34" charset="0"/>
                <a:ea typeface="Arial" pitchFamily="34" charset="-122"/>
                <a:cs typeface="Arial" pitchFamily="34" charset="-120"/>
              </a:rPr>
              <a:t>MULTI-ACCOUNT</a:t>
            </a:r>
            <a:endParaRPr lang="en-US" sz="1200" dirty="0"/>
          </a:p>
        </p:txBody>
      </p:sp>
      <p:sp>
        <p:nvSpPr>
          <p:cNvPr id="9" name="Text 6"/>
          <p:cNvSpPr/>
          <p:nvPr/>
        </p:nvSpPr>
        <p:spPr>
          <a:xfrm>
            <a:off x="8065008" y="2002536"/>
            <a:ext cx="3182112" cy="274320"/>
          </a:xfrm>
          <a:prstGeom prst="rect">
            <a:avLst/>
          </a:prstGeom>
          <a:noFill/>
          <a:ln/>
        </p:spPr>
        <p:txBody>
          <a:bodyPr wrap="square" lIns="0" tIns="0" rIns="0" bIns="0" rtlCol="0" anchor="ctr">
            <a:normAutofit/>
          </a:bodyPr>
          <a:lstStyle/>
          <a:p>
            <a:pPr indent="0" marL="0">
              <a:buNone/>
            </a:pPr>
            <a:r>
              <a:rPr lang="en-US" sz="1650" b="1" dirty="0">
                <a:solidFill>
                  <a:srgbClr val="0F172A"/>
                </a:solidFill>
                <a:latin typeface="Arial" pitchFamily="34" charset="0"/>
                <a:ea typeface="Arial" pitchFamily="34" charset="-122"/>
                <a:cs typeface="Arial" pitchFamily="34" charset="-120"/>
              </a:rPr>
              <a:t>Demo Growth + Demo Income</a:t>
            </a:r>
            <a:endParaRPr lang="en-US" sz="1650" dirty="0"/>
          </a:p>
        </p:txBody>
      </p:sp>
      <p:sp>
        <p:nvSpPr>
          <p:cNvPr id="10" name="Shape 7"/>
          <p:cNvSpPr/>
          <p:nvPr/>
        </p:nvSpPr>
        <p:spPr>
          <a:xfrm>
            <a:off x="7790688" y="2852928"/>
            <a:ext cx="3730752" cy="1078992"/>
          </a:xfrm>
          <a:prstGeom prst="roundRect">
            <a:avLst>
              <a:gd name="adj" fmla="val 6780"/>
            </a:avLst>
          </a:prstGeom>
          <a:solidFill>
            <a:srgbClr val="DCFCE7"/>
          </a:solidFill>
          <a:ln w="10160">
            <a:solidFill>
              <a:srgbClr val="DCFCE7"/>
            </a:solidFill>
            <a:prstDash val="solid"/>
          </a:ln>
        </p:spPr>
      </p:sp>
      <p:sp>
        <p:nvSpPr>
          <p:cNvPr id="11" name="Text 8"/>
          <p:cNvSpPr/>
          <p:nvPr/>
        </p:nvSpPr>
        <p:spPr>
          <a:xfrm>
            <a:off x="8065008" y="3035808"/>
            <a:ext cx="3182112" cy="201168"/>
          </a:xfrm>
          <a:prstGeom prst="rect">
            <a:avLst/>
          </a:prstGeom>
          <a:noFill/>
          <a:ln/>
        </p:spPr>
        <p:txBody>
          <a:bodyPr wrap="square" lIns="0" tIns="0" rIns="0" bIns="0" rtlCol="0" anchor="ctr"/>
          <a:lstStyle/>
          <a:p>
            <a:pPr indent="0" marL="0">
              <a:buNone/>
            </a:pPr>
            <a:r>
              <a:rPr lang="en-US" sz="1200" b="1" spc="80" kern="0" dirty="0">
                <a:solidFill>
                  <a:srgbClr val="15803D"/>
                </a:solidFill>
                <a:latin typeface="Arial" pitchFamily="34" charset="0"/>
                <a:ea typeface="Arial" pitchFamily="34" charset="-122"/>
                <a:cs typeface="Arial" pitchFamily="34" charset="-120"/>
              </a:rPr>
              <a:t>ACTIVE / INACTIVE</a:t>
            </a:r>
            <a:endParaRPr lang="en-US" sz="1200" dirty="0"/>
          </a:p>
        </p:txBody>
      </p:sp>
      <p:sp>
        <p:nvSpPr>
          <p:cNvPr id="12" name="Text 9"/>
          <p:cNvSpPr/>
          <p:nvPr/>
        </p:nvSpPr>
        <p:spPr>
          <a:xfrm>
            <a:off x="8065008" y="3374136"/>
            <a:ext cx="3182112" cy="274320"/>
          </a:xfrm>
          <a:prstGeom prst="rect">
            <a:avLst/>
          </a:prstGeom>
          <a:noFill/>
          <a:ln/>
        </p:spPr>
        <p:txBody>
          <a:bodyPr wrap="square" lIns="0" tIns="0" rIns="0" bIns="0" rtlCol="0" anchor="ctr">
            <a:normAutofit/>
          </a:bodyPr>
          <a:lstStyle/>
          <a:p>
            <a:pPr indent="0" marL="0">
              <a:buNone/>
            </a:pPr>
            <a:r>
              <a:rPr lang="en-US" sz="1650" b="1" dirty="0">
                <a:solidFill>
                  <a:srgbClr val="0F172A"/>
                </a:solidFill>
                <a:latin typeface="Arial" pitchFamily="34" charset="0"/>
                <a:ea typeface="Arial" pitchFamily="34" charset="-122"/>
                <a:cs typeface="Arial" pitchFamily="34" charset="-120"/>
              </a:rPr>
              <a:t>Deactivate without deleting history</a:t>
            </a:r>
            <a:endParaRPr lang="en-US" sz="1650" dirty="0"/>
          </a:p>
        </p:txBody>
      </p:sp>
      <p:sp>
        <p:nvSpPr>
          <p:cNvPr id="13" name="Shape 10"/>
          <p:cNvSpPr/>
          <p:nvPr/>
        </p:nvSpPr>
        <p:spPr>
          <a:xfrm>
            <a:off x="7790688" y="4224528"/>
            <a:ext cx="3730752" cy="1078992"/>
          </a:xfrm>
          <a:prstGeom prst="roundRect">
            <a:avLst>
              <a:gd name="adj" fmla="val 6780"/>
            </a:avLst>
          </a:prstGeom>
          <a:solidFill>
            <a:srgbClr val="FEF3C7"/>
          </a:solidFill>
          <a:ln w="10160">
            <a:solidFill>
              <a:srgbClr val="FEF3C7"/>
            </a:solidFill>
            <a:prstDash val="solid"/>
          </a:ln>
        </p:spPr>
      </p:sp>
      <p:sp>
        <p:nvSpPr>
          <p:cNvPr id="14" name="Text 11"/>
          <p:cNvSpPr/>
          <p:nvPr/>
        </p:nvSpPr>
        <p:spPr>
          <a:xfrm>
            <a:off x="8065008" y="4407408"/>
            <a:ext cx="3182112" cy="201168"/>
          </a:xfrm>
          <a:prstGeom prst="rect">
            <a:avLst/>
          </a:prstGeom>
          <a:noFill/>
          <a:ln/>
        </p:spPr>
        <p:txBody>
          <a:bodyPr wrap="square" lIns="0" tIns="0" rIns="0" bIns="0" rtlCol="0" anchor="ctr"/>
          <a:lstStyle/>
          <a:p>
            <a:pPr indent="0" marL="0">
              <a:buNone/>
            </a:pPr>
            <a:r>
              <a:rPr lang="en-US" sz="1200" b="1" spc="80" kern="0" dirty="0">
                <a:solidFill>
                  <a:srgbClr val="D97706"/>
                </a:solidFill>
                <a:latin typeface="Arial" pitchFamily="34" charset="0"/>
                <a:ea typeface="Arial" pitchFamily="34" charset="-122"/>
                <a:cs typeface="Arial" pitchFamily="34" charset="-120"/>
              </a:rPr>
              <a:t>USD ONLY</a:t>
            </a:r>
            <a:endParaRPr lang="en-US" sz="1200" dirty="0"/>
          </a:p>
        </p:txBody>
      </p:sp>
      <p:sp>
        <p:nvSpPr>
          <p:cNvPr id="15" name="Text 12"/>
          <p:cNvSpPr/>
          <p:nvPr/>
        </p:nvSpPr>
        <p:spPr>
          <a:xfrm>
            <a:off x="8065008" y="4745736"/>
            <a:ext cx="3182112" cy="274320"/>
          </a:xfrm>
          <a:prstGeom prst="rect">
            <a:avLst/>
          </a:prstGeom>
          <a:noFill/>
          <a:ln/>
        </p:spPr>
        <p:txBody>
          <a:bodyPr wrap="square" lIns="0" tIns="0" rIns="0" bIns="0" rtlCol="0" anchor="ctr">
            <a:normAutofit/>
          </a:bodyPr>
          <a:lstStyle/>
          <a:p>
            <a:pPr indent="0" marL="0">
              <a:buNone/>
            </a:pPr>
            <a:r>
              <a:rPr lang="en-US" sz="1650" b="1" dirty="0">
                <a:solidFill>
                  <a:srgbClr val="0F172A"/>
                </a:solidFill>
                <a:latin typeface="Arial" pitchFamily="34" charset="0"/>
                <a:ea typeface="Arial" pitchFamily="34" charset="-122"/>
                <a:cs typeface="Arial" pitchFamily="34" charset="-120"/>
              </a:rPr>
              <a:t>Explicit current product boundary</a:t>
            </a:r>
            <a:endParaRPr lang="en-US" sz="1650" dirty="0"/>
          </a:p>
        </p:txBody>
      </p:sp>
      <p:sp>
        <p:nvSpPr>
          <p:cNvPr id="16" name="Shape 13"/>
          <p:cNvSpPr/>
          <p:nvPr/>
        </p:nvSpPr>
        <p:spPr>
          <a:xfrm>
            <a:off x="8887968" y="5779008"/>
            <a:ext cx="1600200" cy="310896"/>
          </a:xfrm>
          <a:prstGeom prst="roundRect">
            <a:avLst>
              <a:gd name="adj" fmla="val 20588"/>
            </a:avLst>
          </a:prstGeom>
          <a:solidFill>
            <a:srgbClr val="2563EB"/>
          </a:solidFill>
          <a:ln w="12700">
            <a:solidFill>
              <a:srgbClr val="2563EB"/>
            </a:solidFill>
            <a:prstDash val="solid"/>
          </a:ln>
        </p:spPr>
      </p:sp>
      <p:sp>
        <p:nvSpPr>
          <p:cNvPr id="17" name="Text 14"/>
          <p:cNvSpPr/>
          <p:nvPr/>
        </p:nvSpPr>
        <p:spPr>
          <a:xfrm>
            <a:off x="8887968" y="5820156"/>
            <a:ext cx="1600200"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VIEW POSITIONS</a:t>
            </a:r>
            <a:endParaRPr lang="en-US" sz="9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DEMO · ACTIVITY</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Book one verified AAPL trade</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06</a:t>
            </a:r>
            <a:endParaRPr lang="en-US" sz="1800" dirty="0"/>
          </a:p>
        </p:txBody>
      </p:sp>
      <p:sp>
        <p:nvSpPr>
          <p:cNvPr id="5" name="Shape 3"/>
          <p:cNvSpPr/>
          <p:nvPr/>
        </p:nvSpPr>
        <p:spPr>
          <a:xfrm>
            <a:off x="640080" y="1389888"/>
            <a:ext cx="3840480" cy="841248"/>
          </a:xfrm>
          <a:prstGeom prst="roundRect">
            <a:avLst>
              <a:gd name="adj" fmla="val 8696"/>
            </a:avLst>
          </a:prstGeom>
          <a:solidFill>
            <a:srgbClr val="FFFFFF"/>
          </a:solidFill>
          <a:ln w="10160">
            <a:solidFill>
              <a:srgbClr val="DCE5F1"/>
            </a:solidFill>
            <a:prstDash val="solid"/>
          </a:ln>
        </p:spPr>
      </p:sp>
      <p:sp>
        <p:nvSpPr>
          <p:cNvPr id="6" name="Shape 4"/>
          <p:cNvSpPr/>
          <p:nvPr/>
        </p:nvSpPr>
        <p:spPr>
          <a:xfrm>
            <a:off x="786384" y="1572768"/>
            <a:ext cx="457200" cy="457200"/>
          </a:xfrm>
          <a:prstGeom prst="ellipse">
            <a:avLst/>
          </a:prstGeom>
          <a:solidFill>
            <a:srgbClr val="2563EB"/>
          </a:solidFill>
          <a:ln w="12700">
            <a:solidFill>
              <a:srgbClr val="2563EB"/>
            </a:solidFill>
            <a:prstDash val="solid"/>
          </a:ln>
        </p:spPr>
      </p:sp>
      <p:sp>
        <p:nvSpPr>
          <p:cNvPr id="7" name="Text 5"/>
          <p:cNvSpPr/>
          <p:nvPr/>
        </p:nvSpPr>
        <p:spPr>
          <a:xfrm>
            <a:off x="786384" y="1696212"/>
            <a:ext cx="457200"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389888" y="1527048"/>
            <a:ext cx="2926080" cy="256032"/>
          </a:xfrm>
          <a:prstGeom prst="rect">
            <a:avLst/>
          </a:prstGeom>
          <a:noFill/>
          <a:ln/>
        </p:spPr>
        <p:txBody>
          <a:bodyPr wrap="square" lIns="0" tIns="0" rIns="0" bIns="0" rtlCol="0" anchor="ctr">
            <a:normAutofit/>
          </a:bodyPr>
          <a:lstStyle/>
          <a:p>
            <a:pPr indent="0" marL="0">
              <a:buNone/>
            </a:pPr>
            <a:r>
              <a:rPr lang="en-US" sz="1800" b="1" dirty="0">
                <a:solidFill>
                  <a:srgbClr val="0F172A"/>
                </a:solidFill>
                <a:latin typeface="Arial" pitchFamily="34" charset="0"/>
                <a:ea typeface="Arial" pitchFamily="34" charset="-122"/>
                <a:cs typeface="Arial" pitchFamily="34" charset="-120"/>
              </a:rPr>
              <a:t>Demo Growth</a:t>
            </a:r>
            <a:endParaRPr lang="en-US" sz="1800" dirty="0"/>
          </a:p>
        </p:txBody>
      </p:sp>
      <p:sp>
        <p:nvSpPr>
          <p:cNvPr id="9" name="Text 7"/>
          <p:cNvSpPr/>
          <p:nvPr/>
        </p:nvSpPr>
        <p:spPr>
          <a:xfrm>
            <a:off x="1389888" y="1837944"/>
            <a:ext cx="2926080" cy="219456"/>
          </a:xfrm>
          <a:prstGeom prst="rect">
            <a:avLst/>
          </a:prstGeom>
          <a:noFill/>
          <a:ln/>
        </p:spPr>
        <p:txBody>
          <a:bodyPr wrap="square" lIns="0" tIns="0" rIns="0" bIns="0" rtlCol="0" anchor="ctr">
            <a:normAutofit/>
          </a:bodyPr>
          <a:lstStyle/>
          <a:p>
            <a:pPr indent="0" marL="0">
              <a:buNone/>
            </a:pPr>
            <a:r>
              <a:rPr lang="en-US" sz="1350" dirty="0">
                <a:solidFill>
                  <a:srgbClr val="64748B"/>
                </a:solidFill>
                <a:latin typeface="Arial" pitchFamily="34" charset="0"/>
                <a:ea typeface="Arial" pitchFamily="34" charset="-122"/>
                <a:cs typeface="Arial" pitchFamily="34" charset="-120"/>
              </a:rPr>
              <a:t>Select account</a:t>
            </a:r>
            <a:endParaRPr lang="en-US" sz="1350" dirty="0"/>
          </a:p>
        </p:txBody>
      </p:sp>
      <p:sp>
        <p:nvSpPr>
          <p:cNvPr id="10" name="Shape 8"/>
          <p:cNvSpPr/>
          <p:nvPr/>
        </p:nvSpPr>
        <p:spPr>
          <a:xfrm>
            <a:off x="640080" y="2322576"/>
            <a:ext cx="3840480" cy="841248"/>
          </a:xfrm>
          <a:prstGeom prst="roundRect">
            <a:avLst>
              <a:gd name="adj" fmla="val 8696"/>
            </a:avLst>
          </a:prstGeom>
          <a:solidFill>
            <a:srgbClr val="FFFFFF"/>
          </a:solidFill>
          <a:ln w="10160">
            <a:solidFill>
              <a:srgbClr val="DCE5F1"/>
            </a:solidFill>
            <a:prstDash val="solid"/>
          </a:ln>
        </p:spPr>
      </p:sp>
      <p:sp>
        <p:nvSpPr>
          <p:cNvPr id="11" name="Shape 9"/>
          <p:cNvSpPr/>
          <p:nvPr/>
        </p:nvSpPr>
        <p:spPr>
          <a:xfrm>
            <a:off x="786384" y="2505456"/>
            <a:ext cx="457200" cy="457200"/>
          </a:xfrm>
          <a:prstGeom prst="ellipse">
            <a:avLst/>
          </a:prstGeom>
          <a:solidFill>
            <a:srgbClr val="2563EB"/>
          </a:solidFill>
          <a:ln w="12700">
            <a:solidFill>
              <a:srgbClr val="2563EB"/>
            </a:solidFill>
            <a:prstDash val="solid"/>
          </a:ln>
        </p:spPr>
      </p:sp>
      <p:sp>
        <p:nvSpPr>
          <p:cNvPr id="12" name="Text 10"/>
          <p:cNvSpPr/>
          <p:nvPr/>
        </p:nvSpPr>
        <p:spPr>
          <a:xfrm>
            <a:off x="786384" y="2628900"/>
            <a:ext cx="457200"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1389888" y="2459736"/>
            <a:ext cx="2926080" cy="256032"/>
          </a:xfrm>
          <a:prstGeom prst="rect">
            <a:avLst/>
          </a:prstGeom>
          <a:noFill/>
          <a:ln/>
        </p:spPr>
        <p:txBody>
          <a:bodyPr wrap="square" lIns="0" tIns="0" rIns="0" bIns="0" rtlCol="0" anchor="ctr">
            <a:normAutofit/>
          </a:bodyPr>
          <a:lstStyle/>
          <a:p>
            <a:pPr indent="0" marL="0">
              <a:buNone/>
            </a:pPr>
            <a:r>
              <a:rPr lang="en-US" sz="1800" b="1" dirty="0">
                <a:solidFill>
                  <a:srgbClr val="0F172A"/>
                </a:solidFill>
                <a:latin typeface="Arial" pitchFamily="34" charset="0"/>
                <a:ea typeface="Arial" pitchFamily="34" charset="-122"/>
                <a:cs typeface="Arial" pitchFamily="34" charset="-120"/>
              </a:rPr>
              <a:t>BUY</a:t>
            </a:r>
            <a:endParaRPr lang="en-US" sz="1800" dirty="0"/>
          </a:p>
        </p:txBody>
      </p:sp>
      <p:sp>
        <p:nvSpPr>
          <p:cNvPr id="14" name="Text 12"/>
          <p:cNvSpPr/>
          <p:nvPr/>
        </p:nvSpPr>
        <p:spPr>
          <a:xfrm>
            <a:off x="1389888" y="2770632"/>
            <a:ext cx="2926080" cy="219456"/>
          </a:xfrm>
          <a:prstGeom prst="rect">
            <a:avLst/>
          </a:prstGeom>
          <a:noFill/>
          <a:ln/>
        </p:spPr>
        <p:txBody>
          <a:bodyPr wrap="square" lIns="0" tIns="0" rIns="0" bIns="0" rtlCol="0" anchor="ctr">
            <a:normAutofit/>
          </a:bodyPr>
          <a:lstStyle/>
          <a:p>
            <a:pPr indent="0" marL="0">
              <a:buNone/>
            </a:pPr>
            <a:r>
              <a:rPr lang="en-US" sz="1350" dirty="0">
                <a:solidFill>
                  <a:srgbClr val="64748B"/>
                </a:solidFill>
                <a:latin typeface="Arial" pitchFamily="34" charset="0"/>
                <a:ea typeface="Arial" pitchFamily="34" charset="-122"/>
                <a:cs typeface="Arial" pitchFamily="34" charset="-120"/>
              </a:rPr>
              <a:t>Choose side</a:t>
            </a:r>
            <a:endParaRPr lang="en-US" sz="1350" dirty="0"/>
          </a:p>
        </p:txBody>
      </p:sp>
      <p:sp>
        <p:nvSpPr>
          <p:cNvPr id="15" name="Shape 13"/>
          <p:cNvSpPr/>
          <p:nvPr/>
        </p:nvSpPr>
        <p:spPr>
          <a:xfrm>
            <a:off x="640080" y="3255264"/>
            <a:ext cx="3840480" cy="841248"/>
          </a:xfrm>
          <a:prstGeom prst="roundRect">
            <a:avLst>
              <a:gd name="adj" fmla="val 8696"/>
            </a:avLst>
          </a:prstGeom>
          <a:solidFill>
            <a:srgbClr val="FFFFFF"/>
          </a:solidFill>
          <a:ln w="10160">
            <a:solidFill>
              <a:srgbClr val="DCE5F1"/>
            </a:solidFill>
            <a:prstDash val="solid"/>
          </a:ln>
        </p:spPr>
      </p:sp>
      <p:sp>
        <p:nvSpPr>
          <p:cNvPr id="16" name="Shape 14"/>
          <p:cNvSpPr/>
          <p:nvPr/>
        </p:nvSpPr>
        <p:spPr>
          <a:xfrm>
            <a:off x="786384" y="3438144"/>
            <a:ext cx="457200" cy="457200"/>
          </a:xfrm>
          <a:prstGeom prst="ellipse">
            <a:avLst/>
          </a:prstGeom>
          <a:solidFill>
            <a:srgbClr val="2563EB"/>
          </a:solidFill>
          <a:ln w="12700">
            <a:solidFill>
              <a:srgbClr val="2563EB"/>
            </a:solidFill>
            <a:prstDash val="solid"/>
          </a:ln>
        </p:spPr>
      </p:sp>
      <p:sp>
        <p:nvSpPr>
          <p:cNvPr id="17" name="Text 15"/>
          <p:cNvSpPr/>
          <p:nvPr/>
        </p:nvSpPr>
        <p:spPr>
          <a:xfrm>
            <a:off x="786384" y="3561588"/>
            <a:ext cx="457200"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6"/>
          <p:cNvSpPr/>
          <p:nvPr/>
        </p:nvSpPr>
        <p:spPr>
          <a:xfrm>
            <a:off x="1389888" y="3392424"/>
            <a:ext cx="2926080" cy="256032"/>
          </a:xfrm>
          <a:prstGeom prst="rect">
            <a:avLst/>
          </a:prstGeom>
          <a:noFill/>
          <a:ln/>
        </p:spPr>
        <p:txBody>
          <a:bodyPr wrap="square" lIns="0" tIns="0" rIns="0" bIns="0" rtlCol="0" anchor="ctr">
            <a:normAutofit/>
          </a:bodyPr>
          <a:lstStyle/>
          <a:p>
            <a:pPr indent="0" marL="0">
              <a:buNone/>
            </a:pPr>
            <a:r>
              <a:rPr lang="en-US" sz="1800" b="1" dirty="0">
                <a:solidFill>
                  <a:srgbClr val="0F172A"/>
                </a:solidFill>
                <a:latin typeface="Arial" pitchFamily="34" charset="0"/>
                <a:ea typeface="Arial" pitchFamily="34" charset="-122"/>
                <a:cs typeface="Arial" pitchFamily="34" charset="-120"/>
              </a:rPr>
              <a:t>AAPL</a:t>
            </a:r>
            <a:endParaRPr lang="en-US" sz="1800" dirty="0"/>
          </a:p>
        </p:txBody>
      </p:sp>
      <p:sp>
        <p:nvSpPr>
          <p:cNvPr id="19" name="Text 17"/>
          <p:cNvSpPr/>
          <p:nvPr/>
        </p:nvSpPr>
        <p:spPr>
          <a:xfrm>
            <a:off x="1389888" y="3703320"/>
            <a:ext cx="2926080" cy="219456"/>
          </a:xfrm>
          <a:prstGeom prst="rect">
            <a:avLst/>
          </a:prstGeom>
          <a:noFill/>
          <a:ln/>
        </p:spPr>
        <p:txBody>
          <a:bodyPr wrap="square" lIns="0" tIns="0" rIns="0" bIns="0" rtlCol="0" anchor="ctr">
            <a:normAutofit/>
          </a:bodyPr>
          <a:lstStyle/>
          <a:p>
            <a:pPr indent="0" marL="0">
              <a:buNone/>
            </a:pPr>
            <a:r>
              <a:rPr lang="en-US" sz="1350" dirty="0">
                <a:solidFill>
                  <a:srgbClr val="64748B"/>
                </a:solidFill>
                <a:latin typeface="Arial" pitchFamily="34" charset="0"/>
                <a:ea typeface="Arial" pitchFamily="34" charset="-122"/>
                <a:cs typeface="Arial" pitchFamily="34" charset="-120"/>
              </a:rPr>
              <a:t>Select search result</a:t>
            </a:r>
            <a:endParaRPr lang="en-US" sz="1350" dirty="0"/>
          </a:p>
        </p:txBody>
      </p:sp>
      <p:sp>
        <p:nvSpPr>
          <p:cNvPr id="20" name="Shape 18"/>
          <p:cNvSpPr/>
          <p:nvPr/>
        </p:nvSpPr>
        <p:spPr>
          <a:xfrm>
            <a:off x="640080" y="4187952"/>
            <a:ext cx="3840480" cy="841248"/>
          </a:xfrm>
          <a:prstGeom prst="roundRect">
            <a:avLst>
              <a:gd name="adj" fmla="val 8696"/>
            </a:avLst>
          </a:prstGeom>
          <a:solidFill>
            <a:srgbClr val="FFFFFF"/>
          </a:solidFill>
          <a:ln w="10160">
            <a:solidFill>
              <a:srgbClr val="DCE5F1"/>
            </a:solidFill>
            <a:prstDash val="solid"/>
          </a:ln>
        </p:spPr>
      </p:sp>
      <p:sp>
        <p:nvSpPr>
          <p:cNvPr id="21" name="Shape 19"/>
          <p:cNvSpPr/>
          <p:nvPr/>
        </p:nvSpPr>
        <p:spPr>
          <a:xfrm>
            <a:off x="786384" y="4370832"/>
            <a:ext cx="457200" cy="457200"/>
          </a:xfrm>
          <a:prstGeom prst="ellipse">
            <a:avLst/>
          </a:prstGeom>
          <a:solidFill>
            <a:srgbClr val="2563EB"/>
          </a:solidFill>
          <a:ln w="12700">
            <a:solidFill>
              <a:srgbClr val="2563EB"/>
            </a:solidFill>
            <a:prstDash val="solid"/>
          </a:ln>
        </p:spPr>
      </p:sp>
      <p:sp>
        <p:nvSpPr>
          <p:cNvPr id="22" name="Text 20"/>
          <p:cNvSpPr/>
          <p:nvPr/>
        </p:nvSpPr>
        <p:spPr>
          <a:xfrm>
            <a:off x="786384" y="4494276"/>
            <a:ext cx="457200"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3" name="Text 21"/>
          <p:cNvSpPr/>
          <p:nvPr/>
        </p:nvSpPr>
        <p:spPr>
          <a:xfrm>
            <a:off x="1389888" y="4325112"/>
            <a:ext cx="2926080" cy="256032"/>
          </a:xfrm>
          <a:prstGeom prst="rect">
            <a:avLst/>
          </a:prstGeom>
          <a:noFill/>
          <a:ln/>
        </p:spPr>
        <p:txBody>
          <a:bodyPr wrap="square" lIns="0" tIns="0" rIns="0" bIns="0" rtlCol="0" anchor="ctr">
            <a:normAutofit/>
          </a:bodyPr>
          <a:lstStyle/>
          <a:p>
            <a:pPr indent="0" marL="0">
              <a:buNone/>
            </a:pPr>
            <a:r>
              <a:rPr lang="en-US" sz="1800" b="1" dirty="0">
                <a:solidFill>
                  <a:srgbClr val="0F172A"/>
                </a:solidFill>
                <a:latin typeface="Arial" pitchFamily="34" charset="0"/>
                <a:ea typeface="Arial" pitchFamily="34" charset="-122"/>
                <a:cs typeface="Arial" pitchFamily="34" charset="-120"/>
              </a:rPr>
              <a:t>1 × $100</a:t>
            </a:r>
            <a:endParaRPr lang="en-US" sz="1800" dirty="0"/>
          </a:p>
        </p:txBody>
      </p:sp>
      <p:sp>
        <p:nvSpPr>
          <p:cNvPr id="24" name="Text 22"/>
          <p:cNvSpPr/>
          <p:nvPr/>
        </p:nvSpPr>
        <p:spPr>
          <a:xfrm>
            <a:off x="1389888" y="4636008"/>
            <a:ext cx="2926080" cy="219456"/>
          </a:xfrm>
          <a:prstGeom prst="rect">
            <a:avLst/>
          </a:prstGeom>
          <a:noFill/>
          <a:ln/>
        </p:spPr>
        <p:txBody>
          <a:bodyPr wrap="square" lIns="0" tIns="0" rIns="0" bIns="0" rtlCol="0" anchor="ctr">
            <a:normAutofit/>
          </a:bodyPr>
          <a:lstStyle/>
          <a:p>
            <a:pPr indent="0" marL="0">
              <a:buNone/>
            </a:pPr>
            <a:r>
              <a:rPr lang="en-US" sz="1350" dirty="0">
                <a:solidFill>
                  <a:srgbClr val="64748B"/>
                </a:solidFill>
                <a:latin typeface="Arial" pitchFamily="34" charset="0"/>
                <a:ea typeface="Arial" pitchFamily="34" charset="-122"/>
                <a:cs typeface="Arial" pitchFamily="34" charset="-120"/>
              </a:rPr>
              <a:t>Enter quantity and price</a:t>
            </a:r>
            <a:endParaRPr lang="en-US" sz="1350" dirty="0"/>
          </a:p>
        </p:txBody>
      </p:sp>
      <p:sp>
        <p:nvSpPr>
          <p:cNvPr id="25" name="Shape 23"/>
          <p:cNvSpPr/>
          <p:nvPr/>
        </p:nvSpPr>
        <p:spPr>
          <a:xfrm>
            <a:off x="640080" y="5120640"/>
            <a:ext cx="3840480" cy="841248"/>
          </a:xfrm>
          <a:prstGeom prst="roundRect">
            <a:avLst>
              <a:gd name="adj" fmla="val 8696"/>
            </a:avLst>
          </a:prstGeom>
          <a:solidFill>
            <a:srgbClr val="DCFCE7"/>
          </a:solidFill>
          <a:ln w="10160">
            <a:solidFill>
              <a:srgbClr val="86EFAC"/>
            </a:solidFill>
            <a:prstDash val="solid"/>
          </a:ln>
        </p:spPr>
      </p:sp>
      <p:sp>
        <p:nvSpPr>
          <p:cNvPr id="26" name="Shape 24"/>
          <p:cNvSpPr/>
          <p:nvPr/>
        </p:nvSpPr>
        <p:spPr>
          <a:xfrm>
            <a:off x="786384" y="5303520"/>
            <a:ext cx="457200" cy="457200"/>
          </a:xfrm>
          <a:prstGeom prst="ellipse">
            <a:avLst/>
          </a:prstGeom>
          <a:solidFill>
            <a:srgbClr val="15803D"/>
          </a:solidFill>
          <a:ln w="12700">
            <a:solidFill>
              <a:srgbClr val="15803D"/>
            </a:solidFill>
            <a:prstDash val="solid"/>
          </a:ln>
        </p:spPr>
      </p:sp>
      <p:sp>
        <p:nvSpPr>
          <p:cNvPr id="27" name="Text 25"/>
          <p:cNvSpPr/>
          <p:nvPr/>
        </p:nvSpPr>
        <p:spPr>
          <a:xfrm>
            <a:off x="786384" y="5426964"/>
            <a:ext cx="457200" cy="14630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8" name="Text 26"/>
          <p:cNvSpPr/>
          <p:nvPr/>
        </p:nvSpPr>
        <p:spPr>
          <a:xfrm>
            <a:off x="1389888" y="5257800"/>
            <a:ext cx="2926080" cy="256032"/>
          </a:xfrm>
          <a:prstGeom prst="rect">
            <a:avLst/>
          </a:prstGeom>
          <a:noFill/>
          <a:ln/>
        </p:spPr>
        <p:txBody>
          <a:bodyPr wrap="square" lIns="0" tIns="0" rIns="0" bIns="0" rtlCol="0" anchor="ctr">
            <a:normAutofit/>
          </a:bodyPr>
          <a:lstStyle/>
          <a:p>
            <a:pPr indent="0" marL="0">
              <a:buNone/>
            </a:pPr>
            <a:r>
              <a:rPr lang="en-US" sz="1800" b="1" dirty="0">
                <a:solidFill>
                  <a:srgbClr val="0F172A"/>
                </a:solidFill>
                <a:latin typeface="Arial" pitchFamily="34" charset="0"/>
                <a:ea typeface="Arial" pitchFamily="34" charset="-122"/>
                <a:cs typeface="Arial" pitchFamily="34" charset="-120"/>
              </a:rPr>
              <a:t>BOOKED</a:t>
            </a:r>
            <a:endParaRPr lang="en-US" sz="1800" dirty="0"/>
          </a:p>
        </p:txBody>
      </p:sp>
      <p:sp>
        <p:nvSpPr>
          <p:cNvPr id="29" name="Text 27"/>
          <p:cNvSpPr/>
          <p:nvPr/>
        </p:nvSpPr>
        <p:spPr>
          <a:xfrm>
            <a:off x="1389888" y="5568696"/>
            <a:ext cx="2926080" cy="219456"/>
          </a:xfrm>
          <a:prstGeom prst="rect">
            <a:avLst/>
          </a:prstGeom>
          <a:noFill/>
          <a:ln/>
        </p:spPr>
        <p:txBody>
          <a:bodyPr wrap="square" lIns="0" tIns="0" rIns="0" bIns="0" rtlCol="0" anchor="ctr">
            <a:normAutofit/>
          </a:bodyPr>
          <a:lstStyle/>
          <a:p>
            <a:pPr indent="0" marL="0">
              <a:buNone/>
            </a:pPr>
            <a:r>
              <a:rPr lang="en-US" sz="1350" dirty="0">
                <a:solidFill>
                  <a:srgbClr val="64748B"/>
                </a:solidFill>
                <a:latin typeface="Arial" pitchFamily="34" charset="0"/>
                <a:ea typeface="Arial" pitchFamily="34" charset="-122"/>
                <a:cs typeface="Arial" pitchFamily="34" charset="-120"/>
              </a:rPr>
              <a:t>Submit</a:t>
            </a:r>
            <a:endParaRPr lang="en-US" sz="1350" dirty="0"/>
          </a:p>
        </p:txBody>
      </p:sp>
      <p:sp>
        <p:nvSpPr>
          <p:cNvPr id="30" name="Shape 28"/>
          <p:cNvSpPr/>
          <p:nvPr/>
        </p:nvSpPr>
        <p:spPr>
          <a:xfrm>
            <a:off x="4754880" y="1380744"/>
            <a:ext cx="6812280" cy="4288536"/>
          </a:xfrm>
          <a:prstGeom prst="roundRect">
            <a:avLst>
              <a:gd name="adj" fmla="val 170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31" name="Image 0" descr="Trade booking form and activity ledger">    </p:cNvPr>
          <p:cNvPicPr>
            <a:picLocks noChangeAspect="1"/>
          </p:cNvPicPr>
          <p:nvPr/>
        </p:nvPicPr>
        <p:blipFill>
          <a:blip r:embed="rId1"/>
          <a:stretch>
            <a:fillRect/>
          </a:stretch>
        </p:blipFill>
        <p:spPr>
          <a:xfrm>
            <a:off x="4800600" y="1426464"/>
            <a:ext cx="6720840" cy="4197096"/>
          </a:xfrm>
          <a:prstGeom prst="rect">
            <a:avLst/>
          </a:prstGeom>
        </p:spPr>
      </p:pic>
      <p:sp>
        <p:nvSpPr>
          <p:cNvPr id="32" name="Shape 29"/>
          <p:cNvSpPr/>
          <p:nvPr/>
        </p:nvSpPr>
        <p:spPr>
          <a:xfrm>
            <a:off x="6858000" y="5833872"/>
            <a:ext cx="1508760" cy="310896"/>
          </a:xfrm>
          <a:prstGeom prst="roundRect">
            <a:avLst>
              <a:gd name="adj" fmla="val 20588"/>
            </a:avLst>
          </a:prstGeom>
          <a:solidFill>
            <a:srgbClr val="DBEAFE"/>
          </a:solidFill>
          <a:ln w="12700">
            <a:solidFill>
              <a:srgbClr val="DBEAFE"/>
            </a:solidFill>
            <a:prstDash val="solid"/>
          </a:ln>
        </p:spPr>
      </p:sp>
      <p:sp>
        <p:nvSpPr>
          <p:cNvPr id="33" name="Text 30"/>
          <p:cNvSpPr/>
          <p:nvPr/>
        </p:nvSpPr>
        <p:spPr>
          <a:xfrm>
            <a:off x="6858000" y="5875020"/>
            <a:ext cx="1508760" cy="164592"/>
          </a:xfrm>
          <a:prstGeom prst="rect">
            <a:avLst/>
          </a:prstGeom>
          <a:noFill/>
          <a:ln/>
        </p:spPr>
        <p:txBody>
          <a:bodyPr wrap="square" lIns="0" tIns="0" rIns="0" bIns="0" rtlCol="0" anchor="ctr">
            <a:normAutofit/>
          </a:bodyPr>
          <a:lstStyle/>
          <a:p>
            <a:pPr algn="ctr" indent="0" marL="0">
              <a:buNone/>
            </a:pPr>
            <a:r>
              <a:rPr lang="en-US" sz="900" b="1" dirty="0">
                <a:solidFill>
                  <a:srgbClr val="1D4ED8"/>
                </a:solidFill>
                <a:latin typeface="Arial" pitchFamily="34" charset="0"/>
                <a:ea typeface="Arial" pitchFamily="34" charset="-122"/>
                <a:cs typeface="Arial" pitchFamily="34" charset="-120"/>
              </a:rPr>
              <a:t>VERIFIED: AAPL</a:t>
            </a:r>
            <a:endParaRPr lang="en-US" sz="900" dirty="0"/>
          </a:p>
        </p:txBody>
      </p:sp>
      <p:sp>
        <p:nvSpPr>
          <p:cNvPr id="34" name="Shape 31"/>
          <p:cNvSpPr/>
          <p:nvPr/>
        </p:nvSpPr>
        <p:spPr>
          <a:xfrm>
            <a:off x="8549640" y="5833872"/>
            <a:ext cx="1645920" cy="310896"/>
          </a:xfrm>
          <a:prstGeom prst="roundRect">
            <a:avLst>
              <a:gd name="adj" fmla="val 20588"/>
            </a:avLst>
          </a:prstGeom>
          <a:solidFill>
            <a:srgbClr val="DCFCE7"/>
          </a:solidFill>
          <a:ln w="12700">
            <a:solidFill>
              <a:srgbClr val="DCFCE7"/>
            </a:solidFill>
            <a:prstDash val="solid"/>
          </a:ln>
        </p:spPr>
      </p:sp>
      <p:sp>
        <p:nvSpPr>
          <p:cNvPr id="35" name="Text 32"/>
          <p:cNvSpPr/>
          <p:nvPr/>
        </p:nvSpPr>
        <p:spPr>
          <a:xfrm>
            <a:off x="8549640" y="5875020"/>
            <a:ext cx="1645920" cy="164592"/>
          </a:xfrm>
          <a:prstGeom prst="rect">
            <a:avLst/>
          </a:prstGeom>
          <a:noFill/>
          <a:ln/>
        </p:spPr>
        <p:txBody>
          <a:bodyPr wrap="square" lIns="0" tIns="0" rIns="0" bIns="0" rtlCol="0" anchor="ctr">
            <a:normAutofit/>
          </a:bodyPr>
          <a:lstStyle/>
          <a:p>
            <a:pPr algn="ctr" indent="0" marL="0">
              <a:buNone/>
            </a:pPr>
            <a:r>
              <a:rPr lang="en-US" sz="900" b="1" dirty="0">
                <a:solidFill>
                  <a:srgbClr val="15803D"/>
                </a:solidFill>
                <a:latin typeface="Arial" pitchFamily="34" charset="0"/>
                <a:ea typeface="Arial" pitchFamily="34" charset="-122"/>
                <a:cs typeface="Arial" pitchFamily="34" charset="-120"/>
              </a:rPr>
              <a:t>NEW BOOKED ROW</a:t>
            </a:r>
            <a:endParaRPr lang="en-US" sz="9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TRADE LIFECYCLE</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Numbers change. Evidence stays.</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07</a:t>
            </a:r>
            <a:endParaRPr lang="en-US" sz="1800" dirty="0"/>
          </a:p>
        </p:txBody>
      </p:sp>
      <p:sp>
        <p:nvSpPr>
          <p:cNvPr id="5" name="Shape 3"/>
          <p:cNvSpPr/>
          <p:nvPr/>
        </p:nvSpPr>
        <p:spPr>
          <a:xfrm>
            <a:off x="658368" y="1554480"/>
            <a:ext cx="2743200" cy="1143000"/>
          </a:xfrm>
          <a:prstGeom prst="roundRect">
            <a:avLst>
              <a:gd name="adj" fmla="val 6400"/>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6" name="Text 4"/>
          <p:cNvSpPr/>
          <p:nvPr/>
        </p:nvSpPr>
        <p:spPr>
          <a:xfrm>
            <a:off x="932688" y="1856232"/>
            <a:ext cx="2194560" cy="36576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BOOKED</a:t>
            </a:r>
            <a:endParaRPr lang="en-US" sz="2400" dirty="0"/>
          </a:p>
        </p:txBody>
      </p:sp>
      <p:sp>
        <p:nvSpPr>
          <p:cNvPr id="7" name="Shape 5"/>
          <p:cNvSpPr/>
          <p:nvPr/>
        </p:nvSpPr>
        <p:spPr>
          <a:xfrm>
            <a:off x="3566160" y="2121408"/>
            <a:ext cx="1005840" cy="0"/>
          </a:xfrm>
          <a:prstGeom prst="line">
            <a:avLst/>
          </a:prstGeom>
          <a:noFill/>
          <a:ln w="31750">
            <a:solidFill>
              <a:srgbClr val="2563EB"/>
            </a:solidFill>
            <a:prstDash val="solid"/>
            <a:tailEnd type="triangle"/>
          </a:ln>
        </p:spPr>
      </p:sp>
      <p:sp>
        <p:nvSpPr>
          <p:cNvPr id="8" name="Shape 6"/>
          <p:cNvSpPr/>
          <p:nvPr/>
        </p:nvSpPr>
        <p:spPr>
          <a:xfrm>
            <a:off x="4754880" y="1554480"/>
            <a:ext cx="2743200" cy="1143000"/>
          </a:xfrm>
          <a:prstGeom prst="roundRect">
            <a:avLst>
              <a:gd name="adj" fmla="val 6400"/>
            </a:avLst>
          </a:prstGeom>
          <a:solidFill>
            <a:srgbClr val="FEF3C7"/>
          </a:solidFill>
          <a:ln w="10160">
            <a:solidFill>
              <a:srgbClr val="FCD34D"/>
            </a:solidFill>
            <a:prstDash val="solid"/>
          </a:ln>
          <a:effectLst>
            <a:outerShdw sx="100000" sy="100000" kx="0" ky="0" algn="bl" rotWithShape="0" blurRad="19050" dist="50800" dir="2700000">
              <a:srgbClr val="94A3B8">
                <a:alpha val="13000"/>
              </a:srgbClr>
            </a:outerShdw>
          </a:effectLst>
        </p:spPr>
      </p:sp>
      <p:sp>
        <p:nvSpPr>
          <p:cNvPr id="9" name="Text 7"/>
          <p:cNvSpPr/>
          <p:nvPr/>
        </p:nvSpPr>
        <p:spPr>
          <a:xfrm>
            <a:off x="5029200" y="1856232"/>
            <a:ext cx="2194560" cy="365760"/>
          </a:xfrm>
          <a:prstGeom prst="rect">
            <a:avLst/>
          </a:prstGeom>
          <a:noFill/>
          <a:ln/>
        </p:spPr>
        <p:txBody>
          <a:bodyPr wrap="square" lIns="0" tIns="0" rIns="0" bIns="0" rtlCol="0" anchor="ctr"/>
          <a:lstStyle/>
          <a:p>
            <a:pPr algn="ctr" indent="0" marL="0">
              <a:buNone/>
            </a:pPr>
            <a:r>
              <a:rPr lang="en-US" sz="2400" b="1" dirty="0">
                <a:solidFill>
                  <a:srgbClr val="D97706"/>
                </a:solidFill>
                <a:latin typeface="Arial" pitchFamily="34" charset="0"/>
                <a:ea typeface="Arial" pitchFamily="34" charset="-122"/>
                <a:cs typeface="Arial" pitchFamily="34" charset="-120"/>
              </a:rPr>
              <a:t>CANCELLED</a:t>
            </a:r>
            <a:endParaRPr lang="en-US" sz="2400" dirty="0"/>
          </a:p>
        </p:txBody>
      </p:sp>
      <p:sp>
        <p:nvSpPr>
          <p:cNvPr id="10" name="Shape 8"/>
          <p:cNvSpPr/>
          <p:nvPr/>
        </p:nvSpPr>
        <p:spPr>
          <a:xfrm>
            <a:off x="7909560" y="1554480"/>
            <a:ext cx="3611880" cy="1143000"/>
          </a:xfrm>
          <a:prstGeom prst="roundRect">
            <a:avLst>
              <a:gd name="adj" fmla="val 6400"/>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1" name="Text 9"/>
          <p:cNvSpPr/>
          <p:nvPr/>
        </p:nvSpPr>
        <p:spPr>
          <a:xfrm>
            <a:off x="8183880" y="1901952"/>
            <a:ext cx="3063240" cy="292608"/>
          </a:xfrm>
          <a:prstGeom prst="rect">
            <a:avLst/>
          </a:prstGeom>
          <a:noFill/>
          <a:ln/>
        </p:spPr>
        <p:txBody>
          <a:bodyPr wrap="square" lIns="0" tIns="0" rIns="0" bIns="0" rtlCol="0" anchor="ctr">
            <a:normAutofit/>
          </a:bodyPr>
          <a:lstStyle/>
          <a:p>
            <a:pPr algn="ctr" indent="0" marL="0">
              <a:buNone/>
            </a:pPr>
            <a:r>
              <a:rPr lang="en-US" sz="1550" b="1" dirty="0">
                <a:solidFill>
                  <a:srgbClr val="0F172A"/>
                </a:solidFill>
                <a:latin typeface="Arial" pitchFamily="34" charset="0"/>
                <a:ea typeface="Arial" pitchFamily="34" charset="-122"/>
                <a:cs typeface="Arial" pitchFamily="34" charset="-120"/>
              </a:rPr>
              <a:t>CANCELLED  ·  DELETED  ·  AMENDED</a:t>
            </a:r>
            <a:endParaRPr lang="en-US" sz="1550" dirty="0"/>
          </a:p>
        </p:txBody>
      </p:sp>
      <p:sp>
        <p:nvSpPr>
          <p:cNvPr id="12" name="Text 10"/>
          <p:cNvSpPr/>
          <p:nvPr/>
        </p:nvSpPr>
        <p:spPr>
          <a:xfrm>
            <a:off x="8183880" y="2276856"/>
            <a:ext cx="3063240" cy="210312"/>
          </a:xfrm>
          <a:prstGeom prst="rect">
            <a:avLst/>
          </a:prstGeom>
          <a:noFill/>
          <a:ln/>
        </p:spPr>
        <p:txBody>
          <a:bodyPr wrap="square" lIns="0" tIns="0" rIns="0" bIns="0" rtlCol="0" anchor="ctr"/>
          <a:lstStyle/>
          <a:p>
            <a:pPr algn="ctr" indent="0" marL="0">
              <a:buNone/>
            </a:pPr>
            <a:r>
              <a:rPr lang="en-US" sz="1350" b="1" dirty="0">
                <a:solidFill>
                  <a:srgbClr val="64748B"/>
                </a:solidFill>
                <a:latin typeface="Arial" pitchFamily="34" charset="0"/>
                <a:ea typeface="Arial" pitchFamily="34" charset="-122"/>
                <a:cs typeface="Arial" pitchFamily="34" charset="-120"/>
              </a:rPr>
              <a:t>Audit reason is always explicit</a:t>
            </a:r>
            <a:endParaRPr lang="en-US" sz="1350" dirty="0"/>
          </a:p>
        </p:txBody>
      </p:sp>
      <p:sp>
        <p:nvSpPr>
          <p:cNvPr id="13" name="Shape 11"/>
          <p:cNvSpPr/>
          <p:nvPr/>
        </p:nvSpPr>
        <p:spPr>
          <a:xfrm>
            <a:off x="1143000" y="3337560"/>
            <a:ext cx="2834640" cy="1572768"/>
          </a:xfrm>
          <a:prstGeom prst="roundRect">
            <a:avLst>
              <a:gd name="adj" fmla="val 4651"/>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4" name="Text 12"/>
          <p:cNvSpPr/>
          <p:nvPr/>
        </p:nvSpPr>
        <p:spPr>
          <a:xfrm>
            <a:off x="1143000" y="3584448"/>
            <a:ext cx="2834640" cy="566928"/>
          </a:xfrm>
          <a:prstGeom prst="rect">
            <a:avLst/>
          </a:prstGeom>
          <a:noFill/>
          <a:ln/>
        </p:spPr>
        <p:txBody>
          <a:bodyPr wrap="square" lIns="0" tIns="0" rIns="0" bIns="0" rtlCol="0" anchor="ctr"/>
          <a:lstStyle/>
          <a:p>
            <a:pPr algn="ctr" indent="0" marL="0">
              <a:buNone/>
            </a:pPr>
            <a:r>
              <a:rPr lang="en-US" sz="3700" b="1" dirty="0">
                <a:solidFill>
                  <a:srgbClr val="1D4ED8"/>
                </a:solidFill>
                <a:latin typeface="Arial" pitchFamily="34" charset="0"/>
                <a:ea typeface="Arial" pitchFamily="34" charset="-122"/>
                <a:cs typeface="Arial" pitchFamily="34" charset="-120"/>
              </a:rPr>
              <a:t>8</a:t>
            </a:r>
            <a:endParaRPr lang="en-US" sz="3700" dirty="0"/>
          </a:p>
        </p:txBody>
      </p:sp>
      <p:sp>
        <p:nvSpPr>
          <p:cNvPr id="15" name="Text 13"/>
          <p:cNvSpPr/>
          <p:nvPr/>
        </p:nvSpPr>
        <p:spPr>
          <a:xfrm>
            <a:off x="1371600" y="4370832"/>
            <a:ext cx="2377440" cy="210312"/>
          </a:xfrm>
          <a:prstGeom prst="rect">
            <a:avLst/>
          </a:prstGeom>
          <a:noFill/>
          <a:ln/>
        </p:spPr>
        <p:txBody>
          <a:bodyPr wrap="square" lIns="0" tIns="0" rIns="0" bIns="0" rtlCol="0" anchor="ctr"/>
          <a:lstStyle/>
          <a:p>
            <a:pPr algn="ctr" indent="0" marL="0">
              <a:buNone/>
            </a:pPr>
            <a:r>
              <a:rPr lang="en-US" sz="1100" b="1" spc="80" kern="0" dirty="0">
                <a:solidFill>
                  <a:srgbClr val="64748B"/>
                </a:solidFill>
                <a:latin typeface="Arial" pitchFamily="34" charset="0"/>
                <a:ea typeface="Arial" pitchFamily="34" charset="-122"/>
                <a:cs typeface="Arial" pitchFamily="34" charset="-120"/>
              </a:rPr>
              <a:t>BASELINE</a:t>
            </a:r>
            <a:endParaRPr lang="en-US" sz="1100" dirty="0"/>
          </a:p>
        </p:txBody>
      </p:sp>
      <p:sp>
        <p:nvSpPr>
          <p:cNvPr id="16" name="Text 14"/>
          <p:cNvSpPr/>
          <p:nvPr/>
        </p:nvSpPr>
        <p:spPr>
          <a:xfrm>
            <a:off x="4023360" y="3858768"/>
            <a:ext cx="457200" cy="256032"/>
          </a:xfrm>
          <a:prstGeom prst="rect">
            <a:avLst/>
          </a:prstGeom>
          <a:noFill/>
          <a:ln/>
        </p:spPr>
        <p:txBody>
          <a:bodyPr wrap="square" lIns="0" tIns="0" rIns="0" bIns="0" rtlCol="0" anchor="ctr"/>
          <a:lstStyle/>
          <a:p>
            <a:pPr algn="ctr" indent="0" marL="0">
              <a:buNone/>
            </a:pPr>
            <a:r>
              <a:rPr lang="en-US" sz="2000" b="1" dirty="0">
                <a:solidFill>
                  <a:srgbClr val="2563EB"/>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4572000" y="3337560"/>
            <a:ext cx="2834640" cy="1572768"/>
          </a:xfrm>
          <a:prstGeom prst="roundRect">
            <a:avLst>
              <a:gd name="adj" fmla="val 4651"/>
            </a:avLst>
          </a:prstGeom>
          <a:solidFill>
            <a:srgbClr val="DCFCE7"/>
          </a:solidFill>
          <a:ln w="10160">
            <a:solidFill>
              <a:srgbClr val="86EFAC"/>
            </a:solidFill>
            <a:prstDash val="solid"/>
          </a:ln>
          <a:effectLst>
            <a:outerShdw sx="100000" sy="100000" kx="0" ky="0" algn="bl" rotWithShape="0" blurRad="19050" dist="50800" dir="2700000">
              <a:srgbClr val="94A3B8">
                <a:alpha val="13000"/>
              </a:srgbClr>
            </a:outerShdw>
          </a:effectLst>
        </p:spPr>
      </p:sp>
      <p:sp>
        <p:nvSpPr>
          <p:cNvPr id="18" name="Text 16"/>
          <p:cNvSpPr/>
          <p:nvPr/>
        </p:nvSpPr>
        <p:spPr>
          <a:xfrm>
            <a:off x="4572000" y="3584448"/>
            <a:ext cx="2834640" cy="566928"/>
          </a:xfrm>
          <a:prstGeom prst="rect">
            <a:avLst/>
          </a:prstGeom>
          <a:noFill/>
          <a:ln/>
        </p:spPr>
        <p:txBody>
          <a:bodyPr wrap="square" lIns="0" tIns="0" rIns="0" bIns="0" rtlCol="0" anchor="ctr"/>
          <a:lstStyle/>
          <a:p>
            <a:pPr algn="ctr" indent="0" marL="0">
              <a:buNone/>
            </a:pPr>
            <a:r>
              <a:rPr lang="en-US" sz="3700" b="1" dirty="0">
                <a:solidFill>
                  <a:srgbClr val="15803D"/>
                </a:solidFill>
                <a:latin typeface="Arial" pitchFamily="34" charset="0"/>
                <a:ea typeface="Arial" pitchFamily="34" charset="-122"/>
                <a:cs typeface="Arial" pitchFamily="34" charset="-120"/>
              </a:rPr>
              <a:t>9</a:t>
            </a:r>
            <a:endParaRPr lang="en-US" sz="3700" dirty="0"/>
          </a:p>
        </p:txBody>
      </p:sp>
      <p:sp>
        <p:nvSpPr>
          <p:cNvPr id="19" name="Text 17"/>
          <p:cNvSpPr/>
          <p:nvPr/>
        </p:nvSpPr>
        <p:spPr>
          <a:xfrm>
            <a:off x="4800600" y="4370832"/>
            <a:ext cx="2377440" cy="210312"/>
          </a:xfrm>
          <a:prstGeom prst="rect">
            <a:avLst/>
          </a:prstGeom>
          <a:noFill/>
          <a:ln/>
        </p:spPr>
        <p:txBody>
          <a:bodyPr wrap="square" lIns="0" tIns="0" rIns="0" bIns="0" rtlCol="0" anchor="ctr"/>
          <a:lstStyle/>
          <a:p>
            <a:pPr algn="ctr" indent="0" marL="0">
              <a:buNone/>
            </a:pPr>
            <a:r>
              <a:rPr lang="en-US" sz="1100" b="1" spc="80" kern="0" dirty="0">
                <a:solidFill>
                  <a:srgbClr val="64748B"/>
                </a:solidFill>
                <a:latin typeface="Arial" pitchFamily="34" charset="0"/>
                <a:ea typeface="Arial" pitchFamily="34" charset="-122"/>
                <a:cs typeface="Arial" pitchFamily="34" charset="-120"/>
              </a:rPr>
              <a:t>AFTER BUY</a:t>
            </a:r>
            <a:endParaRPr lang="en-US" sz="1100" dirty="0"/>
          </a:p>
        </p:txBody>
      </p:sp>
      <p:sp>
        <p:nvSpPr>
          <p:cNvPr id="20" name="Text 18"/>
          <p:cNvSpPr/>
          <p:nvPr/>
        </p:nvSpPr>
        <p:spPr>
          <a:xfrm>
            <a:off x="7452360" y="3858768"/>
            <a:ext cx="457200" cy="256032"/>
          </a:xfrm>
          <a:prstGeom prst="rect">
            <a:avLst/>
          </a:prstGeom>
          <a:noFill/>
          <a:ln/>
        </p:spPr>
        <p:txBody>
          <a:bodyPr wrap="square" lIns="0" tIns="0" rIns="0" bIns="0" rtlCol="0" anchor="ctr"/>
          <a:lstStyle/>
          <a:p>
            <a:pPr algn="ctr" indent="0" marL="0">
              <a:buNone/>
            </a:pPr>
            <a:r>
              <a:rPr lang="en-US" sz="2000" b="1" dirty="0">
                <a:solidFill>
                  <a:srgbClr val="2563EB"/>
                </a:solidFill>
                <a:latin typeface="Arial" pitchFamily="34" charset="0"/>
                <a:ea typeface="Arial" pitchFamily="34" charset="-122"/>
                <a:cs typeface="Arial" pitchFamily="34" charset="-120"/>
              </a:rPr>
              <a:t>→</a:t>
            </a:r>
            <a:endParaRPr lang="en-US" sz="2000" dirty="0"/>
          </a:p>
        </p:txBody>
      </p:sp>
      <p:sp>
        <p:nvSpPr>
          <p:cNvPr id="21" name="Shape 19"/>
          <p:cNvSpPr/>
          <p:nvPr/>
        </p:nvSpPr>
        <p:spPr>
          <a:xfrm>
            <a:off x="8001000" y="3337560"/>
            <a:ext cx="2834640" cy="1572768"/>
          </a:xfrm>
          <a:prstGeom prst="roundRect">
            <a:avLst>
              <a:gd name="adj" fmla="val 4651"/>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2" name="Text 20"/>
          <p:cNvSpPr/>
          <p:nvPr/>
        </p:nvSpPr>
        <p:spPr>
          <a:xfrm>
            <a:off x="8001000" y="3584448"/>
            <a:ext cx="2834640" cy="566928"/>
          </a:xfrm>
          <a:prstGeom prst="rect">
            <a:avLst/>
          </a:prstGeom>
          <a:noFill/>
          <a:ln/>
        </p:spPr>
        <p:txBody>
          <a:bodyPr wrap="square" lIns="0" tIns="0" rIns="0" bIns="0" rtlCol="0" anchor="ctr"/>
          <a:lstStyle/>
          <a:p>
            <a:pPr algn="ctr" indent="0" marL="0">
              <a:buNone/>
            </a:pPr>
            <a:r>
              <a:rPr lang="en-US" sz="3700" b="1" dirty="0">
                <a:solidFill>
                  <a:srgbClr val="D97706"/>
                </a:solidFill>
                <a:latin typeface="Arial" pitchFamily="34" charset="0"/>
                <a:ea typeface="Arial" pitchFamily="34" charset="-122"/>
                <a:cs typeface="Arial" pitchFamily="34" charset="-120"/>
              </a:rPr>
              <a:t>8</a:t>
            </a:r>
            <a:endParaRPr lang="en-US" sz="3700" dirty="0"/>
          </a:p>
        </p:txBody>
      </p:sp>
      <p:sp>
        <p:nvSpPr>
          <p:cNvPr id="23" name="Text 21"/>
          <p:cNvSpPr/>
          <p:nvPr/>
        </p:nvSpPr>
        <p:spPr>
          <a:xfrm>
            <a:off x="8229600" y="4370832"/>
            <a:ext cx="2377440" cy="210312"/>
          </a:xfrm>
          <a:prstGeom prst="rect">
            <a:avLst/>
          </a:prstGeom>
          <a:noFill/>
          <a:ln/>
        </p:spPr>
        <p:txBody>
          <a:bodyPr wrap="square" lIns="0" tIns="0" rIns="0" bIns="0" rtlCol="0" anchor="ctr"/>
          <a:lstStyle/>
          <a:p>
            <a:pPr algn="ctr" indent="0" marL="0">
              <a:buNone/>
            </a:pPr>
            <a:r>
              <a:rPr lang="en-US" sz="1100" b="1" spc="80" kern="0" dirty="0">
                <a:solidFill>
                  <a:srgbClr val="64748B"/>
                </a:solidFill>
                <a:latin typeface="Arial" pitchFamily="34" charset="0"/>
                <a:ea typeface="Arial" pitchFamily="34" charset="-122"/>
                <a:cs typeface="Arial" pitchFamily="34" charset="-120"/>
              </a:rPr>
              <a:t>AFTER DELETE</a:t>
            </a:r>
            <a:endParaRPr lang="en-US" sz="1100" dirty="0"/>
          </a:p>
        </p:txBody>
      </p:sp>
      <p:sp>
        <p:nvSpPr>
          <p:cNvPr id="24" name="Text 22"/>
          <p:cNvSpPr/>
          <p:nvPr/>
        </p:nvSpPr>
        <p:spPr>
          <a:xfrm>
            <a:off x="1965960" y="5449824"/>
            <a:ext cx="8183880" cy="347472"/>
          </a:xfrm>
          <a:prstGeom prst="rect">
            <a:avLst/>
          </a:prstGeom>
          <a:noFill/>
          <a:ln/>
        </p:spPr>
        <p:txBody>
          <a:bodyPr wrap="square" lIns="0" tIns="0" rIns="0" bIns="0" rtlCol="0" anchor="ctr"/>
          <a:lstStyle/>
          <a:p>
            <a:pPr algn="ctr" indent="0" marL="0">
              <a:buNone/>
            </a:pPr>
            <a:r>
              <a:rPr lang="en-US" sz="1800" b="1" dirty="0">
                <a:solidFill>
                  <a:srgbClr val="1D4ED8"/>
                </a:solidFill>
                <a:latin typeface="Arial" pitchFamily="34" charset="0"/>
                <a:ea typeface="Arial" pitchFamily="34" charset="-122"/>
                <a:cs typeface="Arial" pitchFamily="34" charset="-120"/>
              </a:rPr>
              <a:t>Delete recalculates the position — it never erases the record.</a:t>
            </a:r>
            <a:endParaRPr lang="en-US" sz="18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POSITION AND P&amp;L</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One calculation model, everywhere</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08</a:t>
            </a:r>
            <a:endParaRPr lang="en-US" sz="1800" dirty="0"/>
          </a:p>
        </p:txBody>
      </p:sp>
      <p:sp>
        <p:nvSpPr>
          <p:cNvPr id="5" name="Shape 3"/>
          <p:cNvSpPr/>
          <p:nvPr/>
        </p:nvSpPr>
        <p:spPr>
          <a:xfrm>
            <a:off x="658368" y="1417320"/>
            <a:ext cx="4480560" cy="1024128"/>
          </a:xfrm>
          <a:prstGeom prst="roundRect">
            <a:avLst>
              <a:gd name="adj" fmla="val 714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6" name="Text 4"/>
          <p:cNvSpPr/>
          <p:nvPr/>
        </p:nvSpPr>
        <p:spPr>
          <a:xfrm>
            <a:off x="914400" y="1581912"/>
            <a:ext cx="1508760" cy="201168"/>
          </a:xfrm>
          <a:prstGeom prst="rect">
            <a:avLst/>
          </a:prstGeom>
          <a:noFill/>
          <a:ln/>
        </p:spPr>
        <p:txBody>
          <a:bodyPr wrap="square" lIns="0" tIns="0" rIns="0" bIns="0" rtlCol="0" anchor="ctr"/>
          <a:lstStyle/>
          <a:p>
            <a:pPr indent="0" marL="0">
              <a:buNone/>
            </a:pPr>
            <a:r>
              <a:rPr lang="en-US" sz="1100" b="1" spc="75" kern="0" dirty="0">
                <a:solidFill>
                  <a:srgbClr val="2563EB"/>
                </a:solidFill>
                <a:latin typeface="Arial" pitchFamily="34" charset="0"/>
                <a:ea typeface="Arial" pitchFamily="34" charset="-122"/>
                <a:cs typeface="Arial" pitchFamily="34" charset="-120"/>
              </a:rPr>
              <a:t>MARKET VALUE</a:t>
            </a:r>
            <a:endParaRPr lang="en-US" sz="1100" dirty="0"/>
          </a:p>
        </p:txBody>
      </p:sp>
      <p:sp>
        <p:nvSpPr>
          <p:cNvPr id="7" name="Text 5"/>
          <p:cNvSpPr/>
          <p:nvPr/>
        </p:nvSpPr>
        <p:spPr>
          <a:xfrm>
            <a:off x="2487168" y="1709928"/>
            <a:ext cx="2331720" cy="274320"/>
          </a:xfrm>
          <a:prstGeom prst="rect">
            <a:avLst/>
          </a:prstGeom>
          <a:noFill/>
          <a:ln/>
        </p:spPr>
        <p:txBody>
          <a:bodyPr wrap="square" lIns="0" tIns="0" rIns="0" bIns="0" rtlCol="0" anchor="ctr">
            <a:normAutofit/>
          </a:bodyPr>
          <a:lstStyle/>
          <a:p>
            <a:pPr algn="r" indent="0" marL="0">
              <a:buNone/>
            </a:pPr>
            <a:r>
              <a:rPr lang="en-US" sz="1700" b="1" dirty="0">
                <a:solidFill>
                  <a:srgbClr val="0F172A"/>
                </a:solidFill>
                <a:latin typeface="Arial" pitchFamily="34" charset="0"/>
                <a:ea typeface="Arial" pitchFamily="34" charset="-122"/>
                <a:cs typeface="Arial" pitchFamily="34" charset="-120"/>
              </a:rPr>
              <a:t>quantity × market price</a:t>
            </a:r>
            <a:endParaRPr lang="en-US" sz="1700" dirty="0"/>
          </a:p>
        </p:txBody>
      </p:sp>
      <p:sp>
        <p:nvSpPr>
          <p:cNvPr id="8" name="Shape 6"/>
          <p:cNvSpPr/>
          <p:nvPr/>
        </p:nvSpPr>
        <p:spPr>
          <a:xfrm>
            <a:off x="658368" y="2715768"/>
            <a:ext cx="4480560" cy="1024128"/>
          </a:xfrm>
          <a:prstGeom prst="roundRect">
            <a:avLst>
              <a:gd name="adj" fmla="val 7143"/>
            </a:avLst>
          </a:prstGeom>
          <a:solidFill>
            <a:srgbClr val="DCFCE7"/>
          </a:solidFill>
          <a:ln w="10160">
            <a:solidFill>
              <a:srgbClr val="86EFAC"/>
            </a:solidFill>
            <a:prstDash val="solid"/>
          </a:ln>
          <a:effectLst>
            <a:outerShdw sx="100000" sy="100000" kx="0" ky="0" algn="bl" rotWithShape="0" blurRad="19050" dist="50800" dir="2700000">
              <a:srgbClr val="94A3B8">
                <a:alpha val="13000"/>
              </a:srgbClr>
            </a:outerShdw>
          </a:effectLst>
        </p:spPr>
      </p:sp>
      <p:sp>
        <p:nvSpPr>
          <p:cNvPr id="9" name="Text 7"/>
          <p:cNvSpPr/>
          <p:nvPr/>
        </p:nvSpPr>
        <p:spPr>
          <a:xfrm>
            <a:off x="914400" y="2880360"/>
            <a:ext cx="1508760" cy="201168"/>
          </a:xfrm>
          <a:prstGeom prst="rect">
            <a:avLst/>
          </a:prstGeom>
          <a:noFill/>
          <a:ln/>
        </p:spPr>
        <p:txBody>
          <a:bodyPr wrap="square" lIns="0" tIns="0" rIns="0" bIns="0" rtlCol="0" anchor="ctr"/>
          <a:lstStyle/>
          <a:p>
            <a:pPr indent="0" marL="0">
              <a:buNone/>
            </a:pPr>
            <a:r>
              <a:rPr lang="en-US" sz="1100" b="1" spc="75" kern="0" dirty="0">
                <a:solidFill>
                  <a:srgbClr val="15803D"/>
                </a:solidFill>
                <a:latin typeface="Arial" pitchFamily="34" charset="0"/>
                <a:ea typeface="Arial" pitchFamily="34" charset="-122"/>
                <a:cs typeface="Arial" pitchFamily="34" charset="-120"/>
              </a:rPr>
              <a:t>UNREALIZED P&amp;L</a:t>
            </a:r>
            <a:endParaRPr lang="en-US" sz="1100" dirty="0"/>
          </a:p>
        </p:txBody>
      </p:sp>
      <p:sp>
        <p:nvSpPr>
          <p:cNvPr id="10" name="Text 8"/>
          <p:cNvSpPr/>
          <p:nvPr/>
        </p:nvSpPr>
        <p:spPr>
          <a:xfrm>
            <a:off x="2487168" y="3008376"/>
            <a:ext cx="2331720" cy="274320"/>
          </a:xfrm>
          <a:prstGeom prst="rect">
            <a:avLst/>
          </a:prstGeom>
          <a:noFill/>
          <a:ln/>
        </p:spPr>
        <p:txBody>
          <a:bodyPr wrap="square" lIns="0" tIns="0" rIns="0" bIns="0" rtlCol="0" anchor="ctr">
            <a:normAutofit/>
          </a:bodyPr>
          <a:lstStyle/>
          <a:p>
            <a:pPr algn="r" indent="0" marL="0">
              <a:buNone/>
            </a:pPr>
            <a:r>
              <a:rPr lang="en-US" sz="1700" b="1" dirty="0">
                <a:solidFill>
                  <a:srgbClr val="0F172A"/>
                </a:solidFill>
                <a:latin typeface="Arial" pitchFamily="34" charset="0"/>
                <a:ea typeface="Arial" pitchFamily="34" charset="-122"/>
                <a:cs typeface="Arial" pitchFamily="34" charset="-120"/>
              </a:rPr>
              <a:t>market value − cost basis</a:t>
            </a:r>
            <a:endParaRPr lang="en-US" sz="1700" dirty="0"/>
          </a:p>
        </p:txBody>
      </p:sp>
      <p:sp>
        <p:nvSpPr>
          <p:cNvPr id="11" name="Shape 9"/>
          <p:cNvSpPr/>
          <p:nvPr/>
        </p:nvSpPr>
        <p:spPr>
          <a:xfrm>
            <a:off x="658368" y="4014216"/>
            <a:ext cx="4480560" cy="1024128"/>
          </a:xfrm>
          <a:prstGeom prst="roundRect">
            <a:avLst>
              <a:gd name="adj" fmla="val 714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2" name="Text 10"/>
          <p:cNvSpPr/>
          <p:nvPr/>
        </p:nvSpPr>
        <p:spPr>
          <a:xfrm>
            <a:off x="914400" y="4178808"/>
            <a:ext cx="1508760" cy="201168"/>
          </a:xfrm>
          <a:prstGeom prst="rect">
            <a:avLst/>
          </a:prstGeom>
          <a:noFill/>
          <a:ln/>
        </p:spPr>
        <p:txBody>
          <a:bodyPr wrap="square" lIns="0" tIns="0" rIns="0" bIns="0" rtlCol="0" anchor="ctr"/>
          <a:lstStyle/>
          <a:p>
            <a:pPr indent="0" marL="0">
              <a:buNone/>
            </a:pPr>
            <a:r>
              <a:rPr lang="en-US" sz="1100" b="1" spc="75" kern="0" dirty="0">
                <a:solidFill>
                  <a:srgbClr val="2563EB"/>
                </a:solidFill>
                <a:latin typeface="Arial" pitchFamily="34" charset="0"/>
                <a:ea typeface="Arial" pitchFamily="34" charset="-122"/>
                <a:cs typeface="Arial" pitchFamily="34" charset="-120"/>
              </a:rPr>
              <a:t>RETURN</a:t>
            </a:r>
            <a:endParaRPr lang="en-US" sz="1100" dirty="0"/>
          </a:p>
        </p:txBody>
      </p:sp>
      <p:sp>
        <p:nvSpPr>
          <p:cNvPr id="13" name="Text 11"/>
          <p:cNvSpPr/>
          <p:nvPr/>
        </p:nvSpPr>
        <p:spPr>
          <a:xfrm>
            <a:off x="2487168" y="4306824"/>
            <a:ext cx="2331720" cy="274320"/>
          </a:xfrm>
          <a:prstGeom prst="rect">
            <a:avLst/>
          </a:prstGeom>
          <a:noFill/>
          <a:ln/>
        </p:spPr>
        <p:txBody>
          <a:bodyPr wrap="square" lIns="0" tIns="0" rIns="0" bIns="0" rtlCol="0" anchor="ctr">
            <a:normAutofit/>
          </a:bodyPr>
          <a:lstStyle/>
          <a:p>
            <a:pPr algn="r" indent="0" marL="0">
              <a:buNone/>
            </a:pPr>
            <a:r>
              <a:rPr lang="en-US" sz="1700" b="1" dirty="0">
                <a:solidFill>
                  <a:srgbClr val="0F172A"/>
                </a:solidFill>
                <a:latin typeface="Arial" pitchFamily="34" charset="0"/>
                <a:ea typeface="Arial" pitchFamily="34" charset="-122"/>
                <a:cs typeface="Arial" pitchFamily="34" charset="-120"/>
              </a:rPr>
              <a:t>P&amp;L ÷ cost basis × 100</a:t>
            </a:r>
            <a:endParaRPr lang="en-US" sz="1700" dirty="0"/>
          </a:p>
        </p:txBody>
      </p:sp>
      <p:sp>
        <p:nvSpPr>
          <p:cNvPr id="14" name="Shape 12"/>
          <p:cNvSpPr/>
          <p:nvPr/>
        </p:nvSpPr>
        <p:spPr>
          <a:xfrm>
            <a:off x="658368" y="5394960"/>
            <a:ext cx="4480560" cy="530352"/>
          </a:xfrm>
          <a:prstGeom prst="roundRect">
            <a:avLst>
              <a:gd name="adj" fmla="val 13793"/>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15" name="Text 13"/>
          <p:cNvSpPr/>
          <p:nvPr/>
        </p:nvSpPr>
        <p:spPr>
          <a:xfrm>
            <a:off x="896112" y="5559552"/>
            <a:ext cx="4005072" cy="182880"/>
          </a:xfrm>
          <a:prstGeom prst="rect">
            <a:avLst/>
          </a:prstGeom>
          <a:noFill/>
          <a:ln/>
        </p:spPr>
        <p:txBody>
          <a:bodyPr wrap="square" lIns="0" tIns="0" rIns="0" bIns="0" rtlCol="0" anchor="ctr"/>
          <a:lstStyle/>
          <a:p>
            <a:pPr algn="ctr" indent="0" marL="0">
              <a:buNone/>
            </a:pPr>
            <a:r>
              <a:rPr lang="en-US" sz="1100" b="1" spc="55" kern="0" dirty="0">
                <a:solidFill>
                  <a:srgbClr val="FFFFFF"/>
                </a:solidFill>
                <a:latin typeface="Arial" pitchFamily="34" charset="0"/>
                <a:ea typeface="Arial" pitchFamily="34" charset="-122"/>
                <a:cs typeface="Arial" pitchFamily="34" charset="-120"/>
              </a:rPr>
              <a:t>WEIGHTED-AVERAGE COST  ·  DECIMAL ARITHMETIC</a:t>
            </a:r>
            <a:endParaRPr lang="en-US" sz="1100" dirty="0"/>
          </a:p>
        </p:txBody>
      </p:sp>
      <p:sp>
        <p:nvSpPr>
          <p:cNvPr id="16" name="Shape 14"/>
          <p:cNvSpPr/>
          <p:nvPr/>
        </p:nvSpPr>
        <p:spPr>
          <a:xfrm>
            <a:off x="5458968" y="1371600"/>
            <a:ext cx="6108192" cy="3849624"/>
          </a:xfrm>
          <a:prstGeom prst="roundRect">
            <a:avLst>
              <a:gd name="adj" fmla="val 1900"/>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17" name="Image 0" descr="Dashboard showing position P&amp;L and valuation history">    </p:cNvPr>
          <p:cNvPicPr>
            <a:picLocks noChangeAspect="1"/>
          </p:cNvPicPr>
          <p:nvPr/>
        </p:nvPicPr>
        <p:blipFill>
          <a:blip r:embed="rId1"/>
          <a:stretch>
            <a:fillRect/>
          </a:stretch>
        </p:blipFill>
        <p:spPr>
          <a:xfrm>
            <a:off x="5504688" y="1417320"/>
            <a:ext cx="6016752" cy="3758184"/>
          </a:xfrm>
          <a:prstGeom prst="rect">
            <a:avLst/>
          </a:prstGeom>
        </p:spPr>
      </p:pic>
      <p:sp>
        <p:nvSpPr>
          <p:cNvPr id="18" name="Shape 15"/>
          <p:cNvSpPr/>
          <p:nvPr/>
        </p:nvSpPr>
        <p:spPr>
          <a:xfrm>
            <a:off x="5504688" y="5394960"/>
            <a:ext cx="1856232" cy="932688"/>
          </a:xfrm>
          <a:prstGeom prst="roundRect">
            <a:avLst>
              <a:gd name="adj" fmla="val 784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9" name="Text 16"/>
          <p:cNvSpPr/>
          <p:nvPr/>
        </p:nvSpPr>
        <p:spPr>
          <a:xfrm>
            <a:off x="5687568" y="5541264"/>
            <a:ext cx="1490472" cy="164592"/>
          </a:xfrm>
          <a:prstGeom prst="rect">
            <a:avLst/>
          </a:prstGeom>
          <a:noFill/>
          <a:ln/>
        </p:spPr>
        <p:txBody>
          <a:bodyPr wrap="square" lIns="0" tIns="0" rIns="0" bIns="0" rtlCol="0" anchor="ctr"/>
          <a:lstStyle/>
          <a:p>
            <a:pPr indent="0" marL="0">
              <a:buNone/>
            </a:pPr>
            <a:r>
              <a:rPr lang="en-US" sz="900" b="1" spc="80" kern="0" dirty="0">
                <a:solidFill>
                  <a:srgbClr val="64748B"/>
                </a:solidFill>
                <a:latin typeface="Arial" pitchFamily="34" charset="0"/>
                <a:ea typeface="Arial" pitchFamily="34" charset="-122"/>
                <a:cs typeface="Arial" pitchFamily="34" charset="-120"/>
              </a:rPr>
              <a:t>QUANTITY</a:t>
            </a:r>
            <a:endParaRPr lang="en-US" sz="900" dirty="0"/>
          </a:p>
        </p:txBody>
      </p:sp>
      <p:sp>
        <p:nvSpPr>
          <p:cNvPr id="20" name="Text 17"/>
          <p:cNvSpPr/>
          <p:nvPr/>
        </p:nvSpPr>
        <p:spPr>
          <a:xfrm>
            <a:off x="5687568" y="5824728"/>
            <a:ext cx="1490472" cy="329184"/>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Arial" pitchFamily="34" charset="0"/>
                <a:ea typeface="Arial" pitchFamily="34" charset="-122"/>
                <a:cs typeface="Arial" pitchFamily="34" charset="-120"/>
              </a:rPr>
              <a:t>8</a:t>
            </a:r>
            <a:endParaRPr lang="en-US" sz="2200" dirty="0"/>
          </a:p>
        </p:txBody>
      </p:sp>
      <p:sp>
        <p:nvSpPr>
          <p:cNvPr id="21" name="Shape 18"/>
          <p:cNvSpPr/>
          <p:nvPr/>
        </p:nvSpPr>
        <p:spPr>
          <a:xfrm>
            <a:off x="7543800" y="5394960"/>
            <a:ext cx="1856232" cy="932688"/>
          </a:xfrm>
          <a:prstGeom prst="roundRect">
            <a:avLst>
              <a:gd name="adj" fmla="val 784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2" name="Text 19"/>
          <p:cNvSpPr/>
          <p:nvPr/>
        </p:nvSpPr>
        <p:spPr>
          <a:xfrm>
            <a:off x="7726680" y="5541264"/>
            <a:ext cx="1490472" cy="164592"/>
          </a:xfrm>
          <a:prstGeom prst="rect">
            <a:avLst/>
          </a:prstGeom>
          <a:noFill/>
          <a:ln/>
        </p:spPr>
        <p:txBody>
          <a:bodyPr wrap="square" lIns="0" tIns="0" rIns="0" bIns="0" rtlCol="0" anchor="ctr"/>
          <a:lstStyle/>
          <a:p>
            <a:pPr indent="0" marL="0">
              <a:buNone/>
            </a:pPr>
            <a:r>
              <a:rPr lang="en-US" sz="900" b="1" spc="80" kern="0" dirty="0">
                <a:solidFill>
                  <a:srgbClr val="64748B"/>
                </a:solidFill>
                <a:latin typeface="Arial" pitchFamily="34" charset="0"/>
                <a:ea typeface="Arial" pitchFamily="34" charset="-122"/>
                <a:cs typeface="Arial" pitchFamily="34" charset="-120"/>
              </a:rPr>
              <a:t>AVERAGE COST</a:t>
            </a:r>
            <a:endParaRPr lang="en-US" sz="900" dirty="0"/>
          </a:p>
        </p:txBody>
      </p:sp>
      <p:sp>
        <p:nvSpPr>
          <p:cNvPr id="23" name="Text 20"/>
          <p:cNvSpPr/>
          <p:nvPr/>
        </p:nvSpPr>
        <p:spPr>
          <a:xfrm>
            <a:off x="7726680" y="5824728"/>
            <a:ext cx="1490472" cy="329184"/>
          </a:xfrm>
          <a:prstGeom prst="rect">
            <a:avLst/>
          </a:prstGeom>
          <a:noFill/>
          <a:ln/>
        </p:spPr>
        <p:txBody>
          <a:bodyPr wrap="square" lIns="0" tIns="0" rIns="0" bIns="0" rtlCol="0" anchor="ctr">
            <a:normAutofit/>
          </a:bodyPr>
          <a:lstStyle/>
          <a:p>
            <a:pPr indent="0" marL="0">
              <a:buNone/>
            </a:pPr>
            <a:r>
              <a:rPr lang="en-US" sz="2200" b="1" dirty="0">
                <a:solidFill>
                  <a:srgbClr val="0F172A"/>
                </a:solidFill>
                <a:latin typeface="Arial" pitchFamily="34" charset="0"/>
                <a:ea typeface="Arial" pitchFamily="34" charset="-122"/>
                <a:cs typeface="Arial" pitchFamily="34" charset="-120"/>
              </a:rPr>
              <a:t>$100</a:t>
            </a:r>
            <a:endParaRPr lang="en-US" sz="2200" dirty="0"/>
          </a:p>
        </p:txBody>
      </p:sp>
      <p:sp>
        <p:nvSpPr>
          <p:cNvPr id="24" name="Shape 21"/>
          <p:cNvSpPr/>
          <p:nvPr/>
        </p:nvSpPr>
        <p:spPr>
          <a:xfrm>
            <a:off x="9582912" y="5394960"/>
            <a:ext cx="1938528" cy="932688"/>
          </a:xfrm>
          <a:prstGeom prst="roundRect">
            <a:avLst>
              <a:gd name="adj" fmla="val 784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5" name="Text 22"/>
          <p:cNvSpPr/>
          <p:nvPr/>
        </p:nvSpPr>
        <p:spPr>
          <a:xfrm>
            <a:off x="9765792" y="5541264"/>
            <a:ext cx="1572768" cy="164592"/>
          </a:xfrm>
          <a:prstGeom prst="rect">
            <a:avLst/>
          </a:prstGeom>
          <a:noFill/>
          <a:ln/>
        </p:spPr>
        <p:txBody>
          <a:bodyPr wrap="square" lIns="0" tIns="0" rIns="0" bIns="0" rtlCol="0" anchor="ctr"/>
          <a:lstStyle/>
          <a:p>
            <a:pPr indent="0" marL="0">
              <a:buNone/>
            </a:pPr>
            <a:r>
              <a:rPr lang="en-US" sz="900" b="1" spc="80" kern="0" dirty="0">
                <a:solidFill>
                  <a:srgbClr val="64748B"/>
                </a:solidFill>
                <a:latin typeface="Arial" pitchFamily="34" charset="0"/>
                <a:ea typeface="Arial" pitchFamily="34" charset="-122"/>
                <a:cs typeface="Arial" pitchFamily="34" charset="-120"/>
              </a:rPr>
              <a:t>MISSING QUOTE</a:t>
            </a:r>
            <a:endParaRPr lang="en-US" sz="900" dirty="0"/>
          </a:p>
        </p:txBody>
      </p:sp>
      <p:sp>
        <p:nvSpPr>
          <p:cNvPr id="26" name="Text 23"/>
          <p:cNvSpPr/>
          <p:nvPr/>
        </p:nvSpPr>
        <p:spPr>
          <a:xfrm>
            <a:off x="9765792" y="5824728"/>
            <a:ext cx="1572768" cy="329184"/>
          </a:xfrm>
          <a:prstGeom prst="rect">
            <a:avLst/>
          </a:prstGeom>
          <a:noFill/>
          <a:ln/>
        </p:spPr>
        <p:txBody>
          <a:bodyPr wrap="square" lIns="0" tIns="0" rIns="0" bIns="0" rtlCol="0" anchor="ctr">
            <a:normAutofit/>
          </a:bodyPr>
          <a:lstStyle/>
          <a:p>
            <a:pPr indent="0" marL="0">
              <a:buNone/>
            </a:pPr>
            <a:r>
              <a:rPr lang="en-US" sz="2200" b="1" dirty="0">
                <a:solidFill>
                  <a:srgbClr val="D97706"/>
                </a:solidFill>
                <a:latin typeface="Arial" pitchFamily="34" charset="0"/>
                <a:ea typeface="Arial" pitchFamily="34" charset="-122"/>
                <a:cs typeface="Arial" pitchFamily="34" charset="-120"/>
              </a:rPr>
              <a:t>NULL</a:t>
            </a:r>
            <a:endParaRPr lang="en-US" sz="22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BULK BOOKING</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CSV import with a duplicate safety net</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09</a:t>
            </a:r>
            <a:endParaRPr lang="en-US" sz="1800" dirty="0"/>
          </a:p>
        </p:txBody>
      </p:sp>
      <p:sp>
        <p:nvSpPr>
          <p:cNvPr id="5" name="Shape 3"/>
          <p:cNvSpPr/>
          <p:nvPr/>
        </p:nvSpPr>
        <p:spPr>
          <a:xfrm>
            <a:off x="658368" y="1691640"/>
            <a:ext cx="2423160" cy="1938528"/>
          </a:xfrm>
          <a:prstGeom prst="roundRect">
            <a:avLst>
              <a:gd name="adj" fmla="val 3774"/>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6" name="Text 4"/>
          <p:cNvSpPr/>
          <p:nvPr/>
        </p:nvSpPr>
        <p:spPr>
          <a:xfrm>
            <a:off x="859536" y="2057400"/>
            <a:ext cx="2020824" cy="347472"/>
          </a:xfrm>
          <a:prstGeom prst="rect">
            <a:avLst/>
          </a:prstGeom>
          <a:noFill/>
          <a:ln/>
        </p:spPr>
        <p:txBody>
          <a:bodyPr wrap="square" lIns="0" tIns="0" rIns="0" bIns="0" rtlCol="0" anchor="ctr">
            <a:normAutofit/>
          </a:bodyPr>
          <a:lstStyle/>
          <a:p>
            <a:pPr algn="ctr" indent="0" marL="0">
              <a:buNone/>
            </a:pPr>
            <a:r>
              <a:rPr lang="en-US" sz="2200" b="1" dirty="0">
                <a:solidFill>
                  <a:srgbClr val="1D4ED8"/>
                </a:solidFill>
                <a:latin typeface="Arial" pitchFamily="34" charset="0"/>
                <a:ea typeface="Arial" pitchFamily="34" charset="-122"/>
                <a:cs typeface="Arial" pitchFamily="34" charset="-120"/>
              </a:rPr>
              <a:t>CSV</a:t>
            </a:r>
            <a:endParaRPr lang="en-US" sz="2200" dirty="0"/>
          </a:p>
        </p:txBody>
      </p:sp>
      <p:sp>
        <p:nvSpPr>
          <p:cNvPr id="7" name="Text 5"/>
          <p:cNvSpPr/>
          <p:nvPr/>
        </p:nvSpPr>
        <p:spPr>
          <a:xfrm>
            <a:off x="859536" y="2743200"/>
            <a:ext cx="2020824" cy="274320"/>
          </a:xfrm>
          <a:prstGeom prst="rect">
            <a:avLst/>
          </a:prstGeom>
          <a:noFill/>
          <a:ln/>
        </p:spPr>
        <p:txBody>
          <a:bodyPr wrap="square" lIns="0" tIns="0" rIns="0" bIns="0" rtlCol="0" anchor="ctr"/>
          <a:lstStyle/>
          <a:p>
            <a:pPr algn="ctr" indent="0" marL="0">
              <a:buNone/>
            </a:pPr>
            <a:r>
              <a:rPr lang="en-US" sz="1500" b="1" dirty="0">
                <a:solidFill>
                  <a:srgbClr val="64748B"/>
                </a:solidFill>
                <a:latin typeface="Arial" pitchFamily="34" charset="0"/>
                <a:ea typeface="Arial" pitchFamily="34" charset="-122"/>
                <a:cs typeface="Arial" pitchFamily="34" charset="-120"/>
              </a:rPr>
              <a:t>Validate</a:t>
            </a:r>
            <a:endParaRPr lang="en-US" sz="1500" dirty="0"/>
          </a:p>
        </p:txBody>
      </p:sp>
      <p:sp>
        <p:nvSpPr>
          <p:cNvPr id="8" name="Shape 6"/>
          <p:cNvSpPr/>
          <p:nvPr/>
        </p:nvSpPr>
        <p:spPr>
          <a:xfrm>
            <a:off x="3108960" y="2651760"/>
            <a:ext cx="365760" cy="0"/>
          </a:xfrm>
          <a:prstGeom prst="line">
            <a:avLst/>
          </a:prstGeom>
          <a:noFill/>
          <a:ln w="25400">
            <a:solidFill>
              <a:srgbClr val="2563EB"/>
            </a:solidFill>
            <a:prstDash val="solid"/>
            <a:tailEnd type="triangle"/>
          </a:ln>
        </p:spPr>
      </p:sp>
      <p:sp>
        <p:nvSpPr>
          <p:cNvPr id="9" name="Shape 7"/>
          <p:cNvSpPr/>
          <p:nvPr/>
        </p:nvSpPr>
        <p:spPr>
          <a:xfrm>
            <a:off x="3520440" y="1691640"/>
            <a:ext cx="2423160" cy="1938528"/>
          </a:xfrm>
          <a:prstGeom prst="roundRect">
            <a:avLst>
              <a:gd name="adj" fmla="val 3774"/>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0" name="Text 8"/>
          <p:cNvSpPr/>
          <p:nvPr/>
        </p:nvSpPr>
        <p:spPr>
          <a:xfrm>
            <a:off x="3721608" y="2057400"/>
            <a:ext cx="2020824" cy="347472"/>
          </a:xfrm>
          <a:prstGeom prst="rect">
            <a:avLst/>
          </a:prstGeom>
          <a:noFill/>
          <a:ln/>
        </p:spPr>
        <p:txBody>
          <a:bodyPr wrap="square" lIns="0" tIns="0" rIns="0" bIns="0" rtlCol="0" anchor="ctr">
            <a:normAutofit/>
          </a:bodyPr>
          <a:lstStyle/>
          <a:p>
            <a:pPr algn="ctr" indent="0" marL="0">
              <a:buNone/>
            </a:pPr>
            <a:r>
              <a:rPr lang="en-US" sz="2200" b="1" dirty="0">
                <a:solidFill>
                  <a:srgbClr val="1D4ED8"/>
                </a:solidFill>
                <a:latin typeface="Arial" pitchFamily="34" charset="0"/>
                <a:ea typeface="Arial" pitchFamily="34" charset="-122"/>
                <a:cs typeface="Arial" pitchFamily="34" charset="-120"/>
              </a:rPr>
              <a:t>NORMALISE</a:t>
            </a:r>
            <a:endParaRPr lang="en-US" sz="2200" dirty="0"/>
          </a:p>
        </p:txBody>
      </p:sp>
      <p:sp>
        <p:nvSpPr>
          <p:cNvPr id="11" name="Text 9"/>
          <p:cNvSpPr/>
          <p:nvPr/>
        </p:nvSpPr>
        <p:spPr>
          <a:xfrm>
            <a:off x="3721608" y="2743200"/>
            <a:ext cx="2020824" cy="274320"/>
          </a:xfrm>
          <a:prstGeom prst="rect">
            <a:avLst/>
          </a:prstGeom>
          <a:noFill/>
          <a:ln/>
        </p:spPr>
        <p:txBody>
          <a:bodyPr wrap="square" lIns="0" tIns="0" rIns="0" bIns="0" rtlCol="0" anchor="ctr"/>
          <a:lstStyle/>
          <a:p>
            <a:pPr algn="ctr" indent="0" marL="0">
              <a:buNone/>
            </a:pPr>
            <a:r>
              <a:rPr lang="en-US" sz="1500" b="1" dirty="0">
                <a:solidFill>
                  <a:srgbClr val="64748B"/>
                </a:solidFill>
                <a:latin typeface="Arial" pitchFamily="34" charset="0"/>
                <a:ea typeface="Arial" pitchFamily="34" charset="-122"/>
                <a:cs typeface="Arial" pitchFamily="34" charset="-120"/>
              </a:rPr>
              <a:t>Table content</a:t>
            </a:r>
            <a:endParaRPr lang="en-US" sz="1500" dirty="0"/>
          </a:p>
        </p:txBody>
      </p:sp>
      <p:sp>
        <p:nvSpPr>
          <p:cNvPr id="12" name="Shape 10"/>
          <p:cNvSpPr/>
          <p:nvPr/>
        </p:nvSpPr>
        <p:spPr>
          <a:xfrm>
            <a:off x="5971032" y="2651760"/>
            <a:ext cx="365760" cy="0"/>
          </a:xfrm>
          <a:prstGeom prst="line">
            <a:avLst/>
          </a:prstGeom>
          <a:noFill/>
          <a:ln w="25400">
            <a:solidFill>
              <a:srgbClr val="2563EB"/>
            </a:solidFill>
            <a:prstDash val="solid"/>
            <a:tailEnd type="triangle"/>
          </a:ln>
        </p:spPr>
      </p:sp>
      <p:sp>
        <p:nvSpPr>
          <p:cNvPr id="13" name="Shape 11"/>
          <p:cNvSpPr/>
          <p:nvPr/>
        </p:nvSpPr>
        <p:spPr>
          <a:xfrm>
            <a:off x="6382512" y="1691640"/>
            <a:ext cx="2423160" cy="1938528"/>
          </a:xfrm>
          <a:prstGeom prst="roundRect">
            <a:avLst>
              <a:gd name="adj" fmla="val 3774"/>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4" name="Text 12"/>
          <p:cNvSpPr/>
          <p:nvPr/>
        </p:nvSpPr>
        <p:spPr>
          <a:xfrm>
            <a:off x="6583680" y="2057400"/>
            <a:ext cx="2020824" cy="347472"/>
          </a:xfrm>
          <a:prstGeom prst="rect">
            <a:avLst/>
          </a:prstGeom>
          <a:noFill/>
          <a:ln/>
        </p:spPr>
        <p:txBody>
          <a:bodyPr wrap="square" lIns="0" tIns="0" rIns="0" bIns="0" rtlCol="0" anchor="ctr">
            <a:normAutofit/>
          </a:bodyPr>
          <a:lstStyle/>
          <a:p>
            <a:pPr algn="ctr" indent="0" marL="0">
              <a:buNone/>
            </a:pPr>
            <a:r>
              <a:rPr lang="en-US" sz="1900" b="1" dirty="0">
                <a:solidFill>
                  <a:srgbClr val="1D4ED8"/>
                </a:solidFill>
                <a:latin typeface="Arial" pitchFamily="34" charset="0"/>
                <a:ea typeface="Arial" pitchFamily="34" charset="-122"/>
                <a:cs typeface="Arial" pitchFamily="34" charset="-120"/>
              </a:rPr>
              <a:t>FINGERPRINT</a:t>
            </a:r>
            <a:endParaRPr lang="en-US" sz="1900" dirty="0"/>
          </a:p>
        </p:txBody>
      </p:sp>
      <p:sp>
        <p:nvSpPr>
          <p:cNvPr id="15" name="Text 13"/>
          <p:cNvSpPr/>
          <p:nvPr/>
        </p:nvSpPr>
        <p:spPr>
          <a:xfrm>
            <a:off x="6583680" y="2743200"/>
            <a:ext cx="2020824" cy="274320"/>
          </a:xfrm>
          <a:prstGeom prst="rect">
            <a:avLst/>
          </a:prstGeom>
          <a:noFill/>
          <a:ln/>
        </p:spPr>
        <p:txBody>
          <a:bodyPr wrap="square" lIns="0" tIns="0" rIns="0" bIns="0" rtlCol="0" anchor="ctr"/>
          <a:lstStyle/>
          <a:p>
            <a:pPr algn="ctr" indent="0" marL="0">
              <a:buNone/>
            </a:pPr>
            <a:r>
              <a:rPr lang="en-US" sz="1500" b="1" dirty="0">
                <a:solidFill>
                  <a:srgbClr val="64748B"/>
                </a:solidFill>
                <a:latin typeface="Arial" pitchFamily="34" charset="0"/>
                <a:ea typeface="Arial" pitchFamily="34" charset="-122"/>
                <a:cs typeface="Arial" pitchFamily="34" charset="-120"/>
              </a:rPr>
              <a:t>Stable UUID</a:t>
            </a:r>
            <a:endParaRPr lang="en-US" sz="1500" dirty="0"/>
          </a:p>
        </p:txBody>
      </p:sp>
      <p:sp>
        <p:nvSpPr>
          <p:cNvPr id="16" name="Shape 14"/>
          <p:cNvSpPr/>
          <p:nvPr/>
        </p:nvSpPr>
        <p:spPr>
          <a:xfrm>
            <a:off x="8833104" y="2651760"/>
            <a:ext cx="365760" cy="0"/>
          </a:xfrm>
          <a:prstGeom prst="line">
            <a:avLst/>
          </a:prstGeom>
          <a:noFill/>
          <a:ln w="25400">
            <a:solidFill>
              <a:srgbClr val="2563EB"/>
            </a:solidFill>
            <a:prstDash val="solid"/>
            <a:tailEnd type="triangle"/>
          </a:ln>
        </p:spPr>
      </p:sp>
      <p:sp>
        <p:nvSpPr>
          <p:cNvPr id="17" name="Shape 15"/>
          <p:cNvSpPr/>
          <p:nvPr/>
        </p:nvSpPr>
        <p:spPr>
          <a:xfrm>
            <a:off x="9244584" y="1691640"/>
            <a:ext cx="2423160" cy="1938528"/>
          </a:xfrm>
          <a:prstGeom prst="roundRect">
            <a:avLst>
              <a:gd name="adj" fmla="val 3774"/>
            </a:avLst>
          </a:prstGeom>
          <a:solidFill>
            <a:srgbClr val="FEF3C7"/>
          </a:solidFill>
          <a:ln w="10160">
            <a:solidFill>
              <a:srgbClr val="FCD34D"/>
            </a:solidFill>
            <a:prstDash val="solid"/>
          </a:ln>
          <a:effectLst>
            <a:outerShdw sx="100000" sy="100000" kx="0" ky="0" algn="bl" rotWithShape="0" blurRad="19050" dist="50800" dir="2700000">
              <a:srgbClr val="94A3B8">
                <a:alpha val="13000"/>
              </a:srgbClr>
            </a:outerShdw>
          </a:effectLst>
        </p:spPr>
      </p:sp>
      <p:sp>
        <p:nvSpPr>
          <p:cNvPr id="18" name="Text 16"/>
          <p:cNvSpPr/>
          <p:nvPr/>
        </p:nvSpPr>
        <p:spPr>
          <a:xfrm>
            <a:off x="9445752" y="2057400"/>
            <a:ext cx="2020824" cy="347472"/>
          </a:xfrm>
          <a:prstGeom prst="rect">
            <a:avLst/>
          </a:prstGeom>
          <a:noFill/>
          <a:ln/>
        </p:spPr>
        <p:txBody>
          <a:bodyPr wrap="square" lIns="0" tIns="0" rIns="0" bIns="0" rtlCol="0" anchor="ctr">
            <a:normAutofit/>
          </a:bodyPr>
          <a:lstStyle/>
          <a:p>
            <a:pPr algn="ctr" indent="0" marL="0">
              <a:buNone/>
            </a:pPr>
            <a:r>
              <a:rPr lang="en-US" sz="2200" b="1" dirty="0">
                <a:solidFill>
                  <a:srgbClr val="D97706"/>
                </a:solidFill>
                <a:latin typeface="Arial" pitchFamily="34" charset="0"/>
                <a:ea typeface="Arial" pitchFamily="34" charset="-122"/>
                <a:cs typeface="Arial" pitchFamily="34" charset="-120"/>
              </a:rPr>
              <a:t>WARN</a:t>
            </a:r>
            <a:endParaRPr lang="en-US" sz="2200" dirty="0"/>
          </a:p>
        </p:txBody>
      </p:sp>
      <p:sp>
        <p:nvSpPr>
          <p:cNvPr id="19" name="Text 17"/>
          <p:cNvSpPr/>
          <p:nvPr/>
        </p:nvSpPr>
        <p:spPr>
          <a:xfrm>
            <a:off x="9445752" y="2743200"/>
            <a:ext cx="2020824" cy="274320"/>
          </a:xfrm>
          <a:prstGeom prst="rect">
            <a:avLst/>
          </a:prstGeom>
          <a:noFill/>
          <a:ln/>
        </p:spPr>
        <p:txBody>
          <a:bodyPr wrap="square" lIns="0" tIns="0" rIns="0" bIns="0" rtlCol="0" anchor="ctr"/>
          <a:lstStyle/>
          <a:p>
            <a:pPr algn="ctr" indent="0" marL="0">
              <a:buNone/>
            </a:pPr>
            <a:r>
              <a:rPr lang="en-US" sz="1500" b="1" dirty="0">
                <a:solidFill>
                  <a:srgbClr val="64748B"/>
                </a:solidFill>
                <a:latin typeface="Arial" pitchFamily="34" charset="0"/>
                <a:ea typeface="Arial" pitchFamily="34" charset="-122"/>
                <a:cs typeface="Arial" pitchFamily="34" charset="-120"/>
              </a:rPr>
              <a:t>Import again?</a:t>
            </a:r>
            <a:endParaRPr lang="en-US" sz="1500" dirty="0"/>
          </a:p>
        </p:txBody>
      </p:sp>
      <p:sp>
        <p:nvSpPr>
          <p:cNvPr id="20" name="Shape 18"/>
          <p:cNvSpPr/>
          <p:nvPr/>
        </p:nvSpPr>
        <p:spPr>
          <a:xfrm>
            <a:off x="914400" y="4251960"/>
            <a:ext cx="3310128" cy="960120"/>
          </a:xfrm>
          <a:prstGeom prst="roundRect">
            <a:avLst>
              <a:gd name="adj" fmla="val 7619"/>
            </a:avLst>
          </a:prstGeom>
          <a:solidFill>
            <a:srgbClr val="EFF6FF"/>
          </a:solidFill>
          <a:ln w="10160">
            <a:solidFill>
              <a:srgbClr val="BFDBFE"/>
            </a:solidFill>
            <a:prstDash val="solid"/>
          </a:ln>
        </p:spPr>
      </p:sp>
      <p:sp>
        <p:nvSpPr>
          <p:cNvPr id="21" name="Text 19"/>
          <p:cNvSpPr/>
          <p:nvPr/>
        </p:nvSpPr>
        <p:spPr>
          <a:xfrm>
            <a:off x="1115568" y="4462272"/>
            <a:ext cx="2907792" cy="219456"/>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Filename changes</a:t>
            </a:r>
            <a:endParaRPr lang="en-US" sz="1500" dirty="0"/>
          </a:p>
        </p:txBody>
      </p:sp>
      <p:sp>
        <p:nvSpPr>
          <p:cNvPr id="22" name="Text 20"/>
          <p:cNvSpPr/>
          <p:nvPr/>
        </p:nvSpPr>
        <p:spPr>
          <a:xfrm>
            <a:off x="1115568" y="4800600"/>
            <a:ext cx="2907792" cy="182880"/>
          </a:xfrm>
          <a:prstGeom prst="rect">
            <a:avLst/>
          </a:prstGeom>
          <a:noFill/>
          <a:ln/>
        </p:spPr>
        <p:txBody>
          <a:bodyPr wrap="square" lIns="0" tIns="0" rIns="0" bIns="0" rtlCol="0" anchor="ctr"/>
          <a:lstStyle/>
          <a:p>
            <a:pPr algn="ctr" indent="0" marL="0">
              <a:buNone/>
            </a:pPr>
            <a:r>
              <a:rPr lang="en-US" sz="1300" b="1" dirty="0">
                <a:solidFill>
                  <a:srgbClr val="1D4ED8"/>
                </a:solidFill>
                <a:latin typeface="Arial" pitchFamily="34" charset="0"/>
                <a:ea typeface="Arial" pitchFamily="34" charset="-122"/>
                <a:cs typeface="Arial" pitchFamily="34" charset="-120"/>
              </a:rPr>
              <a:t>do not bypass</a:t>
            </a:r>
            <a:endParaRPr lang="en-US" sz="1300" dirty="0"/>
          </a:p>
        </p:txBody>
      </p:sp>
      <p:sp>
        <p:nvSpPr>
          <p:cNvPr id="23" name="Shape 21"/>
          <p:cNvSpPr/>
          <p:nvPr/>
        </p:nvSpPr>
        <p:spPr>
          <a:xfrm>
            <a:off x="4617720" y="4251960"/>
            <a:ext cx="3310128" cy="960120"/>
          </a:xfrm>
          <a:prstGeom prst="roundRect">
            <a:avLst>
              <a:gd name="adj" fmla="val 7619"/>
            </a:avLst>
          </a:prstGeom>
          <a:solidFill>
            <a:srgbClr val="EFF6FF"/>
          </a:solidFill>
          <a:ln w="10160">
            <a:solidFill>
              <a:srgbClr val="BFDBFE"/>
            </a:solidFill>
            <a:prstDash val="solid"/>
          </a:ln>
        </p:spPr>
      </p:sp>
      <p:sp>
        <p:nvSpPr>
          <p:cNvPr id="24" name="Text 22"/>
          <p:cNvSpPr/>
          <p:nvPr/>
        </p:nvSpPr>
        <p:spPr>
          <a:xfrm>
            <a:off x="4818888" y="4462272"/>
            <a:ext cx="2907792" cy="219456"/>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Row order changes</a:t>
            </a:r>
            <a:endParaRPr lang="en-US" sz="1500" dirty="0"/>
          </a:p>
        </p:txBody>
      </p:sp>
      <p:sp>
        <p:nvSpPr>
          <p:cNvPr id="25" name="Text 23"/>
          <p:cNvSpPr/>
          <p:nvPr/>
        </p:nvSpPr>
        <p:spPr>
          <a:xfrm>
            <a:off x="4818888" y="4800600"/>
            <a:ext cx="2907792" cy="182880"/>
          </a:xfrm>
          <a:prstGeom prst="rect">
            <a:avLst/>
          </a:prstGeom>
          <a:noFill/>
          <a:ln/>
        </p:spPr>
        <p:txBody>
          <a:bodyPr wrap="square" lIns="0" tIns="0" rIns="0" bIns="0" rtlCol="0" anchor="ctr"/>
          <a:lstStyle/>
          <a:p>
            <a:pPr algn="ctr" indent="0" marL="0">
              <a:buNone/>
            </a:pPr>
            <a:r>
              <a:rPr lang="en-US" sz="1300" b="1" dirty="0">
                <a:solidFill>
                  <a:srgbClr val="1D4ED8"/>
                </a:solidFill>
                <a:latin typeface="Arial" pitchFamily="34" charset="0"/>
                <a:ea typeface="Arial" pitchFamily="34" charset="-122"/>
                <a:cs typeface="Arial" pitchFamily="34" charset="-120"/>
              </a:rPr>
              <a:t>do not bypass</a:t>
            </a:r>
            <a:endParaRPr lang="en-US" sz="1300" dirty="0"/>
          </a:p>
        </p:txBody>
      </p:sp>
      <p:sp>
        <p:nvSpPr>
          <p:cNvPr id="26" name="Shape 24"/>
          <p:cNvSpPr/>
          <p:nvPr/>
        </p:nvSpPr>
        <p:spPr>
          <a:xfrm>
            <a:off x="8321040" y="4251960"/>
            <a:ext cx="3310128" cy="960120"/>
          </a:xfrm>
          <a:prstGeom prst="roundRect">
            <a:avLst>
              <a:gd name="adj" fmla="val 7619"/>
            </a:avLst>
          </a:prstGeom>
          <a:solidFill>
            <a:srgbClr val="EFF6FF"/>
          </a:solidFill>
          <a:ln w="10160">
            <a:solidFill>
              <a:srgbClr val="BFDBFE"/>
            </a:solidFill>
            <a:prstDash val="solid"/>
          </a:ln>
        </p:spPr>
      </p:sp>
      <p:sp>
        <p:nvSpPr>
          <p:cNvPr id="27" name="Text 25"/>
          <p:cNvSpPr/>
          <p:nvPr/>
        </p:nvSpPr>
        <p:spPr>
          <a:xfrm>
            <a:off x="8522208" y="4462272"/>
            <a:ext cx="2907792" cy="219456"/>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1 vs 1.0</a:t>
            </a:r>
            <a:endParaRPr lang="en-US" sz="1500" dirty="0"/>
          </a:p>
        </p:txBody>
      </p:sp>
      <p:sp>
        <p:nvSpPr>
          <p:cNvPr id="28" name="Text 26"/>
          <p:cNvSpPr/>
          <p:nvPr/>
        </p:nvSpPr>
        <p:spPr>
          <a:xfrm>
            <a:off x="8522208" y="4800600"/>
            <a:ext cx="2907792" cy="182880"/>
          </a:xfrm>
          <a:prstGeom prst="rect">
            <a:avLst/>
          </a:prstGeom>
          <a:noFill/>
          <a:ln/>
        </p:spPr>
        <p:txBody>
          <a:bodyPr wrap="square" lIns="0" tIns="0" rIns="0" bIns="0" rtlCol="0" anchor="ctr"/>
          <a:lstStyle/>
          <a:p>
            <a:pPr algn="ctr" indent="0" marL="0">
              <a:buNone/>
            </a:pPr>
            <a:r>
              <a:rPr lang="en-US" sz="1300" b="1" dirty="0">
                <a:solidFill>
                  <a:srgbClr val="1D4ED8"/>
                </a:solidFill>
                <a:latin typeface="Arial" pitchFamily="34" charset="0"/>
                <a:ea typeface="Arial" pitchFamily="34" charset="-122"/>
                <a:cs typeface="Arial" pitchFamily="34" charset="-120"/>
              </a:rPr>
              <a:t>does not bypass</a:t>
            </a:r>
            <a:endParaRPr lang="en-US" sz="1300" dirty="0"/>
          </a:p>
        </p:txBody>
      </p:sp>
      <p:sp>
        <p:nvSpPr>
          <p:cNvPr id="29" name="Text 27"/>
          <p:cNvSpPr/>
          <p:nvPr/>
        </p:nvSpPr>
        <p:spPr>
          <a:xfrm>
            <a:off x="2057400" y="5650992"/>
            <a:ext cx="8092440" cy="292608"/>
          </a:xfrm>
          <a:prstGeom prst="rect">
            <a:avLst/>
          </a:prstGeom>
          <a:noFill/>
          <a:ln/>
        </p:spPr>
        <p:txBody>
          <a:bodyPr wrap="square" lIns="0" tIns="0" rIns="0" bIns="0" rtlCol="0" anchor="ctr"/>
          <a:lstStyle/>
          <a:p>
            <a:pPr algn="ctr" indent="0" marL="0">
              <a:buNone/>
            </a:pPr>
            <a:r>
              <a:rPr lang="en-US" sz="1700" b="1" dirty="0">
                <a:solidFill>
                  <a:srgbClr val="1D4ED8"/>
                </a:solidFill>
                <a:latin typeface="Arial" pitchFamily="34" charset="0"/>
                <a:ea typeface="Arial" pitchFamily="34" charset="-122"/>
                <a:cs typeface="Arial" pitchFamily="34" charset="-120"/>
              </a:rPr>
              <a:t>The user must explicitly confirm a second full import.</a:t>
            </a:r>
            <a:endParaRPr lang="en-US" sz="17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MARKET DATA</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Resilience without hiding the truth</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10</a:t>
            </a:r>
            <a:endParaRPr lang="en-US" sz="1800" dirty="0"/>
          </a:p>
        </p:txBody>
      </p:sp>
      <p:sp>
        <p:nvSpPr>
          <p:cNvPr id="5" name="Shape 3"/>
          <p:cNvSpPr/>
          <p:nvPr/>
        </p:nvSpPr>
        <p:spPr>
          <a:xfrm>
            <a:off x="658368" y="1444752"/>
            <a:ext cx="3703320" cy="1325880"/>
          </a:xfrm>
          <a:prstGeom prst="roundRect">
            <a:avLst>
              <a:gd name="adj" fmla="val 5517"/>
            </a:avLst>
          </a:prstGeom>
          <a:solidFill>
            <a:srgbClr val="EFF6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6" name="Text 4"/>
          <p:cNvSpPr/>
          <p:nvPr/>
        </p:nvSpPr>
        <p:spPr>
          <a:xfrm>
            <a:off x="896112" y="1673352"/>
            <a:ext cx="1097280" cy="182880"/>
          </a:xfrm>
          <a:prstGeom prst="rect">
            <a:avLst/>
          </a:prstGeom>
          <a:noFill/>
          <a:ln/>
        </p:spPr>
        <p:txBody>
          <a:bodyPr wrap="square" lIns="0" tIns="0" rIns="0" bIns="0" rtlCol="0" anchor="ctr"/>
          <a:lstStyle/>
          <a:p>
            <a:pPr indent="0" marL="0">
              <a:buNone/>
            </a:pPr>
            <a:r>
              <a:rPr lang="en-US" sz="1000" b="1" spc="90" kern="0" dirty="0">
                <a:solidFill>
                  <a:srgbClr val="2563EB"/>
                </a:solidFill>
                <a:latin typeface="Arial" pitchFamily="34" charset="0"/>
                <a:ea typeface="Arial" pitchFamily="34" charset="-122"/>
                <a:cs typeface="Arial" pitchFamily="34" charset="-120"/>
              </a:rPr>
              <a:t>DEFAULT</a:t>
            </a:r>
            <a:endParaRPr lang="en-US" sz="1000" dirty="0"/>
          </a:p>
        </p:txBody>
      </p:sp>
      <p:sp>
        <p:nvSpPr>
          <p:cNvPr id="7" name="Text 5"/>
          <p:cNvSpPr/>
          <p:nvPr/>
        </p:nvSpPr>
        <p:spPr>
          <a:xfrm>
            <a:off x="896112" y="2011680"/>
            <a:ext cx="1325880" cy="365760"/>
          </a:xfrm>
          <a:prstGeom prst="rect">
            <a:avLst/>
          </a:prstGeom>
          <a:noFill/>
          <a:ln/>
        </p:spPr>
        <p:txBody>
          <a:bodyPr wrap="square" lIns="0" tIns="0" rIns="0" bIns="0" rtlCol="0" anchor="ctr"/>
          <a:lstStyle/>
          <a:p>
            <a:pPr indent="0" marL="0">
              <a:buNone/>
            </a:pPr>
            <a:r>
              <a:rPr lang="en-US" sz="2600" b="1" dirty="0">
                <a:solidFill>
                  <a:srgbClr val="1D4ED8"/>
                </a:solidFill>
                <a:latin typeface="Arial" pitchFamily="34" charset="0"/>
                <a:ea typeface="Arial" pitchFamily="34" charset="-122"/>
                <a:cs typeface="Arial" pitchFamily="34" charset="-120"/>
              </a:rPr>
              <a:t>MOCK</a:t>
            </a:r>
            <a:endParaRPr lang="en-US" sz="2600" dirty="0"/>
          </a:p>
        </p:txBody>
      </p:sp>
      <p:sp>
        <p:nvSpPr>
          <p:cNvPr id="8" name="Text 6"/>
          <p:cNvSpPr/>
          <p:nvPr/>
        </p:nvSpPr>
        <p:spPr>
          <a:xfrm>
            <a:off x="2148840" y="1847088"/>
            <a:ext cx="1828800" cy="594360"/>
          </a:xfrm>
          <a:prstGeom prst="rect">
            <a:avLst/>
          </a:prstGeom>
          <a:noFill/>
          <a:ln/>
        </p:spPr>
        <p:txBody>
          <a:bodyPr wrap="square" lIns="0" tIns="0" rIns="0" bIns="0" rtlCol="0" anchor="ctr">
            <a:normAutofit/>
          </a:bodyPr>
          <a:lstStyle/>
          <a:p>
            <a:pPr indent="0" marL="0">
              <a:buNone/>
            </a:pPr>
            <a:r>
              <a:rPr lang="en-US" sz="1550" b="1" dirty="0">
                <a:solidFill>
                  <a:srgbClr val="64748B"/>
                </a:solidFill>
                <a:latin typeface="Arial" pitchFamily="34" charset="0"/>
                <a:ea typeface="Arial" pitchFamily="34" charset="-122"/>
                <a:cs typeface="Arial" pitchFamily="34" charset="-120"/>
              </a:rPr>
              <a:t>Generated locally</a:t>
            </a:r>
            <a:endParaRPr lang="en-US" sz="1550" dirty="0"/>
          </a:p>
          <a:p>
            <a:pPr indent="0" marL="0">
              <a:buNone/>
            </a:pPr>
            <a:r>
              <a:rPr lang="en-US" sz="1550" b="1" dirty="0">
                <a:solidFill>
                  <a:srgbClr val="64748B"/>
                </a:solidFill>
                <a:latin typeface="Arial" pitchFamily="34" charset="0"/>
                <a:ea typeface="Arial" pitchFamily="34" charset="-122"/>
                <a:cs typeface="Arial" pitchFamily="34" charset="-120"/>
              </a:rPr>
              <a:t>Never shown as live</a:t>
            </a:r>
            <a:endParaRPr lang="en-US" sz="1550" dirty="0"/>
          </a:p>
        </p:txBody>
      </p:sp>
      <p:sp>
        <p:nvSpPr>
          <p:cNvPr id="9" name="Shape 7"/>
          <p:cNvSpPr/>
          <p:nvPr/>
        </p:nvSpPr>
        <p:spPr>
          <a:xfrm>
            <a:off x="658368" y="3090672"/>
            <a:ext cx="3703320" cy="2148840"/>
          </a:xfrm>
          <a:prstGeom prst="roundRect">
            <a:avLst>
              <a:gd name="adj" fmla="val 3404"/>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0" name="Text 8"/>
          <p:cNvSpPr/>
          <p:nvPr/>
        </p:nvSpPr>
        <p:spPr>
          <a:xfrm>
            <a:off x="896112" y="3346704"/>
            <a:ext cx="1600200" cy="182880"/>
          </a:xfrm>
          <a:prstGeom prst="rect">
            <a:avLst/>
          </a:prstGeom>
          <a:noFill/>
          <a:ln/>
        </p:spPr>
        <p:txBody>
          <a:bodyPr wrap="square" lIns="0" tIns="0" rIns="0" bIns="0" rtlCol="0" anchor="ctr"/>
          <a:lstStyle/>
          <a:p>
            <a:pPr indent="0" marL="0">
              <a:buNone/>
            </a:pPr>
            <a:r>
              <a:rPr lang="en-US" sz="1000" b="1" spc="90" kern="0" dirty="0">
                <a:solidFill>
                  <a:srgbClr val="2563EB"/>
                </a:solidFill>
                <a:latin typeface="Arial" pitchFamily="34" charset="0"/>
                <a:ea typeface="Arial" pitchFamily="34" charset="-122"/>
                <a:cs typeface="Arial" pitchFamily="34" charset="-120"/>
              </a:rPr>
              <a:t>FINNHUB DEMO</a:t>
            </a:r>
            <a:endParaRPr lang="en-US" sz="1000" dirty="0"/>
          </a:p>
        </p:txBody>
      </p:sp>
      <p:sp>
        <p:nvSpPr>
          <p:cNvPr id="11" name="Shape 9"/>
          <p:cNvSpPr/>
          <p:nvPr/>
        </p:nvSpPr>
        <p:spPr>
          <a:xfrm>
            <a:off x="896112" y="3785616"/>
            <a:ext cx="777240" cy="310896"/>
          </a:xfrm>
          <a:prstGeom prst="roundRect">
            <a:avLst>
              <a:gd name="adj" fmla="val 20588"/>
            </a:avLst>
          </a:prstGeom>
          <a:solidFill>
            <a:srgbClr val="DCFCE7"/>
          </a:solidFill>
          <a:ln w="12700">
            <a:solidFill>
              <a:srgbClr val="DCFCE7"/>
            </a:solidFill>
            <a:prstDash val="solid"/>
          </a:ln>
        </p:spPr>
      </p:sp>
      <p:sp>
        <p:nvSpPr>
          <p:cNvPr id="12" name="Text 10"/>
          <p:cNvSpPr/>
          <p:nvPr/>
        </p:nvSpPr>
        <p:spPr>
          <a:xfrm>
            <a:off x="896112" y="3826764"/>
            <a:ext cx="777240" cy="164592"/>
          </a:xfrm>
          <a:prstGeom prst="rect">
            <a:avLst/>
          </a:prstGeom>
          <a:noFill/>
          <a:ln/>
        </p:spPr>
        <p:txBody>
          <a:bodyPr wrap="square" lIns="0" tIns="0" rIns="0" bIns="0" rtlCol="0" anchor="ctr">
            <a:normAutofit/>
          </a:bodyPr>
          <a:lstStyle/>
          <a:p>
            <a:pPr algn="ctr" indent="0" marL="0">
              <a:buNone/>
            </a:pPr>
            <a:r>
              <a:rPr lang="en-US" sz="900" b="1" dirty="0">
                <a:solidFill>
                  <a:srgbClr val="15803D"/>
                </a:solidFill>
                <a:latin typeface="Arial" pitchFamily="34" charset="0"/>
                <a:ea typeface="Arial" pitchFamily="34" charset="-122"/>
                <a:cs typeface="Arial" pitchFamily="34" charset="-120"/>
              </a:rPr>
              <a:t>LIVE</a:t>
            </a:r>
            <a:endParaRPr lang="en-US" sz="900" dirty="0"/>
          </a:p>
        </p:txBody>
      </p:sp>
      <p:sp>
        <p:nvSpPr>
          <p:cNvPr id="13" name="Text 11"/>
          <p:cNvSpPr/>
          <p:nvPr/>
        </p:nvSpPr>
        <p:spPr>
          <a:xfrm>
            <a:off x="1801368" y="3831336"/>
            <a:ext cx="320040" cy="182880"/>
          </a:xfrm>
          <a:prstGeom prst="rect">
            <a:avLst/>
          </a:prstGeom>
          <a:noFill/>
          <a:ln/>
        </p:spPr>
        <p:txBody>
          <a:bodyPr wrap="square" lIns="0" tIns="0" rIns="0" bIns="0" rtlCol="0" anchor="ctr"/>
          <a:lstStyle/>
          <a:p>
            <a:pPr algn="ctr" indent="0" marL="0">
              <a:buNone/>
            </a:pPr>
            <a:r>
              <a:rPr lang="en-US" sz="1600" b="1" dirty="0">
                <a:solidFill>
                  <a:srgbClr val="64748B"/>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2240280" y="3785616"/>
            <a:ext cx="914400" cy="310896"/>
          </a:xfrm>
          <a:prstGeom prst="roundRect">
            <a:avLst>
              <a:gd name="adj" fmla="val 20588"/>
            </a:avLst>
          </a:prstGeom>
          <a:solidFill>
            <a:srgbClr val="FEF3C7"/>
          </a:solidFill>
          <a:ln w="12700">
            <a:solidFill>
              <a:srgbClr val="FEF3C7"/>
            </a:solidFill>
            <a:prstDash val="solid"/>
          </a:ln>
        </p:spPr>
      </p:sp>
      <p:sp>
        <p:nvSpPr>
          <p:cNvPr id="15" name="Text 13"/>
          <p:cNvSpPr/>
          <p:nvPr/>
        </p:nvSpPr>
        <p:spPr>
          <a:xfrm>
            <a:off x="2240280" y="3826764"/>
            <a:ext cx="914400" cy="164592"/>
          </a:xfrm>
          <a:prstGeom prst="rect">
            <a:avLst/>
          </a:prstGeom>
          <a:noFill/>
          <a:ln/>
        </p:spPr>
        <p:txBody>
          <a:bodyPr wrap="square" lIns="0" tIns="0" rIns="0" bIns="0" rtlCol="0" anchor="ctr">
            <a:normAutofit/>
          </a:bodyPr>
          <a:lstStyle/>
          <a:p>
            <a:pPr algn="ctr" indent="0" marL="0">
              <a:buNone/>
            </a:pPr>
            <a:r>
              <a:rPr lang="en-US" sz="900" b="1" dirty="0">
                <a:solidFill>
                  <a:srgbClr val="D97706"/>
                </a:solidFill>
                <a:latin typeface="Arial" pitchFamily="34" charset="0"/>
                <a:ea typeface="Arial" pitchFamily="34" charset="-122"/>
                <a:cs typeface="Arial" pitchFamily="34" charset="-120"/>
              </a:rPr>
              <a:t>CACHED</a:t>
            </a:r>
            <a:endParaRPr lang="en-US" sz="900" dirty="0"/>
          </a:p>
        </p:txBody>
      </p:sp>
      <p:sp>
        <p:nvSpPr>
          <p:cNvPr id="16" name="Shape 14"/>
          <p:cNvSpPr/>
          <p:nvPr/>
        </p:nvSpPr>
        <p:spPr>
          <a:xfrm>
            <a:off x="3264408" y="3785616"/>
            <a:ext cx="822960" cy="310896"/>
          </a:xfrm>
          <a:prstGeom prst="roundRect">
            <a:avLst>
              <a:gd name="adj" fmla="val 20588"/>
            </a:avLst>
          </a:prstGeom>
          <a:solidFill>
            <a:srgbClr val="FEE2E2"/>
          </a:solidFill>
          <a:ln w="12700">
            <a:solidFill>
              <a:srgbClr val="FEE2E2"/>
            </a:solidFill>
            <a:prstDash val="solid"/>
          </a:ln>
        </p:spPr>
      </p:sp>
      <p:sp>
        <p:nvSpPr>
          <p:cNvPr id="17" name="Text 15"/>
          <p:cNvSpPr/>
          <p:nvPr/>
        </p:nvSpPr>
        <p:spPr>
          <a:xfrm>
            <a:off x="3264408" y="3826764"/>
            <a:ext cx="822960" cy="164592"/>
          </a:xfrm>
          <a:prstGeom prst="rect">
            <a:avLst/>
          </a:prstGeom>
          <a:noFill/>
          <a:ln/>
        </p:spPr>
        <p:txBody>
          <a:bodyPr wrap="square" lIns="0" tIns="0" rIns="0" bIns="0" rtlCol="0" anchor="ctr">
            <a:normAutofit/>
          </a:bodyPr>
          <a:lstStyle/>
          <a:p>
            <a:pPr algn="ctr" indent="0" marL="0">
              <a:buNone/>
            </a:pPr>
            <a:r>
              <a:rPr lang="en-US" sz="900" b="1" dirty="0">
                <a:solidFill>
                  <a:srgbClr val="DC2626"/>
                </a:solidFill>
                <a:latin typeface="Arial" pitchFamily="34" charset="0"/>
                <a:ea typeface="Arial" pitchFamily="34" charset="-122"/>
                <a:cs typeface="Arial" pitchFamily="34" charset="-120"/>
              </a:rPr>
              <a:t>STALE</a:t>
            </a:r>
            <a:endParaRPr lang="en-US" sz="900" dirty="0"/>
          </a:p>
        </p:txBody>
      </p:sp>
      <p:sp>
        <p:nvSpPr>
          <p:cNvPr id="18" name="Text 16"/>
          <p:cNvSpPr/>
          <p:nvPr/>
        </p:nvSpPr>
        <p:spPr>
          <a:xfrm>
            <a:off x="896112" y="4453128"/>
            <a:ext cx="3154680" cy="27432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No cache → clear 503</a:t>
            </a:r>
            <a:endParaRPr lang="en-US" sz="1700" dirty="0"/>
          </a:p>
        </p:txBody>
      </p:sp>
      <p:sp>
        <p:nvSpPr>
          <p:cNvPr id="19" name="Text 17"/>
          <p:cNvSpPr/>
          <p:nvPr/>
        </p:nvSpPr>
        <p:spPr>
          <a:xfrm>
            <a:off x="896112" y="4828032"/>
            <a:ext cx="3154680" cy="219456"/>
          </a:xfrm>
          <a:prstGeom prst="rect">
            <a:avLst/>
          </a:prstGeom>
          <a:noFill/>
          <a:ln/>
        </p:spPr>
        <p:txBody>
          <a:bodyPr wrap="square" lIns="0" tIns="0" rIns="0" bIns="0" rtlCol="0" anchor="ctr"/>
          <a:lstStyle/>
          <a:p>
            <a:pPr indent="0" marL="0">
              <a:buNone/>
            </a:pPr>
            <a:r>
              <a:rPr lang="en-US" sz="1450" b="1" dirty="0">
                <a:solidFill>
                  <a:srgbClr val="64748B"/>
                </a:solidFill>
                <a:latin typeface="Arial" pitchFamily="34" charset="0"/>
                <a:ea typeface="Arial" pitchFamily="34" charset="-122"/>
                <a:cs typeface="Arial" pitchFamily="34" charset="-120"/>
              </a:rPr>
              <a:t>No silent Mock fallback. No zero price.</a:t>
            </a:r>
            <a:endParaRPr lang="en-US" sz="1450" dirty="0"/>
          </a:p>
        </p:txBody>
      </p:sp>
      <p:sp>
        <p:nvSpPr>
          <p:cNvPr id="20" name="Shape 18"/>
          <p:cNvSpPr/>
          <p:nvPr/>
        </p:nvSpPr>
        <p:spPr>
          <a:xfrm>
            <a:off x="4654296" y="1371600"/>
            <a:ext cx="6931152" cy="4370832"/>
          </a:xfrm>
          <a:prstGeom prst="roundRect">
            <a:avLst>
              <a:gd name="adj" fmla="val 1674"/>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21" name="Image 0" descr="Market Data page with source and cache labels">    </p:cNvPr>
          <p:cNvPicPr>
            <a:picLocks noChangeAspect="1"/>
          </p:cNvPicPr>
          <p:nvPr/>
        </p:nvPicPr>
        <p:blipFill>
          <a:blip r:embed="rId1"/>
          <a:stretch>
            <a:fillRect/>
          </a:stretch>
        </p:blipFill>
        <p:spPr>
          <a:xfrm>
            <a:off x="4700016" y="1417320"/>
            <a:ext cx="6839712" cy="4279392"/>
          </a:xfrm>
          <a:prstGeom prst="rect">
            <a:avLst/>
          </a:prstGeom>
        </p:spPr>
      </p:pic>
      <p:sp>
        <p:nvSpPr>
          <p:cNvPr id="22" name="Shape 19"/>
          <p:cNvSpPr/>
          <p:nvPr/>
        </p:nvSpPr>
        <p:spPr>
          <a:xfrm>
            <a:off x="6583680" y="5916168"/>
            <a:ext cx="914400" cy="310896"/>
          </a:xfrm>
          <a:prstGeom prst="roundRect">
            <a:avLst>
              <a:gd name="adj" fmla="val 20588"/>
            </a:avLst>
          </a:prstGeom>
          <a:solidFill>
            <a:srgbClr val="DBEAFE"/>
          </a:solidFill>
          <a:ln w="12700">
            <a:solidFill>
              <a:srgbClr val="DBEAFE"/>
            </a:solidFill>
            <a:prstDash val="solid"/>
          </a:ln>
        </p:spPr>
      </p:sp>
      <p:sp>
        <p:nvSpPr>
          <p:cNvPr id="23" name="Text 20"/>
          <p:cNvSpPr/>
          <p:nvPr/>
        </p:nvSpPr>
        <p:spPr>
          <a:xfrm>
            <a:off x="6583680" y="5957316"/>
            <a:ext cx="914400" cy="164592"/>
          </a:xfrm>
          <a:prstGeom prst="rect">
            <a:avLst/>
          </a:prstGeom>
          <a:noFill/>
          <a:ln/>
        </p:spPr>
        <p:txBody>
          <a:bodyPr wrap="square" lIns="0" tIns="0" rIns="0" bIns="0" rtlCol="0" anchor="ctr">
            <a:normAutofit/>
          </a:bodyPr>
          <a:lstStyle/>
          <a:p>
            <a:pPr algn="ctr" indent="0" marL="0">
              <a:buNone/>
            </a:pPr>
            <a:r>
              <a:rPr lang="en-US" sz="900" b="1" dirty="0">
                <a:solidFill>
                  <a:srgbClr val="1D4ED8"/>
                </a:solidFill>
                <a:latin typeface="Arial" pitchFamily="34" charset="0"/>
                <a:ea typeface="Arial" pitchFamily="34" charset="-122"/>
                <a:cs typeface="Arial" pitchFamily="34" charset="-120"/>
              </a:rPr>
              <a:t>SOURCE</a:t>
            </a:r>
            <a:endParaRPr lang="en-US" sz="900" dirty="0"/>
          </a:p>
        </p:txBody>
      </p:sp>
      <p:sp>
        <p:nvSpPr>
          <p:cNvPr id="24" name="Shape 21"/>
          <p:cNvSpPr/>
          <p:nvPr/>
        </p:nvSpPr>
        <p:spPr>
          <a:xfrm>
            <a:off x="7662672" y="5916168"/>
            <a:ext cx="868680" cy="310896"/>
          </a:xfrm>
          <a:prstGeom prst="roundRect">
            <a:avLst>
              <a:gd name="adj" fmla="val 20588"/>
            </a:avLst>
          </a:prstGeom>
          <a:solidFill>
            <a:srgbClr val="DBEAFE"/>
          </a:solidFill>
          <a:ln w="12700">
            <a:solidFill>
              <a:srgbClr val="DBEAFE"/>
            </a:solidFill>
            <a:prstDash val="solid"/>
          </a:ln>
        </p:spPr>
      </p:sp>
      <p:sp>
        <p:nvSpPr>
          <p:cNvPr id="25" name="Text 22"/>
          <p:cNvSpPr/>
          <p:nvPr/>
        </p:nvSpPr>
        <p:spPr>
          <a:xfrm>
            <a:off x="7662672" y="5957316"/>
            <a:ext cx="868680" cy="164592"/>
          </a:xfrm>
          <a:prstGeom prst="rect">
            <a:avLst/>
          </a:prstGeom>
          <a:noFill/>
          <a:ln/>
        </p:spPr>
        <p:txBody>
          <a:bodyPr wrap="square" lIns="0" tIns="0" rIns="0" bIns="0" rtlCol="0" anchor="ctr">
            <a:normAutofit/>
          </a:bodyPr>
          <a:lstStyle/>
          <a:p>
            <a:pPr algn="ctr" indent="0" marL="0">
              <a:buNone/>
            </a:pPr>
            <a:r>
              <a:rPr lang="en-US" sz="900" b="1" dirty="0">
                <a:solidFill>
                  <a:srgbClr val="1D4ED8"/>
                </a:solidFill>
                <a:latin typeface="Arial" pitchFamily="34" charset="0"/>
                <a:ea typeface="Arial" pitchFamily="34" charset="-122"/>
                <a:cs typeface="Arial" pitchFamily="34" charset="-120"/>
              </a:rPr>
              <a:t>CACHE</a:t>
            </a:r>
            <a:endParaRPr lang="en-US" sz="900" dirty="0"/>
          </a:p>
        </p:txBody>
      </p:sp>
      <p:sp>
        <p:nvSpPr>
          <p:cNvPr id="26" name="Shape 23"/>
          <p:cNvSpPr/>
          <p:nvPr/>
        </p:nvSpPr>
        <p:spPr>
          <a:xfrm>
            <a:off x="8695944" y="5916168"/>
            <a:ext cx="868680" cy="310896"/>
          </a:xfrm>
          <a:prstGeom prst="roundRect">
            <a:avLst>
              <a:gd name="adj" fmla="val 20588"/>
            </a:avLst>
          </a:prstGeom>
          <a:solidFill>
            <a:srgbClr val="DBEAFE"/>
          </a:solidFill>
          <a:ln w="12700">
            <a:solidFill>
              <a:srgbClr val="DBEAFE"/>
            </a:solidFill>
            <a:prstDash val="solid"/>
          </a:ln>
        </p:spPr>
      </p:sp>
      <p:sp>
        <p:nvSpPr>
          <p:cNvPr id="27" name="Text 24"/>
          <p:cNvSpPr/>
          <p:nvPr/>
        </p:nvSpPr>
        <p:spPr>
          <a:xfrm>
            <a:off x="8695944" y="5957316"/>
            <a:ext cx="868680" cy="164592"/>
          </a:xfrm>
          <a:prstGeom prst="rect">
            <a:avLst/>
          </a:prstGeom>
          <a:noFill/>
          <a:ln/>
        </p:spPr>
        <p:txBody>
          <a:bodyPr wrap="square" lIns="0" tIns="0" rIns="0" bIns="0" rtlCol="0" anchor="ctr">
            <a:normAutofit/>
          </a:bodyPr>
          <a:lstStyle/>
          <a:p>
            <a:pPr algn="ctr" indent="0" marL="0">
              <a:buNone/>
            </a:pPr>
            <a:r>
              <a:rPr lang="en-US" sz="900" b="1" dirty="0">
                <a:solidFill>
                  <a:srgbClr val="1D4ED8"/>
                </a:solidFill>
                <a:latin typeface="Arial" pitchFamily="34" charset="0"/>
                <a:ea typeface="Arial" pitchFamily="34" charset="-122"/>
                <a:cs typeface="Arial" pitchFamily="34" charset="-120"/>
              </a:rPr>
              <a:t>STALE?</a:t>
            </a:r>
            <a:endParaRPr lang="en-US" sz="900" dirty="0"/>
          </a:p>
        </p:txBody>
      </p:sp>
      <p:sp>
        <p:nvSpPr>
          <p:cNvPr id="28" name="Shape 25"/>
          <p:cNvSpPr/>
          <p:nvPr/>
        </p:nvSpPr>
        <p:spPr>
          <a:xfrm>
            <a:off x="9729216" y="5916168"/>
            <a:ext cx="1097280" cy="310896"/>
          </a:xfrm>
          <a:prstGeom prst="roundRect">
            <a:avLst>
              <a:gd name="adj" fmla="val 20588"/>
            </a:avLst>
          </a:prstGeom>
          <a:solidFill>
            <a:srgbClr val="DBEAFE"/>
          </a:solidFill>
          <a:ln w="12700">
            <a:solidFill>
              <a:srgbClr val="DBEAFE"/>
            </a:solidFill>
            <a:prstDash val="solid"/>
          </a:ln>
        </p:spPr>
      </p:sp>
      <p:sp>
        <p:nvSpPr>
          <p:cNvPr id="29" name="Text 26"/>
          <p:cNvSpPr/>
          <p:nvPr/>
        </p:nvSpPr>
        <p:spPr>
          <a:xfrm>
            <a:off x="9729216" y="5957316"/>
            <a:ext cx="1097280" cy="164592"/>
          </a:xfrm>
          <a:prstGeom prst="rect">
            <a:avLst/>
          </a:prstGeom>
          <a:noFill/>
          <a:ln/>
        </p:spPr>
        <p:txBody>
          <a:bodyPr wrap="square" lIns="0" tIns="0" rIns="0" bIns="0" rtlCol="0" anchor="ctr">
            <a:normAutofit/>
          </a:bodyPr>
          <a:lstStyle/>
          <a:p>
            <a:pPr algn="ctr" indent="0" marL="0">
              <a:buNone/>
            </a:pPr>
            <a:r>
              <a:rPr lang="en-US" sz="900" b="1" dirty="0">
                <a:solidFill>
                  <a:srgbClr val="1D4ED8"/>
                </a:solidFill>
                <a:latin typeface="Arial" pitchFamily="34" charset="0"/>
                <a:ea typeface="Arial" pitchFamily="34" charset="-122"/>
                <a:cs typeface="Arial" pitchFamily="34" charset="-120"/>
              </a:rPr>
              <a:t>COMPLETE?</a:t>
            </a:r>
            <a:endParaRPr lang="en-US" sz="9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20040"/>
            <a:ext cx="4114800" cy="182880"/>
          </a:xfrm>
          <a:prstGeom prst="rect">
            <a:avLst/>
          </a:prstGeom>
          <a:noFill/>
          <a:ln/>
        </p:spPr>
        <p:txBody>
          <a:bodyPr wrap="square" lIns="0" tIns="0" rIns="0" bIns="0" rtlCol="0" anchor="ctr"/>
          <a:lstStyle/>
          <a:p>
            <a:pPr indent="0" marL="0">
              <a:buNone/>
            </a:pPr>
            <a:r>
              <a:rPr lang="en-US" sz="950" b="1" spc="165" kern="0" dirty="0">
                <a:solidFill>
                  <a:srgbClr val="2563EB"/>
                </a:solidFill>
                <a:latin typeface="Arial" pitchFamily="34" charset="0"/>
                <a:ea typeface="Arial" pitchFamily="34" charset="-122"/>
                <a:cs typeface="Arial" pitchFamily="34" charset="-120"/>
              </a:rPr>
              <a:t>TAKEAWAY</a:t>
            </a:r>
            <a:endParaRPr lang="en-US" sz="950" dirty="0"/>
          </a:p>
        </p:txBody>
      </p:sp>
      <p:sp>
        <p:nvSpPr>
          <p:cNvPr id="3" name="Text 1"/>
          <p:cNvSpPr/>
          <p:nvPr/>
        </p:nvSpPr>
        <p:spPr>
          <a:xfrm>
            <a:off x="594360" y="621792"/>
            <a:ext cx="10149840" cy="566928"/>
          </a:xfrm>
          <a:prstGeom prst="rect">
            <a:avLst/>
          </a:prstGeom>
          <a:noFill/>
          <a:ln/>
        </p:spPr>
        <p:txBody>
          <a:bodyPr wrap="square" lIns="0" tIns="0" rIns="0" bIns="0" rtlCol="0" anchor="ctr">
            <a:normAutofit/>
          </a:bodyPr>
          <a:lstStyle/>
          <a:p>
            <a:pPr indent="0" marL="0">
              <a:buNone/>
            </a:pPr>
            <a:r>
              <a:rPr lang="en-US" sz="2900" b="1" dirty="0">
                <a:solidFill>
                  <a:srgbClr val="0F172A"/>
                </a:solidFill>
                <a:latin typeface="Arial" pitchFamily="34" charset="0"/>
                <a:ea typeface="Arial" pitchFamily="34" charset="-122"/>
                <a:cs typeface="Arial" pitchFamily="34" charset="-120"/>
              </a:rPr>
              <a:t>A trusted loop from booking to valuation</a:t>
            </a:r>
            <a:endParaRPr lang="en-US" sz="2900" dirty="0"/>
          </a:p>
        </p:txBody>
      </p:sp>
      <p:sp>
        <p:nvSpPr>
          <p:cNvPr id="4" name="Text 2"/>
          <p:cNvSpPr/>
          <p:nvPr/>
        </p:nvSpPr>
        <p:spPr>
          <a:xfrm>
            <a:off x="10808208" y="347472"/>
            <a:ext cx="749808" cy="310896"/>
          </a:xfrm>
          <a:prstGeom prst="rect">
            <a:avLst/>
          </a:prstGeom>
          <a:noFill/>
          <a:ln/>
        </p:spPr>
        <p:txBody>
          <a:bodyPr wrap="square" lIns="0" tIns="0" rIns="0" bIns="0" rtlCol="0" anchor="ctr"/>
          <a:lstStyle/>
          <a:p>
            <a:pPr algn="r" indent="0" marL="0">
              <a:buNone/>
            </a:pPr>
            <a:r>
              <a:rPr lang="en-US" sz="1800" b="1" dirty="0">
                <a:solidFill>
                  <a:srgbClr val="BFDBFE"/>
                </a:solidFill>
                <a:latin typeface="Arial" pitchFamily="34" charset="0"/>
                <a:ea typeface="Arial" pitchFamily="34" charset="-122"/>
                <a:cs typeface="Arial" pitchFamily="34" charset="-120"/>
              </a:rPr>
              <a:t>11</a:t>
            </a:r>
            <a:endParaRPr lang="en-US" sz="1800" dirty="0"/>
          </a:p>
        </p:txBody>
      </p:sp>
      <p:sp>
        <p:nvSpPr>
          <p:cNvPr id="5" name="Shape 3"/>
          <p:cNvSpPr/>
          <p:nvPr/>
        </p:nvSpPr>
        <p:spPr>
          <a:xfrm>
            <a:off x="658368" y="1572768"/>
            <a:ext cx="3401568" cy="2971800"/>
          </a:xfrm>
          <a:prstGeom prst="roundRect">
            <a:avLst>
              <a:gd name="adj" fmla="val 2462"/>
            </a:avLst>
          </a:prstGeom>
          <a:solidFill>
            <a:srgbClr val="EFF6FF"/>
          </a:solidFill>
          <a:ln w="10160">
            <a:solidFill>
              <a:srgbClr val="EFF6FF"/>
            </a:solidFill>
            <a:prstDash val="solid"/>
          </a:ln>
        </p:spPr>
      </p:sp>
      <p:sp>
        <p:nvSpPr>
          <p:cNvPr id="6" name="Text 4"/>
          <p:cNvSpPr/>
          <p:nvPr/>
        </p:nvSpPr>
        <p:spPr>
          <a:xfrm>
            <a:off x="932688" y="1938528"/>
            <a:ext cx="2852928" cy="438912"/>
          </a:xfrm>
          <a:prstGeom prst="rect">
            <a:avLst/>
          </a:prstGeom>
          <a:noFill/>
          <a:ln/>
        </p:spPr>
        <p:txBody>
          <a:bodyPr wrap="square" lIns="0" tIns="0" rIns="0" bIns="0" rtlCol="0" anchor="ctr"/>
          <a:lstStyle/>
          <a:p>
            <a:pPr algn="ctr" indent="0" marL="0">
              <a:buNone/>
            </a:pPr>
            <a:r>
              <a:rPr lang="en-US" sz="2500" b="1" dirty="0">
                <a:solidFill>
                  <a:srgbClr val="2563EB"/>
                </a:solidFill>
                <a:latin typeface="Arial" pitchFamily="34" charset="0"/>
                <a:ea typeface="Arial" pitchFamily="34" charset="-122"/>
                <a:cs typeface="Arial" pitchFamily="34" charset="-120"/>
              </a:rPr>
              <a:t>BOOK</a:t>
            </a:r>
            <a:endParaRPr lang="en-US" sz="2500" dirty="0"/>
          </a:p>
        </p:txBody>
      </p:sp>
      <p:sp>
        <p:nvSpPr>
          <p:cNvPr id="7" name="Text 5"/>
          <p:cNvSpPr/>
          <p:nvPr/>
        </p:nvSpPr>
        <p:spPr>
          <a:xfrm>
            <a:off x="978408" y="2862072"/>
            <a:ext cx="2761488" cy="804672"/>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rial" pitchFamily="34" charset="0"/>
                <a:ea typeface="Arial" pitchFamily="34" charset="-122"/>
                <a:cs typeface="Arial" pitchFamily="34" charset="-120"/>
              </a:rPr>
              <a:t>Verified securities</a:t>
            </a:r>
            <a:endParaRPr lang="en-US" sz="1700" dirty="0"/>
          </a:p>
          <a:p>
            <a:pPr algn="ctr" indent="0" marL="0">
              <a:buNone/>
            </a:pPr>
            <a:r>
              <a:rPr lang="en-US" sz="1700" b="1" dirty="0">
                <a:solidFill>
                  <a:srgbClr val="0F172A"/>
                </a:solidFill>
                <a:latin typeface="Arial" pitchFamily="34" charset="0"/>
                <a:ea typeface="Arial" pitchFamily="34" charset="-122"/>
                <a:cs typeface="Arial" pitchFamily="34" charset="-120"/>
              </a:rPr>
              <a:t>and explicit trade facts</a:t>
            </a:r>
            <a:endParaRPr lang="en-US" sz="1700" dirty="0"/>
          </a:p>
        </p:txBody>
      </p:sp>
      <p:sp>
        <p:nvSpPr>
          <p:cNvPr id="8" name="Shape 6"/>
          <p:cNvSpPr/>
          <p:nvPr/>
        </p:nvSpPr>
        <p:spPr>
          <a:xfrm>
            <a:off x="4425696" y="1572768"/>
            <a:ext cx="3401568" cy="2971800"/>
          </a:xfrm>
          <a:prstGeom prst="roundRect">
            <a:avLst>
              <a:gd name="adj" fmla="val 2462"/>
            </a:avLst>
          </a:prstGeom>
          <a:solidFill>
            <a:srgbClr val="DCFCE7"/>
          </a:solidFill>
          <a:ln w="10160">
            <a:solidFill>
              <a:srgbClr val="DCFCE7"/>
            </a:solidFill>
            <a:prstDash val="solid"/>
          </a:ln>
        </p:spPr>
      </p:sp>
      <p:sp>
        <p:nvSpPr>
          <p:cNvPr id="9" name="Text 7"/>
          <p:cNvSpPr/>
          <p:nvPr/>
        </p:nvSpPr>
        <p:spPr>
          <a:xfrm>
            <a:off x="4700016" y="1938528"/>
            <a:ext cx="2852928" cy="438912"/>
          </a:xfrm>
          <a:prstGeom prst="rect">
            <a:avLst/>
          </a:prstGeom>
          <a:noFill/>
          <a:ln/>
        </p:spPr>
        <p:txBody>
          <a:bodyPr wrap="square" lIns="0" tIns="0" rIns="0" bIns="0" rtlCol="0" anchor="ctr"/>
          <a:lstStyle/>
          <a:p>
            <a:pPr algn="ctr" indent="0" marL="0">
              <a:buNone/>
            </a:pPr>
            <a:r>
              <a:rPr lang="en-US" sz="2500" b="1" dirty="0">
                <a:solidFill>
                  <a:srgbClr val="15803D"/>
                </a:solidFill>
                <a:latin typeface="Arial" pitchFamily="34" charset="0"/>
                <a:ea typeface="Arial" pitchFamily="34" charset="-122"/>
                <a:cs typeface="Arial" pitchFamily="34" charset="-120"/>
              </a:rPr>
              <a:t>REPLAY</a:t>
            </a:r>
            <a:endParaRPr lang="en-US" sz="2500" dirty="0"/>
          </a:p>
        </p:txBody>
      </p:sp>
      <p:sp>
        <p:nvSpPr>
          <p:cNvPr id="10" name="Text 8"/>
          <p:cNvSpPr/>
          <p:nvPr/>
        </p:nvSpPr>
        <p:spPr>
          <a:xfrm>
            <a:off x="4745736" y="2862072"/>
            <a:ext cx="2761488" cy="804672"/>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rial" pitchFamily="34" charset="0"/>
                <a:ea typeface="Arial" pitchFamily="34" charset="-122"/>
                <a:cs typeface="Arial" pitchFamily="34" charset="-120"/>
              </a:rPr>
              <a:t>Positions recalculate</a:t>
            </a:r>
            <a:endParaRPr lang="en-US" sz="1700" dirty="0"/>
          </a:p>
          <a:p>
            <a:pPr algn="ctr" indent="0" marL="0">
              <a:buNone/>
            </a:pPr>
            <a:r>
              <a:rPr lang="en-US" sz="1700" b="1" dirty="0">
                <a:solidFill>
                  <a:srgbClr val="0F172A"/>
                </a:solidFill>
                <a:latin typeface="Arial" pitchFamily="34" charset="0"/>
                <a:ea typeface="Arial" pitchFamily="34" charset="-122"/>
                <a:cs typeface="Arial" pitchFamily="34" charset="-120"/>
              </a:rPr>
              <a:t>without erasing history</a:t>
            </a:r>
            <a:endParaRPr lang="en-US" sz="1700" dirty="0"/>
          </a:p>
        </p:txBody>
      </p:sp>
      <p:sp>
        <p:nvSpPr>
          <p:cNvPr id="11" name="Shape 9"/>
          <p:cNvSpPr/>
          <p:nvPr/>
        </p:nvSpPr>
        <p:spPr>
          <a:xfrm>
            <a:off x="8193024" y="1572768"/>
            <a:ext cx="3401568" cy="2971800"/>
          </a:xfrm>
          <a:prstGeom prst="roundRect">
            <a:avLst>
              <a:gd name="adj" fmla="val 2462"/>
            </a:avLst>
          </a:prstGeom>
          <a:solidFill>
            <a:srgbClr val="FEF3C7"/>
          </a:solidFill>
          <a:ln w="10160">
            <a:solidFill>
              <a:srgbClr val="FEF3C7"/>
            </a:solidFill>
            <a:prstDash val="solid"/>
          </a:ln>
        </p:spPr>
      </p:sp>
      <p:sp>
        <p:nvSpPr>
          <p:cNvPr id="12" name="Text 10"/>
          <p:cNvSpPr/>
          <p:nvPr/>
        </p:nvSpPr>
        <p:spPr>
          <a:xfrm>
            <a:off x="8467344" y="1938528"/>
            <a:ext cx="2852928" cy="438912"/>
          </a:xfrm>
          <a:prstGeom prst="rect">
            <a:avLst/>
          </a:prstGeom>
          <a:noFill/>
          <a:ln/>
        </p:spPr>
        <p:txBody>
          <a:bodyPr wrap="square" lIns="0" tIns="0" rIns="0" bIns="0" rtlCol="0" anchor="ctr"/>
          <a:lstStyle/>
          <a:p>
            <a:pPr algn="ctr" indent="0" marL="0">
              <a:buNone/>
            </a:pPr>
            <a:r>
              <a:rPr lang="en-US" sz="2500" b="1" dirty="0">
                <a:solidFill>
                  <a:srgbClr val="D97706"/>
                </a:solidFill>
                <a:latin typeface="Arial" pitchFamily="34" charset="0"/>
                <a:ea typeface="Arial" pitchFamily="34" charset="-122"/>
                <a:cs typeface="Arial" pitchFamily="34" charset="-120"/>
              </a:rPr>
              <a:t>VALUE</a:t>
            </a:r>
            <a:endParaRPr lang="en-US" sz="2500" dirty="0"/>
          </a:p>
        </p:txBody>
      </p:sp>
      <p:sp>
        <p:nvSpPr>
          <p:cNvPr id="13" name="Text 11"/>
          <p:cNvSpPr/>
          <p:nvPr/>
        </p:nvSpPr>
        <p:spPr>
          <a:xfrm>
            <a:off x="8513064" y="2862072"/>
            <a:ext cx="2761488" cy="804672"/>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rial" pitchFamily="34" charset="0"/>
                <a:ea typeface="Arial" pitchFamily="34" charset="-122"/>
                <a:cs typeface="Arial" pitchFamily="34" charset="-120"/>
              </a:rPr>
              <a:t>Quotes expose source,</a:t>
            </a:r>
            <a:endParaRPr lang="en-US" sz="1700" dirty="0"/>
          </a:p>
          <a:p>
            <a:pPr algn="ctr" indent="0" marL="0">
              <a:buNone/>
            </a:pPr>
            <a:r>
              <a:rPr lang="en-US" sz="1700" b="1" dirty="0">
                <a:solidFill>
                  <a:srgbClr val="0F172A"/>
                </a:solidFill>
                <a:latin typeface="Arial" pitchFamily="34" charset="0"/>
                <a:ea typeface="Arial" pitchFamily="34" charset="-122"/>
                <a:cs typeface="Arial" pitchFamily="34" charset="-120"/>
              </a:rPr>
              <a:t>cache, and staleness</a:t>
            </a:r>
            <a:endParaRPr lang="en-US" sz="1700" dirty="0"/>
          </a:p>
        </p:txBody>
      </p:sp>
      <p:sp>
        <p:nvSpPr>
          <p:cNvPr id="14" name="Shape 12"/>
          <p:cNvSpPr/>
          <p:nvPr/>
        </p:nvSpPr>
        <p:spPr>
          <a:xfrm>
            <a:off x="1170432" y="5074920"/>
            <a:ext cx="9857232" cy="713232"/>
          </a:xfrm>
          <a:prstGeom prst="roundRect">
            <a:avLst>
              <a:gd name="adj" fmla="val 10256"/>
            </a:avLst>
          </a:prstGeom>
          <a:solidFill>
            <a:srgbClr val="0F172A"/>
          </a:solidFill>
          <a:ln w="12700">
            <a:solidFill>
              <a:srgbClr val="0F172A"/>
            </a:solidFill>
            <a:prstDash val="solid"/>
          </a:ln>
        </p:spPr>
      </p:sp>
      <p:sp>
        <p:nvSpPr>
          <p:cNvPr id="15" name="Text 13"/>
          <p:cNvSpPr/>
          <p:nvPr/>
        </p:nvSpPr>
        <p:spPr>
          <a:xfrm>
            <a:off x="1481328" y="5276088"/>
            <a:ext cx="2926080" cy="292608"/>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TRADES ARE FACTS.</a:t>
            </a:r>
            <a:endParaRPr lang="en-US" sz="2000" dirty="0"/>
          </a:p>
        </p:txBody>
      </p:sp>
      <p:sp>
        <p:nvSpPr>
          <p:cNvPr id="16" name="Text 14"/>
          <p:cNvSpPr/>
          <p:nvPr/>
        </p:nvSpPr>
        <p:spPr>
          <a:xfrm>
            <a:off x="4251960" y="5276088"/>
            <a:ext cx="6126480" cy="292608"/>
          </a:xfrm>
          <a:prstGeom prst="rect">
            <a:avLst/>
          </a:prstGeom>
          <a:noFill/>
          <a:ln/>
        </p:spPr>
        <p:txBody>
          <a:bodyPr wrap="square" lIns="0" tIns="0" rIns="0" bIns="0" rtlCol="0" anchor="ctr"/>
          <a:lstStyle/>
          <a:p>
            <a:pPr algn="r" indent="0" marL="0">
              <a:buNone/>
            </a:pPr>
            <a:r>
              <a:rPr lang="en-US" sz="2000" b="1" dirty="0">
                <a:solidFill>
                  <a:srgbClr val="93C5FD"/>
                </a:solidFill>
                <a:latin typeface="Arial" pitchFamily="34" charset="0"/>
                <a:ea typeface="Arial" pitchFamily="34" charset="-122"/>
                <a:cs typeface="Arial" pitchFamily="34" charset="-120"/>
              </a:rPr>
              <a:t>Trust comes from explainable change.</a:t>
            </a:r>
            <a:endParaRPr lang="en-US" sz="2000" dirty="0"/>
          </a:p>
        </p:txBody>
      </p:sp>
      <p:sp>
        <p:nvSpPr>
          <p:cNvPr id="17" name="Shape 15"/>
          <p:cNvSpPr/>
          <p:nvPr/>
        </p:nvSpPr>
        <p:spPr>
          <a:xfrm>
            <a:off x="10222992" y="6053328"/>
            <a:ext cx="868680" cy="310896"/>
          </a:xfrm>
          <a:prstGeom prst="roundRect">
            <a:avLst>
              <a:gd name="adj" fmla="val 20588"/>
            </a:avLst>
          </a:prstGeom>
          <a:solidFill>
            <a:srgbClr val="2563EB"/>
          </a:solidFill>
          <a:ln w="12700">
            <a:solidFill>
              <a:srgbClr val="2563EB"/>
            </a:solidFill>
            <a:prstDash val="solid"/>
          </a:ln>
        </p:spPr>
      </p:sp>
      <p:sp>
        <p:nvSpPr>
          <p:cNvPr id="18" name="Text 16"/>
          <p:cNvSpPr/>
          <p:nvPr/>
        </p:nvSpPr>
        <p:spPr>
          <a:xfrm>
            <a:off x="10222992" y="6094476"/>
            <a:ext cx="868680"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Q &amp; A</a:t>
            </a:r>
            <a:endParaRPr lang="en-US" sz="900" dirty="0"/>
          </a:p>
        </p:txBody>
      </p:sp>
      <p:sp>
        <p:nvSpPr>
          <p:cNvPr id="25" name="Slide Number Placeholder 0"/>
          <p:cNvSpPr>
            <a:spLocks noGrp="1"/>
          </p:cNvSpPr>
          <p:nvPr>
            <p:ph type="sldNum" sz="quarter" idx="4294967295"/>
          </p:nvPr>
        </p:nvSpPr>
        <p:spPr>
          <a:xfrm>
            <a:off x="11228832" y="6455664"/>
            <a:ext cx="384048"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Equity Trade Booking Engine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Equity Trade Booking Engine</dc:title>
  <dc:subject>Current product capabilities and live demo</dc:subject>
  <dc:creator>Group 5 — Give me five</dc:creator>
  <cp:lastModifiedBy>Group 5 — Give me five</cp:lastModifiedBy>
  <cp:revision>1</cp:revision>
  <dcterms:created xsi:type="dcterms:W3CDTF">2026-07-30T05:11:07Z</dcterms:created>
  <dcterms:modified xsi:type="dcterms:W3CDTF">2026-07-30T05:11:07Z</dcterms:modified>
</cp:coreProperties>
</file>