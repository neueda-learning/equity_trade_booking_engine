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 are Group 5, “Give me five.” Today we are presenting the Equity Trade Booking Engine. It is designed for a single user managing multiple securities accounts, and it connects account setup, trade booking, lifecycle management, position calculation, market quotes, and unrealized P&amp;L in one auditable workflow. Our goal is not simply to demonstrate a user interface. We want to show a trading back office whose data integrity, failure behavior, and engineering quality can all be explained, tested, and demonstrated.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demonstration systems treat accounts, trades, quotes, and P&amp;L as unrelated CRUD screens. That leaves three important questions unanswered: can an amended trade still be audited, does a sell or cancellation keep the position correct, and what happens when the quote provider fails? This project turns those concerns into one closed loop. Trades are the business facts, positions are replayed from valid trades, market data is used only for valuation, and P&amp;L is calculated centrally by the backend. As a result, every number has a traceable origin and every failure state has an explicit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starts with a securities account. Activity supports verified BUY and SELL booking as well as CSV bulk import. A normalized content fingerprint warns before the same complete table is imported again. BOOKED trades are replayed chronologically into positions; quotes then value those positions, and the dashboard presents current P&amp;L plus persisted history. Cancelling, deleting, or amending a trade recalculates downstream values without erasing the original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lifecycle question is not whether a trade can be changed, but whether we can still explain what happened afterward. A normal trade is BOOKED. Cancellation moves it to CANCELLED and records a reason. Deletion is audit-preserving soft cancellation, while amendment cancels the original and creates a replacement linked through `supersedesTradeId`. Three invariants protect the model: cancellation is idempotent, the chronological trade timeline may never produce a negative position, and only BOOKED trades contribute to positions. These rules are represented in both the domain model and the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Positions use weighted-average cost. A buy increases quantity and cost basis. A sell reduces cost basis at the current average cost, so the sale price does not distort the average cost of the remaining position. Valuation is straightforward: market value equals quantity times market price; unrealized P&amp;L equals market value minus cost basis; and return percentage equals unrealized P&amp;L divided by cost basis. Core calculations use backend decimal arithmetic to avoid browser floating-point differences. If a quote is missing, the value stays null—the UI never invents a zero market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is a modular monolith: React 19 and TypeScript run behind Nginx, while Spring Boot 3.5 on Java 21 is divided into Account, Trade, Position, Market Data, and P&amp;L modules. Dependencies flow from API to application to domain, with infrastructure implementing ports. MySQL stores accounts, trades, the CSV import registry, quote snapshots, and valuation history. Redis remains a disposable quote cache, never the system of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data can come from deterministic Mock data or explicitly configured Finnhub. A successful provider quote is cached in Redis and appended to a MySQL quote-snapshot history. Fresh cache values are reused normally; retained values are used only as stale fallback during a provider failure. The UI exposes MOCK, LIVE, CACHED, STALE, and incomplete states. A failed real provider never silently becomes Mock, and missing data never becomes a zero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combines the same backend position and valuation model for all accounts or one account. It shows market value, cost basis, unrealized P&amp;L, return, open and unpriced positions, and quote status by ticker. Scheduled valuation snapshots support 1D, 7D, 30D, and ALL views. The chart contains only locally persisted observations, so the system does not fabricate earlier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operational workbench has Accounts, Activity, and Market Data areas. Accounts supports active and inactive securities accounts and account-level positions. Activity covers verified booking, pagination, audit-preserving cancellation, deletion, amendment, and CSV bulk import with duplicate confirmation. Market Data supports search, refresh, provider status, and opt-in outage controls. The responsive interface is available in English, Simplified Chinese, and Brazilian Portuguese, with important states expressed in text as well as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quality strategy covers everything from domain rules to the complete user journey. The backend includes domain unit tests, API integration tests, MySQL and Redis Testcontainers tests, and ArchUnit dependency checks. The frontend uses Vitest, Testing Library, ESLint, and a production build. The Compose smoke test verifies lifecycle behavior, P&amp;L, cache fallback, and container restart. Playwright runs the end-to-end workflow at both desktop and mobile sizes. GitHub Actions combines backend, frontend, compose-smoke, and E2E jobs into one quality gate, so no partial success can be reported as a passing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release deliberately limits scope: it is single-user, USD-only, has no cash ledger, does not allow short positions, calculates unrealized P&amp;L only, and uses weighted-average cost. Likely next increments include authentication and ownership, cash and multi-currency accounting, realized P&amp;L and tax lots, more providers and streaming quotes, plus production secret management, observability, and deployment hardening.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system connects auditable trade facts, replayable positions, transparent quote handling, and consistent valuation. A live demo can move through Accounts, Activity, CSV import, Dashboard, and Market Data, then show how audit-preserving changes and stale quote fallback affect downstream values without hiding their origin. Thank you, and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7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6473952"/>
            <a:ext cx="4206240" cy="182880"/>
          </a:xfrm>
          <a:prstGeom prst="rect">
            <a:avLst/>
          </a:prstGeom>
          <a:noFill/>
          <a:ln/>
        </p:spPr>
        <p:txBody>
          <a:bodyPr wrap="square" lIns="0" tIns="0" rIns="0" bIns="0" rtlCol="0" anchor="ctr"/>
          <a:lstStyle/>
          <a:p>
            <a:pPr indent="0" marL="0">
              <a:buNone/>
            </a:pPr>
            <a:r>
              <a:rPr lang="en-US" sz="750" b="1" spc="120" kern="0" dirty="0">
                <a:solidFill>
                  <a:srgbClr val="64748B"/>
                </a:solidFill>
                <a:latin typeface="Arial" pitchFamily="34" charset="0"/>
                <a:ea typeface="Arial" pitchFamily="34" charset="-122"/>
                <a:cs typeface="Arial" pitchFamily="34" charset="-120"/>
              </a:rPr>
              <a:t>EQUITY TRADE BOOKING ENGINE</a:t>
            </a:r>
            <a:endParaRPr lang="en-US" sz="75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1097280" y="-1463040"/>
            <a:ext cx="4572000" cy="4572000"/>
          </a:xfrm>
          <a:prstGeom prst="ellipse">
            <a:avLst/>
          </a:prstGeom>
          <a:solidFill>
            <a:srgbClr val="2563EB">
              <a:alpha val="28000"/>
            </a:srgbClr>
          </a:solidFill>
          <a:ln w="12700">
            <a:solidFill>
              <a:srgbClr val="2563EB">
                <a:alpha val="0"/>
              </a:srgbClr>
            </a:solidFill>
            <a:prstDash val="solid"/>
          </a:ln>
        </p:spPr>
      </p:sp>
      <p:sp>
        <p:nvSpPr>
          <p:cNvPr id="4" name="Text 2"/>
          <p:cNvSpPr/>
          <p:nvPr/>
        </p:nvSpPr>
        <p:spPr>
          <a:xfrm>
            <a:off x="685800" y="530352"/>
            <a:ext cx="3840480" cy="228600"/>
          </a:xfrm>
          <a:prstGeom prst="rect">
            <a:avLst/>
          </a:prstGeom>
          <a:noFill/>
          <a:ln/>
        </p:spPr>
        <p:txBody>
          <a:bodyPr wrap="square" lIns="0" tIns="0" rIns="0" bIns="0" rtlCol="0" anchor="ctr"/>
          <a:lstStyle/>
          <a:p>
            <a:pPr indent="0" marL="0">
              <a:buNone/>
            </a:pPr>
            <a:r>
              <a:rPr lang="en-US" sz="900" b="1" spc="180" kern="0" dirty="0">
                <a:solidFill>
                  <a:srgbClr val="93C5FD"/>
                </a:solidFill>
                <a:latin typeface="Arial" pitchFamily="34" charset="0"/>
                <a:ea typeface="Arial" pitchFamily="34" charset="-122"/>
                <a:cs typeface="Arial" pitchFamily="34" charset="-120"/>
              </a:rPr>
              <a:t>GROUP 5  /  GIVE ME FIVE</a:t>
            </a:r>
            <a:endParaRPr lang="en-US" sz="900" dirty="0"/>
          </a:p>
        </p:txBody>
      </p:sp>
      <p:sp>
        <p:nvSpPr>
          <p:cNvPr id="5" name="Text 3"/>
          <p:cNvSpPr/>
          <p:nvPr/>
        </p:nvSpPr>
        <p:spPr>
          <a:xfrm>
            <a:off x="685800" y="1234440"/>
            <a:ext cx="4206240" cy="146304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rial" pitchFamily="34" charset="0"/>
                <a:ea typeface="Arial" pitchFamily="34" charset="-122"/>
                <a:cs typeface="Arial" pitchFamily="34" charset="-120"/>
              </a:rPr>
              <a:t>Equity Trade</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Booking Engine</a:t>
            </a:r>
            <a:endParaRPr lang="en-US" sz="3400" dirty="0"/>
          </a:p>
        </p:txBody>
      </p:sp>
      <p:sp>
        <p:nvSpPr>
          <p:cNvPr id="6" name="Text 4"/>
          <p:cNvSpPr/>
          <p:nvPr/>
        </p:nvSpPr>
        <p:spPr>
          <a:xfrm>
            <a:off x="685800" y="3200400"/>
            <a:ext cx="4069080" cy="685800"/>
          </a:xfrm>
          <a:prstGeom prst="rect">
            <a:avLst/>
          </a:prstGeom>
          <a:noFill/>
          <a:ln/>
        </p:spPr>
        <p:txBody>
          <a:bodyPr wrap="square" lIns="0" tIns="0" rIns="0" bIns="0" rtlCol="0" anchor="ctr">
            <a:normAutofit/>
          </a:bodyPr>
          <a:lstStyle/>
          <a:p>
            <a:pPr indent="0" marL="0">
              <a:buNone/>
            </a:pPr>
            <a:r>
              <a:rPr lang="en-US" sz="1300" dirty="0">
                <a:solidFill>
                  <a:srgbClr val="CBD5E1"/>
                </a:solidFill>
                <a:latin typeface="Arial" pitchFamily="34" charset="0"/>
                <a:ea typeface="Arial" pitchFamily="34" charset="-122"/>
                <a:cs typeface="Arial" pitchFamily="34" charset="-120"/>
              </a:rPr>
              <a:t>Trade facts · Replayable positions · Explainable quotes · Consistent P&amp;L</a:t>
            </a:r>
            <a:endParaRPr lang="en-US" sz="1300" dirty="0"/>
          </a:p>
        </p:txBody>
      </p:sp>
      <p:sp>
        <p:nvSpPr>
          <p:cNvPr id="7" name="Shape 5"/>
          <p:cNvSpPr/>
          <p:nvPr/>
        </p:nvSpPr>
        <p:spPr>
          <a:xfrm>
            <a:off x="685800" y="5321808"/>
            <a:ext cx="841248" cy="292608"/>
          </a:xfrm>
          <a:prstGeom prst="roundRect">
            <a:avLst>
              <a:gd name="adj" fmla="val 25000"/>
            </a:avLst>
          </a:prstGeom>
          <a:solidFill>
            <a:srgbClr val="1E3A8A"/>
          </a:solidFill>
          <a:ln w="12700">
            <a:solidFill>
              <a:srgbClr val="1E3A8A"/>
            </a:solidFill>
            <a:prstDash val="solid"/>
          </a:ln>
        </p:spPr>
      </p:sp>
      <p:sp>
        <p:nvSpPr>
          <p:cNvPr id="8" name="Text 6"/>
          <p:cNvSpPr/>
          <p:nvPr/>
        </p:nvSpPr>
        <p:spPr>
          <a:xfrm>
            <a:off x="685800" y="5340096"/>
            <a:ext cx="841248"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JAVA 21</a:t>
            </a:r>
            <a:endParaRPr lang="en-US" sz="750" dirty="0"/>
          </a:p>
        </p:txBody>
      </p:sp>
      <p:sp>
        <p:nvSpPr>
          <p:cNvPr id="9" name="Shape 7"/>
          <p:cNvSpPr/>
          <p:nvPr/>
        </p:nvSpPr>
        <p:spPr>
          <a:xfrm>
            <a:off x="1645920" y="5321808"/>
            <a:ext cx="1170432" cy="292608"/>
          </a:xfrm>
          <a:prstGeom prst="roundRect">
            <a:avLst>
              <a:gd name="adj" fmla="val 25000"/>
            </a:avLst>
          </a:prstGeom>
          <a:solidFill>
            <a:srgbClr val="1E3A8A"/>
          </a:solidFill>
          <a:ln w="12700">
            <a:solidFill>
              <a:srgbClr val="1E3A8A"/>
            </a:solidFill>
            <a:prstDash val="solid"/>
          </a:ln>
        </p:spPr>
      </p:sp>
      <p:sp>
        <p:nvSpPr>
          <p:cNvPr id="10" name="Text 8"/>
          <p:cNvSpPr/>
          <p:nvPr/>
        </p:nvSpPr>
        <p:spPr>
          <a:xfrm>
            <a:off x="1645920" y="5340096"/>
            <a:ext cx="1170432"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SPRING BOOT</a:t>
            </a:r>
            <a:endParaRPr lang="en-US" sz="750" dirty="0"/>
          </a:p>
        </p:txBody>
      </p:sp>
      <p:sp>
        <p:nvSpPr>
          <p:cNvPr id="11" name="Shape 9"/>
          <p:cNvSpPr/>
          <p:nvPr/>
        </p:nvSpPr>
        <p:spPr>
          <a:xfrm>
            <a:off x="2944368" y="5321808"/>
            <a:ext cx="932688" cy="292608"/>
          </a:xfrm>
          <a:prstGeom prst="roundRect">
            <a:avLst>
              <a:gd name="adj" fmla="val 25000"/>
            </a:avLst>
          </a:prstGeom>
          <a:solidFill>
            <a:srgbClr val="1E3A8A"/>
          </a:solidFill>
          <a:ln w="12700">
            <a:solidFill>
              <a:srgbClr val="1E3A8A"/>
            </a:solidFill>
            <a:prstDash val="solid"/>
          </a:ln>
        </p:spPr>
      </p:sp>
      <p:sp>
        <p:nvSpPr>
          <p:cNvPr id="12" name="Text 10"/>
          <p:cNvSpPr/>
          <p:nvPr/>
        </p:nvSpPr>
        <p:spPr>
          <a:xfrm>
            <a:off x="2944368" y="5340096"/>
            <a:ext cx="932688"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REACT 19</a:t>
            </a:r>
            <a:endParaRPr lang="en-US" sz="750" dirty="0"/>
          </a:p>
        </p:txBody>
      </p:sp>
      <p:sp>
        <p:nvSpPr>
          <p:cNvPr id="13" name="Shape 11"/>
          <p:cNvSpPr/>
          <p:nvPr/>
        </p:nvSpPr>
        <p:spPr>
          <a:xfrm>
            <a:off x="685800" y="5715000"/>
            <a:ext cx="1444752" cy="292608"/>
          </a:xfrm>
          <a:prstGeom prst="roundRect">
            <a:avLst>
              <a:gd name="adj" fmla="val 25000"/>
            </a:avLst>
          </a:prstGeom>
          <a:solidFill>
            <a:srgbClr val="1E3A8A"/>
          </a:solidFill>
          <a:ln w="12700">
            <a:solidFill>
              <a:srgbClr val="1E3A8A"/>
            </a:solidFill>
            <a:prstDash val="solid"/>
          </a:ln>
        </p:spPr>
      </p:sp>
      <p:sp>
        <p:nvSpPr>
          <p:cNvPr id="14" name="Text 12"/>
          <p:cNvSpPr/>
          <p:nvPr/>
        </p:nvSpPr>
        <p:spPr>
          <a:xfrm>
            <a:off x="685800" y="5733288"/>
            <a:ext cx="1444752"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MYSQL + REDIS</a:t>
            </a:r>
            <a:endParaRPr lang="en-US" sz="750" dirty="0"/>
          </a:p>
        </p:txBody>
      </p:sp>
      <p:sp>
        <p:nvSpPr>
          <p:cNvPr id="15" name="Shape 13"/>
          <p:cNvSpPr/>
          <p:nvPr/>
        </p:nvSpPr>
        <p:spPr>
          <a:xfrm>
            <a:off x="2258568" y="5715000"/>
            <a:ext cx="1554480" cy="292608"/>
          </a:xfrm>
          <a:prstGeom prst="roundRect">
            <a:avLst>
              <a:gd name="adj" fmla="val 25000"/>
            </a:avLst>
          </a:prstGeom>
          <a:solidFill>
            <a:srgbClr val="1E3A8A"/>
          </a:solidFill>
          <a:ln w="12700">
            <a:solidFill>
              <a:srgbClr val="1E3A8A"/>
            </a:solidFill>
            <a:prstDash val="solid"/>
          </a:ln>
        </p:spPr>
      </p:sp>
      <p:sp>
        <p:nvSpPr>
          <p:cNvPr id="16" name="Text 14"/>
          <p:cNvSpPr/>
          <p:nvPr/>
        </p:nvSpPr>
        <p:spPr>
          <a:xfrm>
            <a:off x="2258568" y="5733288"/>
            <a:ext cx="1554480"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DOCKER COMPOSE</a:t>
            </a:r>
            <a:endParaRPr lang="en-US" sz="750" dirty="0"/>
          </a:p>
        </p:txBody>
      </p:sp>
      <p:sp>
        <p:nvSpPr>
          <p:cNvPr id="17" name="Shape 15"/>
          <p:cNvSpPr/>
          <p:nvPr/>
        </p:nvSpPr>
        <p:spPr>
          <a:xfrm>
            <a:off x="4974336" y="996696"/>
            <a:ext cx="6702552" cy="4215384"/>
          </a:xfrm>
          <a:prstGeom prst="roundRect">
            <a:avLst>
              <a:gd name="adj" fmla="val 1735"/>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18" name="Image 0" descr="Dashboard showing portfolio metrics and position P&amp;L">    </p:cNvPr>
          <p:cNvPicPr>
            <a:picLocks noChangeAspect="1"/>
          </p:cNvPicPr>
          <p:nvPr/>
        </p:nvPicPr>
        <p:blipFill>
          <a:blip r:embed="rId1"/>
          <a:stretch>
            <a:fillRect/>
          </a:stretch>
        </p:blipFill>
        <p:spPr>
          <a:xfrm>
            <a:off x="5010912" y="1033272"/>
            <a:ext cx="6629400" cy="4142232"/>
          </a:xfrm>
          <a:prstGeom prst="rect">
            <a:avLst/>
          </a:prstGeom>
        </p:spPr>
      </p:pic>
      <p:sp>
        <p:nvSpPr>
          <p:cNvPr id="19" name="Shape 16"/>
          <p:cNvSpPr/>
          <p:nvPr/>
        </p:nvSpPr>
        <p:spPr>
          <a:xfrm>
            <a:off x="7059168" y="4919472"/>
            <a:ext cx="3858768" cy="685800"/>
          </a:xfrm>
          <a:prstGeom prst="roundRect">
            <a:avLst>
              <a:gd name="adj" fmla="val 10667"/>
            </a:avLst>
          </a:prstGeom>
          <a:solidFill>
            <a:srgbClr val="2563EB"/>
          </a:solidFill>
          <a:ln w="12700">
            <a:solidFill>
              <a:srgbClr val="2563EB"/>
            </a:solidFill>
            <a:prstDash val="solid"/>
          </a:ln>
        </p:spPr>
      </p:sp>
      <p:sp>
        <p:nvSpPr>
          <p:cNvPr id="20" name="Text 17"/>
          <p:cNvSpPr/>
          <p:nvPr/>
        </p:nvSpPr>
        <p:spPr>
          <a:xfrm>
            <a:off x="7223760" y="5020056"/>
            <a:ext cx="3529584" cy="457200"/>
          </a:xfrm>
          <a:prstGeom prst="rect">
            <a:avLst/>
          </a:prstGeom>
          <a:noFill/>
          <a:ln/>
        </p:spPr>
        <p:txBody>
          <a:bodyPr wrap="square" lIns="1016" tIns="1016" rIns="1016" bIns="1016"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A trusted loop from booking to valuation</a:t>
            </a:r>
            <a:endParaRPr lang="en-US" sz="1300" dirty="0"/>
          </a:p>
        </p:txBody>
      </p:sp>
      <p:sp>
        <p:nvSpPr>
          <p:cNvPr id="21" name="Text 18"/>
          <p:cNvSpPr/>
          <p:nvPr/>
        </p:nvSpPr>
        <p:spPr>
          <a:xfrm>
            <a:off x="10744200" y="6291072"/>
            <a:ext cx="822960" cy="182880"/>
          </a:xfrm>
          <a:prstGeom prst="rect">
            <a:avLst/>
          </a:prstGeom>
          <a:noFill/>
          <a:ln/>
        </p:spPr>
        <p:txBody>
          <a:bodyPr wrap="square" lIns="0" tIns="0" rIns="0" bIns="0" rtlCol="0" anchor="ctr"/>
          <a:lstStyle/>
          <a:p>
            <a:pPr algn="r" indent="0" marL="0">
              <a:buNone/>
            </a:pPr>
            <a:r>
              <a:rPr lang="en-US" sz="800" dirty="0">
                <a:solidFill>
                  <a:srgbClr val="64748B"/>
                </a:solidFill>
                <a:latin typeface="Arial" pitchFamily="34" charset="0"/>
                <a:ea typeface="Arial" pitchFamily="34" charset="-122"/>
                <a:cs typeface="Arial" pitchFamily="34" charset="-120"/>
              </a:rPr>
              <a:t>2026.07</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WHY THIS SYSTEM</a:t>
            </a:r>
            <a:endParaRPr lang="en-US" sz="800" dirty="0"/>
          </a:p>
        </p:txBody>
      </p:sp>
      <p:sp>
        <p:nvSpPr>
          <p:cNvPr id="3" name="Text 1"/>
          <p:cNvSpPr/>
          <p:nvPr/>
        </p:nvSpPr>
        <p:spPr>
          <a:xfrm>
            <a:off x="566928" y="585216"/>
            <a:ext cx="8595360" cy="530352"/>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From Fragmented Tasks to a Trusted Loop</a:t>
            </a:r>
            <a:endParaRPr lang="en-US" sz="2400" dirty="0"/>
          </a:p>
        </p:txBody>
      </p:sp>
      <p:sp>
        <p:nvSpPr>
          <p:cNvPr id="4" name="Text 2"/>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02</a:t>
            </a:r>
            <a:endParaRPr lang="en-US" sz="1800" dirty="0"/>
          </a:p>
        </p:txBody>
      </p:sp>
      <p:sp>
        <p:nvSpPr>
          <p:cNvPr id="5" name="Text 3"/>
          <p:cNvSpPr/>
          <p:nvPr/>
        </p:nvSpPr>
        <p:spPr>
          <a:xfrm>
            <a:off x="731520" y="1490472"/>
            <a:ext cx="4023360" cy="256032"/>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COMMON RISKS</a:t>
            </a:r>
            <a:endParaRPr lang="en-US" sz="1000" dirty="0"/>
          </a:p>
        </p:txBody>
      </p:sp>
      <p:sp>
        <p:nvSpPr>
          <p:cNvPr id="6" name="Text 4"/>
          <p:cNvSpPr/>
          <p:nvPr/>
        </p:nvSpPr>
        <p:spPr>
          <a:xfrm>
            <a:off x="7223760" y="1490472"/>
            <a:ext cx="3977640" cy="256032"/>
          </a:xfrm>
          <a:prstGeom prst="rect">
            <a:avLst/>
          </a:prstGeom>
          <a:noFill/>
          <a:ln/>
        </p:spPr>
        <p:txBody>
          <a:bodyPr wrap="square" lIns="0" tIns="0" rIns="0" bIns="0" rtlCol="0" anchor="ctr"/>
          <a:lstStyle/>
          <a:p>
            <a:pPr indent="0" marL="0">
              <a:buNone/>
            </a:pPr>
            <a:r>
              <a:rPr lang="en-US" sz="1000" b="1" dirty="0">
                <a:solidFill>
                  <a:srgbClr val="2563EB"/>
                </a:solidFill>
                <a:latin typeface="Arial" pitchFamily="34" charset="0"/>
                <a:ea typeface="Arial" pitchFamily="34" charset="-122"/>
                <a:cs typeface="Arial" pitchFamily="34" charset="-120"/>
              </a:rPr>
              <a:t>OUR RESPONSE</a:t>
            </a:r>
            <a:endParaRPr lang="en-US" sz="1000" dirty="0"/>
          </a:p>
        </p:txBody>
      </p:sp>
      <p:sp>
        <p:nvSpPr>
          <p:cNvPr id="7" name="Shape 5"/>
          <p:cNvSpPr/>
          <p:nvPr/>
        </p:nvSpPr>
        <p:spPr>
          <a:xfrm>
            <a:off x="731520" y="1847088"/>
            <a:ext cx="4041648" cy="850392"/>
          </a:xfrm>
          <a:prstGeom prst="roundRect">
            <a:avLst>
              <a:gd name="adj" fmla="val 8602"/>
            </a:avLst>
          </a:prstGeom>
          <a:solidFill>
            <a:srgbClr val="FFF7F7"/>
          </a:solidFill>
          <a:ln w="10160">
            <a:solidFill>
              <a:srgbClr val="FECACA"/>
            </a:solidFill>
            <a:prstDash val="solid"/>
          </a:ln>
          <a:effectLst>
            <a:outerShdw sx="100000" sy="100000" kx="0" ky="0" algn="bl" rotWithShape="0" blurRad="19050" dist="50800" dir="2700000">
              <a:srgbClr val="94A3B8">
                <a:alpha val="13000"/>
              </a:srgbClr>
            </a:outerShdw>
          </a:effectLst>
        </p:spPr>
      </p:sp>
      <p:sp>
        <p:nvSpPr>
          <p:cNvPr id="8" name="Shape 6"/>
          <p:cNvSpPr/>
          <p:nvPr/>
        </p:nvSpPr>
        <p:spPr>
          <a:xfrm>
            <a:off x="941832" y="2103120"/>
            <a:ext cx="310896" cy="310896"/>
          </a:xfrm>
          <a:prstGeom prst="ellipse">
            <a:avLst/>
          </a:prstGeom>
          <a:solidFill>
            <a:srgbClr val="FEE2E2"/>
          </a:solidFill>
          <a:ln w="12700">
            <a:solidFill>
              <a:srgbClr val="FEE2E2"/>
            </a:solidFill>
            <a:prstDash val="solid"/>
          </a:ln>
        </p:spPr>
      </p:sp>
      <p:sp>
        <p:nvSpPr>
          <p:cNvPr id="9" name="Text 7"/>
          <p:cNvSpPr/>
          <p:nvPr/>
        </p:nvSpPr>
        <p:spPr>
          <a:xfrm>
            <a:off x="941832" y="2112264"/>
            <a:ext cx="310896" cy="201168"/>
          </a:xfrm>
          <a:prstGeom prst="rect">
            <a:avLst/>
          </a:prstGeom>
          <a:noFill/>
          <a:ln/>
        </p:spPr>
        <p:txBody>
          <a:bodyPr wrap="square" lIns="0" tIns="0" rIns="0" bIns="0" rtlCol="0" anchor="ctr"/>
          <a:lstStyle/>
          <a:p>
            <a:pPr algn="ctr" indent="0" marL="0">
              <a:buNone/>
            </a:pPr>
            <a:r>
              <a:rPr lang="en-US" sz="1000" b="1" dirty="0">
                <a:solidFill>
                  <a:srgbClr val="DC2626"/>
                </a:solidFill>
                <a:latin typeface="Arial" pitchFamily="34" charset="0"/>
                <a:ea typeface="Arial" pitchFamily="34" charset="-122"/>
                <a:cs typeface="Arial" pitchFamily="34" charset="-120"/>
              </a:rPr>
              <a:t>!</a:t>
            </a:r>
            <a:endParaRPr lang="en-US" sz="1000" dirty="0"/>
          </a:p>
        </p:txBody>
      </p:sp>
      <p:sp>
        <p:nvSpPr>
          <p:cNvPr id="10" name="Text 8"/>
          <p:cNvSpPr/>
          <p:nvPr/>
        </p:nvSpPr>
        <p:spPr>
          <a:xfrm>
            <a:off x="1389888" y="1984248"/>
            <a:ext cx="3108960" cy="53035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latin typeface="Arial" pitchFamily="34" charset="0"/>
                <a:ea typeface="Arial" pitchFamily="34" charset="-122"/>
                <a:cs typeface="Arial" pitchFamily="34" charset="-120"/>
              </a:rPr>
              <a:t>Mutation erases history</a:t>
            </a:r>
            <a:endParaRPr lang="en-US" sz="1300" dirty="0"/>
          </a:p>
        </p:txBody>
      </p:sp>
      <p:sp>
        <p:nvSpPr>
          <p:cNvPr id="11" name="Shape 9"/>
          <p:cNvSpPr/>
          <p:nvPr/>
        </p:nvSpPr>
        <p:spPr>
          <a:xfrm>
            <a:off x="5138928" y="2276856"/>
            <a:ext cx="1325880" cy="0"/>
          </a:xfrm>
          <a:prstGeom prst="line">
            <a:avLst/>
          </a:prstGeom>
          <a:noFill/>
          <a:ln w="25400">
            <a:solidFill>
              <a:srgbClr val="94A3B8"/>
            </a:solidFill>
            <a:prstDash val="solid"/>
            <a:headEnd type="none"/>
            <a:tailEnd type="triangle"/>
          </a:ln>
        </p:spPr>
      </p:sp>
      <p:sp>
        <p:nvSpPr>
          <p:cNvPr id="12" name="Shape 10"/>
          <p:cNvSpPr/>
          <p:nvPr/>
        </p:nvSpPr>
        <p:spPr>
          <a:xfrm>
            <a:off x="7086600" y="1847088"/>
            <a:ext cx="4187952" cy="850392"/>
          </a:xfrm>
          <a:prstGeom prst="roundRect">
            <a:avLst>
              <a:gd name="adj" fmla="val 8602"/>
            </a:avLst>
          </a:prstGeom>
          <a:solidFill>
            <a:srgbClr val="FFFFFF"/>
          </a:solidFill>
          <a:ln w="10160">
            <a:solidFill>
              <a:srgbClr val="BFDBFE"/>
            </a:solidFill>
            <a:prstDash val="solid"/>
          </a:ln>
          <a:effectLst>
            <a:outerShdw sx="100000" sy="100000" kx="0" ky="0" algn="bl" rotWithShape="0" blurRad="19050" dist="50800" dir="2700000">
              <a:srgbClr val="94A3B8">
                <a:alpha val="13000"/>
              </a:srgbClr>
            </a:outerShdw>
          </a:effectLst>
        </p:spPr>
      </p:sp>
      <p:sp>
        <p:nvSpPr>
          <p:cNvPr id="13" name="Shape 11"/>
          <p:cNvSpPr/>
          <p:nvPr/>
        </p:nvSpPr>
        <p:spPr>
          <a:xfrm>
            <a:off x="7296912" y="2103120"/>
            <a:ext cx="310896" cy="310896"/>
          </a:xfrm>
          <a:prstGeom prst="ellipse">
            <a:avLst/>
          </a:prstGeom>
          <a:solidFill>
            <a:srgbClr val="DBEAFE"/>
          </a:solidFill>
          <a:ln w="12700">
            <a:solidFill>
              <a:srgbClr val="DBEAFE"/>
            </a:solidFill>
            <a:prstDash val="solid"/>
          </a:ln>
        </p:spPr>
      </p:sp>
      <p:sp>
        <p:nvSpPr>
          <p:cNvPr id="14" name="Text 12"/>
          <p:cNvSpPr/>
          <p:nvPr/>
        </p:nvSpPr>
        <p:spPr>
          <a:xfrm>
            <a:off x="7296912" y="2103120"/>
            <a:ext cx="310896" cy="201168"/>
          </a:xfrm>
          <a:prstGeom prst="rect">
            <a:avLst/>
          </a:prstGeom>
          <a:noFill/>
          <a:ln/>
        </p:spPr>
        <p:txBody>
          <a:bodyPr wrap="square" lIns="0" tIns="0" rIns="0" bIns="0"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a:t>
            </a:r>
            <a:endParaRPr lang="en-US" sz="1000" dirty="0"/>
          </a:p>
        </p:txBody>
      </p:sp>
      <p:sp>
        <p:nvSpPr>
          <p:cNvPr id="15" name="Text 13"/>
          <p:cNvSpPr/>
          <p:nvPr/>
        </p:nvSpPr>
        <p:spPr>
          <a:xfrm>
            <a:off x="7754112" y="1984248"/>
            <a:ext cx="3200400" cy="53035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latin typeface="Arial" pitchFamily="34" charset="0"/>
                <a:ea typeface="Arial" pitchFamily="34" charset="-122"/>
                <a:cs typeface="Arial" pitchFamily="34" charset="-120"/>
              </a:rPr>
              <a:t>Audit-preserving lifecycle</a:t>
            </a:r>
            <a:endParaRPr lang="en-US" sz="1300" dirty="0"/>
          </a:p>
        </p:txBody>
      </p:sp>
      <p:sp>
        <p:nvSpPr>
          <p:cNvPr id="16" name="Shape 14"/>
          <p:cNvSpPr/>
          <p:nvPr/>
        </p:nvSpPr>
        <p:spPr>
          <a:xfrm>
            <a:off x="731520" y="3017520"/>
            <a:ext cx="4041648" cy="850392"/>
          </a:xfrm>
          <a:prstGeom prst="roundRect">
            <a:avLst>
              <a:gd name="adj" fmla="val 8602"/>
            </a:avLst>
          </a:prstGeom>
          <a:solidFill>
            <a:srgbClr val="FFFFFF"/>
          </a:solidFill>
          <a:ln w="10160">
            <a:solidFill>
              <a:srgbClr val="FECACA"/>
            </a:solidFill>
            <a:prstDash val="solid"/>
          </a:ln>
          <a:effectLst>
            <a:outerShdw sx="100000" sy="100000" kx="0" ky="0" algn="bl" rotWithShape="0" blurRad="19050" dist="50800" dir="2700000">
              <a:srgbClr val="94A3B8">
                <a:alpha val="13000"/>
              </a:srgbClr>
            </a:outerShdw>
          </a:effectLst>
        </p:spPr>
      </p:sp>
      <p:sp>
        <p:nvSpPr>
          <p:cNvPr id="17" name="Shape 15"/>
          <p:cNvSpPr/>
          <p:nvPr/>
        </p:nvSpPr>
        <p:spPr>
          <a:xfrm>
            <a:off x="941832" y="3273552"/>
            <a:ext cx="310896" cy="310896"/>
          </a:xfrm>
          <a:prstGeom prst="ellipse">
            <a:avLst/>
          </a:prstGeom>
          <a:solidFill>
            <a:srgbClr val="FEE2E2"/>
          </a:solidFill>
          <a:ln w="12700">
            <a:solidFill>
              <a:srgbClr val="FEE2E2"/>
            </a:solidFill>
            <a:prstDash val="solid"/>
          </a:ln>
        </p:spPr>
      </p:sp>
      <p:sp>
        <p:nvSpPr>
          <p:cNvPr id="18" name="Text 16"/>
          <p:cNvSpPr/>
          <p:nvPr/>
        </p:nvSpPr>
        <p:spPr>
          <a:xfrm>
            <a:off x="941832" y="3282696"/>
            <a:ext cx="310896" cy="201168"/>
          </a:xfrm>
          <a:prstGeom prst="rect">
            <a:avLst/>
          </a:prstGeom>
          <a:noFill/>
          <a:ln/>
        </p:spPr>
        <p:txBody>
          <a:bodyPr wrap="square" lIns="0" tIns="0" rIns="0" bIns="0" rtlCol="0" anchor="ctr"/>
          <a:lstStyle/>
          <a:p>
            <a:pPr algn="ctr" indent="0" marL="0">
              <a:buNone/>
            </a:pPr>
            <a:r>
              <a:rPr lang="en-US" sz="1000" b="1" dirty="0">
                <a:solidFill>
                  <a:srgbClr val="DC2626"/>
                </a:solidFill>
                <a:latin typeface="Arial" pitchFamily="34" charset="0"/>
                <a:ea typeface="Arial" pitchFamily="34" charset="-122"/>
                <a:cs typeface="Arial" pitchFamily="34" charset="-120"/>
              </a:rPr>
              <a:t>!</a:t>
            </a:r>
            <a:endParaRPr lang="en-US" sz="1000" dirty="0"/>
          </a:p>
        </p:txBody>
      </p:sp>
      <p:sp>
        <p:nvSpPr>
          <p:cNvPr id="19" name="Text 17"/>
          <p:cNvSpPr/>
          <p:nvPr/>
        </p:nvSpPr>
        <p:spPr>
          <a:xfrm>
            <a:off x="1389888" y="3154680"/>
            <a:ext cx="3108960" cy="53035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latin typeface="Arial" pitchFamily="34" charset="0"/>
                <a:ea typeface="Arial" pitchFamily="34" charset="-122"/>
                <a:cs typeface="Arial" pitchFamily="34" charset="-120"/>
              </a:rPr>
              <a:t>Position drift after changes</a:t>
            </a:r>
            <a:endParaRPr lang="en-US" sz="1300" dirty="0"/>
          </a:p>
        </p:txBody>
      </p:sp>
      <p:sp>
        <p:nvSpPr>
          <p:cNvPr id="20" name="Shape 18"/>
          <p:cNvSpPr/>
          <p:nvPr/>
        </p:nvSpPr>
        <p:spPr>
          <a:xfrm>
            <a:off x="5138928" y="3447288"/>
            <a:ext cx="1325880" cy="0"/>
          </a:xfrm>
          <a:prstGeom prst="line">
            <a:avLst/>
          </a:prstGeom>
          <a:noFill/>
          <a:ln w="25400">
            <a:solidFill>
              <a:srgbClr val="94A3B8"/>
            </a:solidFill>
            <a:prstDash val="solid"/>
            <a:headEnd type="none"/>
            <a:tailEnd type="triangle"/>
          </a:ln>
        </p:spPr>
      </p:sp>
      <p:sp>
        <p:nvSpPr>
          <p:cNvPr id="21" name="Shape 19"/>
          <p:cNvSpPr/>
          <p:nvPr/>
        </p:nvSpPr>
        <p:spPr>
          <a:xfrm>
            <a:off x="7086600" y="3017520"/>
            <a:ext cx="4187952" cy="850392"/>
          </a:xfrm>
          <a:prstGeom prst="roundRect">
            <a:avLst>
              <a:gd name="adj" fmla="val 8602"/>
            </a:avLst>
          </a:prstGeom>
          <a:solidFill>
            <a:srgbClr val="FFFFFF"/>
          </a:solidFill>
          <a:ln w="10160">
            <a:solidFill>
              <a:srgbClr val="BFDBFE"/>
            </a:solidFill>
            <a:prstDash val="solid"/>
          </a:ln>
          <a:effectLst>
            <a:outerShdw sx="100000" sy="100000" kx="0" ky="0" algn="bl" rotWithShape="0" blurRad="19050" dist="50800" dir="2700000">
              <a:srgbClr val="94A3B8">
                <a:alpha val="13000"/>
              </a:srgbClr>
            </a:outerShdw>
          </a:effectLst>
        </p:spPr>
      </p:sp>
      <p:sp>
        <p:nvSpPr>
          <p:cNvPr id="22" name="Shape 20"/>
          <p:cNvSpPr/>
          <p:nvPr/>
        </p:nvSpPr>
        <p:spPr>
          <a:xfrm>
            <a:off x="7296912" y="3273552"/>
            <a:ext cx="310896" cy="310896"/>
          </a:xfrm>
          <a:prstGeom prst="ellipse">
            <a:avLst/>
          </a:prstGeom>
          <a:solidFill>
            <a:srgbClr val="DBEAFE"/>
          </a:solidFill>
          <a:ln w="12700">
            <a:solidFill>
              <a:srgbClr val="DBEAFE"/>
            </a:solidFill>
            <a:prstDash val="solid"/>
          </a:ln>
        </p:spPr>
      </p:sp>
      <p:sp>
        <p:nvSpPr>
          <p:cNvPr id="23" name="Text 21"/>
          <p:cNvSpPr/>
          <p:nvPr/>
        </p:nvSpPr>
        <p:spPr>
          <a:xfrm>
            <a:off x="7296912" y="3273552"/>
            <a:ext cx="310896" cy="201168"/>
          </a:xfrm>
          <a:prstGeom prst="rect">
            <a:avLst/>
          </a:prstGeom>
          <a:noFill/>
          <a:ln/>
        </p:spPr>
        <p:txBody>
          <a:bodyPr wrap="square" lIns="0" tIns="0" rIns="0" bIns="0"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a:t>
            </a:r>
            <a:endParaRPr lang="en-US" sz="1000" dirty="0"/>
          </a:p>
        </p:txBody>
      </p:sp>
      <p:sp>
        <p:nvSpPr>
          <p:cNvPr id="24" name="Text 22"/>
          <p:cNvSpPr/>
          <p:nvPr/>
        </p:nvSpPr>
        <p:spPr>
          <a:xfrm>
            <a:off x="7754112" y="3154680"/>
            <a:ext cx="3200400" cy="53035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latin typeface="Arial" pitchFamily="34" charset="0"/>
                <a:ea typeface="Arial" pitchFamily="34" charset="-122"/>
                <a:cs typeface="Arial" pitchFamily="34" charset="-120"/>
              </a:rPr>
              <a:t>Chronological trade replay</a:t>
            </a:r>
            <a:endParaRPr lang="en-US" sz="1300" dirty="0"/>
          </a:p>
        </p:txBody>
      </p:sp>
      <p:sp>
        <p:nvSpPr>
          <p:cNvPr id="25" name="Shape 23"/>
          <p:cNvSpPr/>
          <p:nvPr/>
        </p:nvSpPr>
        <p:spPr>
          <a:xfrm>
            <a:off x="731520" y="4187952"/>
            <a:ext cx="4041648" cy="850392"/>
          </a:xfrm>
          <a:prstGeom prst="roundRect">
            <a:avLst>
              <a:gd name="adj" fmla="val 8602"/>
            </a:avLst>
          </a:prstGeom>
          <a:solidFill>
            <a:srgbClr val="FFFFFF"/>
          </a:solidFill>
          <a:ln w="10160">
            <a:solidFill>
              <a:srgbClr val="FECACA"/>
            </a:solidFill>
            <a:prstDash val="solid"/>
          </a:ln>
          <a:effectLst>
            <a:outerShdw sx="100000" sy="100000" kx="0" ky="0" algn="bl" rotWithShape="0" blurRad="19050" dist="50800" dir="2700000">
              <a:srgbClr val="94A3B8">
                <a:alpha val="13000"/>
              </a:srgbClr>
            </a:outerShdw>
          </a:effectLst>
        </p:spPr>
      </p:sp>
      <p:sp>
        <p:nvSpPr>
          <p:cNvPr id="26" name="Shape 24"/>
          <p:cNvSpPr/>
          <p:nvPr/>
        </p:nvSpPr>
        <p:spPr>
          <a:xfrm>
            <a:off x="941832" y="4443984"/>
            <a:ext cx="310896" cy="310896"/>
          </a:xfrm>
          <a:prstGeom prst="ellipse">
            <a:avLst/>
          </a:prstGeom>
          <a:solidFill>
            <a:srgbClr val="FEE2E2"/>
          </a:solidFill>
          <a:ln w="12700">
            <a:solidFill>
              <a:srgbClr val="FEE2E2"/>
            </a:solidFill>
            <a:prstDash val="solid"/>
          </a:ln>
        </p:spPr>
      </p:sp>
      <p:sp>
        <p:nvSpPr>
          <p:cNvPr id="27" name="Text 25"/>
          <p:cNvSpPr/>
          <p:nvPr/>
        </p:nvSpPr>
        <p:spPr>
          <a:xfrm>
            <a:off x="941832" y="4453128"/>
            <a:ext cx="310896" cy="201168"/>
          </a:xfrm>
          <a:prstGeom prst="rect">
            <a:avLst/>
          </a:prstGeom>
          <a:noFill/>
          <a:ln/>
        </p:spPr>
        <p:txBody>
          <a:bodyPr wrap="square" lIns="0" tIns="0" rIns="0" bIns="0" rtlCol="0" anchor="ctr"/>
          <a:lstStyle/>
          <a:p>
            <a:pPr algn="ctr" indent="0" marL="0">
              <a:buNone/>
            </a:pPr>
            <a:r>
              <a:rPr lang="en-US" sz="1000" b="1" dirty="0">
                <a:solidFill>
                  <a:srgbClr val="DC2626"/>
                </a:solidFill>
                <a:latin typeface="Arial" pitchFamily="34" charset="0"/>
                <a:ea typeface="Arial" pitchFamily="34" charset="-122"/>
                <a:cs typeface="Arial" pitchFamily="34" charset="-120"/>
              </a:rPr>
              <a:t>!</a:t>
            </a:r>
            <a:endParaRPr lang="en-US" sz="1000" dirty="0"/>
          </a:p>
        </p:txBody>
      </p:sp>
      <p:sp>
        <p:nvSpPr>
          <p:cNvPr id="28" name="Text 26"/>
          <p:cNvSpPr/>
          <p:nvPr/>
        </p:nvSpPr>
        <p:spPr>
          <a:xfrm>
            <a:off x="1389888" y="4325112"/>
            <a:ext cx="3108960" cy="53035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latin typeface="Arial" pitchFamily="34" charset="0"/>
                <a:ea typeface="Arial" pitchFamily="34" charset="-122"/>
                <a:cs typeface="Arial" pitchFamily="34" charset="-120"/>
              </a:rPr>
              <a:t>Quote failure can mislead</a:t>
            </a:r>
            <a:endParaRPr lang="en-US" sz="1300" dirty="0"/>
          </a:p>
        </p:txBody>
      </p:sp>
      <p:sp>
        <p:nvSpPr>
          <p:cNvPr id="29" name="Shape 27"/>
          <p:cNvSpPr/>
          <p:nvPr/>
        </p:nvSpPr>
        <p:spPr>
          <a:xfrm>
            <a:off x="5138928" y="4617720"/>
            <a:ext cx="1325880" cy="0"/>
          </a:xfrm>
          <a:prstGeom prst="line">
            <a:avLst/>
          </a:prstGeom>
          <a:noFill/>
          <a:ln w="25400">
            <a:solidFill>
              <a:srgbClr val="94A3B8"/>
            </a:solidFill>
            <a:prstDash val="solid"/>
            <a:headEnd type="none"/>
            <a:tailEnd type="triangle"/>
          </a:ln>
        </p:spPr>
      </p:sp>
      <p:sp>
        <p:nvSpPr>
          <p:cNvPr id="30" name="Shape 28"/>
          <p:cNvSpPr/>
          <p:nvPr/>
        </p:nvSpPr>
        <p:spPr>
          <a:xfrm>
            <a:off x="7086600" y="4187952"/>
            <a:ext cx="4187952" cy="850392"/>
          </a:xfrm>
          <a:prstGeom prst="roundRect">
            <a:avLst>
              <a:gd name="adj" fmla="val 8602"/>
            </a:avLst>
          </a:prstGeom>
          <a:solidFill>
            <a:srgbClr val="EFF6FF"/>
          </a:solidFill>
          <a:ln w="10160">
            <a:solidFill>
              <a:srgbClr val="BFDBFE"/>
            </a:solidFill>
            <a:prstDash val="solid"/>
          </a:ln>
          <a:effectLst>
            <a:outerShdw sx="100000" sy="100000" kx="0" ky="0" algn="bl" rotWithShape="0" blurRad="19050" dist="50800" dir="2700000">
              <a:srgbClr val="94A3B8">
                <a:alpha val="13000"/>
              </a:srgbClr>
            </a:outerShdw>
          </a:effectLst>
        </p:spPr>
      </p:sp>
      <p:sp>
        <p:nvSpPr>
          <p:cNvPr id="31" name="Shape 29"/>
          <p:cNvSpPr/>
          <p:nvPr/>
        </p:nvSpPr>
        <p:spPr>
          <a:xfrm>
            <a:off x="7296912" y="4443984"/>
            <a:ext cx="310896" cy="310896"/>
          </a:xfrm>
          <a:prstGeom prst="ellipse">
            <a:avLst/>
          </a:prstGeom>
          <a:solidFill>
            <a:srgbClr val="DBEAFE"/>
          </a:solidFill>
          <a:ln w="12700">
            <a:solidFill>
              <a:srgbClr val="DBEAFE"/>
            </a:solidFill>
            <a:prstDash val="solid"/>
          </a:ln>
        </p:spPr>
      </p:sp>
      <p:sp>
        <p:nvSpPr>
          <p:cNvPr id="32" name="Text 30"/>
          <p:cNvSpPr/>
          <p:nvPr/>
        </p:nvSpPr>
        <p:spPr>
          <a:xfrm>
            <a:off x="7296912" y="4443984"/>
            <a:ext cx="310896" cy="201168"/>
          </a:xfrm>
          <a:prstGeom prst="rect">
            <a:avLst/>
          </a:prstGeom>
          <a:noFill/>
          <a:ln/>
        </p:spPr>
        <p:txBody>
          <a:bodyPr wrap="square" lIns="0" tIns="0" rIns="0" bIns="0"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a:t>
            </a:r>
            <a:endParaRPr lang="en-US" sz="1000" dirty="0"/>
          </a:p>
        </p:txBody>
      </p:sp>
      <p:sp>
        <p:nvSpPr>
          <p:cNvPr id="33" name="Text 31"/>
          <p:cNvSpPr/>
          <p:nvPr/>
        </p:nvSpPr>
        <p:spPr>
          <a:xfrm>
            <a:off x="7754112" y="4325112"/>
            <a:ext cx="3200400" cy="53035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latin typeface="Arial" pitchFamily="34" charset="0"/>
                <a:ea typeface="Arial" pitchFamily="34" charset="-122"/>
                <a:cs typeface="Arial" pitchFamily="34" charset="-120"/>
              </a:rPr>
              <a:t>Explicit source and staleness</a:t>
            </a:r>
            <a:endParaRPr lang="en-US" sz="1300" dirty="0"/>
          </a:p>
        </p:txBody>
      </p:sp>
      <p:sp>
        <p:nvSpPr>
          <p:cNvPr id="34" name="Shape 32"/>
          <p:cNvSpPr/>
          <p:nvPr/>
        </p:nvSpPr>
        <p:spPr>
          <a:xfrm>
            <a:off x="1993392" y="5669280"/>
            <a:ext cx="8211312" cy="502920"/>
          </a:xfrm>
          <a:prstGeom prst="roundRect">
            <a:avLst>
              <a:gd name="adj" fmla="val 14545"/>
            </a:avLst>
          </a:prstGeom>
          <a:solidFill>
            <a:srgbClr val="0F172A"/>
          </a:solidFill>
          <a:ln w="12700">
            <a:solidFill>
              <a:srgbClr val="0F172A"/>
            </a:solidFill>
            <a:prstDash val="solid"/>
          </a:ln>
        </p:spPr>
      </p:sp>
      <p:sp>
        <p:nvSpPr>
          <p:cNvPr id="35" name="Text 33"/>
          <p:cNvSpPr/>
          <p:nvPr/>
        </p:nvSpPr>
        <p:spPr>
          <a:xfrm>
            <a:off x="2240280" y="5742432"/>
            <a:ext cx="7717536" cy="320040"/>
          </a:xfrm>
          <a:prstGeom prst="rect">
            <a:avLst/>
          </a:prstGeom>
          <a:noFill/>
          <a:ln/>
        </p:spPr>
        <p:txBody>
          <a:bodyPr wrap="square" lIns="1016" tIns="1016" rIns="1016" bIns="1016" rtlCol="0" anchor="ctr">
            <a:normAutofit/>
          </a:bodyPr>
          <a:lstStyle/>
          <a:p>
            <a:pPr algn="ctr" indent="0" marL="0">
              <a:buNone/>
            </a:pPr>
            <a:r>
              <a:rPr lang="en-US" sz="1400" b="1" dirty="0">
                <a:solidFill>
                  <a:srgbClr val="FFFFFF"/>
                </a:solidFill>
                <a:latin typeface="Arial" pitchFamily="34" charset="0"/>
                <a:ea typeface="Arial" pitchFamily="34" charset="-122"/>
                <a:cs typeface="Arial" pitchFamily="34" charset="-120"/>
              </a:rPr>
              <a:t>Trades are facts. Positions are replayed. Quotes value. The backend calculates.</a:t>
            </a:r>
            <a:endParaRPr lang="en-US" sz="140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BUSINESS FLOW</a:t>
            </a:r>
            <a:endParaRPr lang="en-US" sz="800" dirty="0"/>
          </a:p>
        </p:txBody>
      </p:sp>
      <p:sp>
        <p:nvSpPr>
          <p:cNvPr id="3" name="Text 1"/>
          <p:cNvSpPr/>
          <p:nvPr/>
        </p:nvSpPr>
        <p:spPr>
          <a:xfrm>
            <a:off x="566928" y="585216"/>
            <a:ext cx="8595360" cy="530352"/>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End-to-End Business Loop</a:t>
            </a:r>
            <a:endParaRPr lang="en-US" sz="2400" dirty="0"/>
          </a:p>
        </p:txBody>
      </p:sp>
      <p:sp>
        <p:nvSpPr>
          <p:cNvPr id="4" name="Text 2"/>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03</a:t>
            </a:r>
            <a:endParaRPr lang="en-US" sz="1800" dirty="0"/>
          </a:p>
        </p:txBody>
      </p:sp>
      <p:sp>
        <p:nvSpPr>
          <p:cNvPr id="5" name="Shape 3"/>
          <p:cNvSpPr/>
          <p:nvPr/>
        </p:nvSpPr>
        <p:spPr>
          <a:xfrm>
            <a:off x="566928" y="1874520"/>
            <a:ext cx="1847088" cy="2331720"/>
          </a:xfrm>
          <a:prstGeom prst="roundRect">
            <a:avLst>
              <a:gd name="adj" fmla="val 3960"/>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6" name="Shape 4"/>
          <p:cNvSpPr/>
          <p:nvPr/>
        </p:nvSpPr>
        <p:spPr>
          <a:xfrm>
            <a:off x="1161288" y="2103120"/>
            <a:ext cx="658368" cy="658368"/>
          </a:xfrm>
          <a:prstGeom prst="ellipse">
            <a:avLst/>
          </a:prstGeom>
          <a:solidFill>
            <a:srgbClr val="DBEAFE"/>
          </a:solidFill>
          <a:ln w="12700">
            <a:solidFill>
              <a:srgbClr val="DBEAFE"/>
            </a:solidFill>
            <a:prstDash val="solid"/>
          </a:ln>
        </p:spPr>
      </p:sp>
      <p:sp>
        <p:nvSpPr>
          <p:cNvPr id="7" name="Text 5"/>
          <p:cNvSpPr/>
          <p:nvPr/>
        </p:nvSpPr>
        <p:spPr>
          <a:xfrm>
            <a:off x="1161288" y="2267712"/>
            <a:ext cx="658368" cy="201168"/>
          </a:xfrm>
          <a:prstGeom prst="rect">
            <a:avLst/>
          </a:prstGeom>
          <a:noFill/>
          <a:ln/>
        </p:spPr>
        <p:txBody>
          <a:bodyPr wrap="square" lIns="0" tIns="0" rIns="0" bIns="0" rtlCol="0" anchor="ctr"/>
          <a:lstStyle/>
          <a:p>
            <a:pPr algn="ctr" indent="0" marL="0">
              <a:buNone/>
            </a:pPr>
            <a:r>
              <a:rPr lang="en-US" sz="1200" b="1" dirty="0">
                <a:solidFill>
                  <a:srgbClr val="1D4ED8"/>
                </a:solidFill>
                <a:latin typeface="Arial" pitchFamily="34" charset="0"/>
                <a:ea typeface="Arial" pitchFamily="34" charset="-122"/>
                <a:cs typeface="Arial" pitchFamily="34" charset="-120"/>
              </a:rPr>
              <a:t>01</a:t>
            </a:r>
            <a:endParaRPr lang="en-US" sz="1200" dirty="0"/>
          </a:p>
        </p:txBody>
      </p:sp>
      <p:sp>
        <p:nvSpPr>
          <p:cNvPr id="8" name="Text 6"/>
          <p:cNvSpPr/>
          <p:nvPr/>
        </p:nvSpPr>
        <p:spPr>
          <a:xfrm>
            <a:off x="777240" y="2907792"/>
            <a:ext cx="1426464" cy="566928"/>
          </a:xfrm>
          <a:prstGeom prst="rect">
            <a:avLst/>
          </a:prstGeom>
          <a:noFill/>
          <a:ln/>
        </p:spPr>
        <p:txBody>
          <a:bodyPr wrap="square" lIns="1016" tIns="1016" rIns="1016" bIns="1016" rtlCol="0" anchor="ctr">
            <a:normAutofit/>
          </a:bodyPr>
          <a:lstStyle/>
          <a:p>
            <a:pPr algn="ctr" indent="0" marL="0">
              <a:buNone/>
            </a:pPr>
            <a:r>
              <a:rPr lang="en-US" sz="1700" b="1" dirty="0">
                <a:solidFill>
                  <a:srgbClr val="0F172A"/>
                </a:solidFill>
                <a:latin typeface="Arial" pitchFamily="34" charset="0"/>
                <a:ea typeface="Arial" pitchFamily="34" charset="-122"/>
                <a:cs typeface="Arial" pitchFamily="34" charset="-120"/>
              </a:rPr>
              <a:t>Account</a:t>
            </a:r>
            <a:endParaRPr lang="en-US" sz="1700" dirty="0"/>
          </a:p>
        </p:txBody>
      </p:sp>
      <p:sp>
        <p:nvSpPr>
          <p:cNvPr id="9" name="Text 7"/>
          <p:cNvSpPr/>
          <p:nvPr/>
        </p:nvSpPr>
        <p:spPr>
          <a:xfrm>
            <a:off x="777240" y="3685032"/>
            <a:ext cx="1426464" cy="201168"/>
          </a:xfrm>
          <a:prstGeom prst="rect">
            <a:avLst/>
          </a:prstGeom>
          <a:noFill/>
          <a:ln/>
        </p:spPr>
        <p:txBody>
          <a:bodyPr wrap="square" lIns="0" tIns="0" rIns="0" bIns="0" rtlCol="0" anchor="ctr">
            <a:normAutofit/>
          </a:bodyPr>
          <a:lstStyle/>
          <a:p>
            <a:pPr algn="ctr" indent="0" marL="0">
              <a:buNone/>
            </a:pPr>
            <a:r>
              <a:rPr lang="en-US" sz="750" b="1" dirty="0">
                <a:solidFill>
                  <a:srgbClr val="64748B"/>
                </a:solidFill>
                <a:latin typeface="Arial" pitchFamily="34" charset="0"/>
                <a:ea typeface="Arial" pitchFamily="34" charset="-122"/>
                <a:cs typeface="Arial" pitchFamily="34" charset="-120"/>
              </a:rPr>
              <a:t>ACTIVE / INACTIVE</a:t>
            </a:r>
            <a:endParaRPr lang="en-US" sz="750" dirty="0"/>
          </a:p>
        </p:txBody>
      </p:sp>
      <p:sp>
        <p:nvSpPr>
          <p:cNvPr id="10" name="Shape 8"/>
          <p:cNvSpPr/>
          <p:nvPr/>
        </p:nvSpPr>
        <p:spPr>
          <a:xfrm>
            <a:off x="2468880" y="3044952"/>
            <a:ext cx="338328" cy="0"/>
          </a:xfrm>
          <a:prstGeom prst="line">
            <a:avLst/>
          </a:prstGeom>
          <a:noFill/>
          <a:ln w="25400">
            <a:solidFill>
              <a:srgbClr val="94A3B8"/>
            </a:solidFill>
            <a:prstDash val="solid"/>
            <a:headEnd type="none"/>
            <a:tailEnd type="triangle"/>
          </a:ln>
        </p:spPr>
      </p:sp>
      <p:sp>
        <p:nvSpPr>
          <p:cNvPr id="11" name="Shape 9"/>
          <p:cNvSpPr/>
          <p:nvPr/>
        </p:nvSpPr>
        <p:spPr>
          <a:xfrm>
            <a:off x="2889504" y="1874520"/>
            <a:ext cx="1847088" cy="2331720"/>
          </a:xfrm>
          <a:prstGeom prst="roundRect">
            <a:avLst>
              <a:gd name="adj" fmla="val 3960"/>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2" name="Shape 10"/>
          <p:cNvSpPr/>
          <p:nvPr/>
        </p:nvSpPr>
        <p:spPr>
          <a:xfrm>
            <a:off x="3483864" y="2103120"/>
            <a:ext cx="658368" cy="658368"/>
          </a:xfrm>
          <a:prstGeom prst="ellipse">
            <a:avLst/>
          </a:prstGeom>
          <a:solidFill>
            <a:srgbClr val="DBEAFE"/>
          </a:solidFill>
          <a:ln w="12700">
            <a:solidFill>
              <a:srgbClr val="DBEAFE"/>
            </a:solidFill>
            <a:prstDash val="solid"/>
          </a:ln>
        </p:spPr>
      </p:sp>
      <p:sp>
        <p:nvSpPr>
          <p:cNvPr id="13" name="Text 11"/>
          <p:cNvSpPr/>
          <p:nvPr/>
        </p:nvSpPr>
        <p:spPr>
          <a:xfrm>
            <a:off x="3483864" y="2267712"/>
            <a:ext cx="658368" cy="201168"/>
          </a:xfrm>
          <a:prstGeom prst="rect">
            <a:avLst/>
          </a:prstGeom>
          <a:noFill/>
          <a:ln/>
        </p:spPr>
        <p:txBody>
          <a:bodyPr wrap="square" lIns="0" tIns="0" rIns="0" bIns="0" rtlCol="0" anchor="ctr"/>
          <a:lstStyle/>
          <a:p>
            <a:pPr algn="ctr" indent="0" marL="0">
              <a:buNone/>
            </a:pPr>
            <a:r>
              <a:rPr lang="en-US" sz="1200" b="1" dirty="0">
                <a:solidFill>
                  <a:srgbClr val="1D4ED8"/>
                </a:solidFill>
                <a:latin typeface="Arial" pitchFamily="34" charset="0"/>
                <a:ea typeface="Arial" pitchFamily="34" charset="-122"/>
                <a:cs typeface="Arial" pitchFamily="34" charset="-120"/>
              </a:rPr>
              <a:t>02</a:t>
            </a:r>
            <a:endParaRPr lang="en-US" sz="1200" dirty="0"/>
          </a:p>
        </p:txBody>
      </p:sp>
      <p:sp>
        <p:nvSpPr>
          <p:cNvPr id="14" name="Text 12"/>
          <p:cNvSpPr/>
          <p:nvPr/>
        </p:nvSpPr>
        <p:spPr>
          <a:xfrm>
            <a:off x="3099816" y="2907792"/>
            <a:ext cx="1426464" cy="566928"/>
          </a:xfrm>
          <a:prstGeom prst="rect">
            <a:avLst/>
          </a:prstGeom>
          <a:noFill/>
          <a:ln/>
        </p:spPr>
        <p:txBody>
          <a:bodyPr wrap="square" lIns="1016" tIns="1016" rIns="1016" bIns="1016" rtlCol="0" anchor="ctr">
            <a:normAutofit/>
          </a:bodyPr>
          <a:lstStyle/>
          <a:p>
            <a:pPr algn="ctr" indent="0" marL="0">
              <a:buNone/>
            </a:pPr>
            <a:r>
              <a:rPr lang="en-US" sz="1700" b="1" dirty="0">
                <a:solidFill>
                  <a:srgbClr val="0F172A"/>
                </a:solidFill>
                <a:latin typeface="Arial" pitchFamily="34" charset="0"/>
                <a:ea typeface="Arial" pitchFamily="34" charset="-122"/>
                <a:cs typeface="Arial" pitchFamily="34" charset="-120"/>
              </a:rPr>
              <a:t>Activity</a:t>
            </a:r>
            <a:endParaRPr lang="en-US" sz="1700" dirty="0"/>
          </a:p>
        </p:txBody>
      </p:sp>
      <p:sp>
        <p:nvSpPr>
          <p:cNvPr id="15" name="Text 13"/>
          <p:cNvSpPr/>
          <p:nvPr/>
        </p:nvSpPr>
        <p:spPr>
          <a:xfrm>
            <a:off x="3099816" y="3685032"/>
            <a:ext cx="1426464" cy="201168"/>
          </a:xfrm>
          <a:prstGeom prst="rect">
            <a:avLst/>
          </a:prstGeom>
          <a:noFill/>
          <a:ln/>
        </p:spPr>
        <p:txBody>
          <a:bodyPr wrap="square" lIns="0" tIns="0" rIns="0" bIns="0" rtlCol="0" anchor="ctr">
            <a:normAutofit/>
          </a:bodyPr>
          <a:lstStyle/>
          <a:p>
            <a:pPr algn="ctr" indent="0" marL="0">
              <a:buNone/>
            </a:pPr>
            <a:r>
              <a:rPr lang="en-US" sz="750" b="1" dirty="0">
                <a:solidFill>
                  <a:srgbClr val="64748B"/>
                </a:solidFill>
                <a:latin typeface="Arial" pitchFamily="34" charset="0"/>
                <a:ea typeface="Arial" pitchFamily="34" charset="-122"/>
                <a:cs typeface="Arial" pitchFamily="34" charset="-120"/>
              </a:rPr>
              <a:t>BUY / SELL</a:t>
            </a:r>
            <a:endParaRPr lang="en-US" sz="750" dirty="0"/>
          </a:p>
        </p:txBody>
      </p:sp>
      <p:sp>
        <p:nvSpPr>
          <p:cNvPr id="16" name="Shape 14"/>
          <p:cNvSpPr/>
          <p:nvPr/>
        </p:nvSpPr>
        <p:spPr>
          <a:xfrm>
            <a:off x="4791456" y="3044952"/>
            <a:ext cx="338328" cy="0"/>
          </a:xfrm>
          <a:prstGeom prst="line">
            <a:avLst/>
          </a:prstGeom>
          <a:noFill/>
          <a:ln w="25400">
            <a:solidFill>
              <a:srgbClr val="94A3B8"/>
            </a:solidFill>
            <a:prstDash val="solid"/>
            <a:headEnd type="none"/>
            <a:tailEnd type="triangle"/>
          </a:ln>
        </p:spPr>
      </p:sp>
      <p:sp>
        <p:nvSpPr>
          <p:cNvPr id="17" name="Shape 15"/>
          <p:cNvSpPr/>
          <p:nvPr/>
        </p:nvSpPr>
        <p:spPr>
          <a:xfrm>
            <a:off x="5212080" y="1874520"/>
            <a:ext cx="1847088" cy="2331720"/>
          </a:xfrm>
          <a:prstGeom prst="roundRect">
            <a:avLst>
              <a:gd name="adj" fmla="val 3960"/>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8" name="Shape 16"/>
          <p:cNvSpPr/>
          <p:nvPr/>
        </p:nvSpPr>
        <p:spPr>
          <a:xfrm>
            <a:off x="5806440" y="2103120"/>
            <a:ext cx="658368" cy="658368"/>
          </a:xfrm>
          <a:prstGeom prst="ellipse">
            <a:avLst/>
          </a:prstGeom>
          <a:solidFill>
            <a:srgbClr val="DBEAFE"/>
          </a:solidFill>
          <a:ln w="12700">
            <a:solidFill>
              <a:srgbClr val="DBEAFE"/>
            </a:solidFill>
            <a:prstDash val="solid"/>
          </a:ln>
        </p:spPr>
      </p:sp>
      <p:sp>
        <p:nvSpPr>
          <p:cNvPr id="19" name="Text 17"/>
          <p:cNvSpPr/>
          <p:nvPr/>
        </p:nvSpPr>
        <p:spPr>
          <a:xfrm>
            <a:off x="5806440" y="2267712"/>
            <a:ext cx="658368" cy="201168"/>
          </a:xfrm>
          <a:prstGeom prst="rect">
            <a:avLst/>
          </a:prstGeom>
          <a:noFill/>
          <a:ln/>
        </p:spPr>
        <p:txBody>
          <a:bodyPr wrap="square" lIns="0" tIns="0" rIns="0" bIns="0" rtlCol="0" anchor="ctr"/>
          <a:lstStyle/>
          <a:p>
            <a:pPr algn="ctr" indent="0" marL="0">
              <a:buNone/>
            </a:pPr>
            <a:r>
              <a:rPr lang="en-US" sz="1200" b="1" dirty="0">
                <a:solidFill>
                  <a:srgbClr val="1D4ED8"/>
                </a:solidFill>
                <a:latin typeface="Arial" pitchFamily="34" charset="0"/>
                <a:ea typeface="Arial" pitchFamily="34" charset="-122"/>
                <a:cs typeface="Arial" pitchFamily="34" charset="-120"/>
              </a:rPr>
              <a:t>03</a:t>
            </a:r>
            <a:endParaRPr lang="en-US" sz="1200" dirty="0"/>
          </a:p>
        </p:txBody>
      </p:sp>
      <p:sp>
        <p:nvSpPr>
          <p:cNvPr id="20" name="Text 18"/>
          <p:cNvSpPr/>
          <p:nvPr/>
        </p:nvSpPr>
        <p:spPr>
          <a:xfrm>
            <a:off x="5422392" y="2907792"/>
            <a:ext cx="1426464" cy="566928"/>
          </a:xfrm>
          <a:prstGeom prst="rect">
            <a:avLst/>
          </a:prstGeom>
          <a:noFill/>
          <a:ln/>
        </p:spPr>
        <p:txBody>
          <a:bodyPr wrap="square" lIns="1016" tIns="1016" rIns="1016" bIns="1016" rtlCol="0" anchor="ctr">
            <a:normAutofit/>
          </a:bodyPr>
          <a:lstStyle/>
          <a:p>
            <a:pPr algn="ctr" indent="0" marL="0">
              <a:buNone/>
            </a:pPr>
            <a:r>
              <a:rPr lang="en-US" sz="1700" b="1" dirty="0">
                <a:solidFill>
                  <a:srgbClr val="0F172A"/>
                </a:solidFill>
                <a:latin typeface="Arial" pitchFamily="34" charset="0"/>
                <a:ea typeface="Arial" pitchFamily="34" charset="-122"/>
                <a:cs typeface="Arial" pitchFamily="34" charset="-120"/>
              </a:rPr>
              <a:t>Position</a:t>
            </a:r>
            <a:endParaRPr lang="en-US" sz="1700" dirty="0"/>
          </a:p>
        </p:txBody>
      </p:sp>
      <p:sp>
        <p:nvSpPr>
          <p:cNvPr id="21" name="Text 19"/>
          <p:cNvSpPr/>
          <p:nvPr/>
        </p:nvSpPr>
        <p:spPr>
          <a:xfrm>
            <a:off x="5422392" y="3685032"/>
            <a:ext cx="1426464" cy="201168"/>
          </a:xfrm>
          <a:prstGeom prst="rect">
            <a:avLst/>
          </a:prstGeom>
          <a:noFill/>
          <a:ln/>
        </p:spPr>
        <p:txBody>
          <a:bodyPr wrap="square" lIns="0" tIns="0" rIns="0" bIns="0" rtlCol="0" anchor="ctr">
            <a:normAutofit/>
          </a:bodyPr>
          <a:lstStyle/>
          <a:p>
            <a:pPr algn="ctr" indent="0" marL="0">
              <a:buNone/>
            </a:pPr>
            <a:r>
              <a:rPr lang="en-US" sz="750" b="1" dirty="0">
                <a:solidFill>
                  <a:srgbClr val="64748B"/>
                </a:solidFill>
                <a:latin typeface="Arial" pitchFamily="34" charset="0"/>
                <a:ea typeface="Arial" pitchFamily="34" charset="-122"/>
                <a:cs typeface="Arial" pitchFamily="34" charset="-120"/>
              </a:rPr>
              <a:t>Replay BOOKED</a:t>
            </a:r>
            <a:endParaRPr lang="en-US" sz="750" dirty="0"/>
          </a:p>
        </p:txBody>
      </p:sp>
      <p:sp>
        <p:nvSpPr>
          <p:cNvPr id="22" name="Shape 20"/>
          <p:cNvSpPr/>
          <p:nvPr/>
        </p:nvSpPr>
        <p:spPr>
          <a:xfrm>
            <a:off x="7114032" y="3044952"/>
            <a:ext cx="338328" cy="0"/>
          </a:xfrm>
          <a:prstGeom prst="line">
            <a:avLst/>
          </a:prstGeom>
          <a:noFill/>
          <a:ln w="25400">
            <a:solidFill>
              <a:srgbClr val="94A3B8"/>
            </a:solidFill>
            <a:prstDash val="solid"/>
            <a:headEnd type="none"/>
            <a:tailEnd type="triangle"/>
          </a:ln>
        </p:spPr>
      </p:sp>
      <p:sp>
        <p:nvSpPr>
          <p:cNvPr id="23" name="Shape 21"/>
          <p:cNvSpPr/>
          <p:nvPr/>
        </p:nvSpPr>
        <p:spPr>
          <a:xfrm>
            <a:off x="7534656" y="1874520"/>
            <a:ext cx="1847088" cy="2331720"/>
          </a:xfrm>
          <a:prstGeom prst="roundRect">
            <a:avLst>
              <a:gd name="adj" fmla="val 3960"/>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4" name="Shape 22"/>
          <p:cNvSpPr/>
          <p:nvPr/>
        </p:nvSpPr>
        <p:spPr>
          <a:xfrm>
            <a:off x="8129016" y="2103120"/>
            <a:ext cx="658368" cy="658368"/>
          </a:xfrm>
          <a:prstGeom prst="ellipse">
            <a:avLst/>
          </a:prstGeom>
          <a:solidFill>
            <a:srgbClr val="DBEAFE"/>
          </a:solidFill>
          <a:ln w="12700">
            <a:solidFill>
              <a:srgbClr val="DBEAFE"/>
            </a:solidFill>
            <a:prstDash val="solid"/>
          </a:ln>
        </p:spPr>
      </p:sp>
      <p:sp>
        <p:nvSpPr>
          <p:cNvPr id="25" name="Text 23"/>
          <p:cNvSpPr/>
          <p:nvPr/>
        </p:nvSpPr>
        <p:spPr>
          <a:xfrm>
            <a:off x="8129016" y="2267712"/>
            <a:ext cx="658368" cy="201168"/>
          </a:xfrm>
          <a:prstGeom prst="rect">
            <a:avLst/>
          </a:prstGeom>
          <a:noFill/>
          <a:ln/>
        </p:spPr>
        <p:txBody>
          <a:bodyPr wrap="square" lIns="0" tIns="0" rIns="0" bIns="0" rtlCol="0" anchor="ctr"/>
          <a:lstStyle/>
          <a:p>
            <a:pPr algn="ctr" indent="0" marL="0">
              <a:buNone/>
            </a:pPr>
            <a:r>
              <a:rPr lang="en-US" sz="1200" b="1" dirty="0">
                <a:solidFill>
                  <a:srgbClr val="1D4ED8"/>
                </a:solidFill>
                <a:latin typeface="Arial" pitchFamily="34" charset="0"/>
                <a:ea typeface="Arial" pitchFamily="34" charset="-122"/>
                <a:cs typeface="Arial" pitchFamily="34" charset="-120"/>
              </a:rPr>
              <a:t>04</a:t>
            </a:r>
            <a:endParaRPr lang="en-US" sz="1200" dirty="0"/>
          </a:p>
        </p:txBody>
      </p:sp>
      <p:sp>
        <p:nvSpPr>
          <p:cNvPr id="26" name="Text 24"/>
          <p:cNvSpPr/>
          <p:nvPr/>
        </p:nvSpPr>
        <p:spPr>
          <a:xfrm>
            <a:off x="7744968" y="2907792"/>
            <a:ext cx="1426464" cy="566928"/>
          </a:xfrm>
          <a:prstGeom prst="rect">
            <a:avLst/>
          </a:prstGeom>
          <a:noFill/>
          <a:ln/>
        </p:spPr>
        <p:txBody>
          <a:bodyPr wrap="square" lIns="1016" tIns="1016" rIns="1016" bIns="1016" rtlCol="0" anchor="ctr">
            <a:normAutofit/>
          </a:bodyPr>
          <a:lstStyle/>
          <a:p>
            <a:pPr algn="ctr" indent="0" marL="0">
              <a:buNone/>
            </a:pPr>
            <a:r>
              <a:rPr lang="en-US" sz="1700" b="1" dirty="0">
                <a:solidFill>
                  <a:srgbClr val="0F172A"/>
                </a:solidFill>
                <a:latin typeface="Arial" pitchFamily="34" charset="0"/>
                <a:ea typeface="Arial" pitchFamily="34" charset="-122"/>
                <a:cs typeface="Arial" pitchFamily="34" charset="-120"/>
              </a:rPr>
              <a:t>Market Data</a:t>
            </a:r>
            <a:endParaRPr lang="en-US" sz="1700" dirty="0"/>
          </a:p>
        </p:txBody>
      </p:sp>
      <p:sp>
        <p:nvSpPr>
          <p:cNvPr id="27" name="Text 25"/>
          <p:cNvSpPr/>
          <p:nvPr/>
        </p:nvSpPr>
        <p:spPr>
          <a:xfrm>
            <a:off x="7744968" y="3685032"/>
            <a:ext cx="1426464" cy="201168"/>
          </a:xfrm>
          <a:prstGeom prst="rect">
            <a:avLst/>
          </a:prstGeom>
          <a:noFill/>
          <a:ln/>
        </p:spPr>
        <p:txBody>
          <a:bodyPr wrap="square" lIns="0" tIns="0" rIns="0" bIns="0" rtlCol="0" anchor="ctr">
            <a:normAutofit/>
          </a:bodyPr>
          <a:lstStyle/>
          <a:p>
            <a:pPr algn="ctr" indent="0" marL="0">
              <a:buNone/>
            </a:pPr>
            <a:r>
              <a:rPr lang="en-US" sz="750" b="1" dirty="0">
                <a:solidFill>
                  <a:srgbClr val="64748B"/>
                </a:solidFill>
                <a:latin typeface="Arial" pitchFamily="34" charset="0"/>
                <a:ea typeface="Arial" pitchFamily="34" charset="-122"/>
                <a:cs typeface="Arial" pitchFamily="34" charset="-120"/>
              </a:rPr>
              <a:t>SOURCE + AGE</a:t>
            </a:r>
            <a:endParaRPr lang="en-US" sz="750" dirty="0"/>
          </a:p>
        </p:txBody>
      </p:sp>
      <p:sp>
        <p:nvSpPr>
          <p:cNvPr id="28" name="Shape 26"/>
          <p:cNvSpPr/>
          <p:nvPr/>
        </p:nvSpPr>
        <p:spPr>
          <a:xfrm>
            <a:off x="9436608" y="3044952"/>
            <a:ext cx="338328" cy="0"/>
          </a:xfrm>
          <a:prstGeom prst="line">
            <a:avLst/>
          </a:prstGeom>
          <a:noFill/>
          <a:ln w="25400">
            <a:solidFill>
              <a:srgbClr val="94A3B8"/>
            </a:solidFill>
            <a:prstDash val="solid"/>
            <a:headEnd type="none"/>
            <a:tailEnd type="triangle"/>
          </a:ln>
        </p:spPr>
      </p:sp>
      <p:sp>
        <p:nvSpPr>
          <p:cNvPr id="29" name="Shape 27"/>
          <p:cNvSpPr/>
          <p:nvPr/>
        </p:nvSpPr>
        <p:spPr>
          <a:xfrm>
            <a:off x="9857232" y="1874520"/>
            <a:ext cx="1847088" cy="2331720"/>
          </a:xfrm>
          <a:prstGeom prst="roundRect">
            <a:avLst>
              <a:gd name="adj" fmla="val 3960"/>
            </a:avLst>
          </a:prstGeom>
          <a:solidFill>
            <a:srgbClr val="EFF6FF"/>
          </a:solidFill>
          <a:ln w="10160">
            <a:solidFill>
              <a:srgbClr val="93C5FD"/>
            </a:solidFill>
            <a:prstDash val="solid"/>
          </a:ln>
          <a:effectLst>
            <a:outerShdw sx="100000" sy="100000" kx="0" ky="0" algn="bl" rotWithShape="0" blurRad="19050" dist="50800" dir="2700000">
              <a:srgbClr val="94A3B8">
                <a:alpha val="13000"/>
              </a:srgbClr>
            </a:outerShdw>
          </a:effectLst>
        </p:spPr>
      </p:sp>
      <p:sp>
        <p:nvSpPr>
          <p:cNvPr id="30" name="Shape 28"/>
          <p:cNvSpPr/>
          <p:nvPr/>
        </p:nvSpPr>
        <p:spPr>
          <a:xfrm>
            <a:off x="10451592" y="2103120"/>
            <a:ext cx="658368" cy="658368"/>
          </a:xfrm>
          <a:prstGeom prst="ellipse">
            <a:avLst/>
          </a:prstGeom>
          <a:solidFill>
            <a:srgbClr val="2563EB"/>
          </a:solidFill>
          <a:ln w="12700">
            <a:solidFill>
              <a:srgbClr val="2563EB"/>
            </a:solidFill>
            <a:prstDash val="solid"/>
          </a:ln>
        </p:spPr>
      </p:sp>
      <p:sp>
        <p:nvSpPr>
          <p:cNvPr id="31" name="Text 29"/>
          <p:cNvSpPr/>
          <p:nvPr/>
        </p:nvSpPr>
        <p:spPr>
          <a:xfrm>
            <a:off x="10451592" y="2267712"/>
            <a:ext cx="658368"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05</a:t>
            </a:r>
            <a:endParaRPr lang="en-US" sz="1200" dirty="0"/>
          </a:p>
        </p:txBody>
      </p:sp>
      <p:sp>
        <p:nvSpPr>
          <p:cNvPr id="32" name="Text 30"/>
          <p:cNvSpPr/>
          <p:nvPr/>
        </p:nvSpPr>
        <p:spPr>
          <a:xfrm>
            <a:off x="10067544" y="2907792"/>
            <a:ext cx="1426464" cy="566928"/>
          </a:xfrm>
          <a:prstGeom prst="rect">
            <a:avLst/>
          </a:prstGeom>
          <a:noFill/>
          <a:ln/>
        </p:spPr>
        <p:txBody>
          <a:bodyPr wrap="square" lIns="1016" tIns="1016" rIns="1016" bIns="1016" rtlCol="0" anchor="ctr">
            <a:normAutofit/>
          </a:bodyPr>
          <a:lstStyle/>
          <a:p>
            <a:pPr algn="ctr" indent="0" marL="0">
              <a:buNone/>
            </a:pPr>
            <a:r>
              <a:rPr lang="en-US" sz="1700" b="1" dirty="0">
                <a:solidFill>
                  <a:srgbClr val="0F172A"/>
                </a:solidFill>
                <a:latin typeface="Arial" pitchFamily="34" charset="0"/>
                <a:ea typeface="Arial" pitchFamily="34" charset="-122"/>
                <a:cs typeface="Arial" pitchFamily="34" charset="-120"/>
              </a:rPr>
              <a:t>Dashboard</a:t>
            </a:r>
            <a:endParaRPr lang="en-US" sz="1700" dirty="0"/>
          </a:p>
        </p:txBody>
      </p:sp>
      <p:sp>
        <p:nvSpPr>
          <p:cNvPr id="33" name="Text 31"/>
          <p:cNvSpPr/>
          <p:nvPr/>
        </p:nvSpPr>
        <p:spPr>
          <a:xfrm>
            <a:off x="10067544" y="3685032"/>
            <a:ext cx="1426464" cy="201168"/>
          </a:xfrm>
          <a:prstGeom prst="rect">
            <a:avLst/>
          </a:prstGeom>
          <a:noFill/>
          <a:ln/>
        </p:spPr>
        <p:txBody>
          <a:bodyPr wrap="square" lIns="0" tIns="0" rIns="0" bIns="0" rtlCol="0" anchor="ctr">
            <a:normAutofit/>
          </a:bodyPr>
          <a:lstStyle/>
          <a:p>
            <a:pPr algn="ctr" indent="0" marL="0">
              <a:buNone/>
            </a:pPr>
            <a:r>
              <a:rPr lang="en-US" sz="750" b="1" dirty="0">
                <a:solidFill>
                  <a:srgbClr val="64748B"/>
                </a:solidFill>
                <a:latin typeface="Arial" pitchFamily="34" charset="0"/>
                <a:ea typeface="Arial" pitchFamily="34" charset="-122"/>
                <a:cs typeface="Arial" pitchFamily="34" charset="-120"/>
              </a:rPr>
              <a:t>P&amp;L + HISTORY</a:t>
            </a:r>
            <a:endParaRPr lang="en-US" sz="750" dirty="0"/>
          </a:p>
        </p:txBody>
      </p:sp>
      <p:sp>
        <p:nvSpPr>
          <p:cNvPr id="34" name="Shape 32"/>
          <p:cNvSpPr/>
          <p:nvPr/>
        </p:nvSpPr>
        <p:spPr>
          <a:xfrm>
            <a:off x="3118104" y="3877056"/>
            <a:ext cx="1389888" cy="292608"/>
          </a:xfrm>
          <a:prstGeom prst="roundRect">
            <a:avLst>
              <a:gd name="adj" fmla="val 25000"/>
            </a:avLst>
          </a:prstGeom>
          <a:solidFill>
            <a:srgbClr val="DBEAFE"/>
          </a:solidFill>
          <a:ln w="12700">
            <a:solidFill>
              <a:srgbClr val="DBEAFE"/>
            </a:solidFill>
            <a:prstDash val="solid"/>
          </a:ln>
        </p:spPr>
      </p:sp>
      <p:sp>
        <p:nvSpPr>
          <p:cNvPr id="35" name="Text 33"/>
          <p:cNvSpPr/>
          <p:nvPr/>
        </p:nvSpPr>
        <p:spPr>
          <a:xfrm>
            <a:off x="3118104" y="3895344"/>
            <a:ext cx="1389888" cy="201168"/>
          </a:xfrm>
          <a:prstGeom prst="rect">
            <a:avLst/>
          </a:prstGeom>
          <a:noFill/>
          <a:ln/>
        </p:spPr>
        <p:txBody>
          <a:bodyPr wrap="square" lIns="0" tIns="0" rIns="0" bIns="0" rtlCol="0" anchor="ctr">
            <a:normAutofit/>
          </a:bodyPr>
          <a:lstStyle/>
          <a:p>
            <a:pPr algn="ctr" indent="0" marL="0">
              <a:buNone/>
            </a:pPr>
            <a:r>
              <a:rPr lang="en-US" sz="750" b="1" dirty="0">
                <a:solidFill>
                  <a:srgbClr val="1D4ED8"/>
                </a:solidFill>
                <a:latin typeface="Arial" pitchFamily="34" charset="0"/>
                <a:ea typeface="Arial" pitchFamily="34" charset="-122"/>
                <a:cs typeface="Arial" pitchFamily="34" charset="-120"/>
              </a:rPr>
              <a:t>CSV IMPORT</a:t>
            </a:r>
            <a:endParaRPr lang="en-US" sz="750" dirty="0"/>
          </a:p>
        </p:txBody>
      </p:sp>
      <p:sp>
        <p:nvSpPr>
          <p:cNvPr id="36" name="Shape 34"/>
          <p:cNvSpPr/>
          <p:nvPr/>
        </p:nvSpPr>
        <p:spPr>
          <a:xfrm>
            <a:off x="9235440" y="4498848"/>
            <a:ext cx="-7178040" cy="0"/>
          </a:xfrm>
          <a:prstGeom prst="line">
            <a:avLst/>
          </a:prstGeom>
          <a:noFill/>
          <a:ln w="19050">
            <a:solidFill>
              <a:srgbClr val="2563EB"/>
            </a:solidFill>
            <a:prstDash val="solid"/>
            <a:headEnd type="none"/>
            <a:tailEnd type="triangle"/>
          </a:ln>
        </p:spPr>
      </p:sp>
      <p:sp>
        <p:nvSpPr>
          <p:cNvPr id="37" name="Text 35"/>
          <p:cNvSpPr/>
          <p:nvPr/>
        </p:nvSpPr>
        <p:spPr>
          <a:xfrm>
            <a:off x="2240280" y="4736592"/>
            <a:ext cx="6903720" cy="658368"/>
          </a:xfrm>
          <a:prstGeom prst="rect">
            <a:avLst/>
          </a:prstGeom>
          <a:noFill/>
          <a:ln/>
        </p:spPr>
        <p:txBody>
          <a:bodyPr wrap="square" lIns="1016" tIns="1016" rIns="1016" bIns="1016" rtlCol="0" anchor="ctr">
            <a:normAutofit/>
          </a:bodyPr>
          <a:lstStyle/>
          <a:p>
            <a:pPr algn="ctr" indent="0" marL="0">
              <a:buNone/>
            </a:pPr>
            <a:r>
              <a:rPr lang="en-US" sz="1300" b="1" dirty="0">
                <a:solidFill>
                  <a:srgbClr val="0F172A"/>
                </a:solidFill>
                <a:latin typeface="Arial" pitchFamily="34" charset="0"/>
                <a:ea typeface="Arial" pitchFamily="34" charset="-122"/>
                <a:cs typeface="Arial" pitchFamily="34" charset="-120"/>
              </a:rPr>
              <a:t>Cancel, delete, or amend recalculates downstream values without erasing evidence.</a:t>
            </a:r>
            <a:endParaRPr lang="en-US" sz="1300" dirty="0"/>
          </a:p>
        </p:txBody>
      </p:sp>
      <p:sp>
        <p:nvSpPr>
          <p:cNvPr id="38" name="Shape 36"/>
          <p:cNvSpPr/>
          <p:nvPr/>
        </p:nvSpPr>
        <p:spPr>
          <a:xfrm>
            <a:off x="4224528" y="5532120"/>
            <a:ext cx="2103120" cy="292608"/>
          </a:xfrm>
          <a:prstGeom prst="roundRect">
            <a:avLst>
              <a:gd name="adj" fmla="val 25000"/>
            </a:avLst>
          </a:prstGeom>
          <a:solidFill>
            <a:srgbClr val="E2E8F0"/>
          </a:solidFill>
          <a:ln w="12700">
            <a:solidFill>
              <a:srgbClr val="E2E8F0"/>
            </a:solidFill>
            <a:prstDash val="solid"/>
          </a:ln>
        </p:spPr>
      </p:sp>
      <p:sp>
        <p:nvSpPr>
          <p:cNvPr id="39" name="Text 37"/>
          <p:cNvSpPr/>
          <p:nvPr/>
        </p:nvSpPr>
        <p:spPr>
          <a:xfrm>
            <a:off x="4224528" y="5550408"/>
            <a:ext cx="2103120" cy="201168"/>
          </a:xfrm>
          <a:prstGeom prst="rect">
            <a:avLst/>
          </a:prstGeom>
          <a:noFill/>
          <a:ln/>
        </p:spPr>
        <p:txBody>
          <a:bodyPr wrap="square" lIns="0" tIns="0" rIns="0" bIns="0" rtlCol="0" anchor="ctr">
            <a:normAutofit/>
          </a:bodyPr>
          <a:lstStyle/>
          <a:p>
            <a:pPr algn="ctr" indent="0" marL="0">
              <a:buNone/>
            </a:pPr>
            <a:r>
              <a:rPr lang="en-US" sz="750" b="1" dirty="0">
                <a:solidFill>
                  <a:srgbClr val="334155"/>
                </a:solidFill>
                <a:latin typeface="Arial" pitchFamily="34" charset="0"/>
                <a:ea typeface="Arial" pitchFamily="34" charset="-122"/>
                <a:cs typeface="Arial" pitchFamily="34" charset="-120"/>
              </a:rPr>
              <a:t>MYSQL = SYSTEM OF RECORD</a:t>
            </a:r>
            <a:endParaRPr lang="en-US" sz="75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DOMAIN INTEGRITY</a:t>
            </a:r>
            <a:endParaRPr lang="en-US" sz="800" dirty="0"/>
          </a:p>
        </p:txBody>
      </p:sp>
      <p:sp>
        <p:nvSpPr>
          <p:cNvPr id="3" name="Text 1"/>
          <p:cNvSpPr/>
          <p:nvPr/>
        </p:nvSpPr>
        <p:spPr>
          <a:xfrm>
            <a:off x="566928" y="585216"/>
            <a:ext cx="8595360" cy="530352"/>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Lifecycle and Business Invariants</a:t>
            </a:r>
            <a:endParaRPr lang="en-US" sz="2400" dirty="0"/>
          </a:p>
        </p:txBody>
      </p:sp>
      <p:sp>
        <p:nvSpPr>
          <p:cNvPr id="4" name="Text 2"/>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04</a:t>
            </a:r>
            <a:endParaRPr lang="en-US" sz="1800" dirty="0"/>
          </a:p>
        </p:txBody>
      </p:sp>
      <p:sp>
        <p:nvSpPr>
          <p:cNvPr id="5" name="Shape 3"/>
          <p:cNvSpPr/>
          <p:nvPr/>
        </p:nvSpPr>
        <p:spPr>
          <a:xfrm>
            <a:off x="685800" y="1874520"/>
            <a:ext cx="2148840" cy="1078992"/>
          </a:xfrm>
          <a:prstGeom prst="roundRect">
            <a:avLst>
              <a:gd name="adj" fmla="val 6780"/>
            </a:avLst>
          </a:prstGeom>
          <a:solidFill>
            <a:srgbClr val="EFF6FF"/>
          </a:solidFill>
          <a:ln w="10160">
            <a:solidFill>
              <a:srgbClr val="93C5FD"/>
            </a:solidFill>
            <a:prstDash val="solid"/>
          </a:ln>
          <a:effectLst>
            <a:outerShdw sx="100000" sy="100000" kx="0" ky="0" algn="bl" rotWithShape="0" blurRad="19050" dist="50800" dir="2700000">
              <a:srgbClr val="94A3B8">
                <a:alpha val="13000"/>
              </a:srgbClr>
            </a:outerShdw>
          </a:effectLst>
        </p:spPr>
      </p:sp>
      <p:sp>
        <p:nvSpPr>
          <p:cNvPr id="6" name="Text 4"/>
          <p:cNvSpPr/>
          <p:nvPr/>
        </p:nvSpPr>
        <p:spPr>
          <a:xfrm>
            <a:off x="960120" y="2103120"/>
            <a:ext cx="1600200" cy="594360"/>
          </a:xfrm>
          <a:prstGeom prst="rect">
            <a:avLst/>
          </a:prstGeom>
          <a:noFill/>
          <a:ln/>
        </p:spPr>
        <p:txBody>
          <a:bodyPr wrap="square" lIns="1016" tIns="1016" rIns="1016" bIns="1016" rtlCol="0" anchor="ctr">
            <a:normAutofit/>
          </a:bodyPr>
          <a:lstStyle/>
          <a:p>
            <a:pPr algn="ctr" indent="0" marL="0">
              <a:buNone/>
            </a:pPr>
            <a:r>
              <a:rPr lang="en-US" sz="1700" b="1" dirty="0">
                <a:solidFill>
                  <a:srgbClr val="1D4ED8"/>
                </a:solidFill>
                <a:latin typeface="Arial" pitchFamily="34" charset="0"/>
                <a:ea typeface="Arial" pitchFamily="34" charset="-122"/>
                <a:cs typeface="Arial" pitchFamily="34" charset="-120"/>
              </a:rPr>
              <a:t>BOOKED</a:t>
            </a:r>
            <a:endParaRPr lang="en-US" sz="1700" dirty="0"/>
          </a:p>
          <a:p>
            <a:pPr algn="ctr" indent="0" marL="0">
              <a:buNone/>
            </a:pPr>
            <a:r>
              <a:rPr lang="en-US" sz="1700" b="1" dirty="0">
                <a:solidFill>
                  <a:srgbClr val="1D4ED8"/>
                </a:solidFill>
                <a:latin typeface="Arial" pitchFamily="34" charset="0"/>
                <a:ea typeface="Arial" pitchFamily="34" charset="-122"/>
                <a:cs typeface="Arial" pitchFamily="34" charset="-120"/>
              </a:rPr>
              <a:t>Valid business fact</a:t>
            </a:r>
            <a:endParaRPr lang="en-US" sz="1700" dirty="0"/>
          </a:p>
        </p:txBody>
      </p:sp>
      <p:sp>
        <p:nvSpPr>
          <p:cNvPr id="7" name="Shape 5"/>
          <p:cNvSpPr/>
          <p:nvPr/>
        </p:nvSpPr>
        <p:spPr>
          <a:xfrm>
            <a:off x="2971800" y="2404872"/>
            <a:ext cx="914400" cy="0"/>
          </a:xfrm>
          <a:prstGeom prst="line">
            <a:avLst/>
          </a:prstGeom>
          <a:noFill/>
          <a:ln w="25400">
            <a:solidFill>
              <a:srgbClr val="2563EB"/>
            </a:solidFill>
            <a:prstDash val="solid"/>
            <a:headEnd type="none"/>
            <a:tailEnd type="triangle"/>
          </a:ln>
        </p:spPr>
      </p:sp>
      <p:sp>
        <p:nvSpPr>
          <p:cNvPr id="8" name="Shape 6"/>
          <p:cNvSpPr/>
          <p:nvPr/>
        </p:nvSpPr>
        <p:spPr>
          <a:xfrm>
            <a:off x="4023360" y="1874520"/>
            <a:ext cx="2148840" cy="1078992"/>
          </a:xfrm>
          <a:prstGeom prst="roundRect">
            <a:avLst>
              <a:gd name="adj" fmla="val 6780"/>
            </a:avLst>
          </a:prstGeom>
          <a:solidFill>
            <a:srgbClr val="FFF7ED"/>
          </a:solidFill>
          <a:ln w="10160">
            <a:solidFill>
              <a:srgbClr val="FED7AA"/>
            </a:solidFill>
            <a:prstDash val="solid"/>
          </a:ln>
          <a:effectLst>
            <a:outerShdw sx="100000" sy="100000" kx="0" ky="0" algn="bl" rotWithShape="0" blurRad="19050" dist="50800" dir="2700000">
              <a:srgbClr val="94A3B8">
                <a:alpha val="13000"/>
              </a:srgbClr>
            </a:outerShdw>
          </a:effectLst>
        </p:spPr>
      </p:sp>
      <p:sp>
        <p:nvSpPr>
          <p:cNvPr id="9" name="Text 7"/>
          <p:cNvSpPr/>
          <p:nvPr/>
        </p:nvSpPr>
        <p:spPr>
          <a:xfrm>
            <a:off x="4279392" y="2103120"/>
            <a:ext cx="1645920" cy="594360"/>
          </a:xfrm>
          <a:prstGeom prst="rect">
            <a:avLst/>
          </a:prstGeom>
          <a:noFill/>
          <a:ln/>
        </p:spPr>
        <p:txBody>
          <a:bodyPr wrap="square" lIns="1016" tIns="1016" rIns="1016" bIns="1016" rtlCol="0" anchor="ctr">
            <a:normAutofit/>
          </a:bodyPr>
          <a:lstStyle/>
          <a:p>
            <a:pPr algn="ctr" indent="0" marL="0">
              <a:buNone/>
            </a:pPr>
            <a:r>
              <a:rPr lang="en-US" sz="1700" b="1" dirty="0">
                <a:solidFill>
                  <a:srgbClr val="D97706"/>
                </a:solidFill>
                <a:latin typeface="Arial" pitchFamily="34" charset="0"/>
                <a:ea typeface="Arial" pitchFamily="34" charset="-122"/>
                <a:cs typeface="Arial" pitchFamily="34" charset="-120"/>
              </a:rPr>
              <a:t>CANCELLED</a:t>
            </a:r>
            <a:endParaRPr lang="en-US" sz="1700" dirty="0"/>
          </a:p>
          <a:p>
            <a:pPr algn="ctr" indent="0" marL="0">
              <a:buNone/>
            </a:pPr>
            <a:r>
              <a:rPr lang="en-US" sz="1700" b="1" dirty="0">
                <a:solidFill>
                  <a:srgbClr val="D97706"/>
                </a:solidFill>
                <a:latin typeface="Arial" pitchFamily="34" charset="0"/>
                <a:ea typeface="Arial" pitchFamily="34" charset="-122"/>
                <a:cs typeface="Arial" pitchFamily="34" charset="-120"/>
              </a:rPr>
              <a:t>Reason is recorded</a:t>
            </a:r>
            <a:endParaRPr lang="en-US" sz="1700" dirty="0"/>
          </a:p>
        </p:txBody>
      </p:sp>
      <p:sp>
        <p:nvSpPr>
          <p:cNvPr id="10" name="Shape 8"/>
          <p:cNvSpPr/>
          <p:nvPr/>
        </p:nvSpPr>
        <p:spPr>
          <a:xfrm>
            <a:off x="6309360" y="2404872"/>
            <a:ext cx="914400" cy="0"/>
          </a:xfrm>
          <a:prstGeom prst="line">
            <a:avLst/>
          </a:prstGeom>
          <a:noFill/>
          <a:ln w="25400">
            <a:solidFill>
              <a:srgbClr val="D97706"/>
            </a:solidFill>
            <a:prstDash val="solid"/>
            <a:headEnd type="none"/>
            <a:tailEnd type="triangle"/>
          </a:ln>
        </p:spPr>
      </p:sp>
      <p:sp>
        <p:nvSpPr>
          <p:cNvPr id="11" name="Shape 9"/>
          <p:cNvSpPr/>
          <p:nvPr/>
        </p:nvSpPr>
        <p:spPr>
          <a:xfrm>
            <a:off x="7360920" y="1874520"/>
            <a:ext cx="4023360" cy="1078992"/>
          </a:xfrm>
          <a:prstGeom prst="roundRect">
            <a:avLst>
              <a:gd name="adj" fmla="val 6780"/>
            </a:avLst>
          </a:prstGeom>
          <a:solidFill>
            <a:srgbClr val="FFFFFF"/>
          </a:solidFill>
          <a:ln w="10160">
            <a:solidFill>
              <a:srgbClr val="CBD5E1"/>
            </a:solidFill>
            <a:prstDash val="solid"/>
          </a:ln>
          <a:effectLst>
            <a:outerShdw sx="100000" sy="100000" kx="0" ky="0" algn="bl" rotWithShape="0" blurRad="19050" dist="50800" dir="2700000">
              <a:srgbClr val="94A3B8">
                <a:alpha val="13000"/>
              </a:srgbClr>
            </a:outerShdw>
          </a:effectLst>
        </p:spPr>
      </p:sp>
      <p:sp>
        <p:nvSpPr>
          <p:cNvPr id="12" name="Text 10"/>
          <p:cNvSpPr/>
          <p:nvPr/>
        </p:nvSpPr>
        <p:spPr>
          <a:xfrm>
            <a:off x="7635240" y="2039112"/>
            <a:ext cx="3474720" cy="713232"/>
          </a:xfrm>
          <a:prstGeom prst="rect">
            <a:avLst/>
          </a:prstGeom>
          <a:noFill/>
          <a:ln/>
        </p:spPr>
        <p:txBody>
          <a:bodyPr wrap="square" lIns="1016" tIns="1016" rIns="1016" bIns="1016" rtlCol="0" anchor="ctr">
            <a:normAutofit/>
          </a:bodyPr>
          <a:lstStyle/>
          <a:p>
            <a:pPr algn="ctr" indent="0" marL="0">
              <a:buNone/>
            </a:pPr>
            <a:r>
              <a:rPr lang="en-US" sz="1300" b="1" dirty="0">
                <a:solidFill>
                  <a:srgbClr val="0F172A"/>
                </a:solidFill>
                <a:latin typeface="Arial" pitchFamily="34" charset="0"/>
                <a:ea typeface="Arial" pitchFamily="34" charset="-122"/>
                <a:cs typeface="Arial" pitchFamily="34" charset="-120"/>
              </a:rPr>
              <a:t>Reasons: CANCELLED / DELETED / AMENDED</a:t>
            </a:r>
            <a:endParaRPr lang="en-US" sz="1300" dirty="0"/>
          </a:p>
          <a:p>
            <a:pPr algn="ctr" indent="0" marL="0">
              <a:buNone/>
            </a:pPr>
            <a:r>
              <a:rPr lang="en-US" sz="1300" b="1" dirty="0">
                <a:solidFill>
                  <a:srgbClr val="0F172A"/>
                </a:solidFill>
                <a:latin typeface="Arial" pitchFamily="34" charset="0"/>
                <a:ea typeface="Arial" pitchFamily="34" charset="-122"/>
                <a:cs typeface="Arial" pitchFamily="34" charset="-120"/>
              </a:rPr>
              <a:t>Amendment links a replacement via supersedesTradeId</a:t>
            </a:r>
            <a:endParaRPr lang="en-US" sz="1300" dirty="0"/>
          </a:p>
        </p:txBody>
      </p:sp>
      <p:sp>
        <p:nvSpPr>
          <p:cNvPr id="13" name="Text 11"/>
          <p:cNvSpPr/>
          <p:nvPr/>
        </p:nvSpPr>
        <p:spPr>
          <a:xfrm>
            <a:off x="704088" y="3730752"/>
            <a:ext cx="594360" cy="594360"/>
          </a:xfrm>
          <a:prstGeom prst="rect">
            <a:avLst/>
          </a:prstGeom>
          <a:noFill/>
          <a:ln/>
        </p:spPr>
        <p:txBody>
          <a:bodyPr wrap="square" lIns="0" tIns="0" rIns="0" bIns="0" rtlCol="0" anchor="ctr"/>
          <a:lstStyle/>
          <a:p>
            <a:pPr algn="ctr" indent="0" marL="0">
              <a:buNone/>
            </a:pPr>
            <a:r>
              <a:rPr lang="en-US" sz="3300" b="1" dirty="0">
                <a:solidFill>
                  <a:srgbClr val="2563EB"/>
                </a:solidFill>
                <a:latin typeface="Arial" pitchFamily="34" charset="0"/>
                <a:ea typeface="Arial" pitchFamily="34" charset="-122"/>
                <a:cs typeface="Arial" pitchFamily="34" charset="-120"/>
              </a:rPr>
              <a:t>3</a:t>
            </a:r>
            <a:endParaRPr lang="en-US" sz="3300" dirty="0"/>
          </a:p>
        </p:txBody>
      </p:sp>
      <p:sp>
        <p:nvSpPr>
          <p:cNvPr id="14" name="Text 12"/>
          <p:cNvSpPr/>
          <p:nvPr/>
        </p:nvSpPr>
        <p:spPr>
          <a:xfrm>
            <a:off x="1417320" y="3703320"/>
            <a:ext cx="2423160" cy="566928"/>
          </a:xfrm>
          <a:prstGeom prst="rect">
            <a:avLst/>
          </a:prstGeom>
          <a:noFill/>
          <a:ln/>
        </p:spPr>
        <p:txBody>
          <a:bodyPr wrap="square" lIns="1016" tIns="1016" rIns="1016" bIns="1016" rtlCol="0" anchor="ctr">
            <a:normAutofit/>
          </a:bodyPr>
          <a:lstStyle/>
          <a:p>
            <a:pPr algn="l" indent="0" marL="0">
              <a:buNone/>
            </a:pPr>
            <a:r>
              <a:rPr lang="en-US" sz="1600" b="1" dirty="0">
                <a:solidFill>
                  <a:srgbClr val="0F172A"/>
                </a:solidFill>
                <a:latin typeface="Arial" pitchFamily="34" charset="0"/>
                <a:ea typeface="Arial" pitchFamily="34" charset="-122"/>
                <a:cs typeface="Arial" pitchFamily="34" charset="-120"/>
              </a:rPr>
              <a:t>Non-negotiable invariants</a:t>
            </a:r>
            <a:endParaRPr lang="en-US" sz="1600" dirty="0"/>
          </a:p>
        </p:txBody>
      </p:sp>
      <p:sp>
        <p:nvSpPr>
          <p:cNvPr id="15" name="Shape 13"/>
          <p:cNvSpPr/>
          <p:nvPr/>
        </p:nvSpPr>
        <p:spPr>
          <a:xfrm>
            <a:off x="713232" y="4498848"/>
            <a:ext cx="3438144" cy="987552"/>
          </a:xfrm>
          <a:prstGeom prst="roundRect">
            <a:avLst>
              <a:gd name="adj" fmla="val 740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6" name="Shape 14"/>
          <p:cNvSpPr/>
          <p:nvPr/>
        </p:nvSpPr>
        <p:spPr>
          <a:xfrm>
            <a:off x="941832" y="4782312"/>
            <a:ext cx="365760" cy="365760"/>
          </a:xfrm>
          <a:prstGeom prst="ellipse">
            <a:avLst/>
          </a:prstGeom>
          <a:solidFill>
            <a:srgbClr val="DCFCE7"/>
          </a:solidFill>
          <a:ln w="12700">
            <a:solidFill>
              <a:srgbClr val="DCFCE7"/>
            </a:solidFill>
            <a:prstDash val="solid"/>
          </a:ln>
        </p:spPr>
      </p:sp>
      <p:sp>
        <p:nvSpPr>
          <p:cNvPr id="17" name="Text 15"/>
          <p:cNvSpPr/>
          <p:nvPr/>
        </p:nvSpPr>
        <p:spPr>
          <a:xfrm>
            <a:off x="941832" y="4846320"/>
            <a:ext cx="365760" cy="164592"/>
          </a:xfrm>
          <a:prstGeom prst="rect">
            <a:avLst/>
          </a:prstGeom>
          <a:noFill/>
          <a:ln/>
        </p:spPr>
        <p:txBody>
          <a:bodyPr wrap="square" lIns="0" tIns="0" rIns="0" bIns="0" rtlCol="0" anchor="ctr"/>
          <a:lstStyle/>
          <a:p>
            <a:pPr algn="ctr" indent="0" marL="0">
              <a:buNone/>
            </a:pPr>
            <a:r>
              <a:rPr lang="en-US" sz="900" b="1" dirty="0">
                <a:solidFill>
                  <a:srgbClr val="15803D"/>
                </a:solidFill>
                <a:latin typeface="Arial" pitchFamily="34" charset="0"/>
                <a:ea typeface="Arial" pitchFamily="34" charset="-122"/>
                <a:cs typeface="Arial" pitchFamily="34" charset="-120"/>
              </a:rPr>
              <a:t>✓</a:t>
            </a:r>
            <a:endParaRPr lang="en-US" sz="900" dirty="0"/>
          </a:p>
        </p:txBody>
      </p:sp>
      <p:sp>
        <p:nvSpPr>
          <p:cNvPr id="18" name="Text 16"/>
          <p:cNvSpPr/>
          <p:nvPr/>
        </p:nvSpPr>
        <p:spPr>
          <a:xfrm>
            <a:off x="1426464" y="4645152"/>
            <a:ext cx="2468880" cy="62179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latin typeface="Arial" pitchFamily="34" charset="0"/>
                <a:ea typeface="Arial" pitchFamily="34" charset="-122"/>
                <a:cs typeface="Arial" pitchFamily="34" charset="-120"/>
              </a:rPr>
              <a:t>Idempotent cancellation</a:t>
            </a:r>
            <a:endParaRPr lang="en-US" sz="1300" dirty="0"/>
          </a:p>
        </p:txBody>
      </p:sp>
      <p:sp>
        <p:nvSpPr>
          <p:cNvPr id="19" name="Shape 17"/>
          <p:cNvSpPr/>
          <p:nvPr/>
        </p:nvSpPr>
        <p:spPr>
          <a:xfrm>
            <a:off x="4489704" y="4498848"/>
            <a:ext cx="3438144" cy="987552"/>
          </a:xfrm>
          <a:prstGeom prst="roundRect">
            <a:avLst>
              <a:gd name="adj" fmla="val 7407"/>
            </a:avLst>
          </a:prstGeom>
          <a:solidFill>
            <a:srgbClr val="EFF6FF"/>
          </a:solidFill>
          <a:ln w="10160">
            <a:solidFill>
              <a:srgbClr val="93C5FD"/>
            </a:solidFill>
            <a:prstDash val="solid"/>
          </a:ln>
          <a:effectLst>
            <a:outerShdw sx="100000" sy="100000" kx="0" ky="0" algn="bl" rotWithShape="0" blurRad="19050" dist="50800" dir="2700000">
              <a:srgbClr val="94A3B8">
                <a:alpha val="13000"/>
              </a:srgbClr>
            </a:outerShdw>
          </a:effectLst>
        </p:spPr>
      </p:sp>
      <p:sp>
        <p:nvSpPr>
          <p:cNvPr id="20" name="Shape 18"/>
          <p:cNvSpPr/>
          <p:nvPr/>
        </p:nvSpPr>
        <p:spPr>
          <a:xfrm>
            <a:off x="4718304" y="4782312"/>
            <a:ext cx="365760" cy="365760"/>
          </a:xfrm>
          <a:prstGeom prst="ellipse">
            <a:avLst/>
          </a:prstGeom>
          <a:solidFill>
            <a:srgbClr val="DCFCE7"/>
          </a:solidFill>
          <a:ln w="12700">
            <a:solidFill>
              <a:srgbClr val="DCFCE7"/>
            </a:solidFill>
            <a:prstDash val="solid"/>
          </a:ln>
        </p:spPr>
      </p:sp>
      <p:sp>
        <p:nvSpPr>
          <p:cNvPr id="21" name="Text 19"/>
          <p:cNvSpPr/>
          <p:nvPr/>
        </p:nvSpPr>
        <p:spPr>
          <a:xfrm>
            <a:off x="4718304" y="4846320"/>
            <a:ext cx="365760" cy="164592"/>
          </a:xfrm>
          <a:prstGeom prst="rect">
            <a:avLst/>
          </a:prstGeom>
          <a:noFill/>
          <a:ln/>
        </p:spPr>
        <p:txBody>
          <a:bodyPr wrap="square" lIns="0" tIns="0" rIns="0" bIns="0" rtlCol="0" anchor="ctr"/>
          <a:lstStyle/>
          <a:p>
            <a:pPr algn="ctr" indent="0" marL="0">
              <a:buNone/>
            </a:pPr>
            <a:r>
              <a:rPr lang="en-US" sz="900" b="1" dirty="0">
                <a:solidFill>
                  <a:srgbClr val="15803D"/>
                </a:solidFill>
                <a:latin typeface="Arial" pitchFamily="34" charset="0"/>
                <a:ea typeface="Arial" pitchFamily="34" charset="-122"/>
                <a:cs typeface="Arial" pitchFamily="34" charset="-120"/>
              </a:rPr>
              <a:t>✓</a:t>
            </a:r>
            <a:endParaRPr lang="en-US" sz="900" dirty="0"/>
          </a:p>
        </p:txBody>
      </p:sp>
      <p:sp>
        <p:nvSpPr>
          <p:cNvPr id="22" name="Text 20"/>
          <p:cNvSpPr/>
          <p:nvPr/>
        </p:nvSpPr>
        <p:spPr>
          <a:xfrm>
            <a:off x="5202936" y="4645152"/>
            <a:ext cx="2468880" cy="62179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latin typeface="Arial" pitchFamily="34" charset="0"/>
                <a:ea typeface="Arial" pitchFamily="34" charset="-122"/>
                <a:cs typeface="Arial" pitchFamily="34" charset="-120"/>
              </a:rPr>
              <a:t>No negative point in time</a:t>
            </a:r>
            <a:endParaRPr lang="en-US" sz="1300" dirty="0"/>
          </a:p>
        </p:txBody>
      </p:sp>
      <p:sp>
        <p:nvSpPr>
          <p:cNvPr id="23" name="Shape 21"/>
          <p:cNvSpPr/>
          <p:nvPr/>
        </p:nvSpPr>
        <p:spPr>
          <a:xfrm>
            <a:off x="8266176" y="4498848"/>
            <a:ext cx="3438144" cy="987552"/>
          </a:xfrm>
          <a:prstGeom prst="roundRect">
            <a:avLst>
              <a:gd name="adj" fmla="val 740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4" name="Shape 22"/>
          <p:cNvSpPr/>
          <p:nvPr/>
        </p:nvSpPr>
        <p:spPr>
          <a:xfrm>
            <a:off x="8494776" y="4782312"/>
            <a:ext cx="365760" cy="365760"/>
          </a:xfrm>
          <a:prstGeom prst="ellipse">
            <a:avLst/>
          </a:prstGeom>
          <a:solidFill>
            <a:srgbClr val="DCFCE7"/>
          </a:solidFill>
          <a:ln w="12700">
            <a:solidFill>
              <a:srgbClr val="DCFCE7"/>
            </a:solidFill>
            <a:prstDash val="solid"/>
          </a:ln>
        </p:spPr>
      </p:sp>
      <p:sp>
        <p:nvSpPr>
          <p:cNvPr id="25" name="Text 23"/>
          <p:cNvSpPr/>
          <p:nvPr/>
        </p:nvSpPr>
        <p:spPr>
          <a:xfrm>
            <a:off x="8494776" y="4846320"/>
            <a:ext cx="365760" cy="164592"/>
          </a:xfrm>
          <a:prstGeom prst="rect">
            <a:avLst/>
          </a:prstGeom>
          <a:noFill/>
          <a:ln/>
        </p:spPr>
        <p:txBody>
          <a:bodyPr wrap="square" lIns="0" tIns="0" rIns="0" bIns="0" rtlCol="0" anchor="ctr"/>
          <a:lstStyle/>
          <a:p>
            <a:pPr algn="ctr" indent="0" marL="0">
              <a:buNone/>
            </a:pPr>
            <a:r>
              <a:rPr lang="en-US" sz="900" b="1" dirty="0">
                <a:solidFill>
                  <a:srgbClr val="15803D"/>
                </a:solidFill>
                <a:latin typeface="Arial" pitchFamily="34" charset="0"/>
                <a:ea typeface="Arial" pitchFamily="34" charset="-122"/>
                <a:cs typeface="Arial" pitchFamily="34" charset="-120"/>
              </a:rPr>
              <a:t>✓</a:t>
            </a:r>
            <a:endParaRPr lang="en-US" sz="900" dirty="0"/>
          </a:p>
        </p:txBody>
      </p:sp>
      <p:sp>
        <p:nvSpPr>
          <p:cNvPr id="26" name="Text 24"/>
          <p:cNvSpPr/>
          <p:nvPr/>
        </p:nvSpPr>
        <p:spPr>
          <a:xfrm>
            <a:off x="8979408" y="4645152"/>
            <a:ext cx="2468880" cy="62179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latin typeface="Arial" pitchFamily="34" charset="0"/>
                <a:ea typeface="Arial" pitchFamily="34" charset="-122"/>
                <a:cs typeface="Arial" pitchFamily="34" charset="-120"/>
              </a:rPr>
              <a:t>Only BOOKED trades count</a:t>
            </a:r>
            <a:endParaRPr lang="en-US" sz="130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CALCULATION MODEL</a:t>
            </a:r>
            <a:endParaRPr lang="en-US" sz="800" dirty="0"/>
          </a:p>
        </p:txBody>
      </p:sp>
      <p:sp>
        <p:nvSpPr>
          <p:cNvPr id="3" name="Text 1"/>
          <p:cNvSpPr/>
          <p:nvPr/>
        </p:nvSpPr>
        <p:spPr>
          <a:xfrm>
            <a:off x="566928" y="585216"/>
            <a:ext cx="8595360" cy="530352"/>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Position and P&amp;L Calculation</a:t>
            </a:r>
            <a:endParaRPr lang="en-US" sz="2400" dirty="0"/>
          </a:p>
        </p:txBody>
      </p:sp>
      <p:sp>
        <p:nvSpPr>
          <p:cNvPr id="4" name="Text 2"/>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05</a:t>
            </a:r>
            <a:endParaRPr lang="en-US" sz="1800" dirty="0"/>
          </a:p>
        </p:txBody>
      </p:sp>
      <p:sp>
        <p:nvSpPr>
          <p:cNvPr id="5" name="Shape 3"/>
          <p:cNvSpPr/>
          <p:nvPr/>
        </p:nvSpPr>
        <p:spPr>
          <a:xfrm>
            <a:off x="658368" y="1508760"/>
            <a:ext cx="4754880" cy="4434840"/>
          </a:xfrm>
          <a:prstGeom prst="roundRect">
            <a:avLst>
              <a:gd name="adj" fmla="val 1649"/>
            </a:avLst>
          </a:prstGeom>
          <a:solidFill>
            <a:srgbClr val="0F172A"/>
          </a:solidFill>
          <a:ln w="10160">
            <a:solidFill>
              <a:srgbClr val="0F172A"/>
            </a:solidFill>
            <a:prstDash val="solid"/>
          </a:ln>
          <a:effectLst>
            <a:outerShdw sx="100000" sy="100000" kx="0" ky="0" algn="bl" rotWithShape="0" blurRad="19050" dist="50800" dir="2700000">
              <a:srgbClr val="94A3B8">
                <a:alpha val="13000"/>
              </a:srgbClr>
            </a:outerShdw>
          </a:effectLst>
        </p:spPr>
      </p:sp>
      <p:sp>
        <p:nvSpPr>
          <p:cNvPr id="6" name="Text 4"/>
          <p:cNvSpPr/>
          <p:nvPr/>
        </p:nvSpPr>
        <p:spPr>
          <a:xfrm>
            <a:off x="960120" y="1810512"/>
            <a:ext cx="3291840" cy="228600"/>
          </a:xfrm>
          <a:prstGeom prst="rect">
            <a:avLst/>
          </a:prstGeom>
          <a:noFill/>
          <a:ln/>
        </p:spPr>
        <p:txBody>
          <a:bodyPr wrap="square" lIns="0" tIns="0" rIns="0" bIns="0" rtlCol="0" anchor="ctr"/>
          <a:lstStyle/>
          <a:p>
            <a:pPr indent="0" marL="0">
              <a:buNone/>
            </a:pPr>
            <a:r>
              <a:rPr lang="en-US" sz="900" b="1" spc="120" kern="0" dirty="0">
                <a:solidFill>
                  <a:srgbClr val="93C5FD"/>
                </a:solidFill>
                <a:latin typeface="Arial" pitchFamily="34" charset="0"/>
                <a:ea typeface="Arial" pitchFamily="34" charset="-122"/>
                <a:cs typeface="Arial" pitchFamily="34" charset="-120"/>
              </a:rPr>
              <a:t>WEIGHTED-AVERAGE COST</a:t>
            </a:r>
            <a:endParaRPr lang="en-US" sz="900" dirty="0"/>
          </a:p>
        </p:txBody>
      </p:sp>
      <p:sp>
        <p:nvSpPr>
          <p:cNvPr id="7" name="Text 5"/>
          <p:cNvSpPr/>
          <p:nvPr/>
        </p:nvSpPr>
        <p:spPr>
          <a:xfrm>
            <a:off x="960120" y="2212848"/>
            <a:ext cx="4114800" cy="594360"/>
          </a:xfrm>
          <a:prstGeom prst="rect">
            <a:avLst/>
          </a:prstGeom>
          <a:noFill/>
          <a:ln/>
        </p:spPr>
        <p:txBody>
          <a:bodyPr wrap="square" lIns="1016" tIns="1016" rIns="1016" bIns="1016" rtlCol="0" anchor="ctr">
            <a:normAutofit/>
          </a:bodyPr>
          <a:lstStyle/>
          <a:p>
            <a:pPr algn="l" indent="0" marL="0">
              <a:buNone/>
            </a:pPr>
            <a:r>
              <a:rPr lang="en-US" sz="1500" b="1" dirty="0">
                <a:solidFill>
                  <a:srgbClr val="FFFFFF"/>
                </a:solidFill>
                <a:latin typeface="Arial" pitchFamily="34" charset="0"/>
                <a:ea typeface="Arial" pitchFamily="34" charset="-122"/>
                <a:cs typeface="Arial" pitchFamily="34" charset="-120"/>
              </a:rPr>
              <a:t>BUY increases quantity and cost basis</a:t>
            </a:r>
            <a:endParaRPr lang="en-US" sz="1500" dirty="0"/>
          </a:p>
        </p:txBody>
      </p:sp>
      <p:sp>
        <p:nvSpPr>
          <p:cNvPr id="8" name="Text 6"/>
          <p:cNvSpPr/>
          <p:nvPr/>
        </p:nvSpPr>
        <p:spPr>
          <a:xfrm>
            <a:off x="960120" y="2971800"/>
            <a:ext cx="4114800" cy="658368"/>
          </a:xfrm>
          <a:prstGeom prst="rect">
            <a:avLst/>
          </a:prstGeom>
          <a:noFill/>
          <a:ln/>
        </p:spPr>
        <p:txBody>
          <a:bodyPr wrap="square" lIns="1016" tIns="1016" rIns="1016" bIns="1016" rtlCol="0" anchor="ctr">
            <a:normAutofit/>
          </a:bodyPr>
          <a:lstStyle/>
          <a:p>
            <a:pPr algn="l" indent="0" marL="0">
              <a:buNone/>
            </a:pPr>
            <a:r>
              <a:rPr lang="en-US" sz="1500" b="1" dirty="0">
                <a:solidFill>
                  <a:srgbClr val="FFFFFF"/>
                </a:solidFill>
                <a:latin typeface="Arial" pitchFamily="34" charset="0"/>
                <a:ea typeface="Arial" pitchFamily="34" charset="-122"/>
                <a:cs typeface="Arial" pitchFamily="34" charset="-120"/>
              </a:rPr>
              <a:t>SELL reduces cost basis at the current average cost</a:t>
            </a:r>
            <a:endParaRPr lang="en-US" sz="1500" dirty="0"/>
          </a:p>
        </p:txBody>
      </p:sp>
      <p:sp>
        <p:nvSpPr>
          <p:cNvPr id="9" name="Shape 7"/>
          <p:cNvSpPr/>
          <p:nvPr/>
        </p:nvSpPr>
        <p:spPr>
          <a:xfrm>
            <a:off x="960120" y="3822192"/>
            <a:ext cx="4041648" cy="0"/>
          </a:xfrm>
          <a:prstGeom prst="line">
            <a:avLst/>
          </a:prstGeom>
          <a:noFill/>
          <a:ln w="12700">
            <a:solidFill>
              <a:srgbClr val="334155"/>
            </a:solidFill>
            <a:prstDash val="solid"/>
          </a:ln>
        </p:spPr>
      </p:sp>
      <p:sp>
        <p:nvSpPr>
          <p:cNvPr id="10" name="Text 8"/>
          <p:cNvSpPr/>
          <p:nvPr/>
        </p:nvSpPr>
        <p:spPr>
          <a:xfrm>
            <a:off x="960120" y="4096512"/>
            <a:ext cx="4114800" cy="320040"/>
          </a:xfrm>
          <a:prstGeom prst="rect">
            <a:avLst/>
          </a:prstGeom>
          <a:noFill/>
          <a:ln/>
        </p:spPr>
        <p:txBody>
          <a:bodyPr wrap="square" lIns="0" tIns="0" rIns="0" bIns="0" rtlCol="0" anchor="ctr"/>
          <a:lstStyle/>
          <a:p>
            <a:pPr indent="0" marL="0">
              <a:buNone/>
            </a:pPr>
            <a:r>
              <a:rPr lang="en-US" sz="1400" b="1" dirty="0">
                <a:solidFill>
                  <a:srgbClr val="BFDBFE"/>
                </a:solidFill>
                <a:latin typeface="Arial" pitchFamily="34" charset="0"/>
                <a:ea typeface="Arial" pitchFamily="34" charset="-122"/>
                <a:cs typeface="Arial" pitchFamily="34" charset="-120"/>
              </a:rPr>
              <a:t>marketValue = quantity × marketPrice</a:t>
            </a:r>
            <a:endParaRPr lang="en-US" sz="1400" dirty="0"/>
          </a:p>
        </p:txBody>
      </p:sp>
      <p:sp>
        <p:nvSpPr>
          <p:cNvPr id="11" name="Text 9"/>
          <p:cNvSpPr/>
          <p:nvPr/>
        </p:nvSpPr>
        <p:spPr>
          <a:xfrm>
            <a:off x="960120" y="4617720"/>
            <a:ext cx="4114800" cy="320040"/>
          </a:xfrm>
          <a:prstGeom prst="rect">
            <a:avLst/>
          </a:prstGeom>
          <a:noFill/>
          <a:ln/>
        </p:spPr>
        <p:txBody>
          <a:bodyPr wrap="square" lIns="0" tIns="0" rIns="0" bIns="0" rtlCol="0" anchor="ctr"/>
          <a:lstStyle/>
          <a:p>
            <a:pPr indent="0" marL="0">
              <a:buNone/>
            </a:pPr>
            <a:r>
              <a:rPr lang="en-US" sz="1400" b="1" dirty="0">
                <a:solidFill>
                  <a:srgbClr val="BFDBFE"/>
                </a:solidFill>
                <a:latin typeface="Arial" pitchFamily="34" charset="0"/>
                <a:ea typeface="Arial" pitchFamily="34" charset="-122"/>
                <a:cs typeface="Arial" pitchFamily="34" charset="-120"/>
              </a:rPr>
              <a:t>unrealizedPnl = marketValue − costBasis</a:t>
            </a:r>
            <a:endParaRPr lang="en-US" sz="1400" dirty="0"/>
          </a:p>
        </p:txBody>
      </p:sp>
      <p:sp>
        <p:nvSpPr>
          <p:cNvPr id="12" name="Text 10"/>
          <p:cNvSpPr/>
          <p:nvPr/>
        </p:nvSpPr>
        <p:spPr>
          <a:xfrm>
            <a:off x="960120" y="5138928"/>
            <a:ext cx="4114800" cy="320040"/>
          </a:xfrm>
          <a:prstGeom prst="rect">
            <a:avLst/>
          </a:prstGeom>
          <a:noFill/>
          <a:ln/>
        </p:spPr>
        <p:txBody>
          <a:bodyPr wrap="square" lIns="0" tIns="0" rIns="0" bIns="0" rtlCol="0" anchor="ctr">
            <a:normAutofit/>
          </a:bodyPr>
          <a:lstStyle/>
          <a:p>
            <a:pPr indent="0" marL="0">
              <a:buNone/>
            </a:pPr>
            <a:r>
              <a:rPr lang="en-US" sz="1300" b="1" dirty="0">
                <a:solidFill>
                  <a:srgbClr val="BFDBFE"/>
                </a:solidFill>
                <a:latin typeface="Arial" pitchFamily="34" charset="0"/>
                <a:ea typeface="Arial" pitchFamily="34" charset="-122"/>
                <a:cs typeface="Arial" pitchFamily="34" charset="-120"/>
              </a:rPr>
              <a:t>pnlPercent = unrealizedPnl ÷ costBasis × 100</a:t>
            </a:r>
            <a:endParaRPr lang="en-US" sz="1300" dirty="0"/>
          </a:p>
        </p:txBody>
      </p:sp>
      <p:sp>
        <p:nvSpPr>
          <p:cNvPr id="13" name="Text 11"/>
          <p:cNvSpPr/>
          <p:nvPr/>
        </p:nvSpPr>
        <p:spPr>
          <a:xfrm>
            <a:off x="5897880" y="1554480"/>
            <a:ext cx="3291840" cy="256032"/>
          </a:xfrm>
          <a:prstGeom prst="rect">
            <a:avLst/>
          </a:prstGeom>
          <a:noFill/>
          <a:ln/>
        </p:spPr>
        <p:txBody>
          <a:bodyPr wrap="square" lIns="0" tIns="0" rIns="0" bIns="0" rtlCol="0" anchor="ctr"/>
          <a:lstStyle/>
          <a:p>
            <a:pPr indent="0" marL="0">
              <a:buNone/>
            </a:pPr>
            <a:r>
              <a:rPr lang="en-US" sz="1000" b="1" spc="110" kern="0" dirty="0">
                <a:solidFill>
                  <a:srgbClr val="2563EB"/>
                </a:solidFill>
                <a:latin typeface="Arial" pitchFamily="34" charset="0"/>
                <a:ea typeface="Arial" pitchFamily="34" charset="-122"/>
                <a:cs typeface="Arial" pitchFamily="34" charset="-120"/>
              </a:rPr>
              <a:t>AAPL  ·  DEMO GROWTH</a:t>
            </a:r>
            <a:endParaRPr lang="en-US" sz="1000" dirty="0"/>
          </a:p>
        </p:txBody>
      </p:sp>
      <p:sp>
        <p:nvSpPr>
          <p:cNvPr id="14" name="Shape 12"/>
          <p:cNvSpPr/>
          <p:nvPr/>
        </p:nvSpPr>
        <p:spPr>
          <a:xfrm>
            <a:off x="5879592" y="1965960"/>
            <a:ext cx="1645920" cy="1051560"/>
          </a:xfrm>
          <a:prstGeom prst="roundRect">
            <a:avLst>
              <a:gd name="adj" fmla="val 695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5" name="Text 13"/>
          <p:cNvSpPr/>
          <p:nvPr/>
        </p:nvSpPr>
        <p:spPr>
          <a:xfrm>
            <a:off x="6044184" y="2084832"/>
            <a:ext cx="1316736" cy="347472"/>
          </a:xfrm>
          <a:prstGeom prst="rect">
            <a:avLst/>
          </a:prstGeom>
          <a:noFill/>
          <a:ln/>
        </p:spPr>
        <p:txBody>
          <a:bodyPr wrap="square" lIns="1016" tIns="1016" rIns="1016" bIns="1016" rtlCol="0" anchor="ctr">
            <a:normAutofit/>
          </a:bodyPr>
          <a:lstStyle/>
          <a:p>
            <a:pPr algn="l" indent="0" marL="0">
              <a:buNone/>
            </a:pPr>
            <a:r>
              <a:rPr lang="en-US" sz="1000" dirty="0">
                <a:solidFill>
                  <a:srgbClr val="0F172A"/>
                </a:solidFill>
                <a:latin typeface="Arial" pitchFamily="34" charset="0"/>
                <a:ea typeface="Arial" pitchFamily="34" charset="-122"/>
                <a:cs typeface="Arial" pitchFamily="34" charset="-120"/>
              </a:rPr>
              <a:t>Quantity</a:t>
            </a:r>
            <a:endParaRPr lang="en-US" sz="1000" dirty="0"/>
          </a:p>
        </p:txBody>
      </p:sp>
      <p:sp>
        <p:nvSpPr>
          <p:cNvPr id="16" name="Text 14"/>
          <p:cNvSpPr/>
          <p:nvPr/>
        </p:nvSpPr>
        <p:spPr>
          <a:xfrm>
            <a:off x="6044184" y="2505456"/>
            <a:ext cx="1316736" cy="320040"/>
          </a:xfrm>
          <a:prstGeom prst="rect">
            <a:avLst/>
          </a:prstGeom>
          <a:noFill/>
          <a:ln/>
        </p:spPr>
        <p:txBody>
          <a:bodyPr wrap="square" lIns="0" tIns="0" rIns="0" bIns="0" rtlCol="0" anchor="ctr">
            <a:normAutofit/>
          </a:bodyPr>
          <a:lstStyle/>
          <a:p>
            <a:pPr indent="0" marL="0">
              <a:buNone/>
            </a:pPr>
            <a:r>
              <a:rPr lang="en-US" sz="1900" b="1" dirty="0">
                <a:solidFill>
                  <a:srgbClr val="0F172A"/>
                </a:solidFill>
                <a:latin typeface="Arial" pitchFamily="34" charset="0"/>
                <a:ea typeface="Arial" pitchFamily="34" charset="-122"/>
                <a:cs typeface="Arial" pitchFamily="34" charset="-120"/>
              </a:rPr>
              <a:t>8</a:t>
            </a:r>
            <a:endParaRPr lang="en-US" sz="1900" dirty="0"/>
          </a:p>
        </p:txBody>
      </p:sp>
      <p:sp>
        <p:nvSpPr>
          <p:cNvPr id="17" name="Shape 15"/>
          <p:cNvSpPr/>
          <p:nvPr/>
        </p:nvSpPr>
        <p:spPr>
          <a:xfrm>
            <a:off x="7699248" y="1965960"/>
            <a:ext cx="1645920" cy="1051560"/>
          </a:xfrm>
          <a:prstGeom prst="roundRect">
            <a:avLst>
              <a:gd name="adj" fmla="val 695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8" name="Text 16"/>
          <p:cNvSpPr/>
          <p:nvPr/>
        </p:nvSpPr>
        <p:spPr>
          <a:xfrm>
            <a:off x="7863840" y="2084832"/>
            <a:ext cx="1316736" cy="347472"/>
          </a:xfrm>
          <a:prstGeom prst="rect">
            <a:avLst/>
          </a:prstGeom>
          <a:noFill/>
          <a:ln/>
        </p:spPr>
        <p:txBody>
          <a:bodyPr wrap="square" lIns="1016" tIns="1016" rIns="1016" bIns="1016" rtlCol="0" anchor="ctr">
            <a:normAutofit/>
          </a:bodyPr>
          <a:lstStyle/>
          <a:p>
            <a:pPr algn="l" indent="0" marL="0">
              <a:buNone/>
            </a:pPr>
            <a:r>
              <a:rPr lang="en-US" sz="1000" dirty="0">
                <a:solidFill>
                  <a:srgbClr val="0F172A"/>
                </a:solidFill>
                <a:latin typeface="Arial" pitchFamily="34" charset="0"/>
                <a:ea typeface="Arial" pitchFamily="34" charset="-122"/>
                <a:cs typeface="Arial" pitchFamily="34" charset="-120"/>
              </a:rPr>
              <a:t>Avg cost</a:t>
            </a:r>
            <a:endParaRPr lang="en-US" sz="1000" dirty="0"/>
          </a:p>
        </p:txBody>
      </p:sp>
      <p:sp>
        <p:nvSpPr>
          <p:cNvPr id="19" name="Text 17"/>
          <p:cNvSpPr/>
          <p:nvPr/>
        </p:nvSpPr>
        <p:spPr>
          <a:xfrm>
            <a:off x="7863840" y="2505456"/>
            <a:ext cx="1316736" cy="320040"/>
          </a:xfrm>
          <a:prstGeom prst="rect">
            <a:avLst/>
          </a:prstGeom>
          <a:noFill/>
          <a:ln/>
        </p:spPr>
        <p:txBody>
          <a:bodyPr wrap="square" lIns="0" tIns="0" rIns="0" bIns="0" rtlCol="0" anchor="ctr">
            <a:normAutofit/>
          </a:bodyPr>
          <a:lstStyle/>
          <a:p>
            <a:pPr indent="0" marL="0">
              <a:buNone/>
            </a:pPr>
            <a:r>
              <a:rPr lang="en-US" sz="1900" b="1" dirty="0">
                <a:solidFill>
                  <a:srgbClr val="0F172A"/>
                </a:solidFill>
                <a:latin typeface="Arial" pitchFamily="34" charset="0"/>
                <a:ea typeface="Arial" pitchFamily="34" charset="-122"/>
                <a:cs typeface="Arial" pitchFamily="34" charset="-120"/>
              </a:rPr>
              <a:t>$100.00</a:t>
            </a:r>
            <a:endParaRPr lang="en-US" sz="1900" dirty="0"/>
          </a:p>
        </p:txBody>
      </p:sp>
      <p:sp>
        <p:nvSpPr>
          <p:cNvPr id="20" name="Shape 18"/>
          <p:cNvSpPr/>
          <p:nvPr/>
        </p:nvSpPr>
        <p:spPr>
          <a:xfrm>
            <a:off x="9518904" y="1965960"/>
            <a:ext cx="1645920" cy="1051560"/>
          </a:xfrm>
          <a:prstGeom prst="roundRect">
            <a:avLst>
              <a:gd name="adj" fmla="val 695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1" name="Text 19"/>
          <p:cNvSpPr/>
          <p:nvPr/>
        </p:nvSpPr>
        <p:spPr>
          <a:xfrm>
            <a:off x="9683496" y="2084832"/>
            <a:ext cx="1316736" cy="347472"/>
          </a:xfrm>
          <a:prstGeom prst="rect">
            <a:avLst/>
          </a:prstGeom>
          <a:noFill/>
          <a:ln/>
        </p:spPr>
        <p:txBody>
          <a:bodyPr wrap="square" lIns="1016" tIns="1016" rIns="1016" bIns="1016" rtlCol="0" anchor="ctr">
            <a:normAutofit/>
          </a:bodyPr>
          <a:lstStyle/>
          <a:p>
            <a:pPr algn="l" indent="0" marL="0">
              <a:buNone/>
            </a:pPr>
            <a:r>
              <a:rPr lang="en-US" sz="1000" dirty="0">
                <a:solidFill>
                  <a:srgbClr val="0F172A"/>
                </a:solidFill>
                <a:latin typeface="Arial" pitchFamily="34" charset="0"/>
                <a:ea typeface="Arial" pitchFamily="34" charset="-122"/>
                <a:cs typeface="Arial" pitchFamily="34" charset="-120"/>
              </a:rPr>
              <a:t>Market price</a:t>
            </a:r>
            <a:endParaRPr lang="en-US" sz="1000" dirty="0"/>
          </a:p>
        </p:txBody>
      </p:sp>
      <p:sp>
        <p:nvSpPr>
          <p:cNvPr id="22" name="Text 20"/>
          <p:cNvSpPr/>
          <p:nvPr/>
        </p:nvSpPr>
        <p:spPr>
          <a:xfrm>
            <a:off x="9683496" y="2505456"/>
            <a:ext cx="1316736" cy="320040"/>
          </a:xfrm>
          <a:prstGeom prst="rect">
            <a:avLst/>
          </a:prstGeom>
          <a:noFill/>
          <a:ln/>
        </p:spPr>
        <p:txBody>
          <a:bodyPr wrap="square" lIns="0" tIns="0" rIns="0" bIns="0" rtlCol="0" anchor="ctr">
            <a:normAutofit/>
          </a:bodyPr>
          <a:lstStyle/>
          <a:p>
            <a:pPr indent="0" marL="0">
              <a:buNone/>
            </a:pPr>
            <a:r>
              <a:rPr lang="en-US" sz="1900" b="1" dirty="0">
                <a:solidFill>
                  <a:srgbClr val="0F172A"/>
                </a:solidFill>
                <a:latin typeface="Arial" pitchFamily="34" charset="0"/>
                <a:ea typeface="Arial" pitchFamily="34" charset="-122"/>
                <a:cs typeface="Arial" pitchFamily="34" charset="-120"/>
              </a:rPr>
              <a:t>$195.25</a:t>
            </a:r>
            <a:endParaRPr lang="en-US" sz="1900" dirty="0"/>
          </a:p>
        </p:txBody>
      </p:sp>
      <p:sp>
        <p:nvSpPr>
          <p:cNvPr id="23" name="Shape 21"/>
          <p:cNvSpPr/>
          <p:nvPr/>
        </p:nvSpPr>
        <p:spPr>
          <a:xfrm>
            <a:off x="5879592" y="3337560"/>
            <a:ext cx="2551176" cy="1051560"/>
          </a:xfrm>
          <a:prstGeom prst="roundRect">
            <a:avLst>
              <a:gd name="adj" fmla="val 695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4" name="Text 22"/>
          <p:cNvSpPr/>
          <p:nvPr/>
        </p:nvSpPr>
        <p:spPr>
          <a:xfrm>
            <a:off x="6044184" y="3456432"/>
            <a:ext cx="2221992" cy="347472"/>
          </a:xfrm>
          <a:prstGeom prst="rect">
            <a:avLst/>
          </a:prstGeom>
          <a:noFill/>
          <a:ln/>
        </p:spPr>
        <p:txBody>
          <a:bodyPr wrap="square" lIns="1016" tIns="1016" rIns="1016" bIns="1016" rtlCol="0" anchor="ctr">
            <a:normAutofit/>
          </a:bodyPr>
          <a:lstStyle/>
          <a:p>
            <a:pPr algn="l" indent="0" marL="0">
              <a:buNone/>
            </a:pPr>
            <a:r>
              <a:rPr lang="en-US" sz="1000" dirty="0">
                <a:solidFill>
                  <a:srgbClr val="0F172A"/>
                </a:solidFill>
                <a:latin typeface="Arial" pitchFamily="34" charset="0"/>
                <a:ea typeface="Arial" pitchFamily="34" charset="-122"/>
                <a:cs typeface="Arial" pitchFamily="34" charset="-120"/>
              </a:rPr>
              <a:t>Cost basis</a:t>
            </a:r>
            <a:endParaRPr lang="en-US" sz="1000" dirty="0"/>
          </a:p>
        </p:txBody>
      </p:sp>
      <p:sp>
        <p:nvSpPr>
          <p:cNvPr id="25" name="Text 23"/>
          <p:cNvSpPr/>
          <p:nvPr/>
        </p:nvSpPr>
        <p:spPr>
          <a:xfrm>
            <a:off x="6044184" y="3877056"/>
            <a:ext cx="2221992" cy="320040"/>
          </a:xfrm>
          <a:prstGeom prst="rect">
            <a:avLst/>
          </a:prstGeom>
          <a:noFill/>
          <a:ln/>
        </p:spPr>
        <p:txBody>
          <a:bodyPr wrap="square" lIns="0" tIns="0" rIns="0" bIns="0" rtlCol="0" anchor="ctr">
            <a:normAutofit/>
          </a:bodyPr>
          <a:lstStyle/>
          <a:p>
            <a:pPr indent="0" marL="0">
              <a:buNone/>
            </a:pPr>
            <a:r>
              <a:rPr lang="en-US" sz="1900" b="1" dirty="0">
                <a:solidFill>
                  <a:srgbClr val="0F172A"/>
                </a:solidFill>
                <a:latin typeface="Arial" pitchFamily="34" charset="0"/>
                <a:ea typeface="Arial" pitchFamily="34" charset="-122"/>
                <a:cs typeface="Arial" pitchFamily="34" charset="-120"/>
              </a:rPr>
              <a:t>$800.00</a:t>
            </a:r>
            <a:endParaRPr lang="en-US" sz="1900" dirty="0"/>
          </a:p>
        </p:txBody>
      </p:sp>
      <p:sp>
        <p:nvSpPr>
          <p:cNvPr id="26" name="Shape 24"/>
          <p:cNvSpPr/>
          <p:nvPr/>
        </p:nvSpPr>
        <p:spPr>
          <a:xfrm>
            <a:off x="8613648" y="3337560"/>
            <a:ext cx="2551176" cy="1051560"/>
          </a:xfrm>
          <a:prstGeom prst="roundRect">
            <a:avLst>
              <a:gd name="adj" fmla="val 695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7" name="Text 25"/>
          <p:cNvSpPr/>
          <p:nvPr/>
        </p:nvSpPr>
        <p:spPr>
          <a:xfrm>
            <a:off x="8778240" y="3456432"/>
            <a:ext cx="2221992" cy="347472"/>
          </a:xfrm>
          <a:prstGeom prst="rect">
            <a:avLst/>
          </a:prstGeom>
          <a:noFill/>
          <a:ln/>
        </p:spPr>
        <p:txBody>
          <a:bodyPr wrap="square" lIns="1016" tIns="1016" rIns="1016" bIns="1016" rtlCol="0" anchor="ctr">
            <a:normAutofit/>
          </a:bodyPr>
          <a:lstStyle/>
          <a:p>
            <a:pPr algn="l" indent="0" marL="0">
              <a:buNone/>
            </a:pPr>
            <a:r>
              <a:rPr lang="en-US" sz="1000" dirty="0">
                <a:solidFill>
                  <a:srgbClr val="0F172A"/>
                </a:solidFill>
                <a:latin typeface="Arial" pitchFamily="34" charset="0"/>
                <a:ea typeface="Arial" pitchFamily="34" charset="-122"/>
                <a:cs typeface="Arial" pitchFamily="34" charset="-120"/>
              </a:rPr>
              <a:t>Market value</a:t>
            </a:r>
            <a:endParaRPr lang="en-US" sz="1000" dirty="0"/>
          </a:p>
        </p:txBody>
      </p:sp>
      <p:sp>
        <p:nvSpPr>
          <p:cNvPr id="28" name="Text 26"/>
          <p:cNvSpPr/>
          <p:nvPr/>
        </p:nvSpPr>
        <p:spPr>
          <a:xfrm>
            <a:off x="8778240" y="3877056"/>
            <a:ext cx="2221992" cy="320040"/>
          </a:xfrm>
          <a:prstGeom prst="rect">
            <a:avLst/>
          </a:prstGeom>
          <a:noFill/>
          <a:ln/>
        </p:spPr>
        <p:txBody>
          <a:bodyPr wrap="square" lIns="0" tIns="0" rIns="0" bIns="0" rtlCol="0" anchor="ctr">
            <a:normAutofit/>
          </a:bodyPr>
          <a:lstStyle/>
          <a:p>
            <a:pPr indent="0" marL="0">
              <a:buNone/>
            </a:pPr>
            <a:r>
              <a:rPr lang="en-US" sz="1900" b="1" dirty="0">
                <a:solidFill>
                  <a:srgbClr val="0F172A"/>
                </a:solidFill>
                <a:latin typeface="Arial" pitchFamily="34" charset="0"/>
                <a:ea typeface="Arial" pitchFamily="34" charset="-122"/>
                <a:cs typeface="Arial" pitchFamily="34" charset="-120"/>
              </a:rPr>
              <a:t>$1,562.00</a:t>
            </a:r>
            <a:endParaRPr lang="en-US" sz="1900" dirty="0"/>
          </a:p>
        </p:txBody>
      </p:sp>
      <p:sp>
        <p:nvSpPr>
          <p:cNvPr id="29" name="Shape 27"/>
          <p:cNvSpPr/>
          <p:nvPr/>
        </p:nvSpPr>
        <p:spPr>
          <a:xfrm>
            <a:off x="5879592" y="4727448"/>
            <a:ext cx="5285232" cy="1170432"/>
          </a:xfrm>
          <a:prstGeom prst="roundRect">
            <a:avLst>
              <a:gd name="adj" fmla="val 6250"/>
            </a:avLst>
          </a:prstGeom>
          <a:solidFill>
            <a:srgbClr val="DCFCE7"/>
          </a:solidFill>
          <a:ln w="10160">
            <a:solidFill>
              <a:srgbClr val="86EFAC"/>
            </a:solidFill>
            <a:prstDash val="solid"/>
          </a:ln>
          <a:effectLst>
            <a:outerShdw sx="100000" sy="100000" kx="0" ky="0" algn="bl" rotWithShape="0" blurRad="19050" dist="50800" dir="2700000">
              <a:srgbClr val="94A3B8">
                <a:alpha val="13000"/>
              </a:srgbClr>
            </a:outerShdw>
          </a:effectLst>
        </p:spPr>
      </p:sp>
      <p:sp>
        <p:nvSpPr>
          <p:cNvPr id="30" name="Text 28"/>
          <p:cNvSpPr/>
          <p:nvPr/>
        </p:nvSpPr>
        <p:spPr>
          <a:xfrm>
            <a:off x="6144768" y="4919472"/>
            <a:ext cx="2468880" cy="594360"/>
          </a:xfrm>
          <a:prstGeom prst="rect">
            <a:avLst/>
          </a:prstGeom>
          <a:noFill/>
          <a:ln/>
        </p:spPr>
        <p:txBody>
          <a:bodyPr wrap="square" lIns="1016" tIns="1016" rIns="1016" bIns="1016" rtlCol="0" anchor="ctr">
            <a:normAutofit/>
          </a:bodyPr>
          <a:lstStyle/>
          <a:p>
            <a:pPr algn="l" indent="0" marL="0">
              <a:buNone/>
            </a:pPr>
            <a:r>
              <a:rPr lang="en-US" sz="1300" b="1" dirty="0">
                <a:solidFill>
                  <a:srgbClr val="15803D"/>
                </a:solidFill>
                <a:latin typeface="Arial" pitchFamily="34" charset="0"/>
                <a:ea typeface="Arial" pitchFamily="34" charset="-122"/>
                <a:cs typeface="Arial" pitchFamily="34" charset="-120"/>
              </a:rPr>
              <a:t>Unrealized P&amp;L / Return</a:t>
            </a:r>
            <a:endParaRPr lang="en-US" sz="1300" dirty="0"/>
          </a:p>
        </p:txBody>
      </p:sp>
      <p:sp>
        <p:nvSpPr>
          <p:cNvPr id="31" name="Text 29"/>
          <p:cNvSpPr/>
          <p:nvPr/>
        </p:nvSpPr>
        <p:spPr>
          <a:xfrm>
            <a:off x="8412480" y="5065776"/>
            <a:ext cx="2423160" cy="347472"/>
          </a:xfrm>
          <a:prstGeom prst="rect">
            <a:avLst/>
          </a:prstGeom>
          <a:noFill/>
          <a:ln/>
        </p:spPr>
        <p:txBody>
          <a:bodyPr wrap="square" lIns="0" tIns="0" rIns="0" bIns="0" rtlCol="0" anchor="ctr">
            <a:normAutofit/>
          </a:bodyPr>
          <a:lstStyle/>
          <a:p>
            <a:pPr algn="r" indent="0" marL="0">
              <a:buNone/>
            </a:pPr>
            <a:r>
              <a:rPr lang="en-US" sz="1800" b="1" dirty="0">
                <a:solidFill>
                  <a:srgbClr val="15803D"/>
                </a:solidFill>
                <a:latin typeface="Arial" pitchFamily="34" charset="0"/>
                <a:ea typeface="Arial" pitchFamily="34" charset="-122"/>
                <a:cs typeface="Arial" pitchFamily="34" charset="-120"/>
              </a:rPr>
              <a:t>+$762.00  /  +95.25%</a:t>
            </a:r>
            <a:endParaRPr lang="en-US" sz="1800" dirty="0"/>
          </a:p>
        </p:txBody>
      </p:sp>
      <p:sp>
        <p:nvSpPr>
          <p:cNvPr id="32" name="Text 30"/>
          <p:cNvSpPr/>
          <p:nvPr/>
        </p:nvSpPr>
        <p:spPr>
          <a:xfrm>
            <a:off x="5897880" y="6126480"/>
            <a:ext cx="5257800" cy="201168"/>
          </a:xfrm>
          <a:prstGeom prst="rect">
            <a:avLst/>
          </a:prstGeom>
          <a:noFill/>
          <a:ln/>
        </p:spPr>
        <p:txBody>
          <a:bodyPr wrap="square" lIns="0" tIns="0" rIns="0" bIns="0" rtlCol="0" anchor="ctr"/>
          <a:lstStyle/>
          <a:p>
            <a:pPr indent="0" marL="0">
              <a:buNone/>
            </a:pPr>
            <a:r>
              <a:rPr lang="en-US" sz="800" dirty="0">
                <a:solidFill>
                  <a:srgbClr val="64748B"/>
                </a:solidFill>
                <a:latin typeface="Arial" pitchFamily="34" charset="0"/>
                <a:ea typeface="Arial" pitchFamily="34" charset="-122"/>
                <a:cs typeface="Arial" pitchFamily="34" charset="-120"/>
              </a:rPr>
              <a:t>Decimal arithmetic on the backend · Missing quotes remain null</a:t>
            </a:r>
            <a:endParaRPr lang="en-US" sz="80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SYSTEM DESIGN</a:t>
            </a:r>
            <a:endParaRPr lang="en-US" sz="800" dirty="0"/>
          </a:p>
        </p:txBody>
      </p:sp>
      <p:sp>
        <p:nvSpPr>
          <p:cNvPr id="3" name="Text 1"/>
          <p:cNvSpPr/>
          <p:nvPr/>
        </p:nvSpPr>
        <p:spPr>
          <a:xfrm>
            <a:off x="566928" y="585216"/>
            <a:ext cx="8595360" cy="530352"/>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Modular Monolith Architecture</a:t>
            </a:r>
            <a:endParaRPr lang="en-US" sz="2400" dirty="0"/>
          </a:p>
        </p:txBody>
      </p:sp>
      <p:sp>
        <p:nvSpPr>
          <p:cNvPr id="4" name="Text 2"/>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06</a:t>
            </a:r>
            <a:endParaRPr lang="en-US" sz="1800" dirty="0"/>
          </a:p>
        </p:txBody>
      </p:sp>
      <p:sp>
        <p:nvSpPr>
          <p:cNvPr id="5" name="Shape 3"/>
          <p:cNvSpPr/>
          <p:nvPr/>
        </p:nvSpPr>
        <p:spPr>
          <a:xfrm>
            <a:off x="658368" y="1572768"/>
            <a:ext cx="1874520" cy="4526280"/>
          </a:xfrm>
          <a:prstGeom prst="roundRect">
            <a:avLst>
              <a:gd name="adj" fmla="val 3902"/>
            </a:avLst>
          </a:prstGeom>
          <a:solidFill>
            <a:srgbClr val="0F172A"/>
          </a:solidFill>
          <a:ln w="10160">
            <a:solidFill>
              <a:srgbClr val="0F172A"/>
            </a:solidFill>
            <a:prstDash val="solid"/>
          </a:ln>
          <a:effectLst>
            <a:outerShdw sx="100000" sy="100000" kx="0" ky="0" algn="bl" rotWithShape="0" blurRad="19050" dist="50800" dir="2700000">
              <a:srgbClr val="94A3B8">
                <a:alpha val="13000"/>
              </a:srgbClr>
            </a:outerShdw>
          </a:effectLst>
        </p:spPr>
      </p:sp>
      <p:sp>
        <p:nvSpPr>
          <p:cNvPr id="6" name="Text 4"/>
          <p:cNvSpPr/>
          <p:nvPr/>
        </p:nvSpPr>
        <p:spPr>
          <a:xfrm>
            <a:off x="960120" y="1847088"/>
            <a:ext cx="1280160" cy="566928"/>
          </a:xfrm>
          <a:prstGeom prst="rect">
            <a:avLst/>
          </a:prstGeom>
          <a:noFill/>
          <a:ln/>
        </p:spPr>
        <p:txBody>
          <a:bodyPr wrap="square" lIns="1016" tIns="1016" rIns="1016" bIns="1016"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USER EXPERIENCE</a:t>
            </a:r>
            <a:endParaRPr lang="en-US" sz="1500" dirty="0"/>
          </a:p>
        </p:txBody>
      </p:sp>
      <p:sp>
        <p:nvSpPr>
          <p:cNvPr id="7" name="Shape 5"/>
          <p:cNvSpPr/>
          <p:nvPr/>
        </p:nvSpPr>
        <p:spPr>
          <a:xfrm>
            <a:off x="960120" y="2670048"/>
            <a:ext cx="1280160" cy="777240"/>
          </a:xfrm>
          <a:prstGeom prst="roundRect">
            <a:avLst>
              <a:gd name="adj" fmla="val 9412"/>
            </a:avLst>
          </a:prstGeom>
          <a:solidFill>
            <a:srgbClr val="1E3A8A"/>
          </a:solidFill>
          <a:ln w="10160">
            <a:solidFill>
              <a:srgbClr val="1E3A8A"/>
            </a:solidFill>
            <a:prstDash val="solid"/>
          </a:ln>
        </p:spPr>
      </p:sp>
      <p:sp>
        <p:nvSpPr>
          <p:cNvPr id="8" name="Text 6"/>
          <p:cNvSpPr/>
          <p:nvPr/>
        </p:nvSpPr>
        <p:spPr>
          <a:xfrm>
            <a:off x="1078992" y="2816352"/>
            <a:ext cx="1042416" cy="475488"/>
          </a:xfrm>
          <a:prstGeom prst="rect">
            <a:avLst/>
          </a:prstGeom>
          <a:noFill/>
          <a:ln/>
        </p:spPr>
        <p:txBody>
          <a:bodyPr wrap="square" lIns="1016" tIns="1016" rIns="1016" bIns="1016"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React 19</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TypeScript + Vite</a:t>
            </a:r>
            <a:endParaRPr lang="en-US" sz="1200" dirty="0"/>
          </a:p>
        </p:txBody>
      </p:sp>
      <p:sp>
        <p:nvSpPr>
          <p:cNvPr id="9" name="Shape 7"/>
          <p:cNvSpPr/>
          <p:nvPr/>
        </p:nvSpPr>
        <p:spPr>
          <a:xfrm>
            <a:off x="1600200" y="3493008"/>
            <a:ext cx="0" cy="347472"/>
          </a:xfrm>
          <a:prstGeom prst="line">
            <a:avLst/>
          </a:prstGeom>
          <a:noFill/>
          <a:ln w="25400">
            <a:solidFill>
              <a:srgbClr val="93C5FD"/>
            </a:solidFill>
            <a:prstDash val="solid"/>
            <a:headEnd type="none"/>
            <a:tailEnd type="triangle"/>
          </a:ln>
        </p:spPr>
      </p:sp>
      <p:sp>
        <p:nvSpPr>
          <p:cNvPr id="10" name="Shape 8"/>
          <p:cNvSpPr/>
          <p:nvPr/>
        </p:nvSpPr>
        <p:spPr>
          <a:xfrm>
            <a:off x="960120" y="3913632"/>
            <a:ext cx="1280160" cy="777240"/>
          </a:xfrm>
          <a:prstGeom prst="roundRect">
            <a:avLst>
              <a:gd name="adj" fmla="val 9412"/>
            </a:avLst>
          </a:prstGeom>
          <a:solidFill>
            <a:srgbClr val="1E3A8A"/>
          </a:solidFill>
          <a:ln w="10160">
            <a:solidFill>
              <a:srgbClr val="1E3A8A"/>
            </a:solidFill>
            <a:prstDash val="solid"/>
          </a:ln>
        </p:spPr>
      </p:sp>
      <p:sp>
        <p:nvSpPr>
          <p:cNvPr id="11" name="Text 9"/>
          <p:cNvSpPr/>
          <p:nvPr/>
        </p:nvSpPr>
        <p:spPr>
          <a:xfrm>
            <a:off x="1078992" y="4069080"/>
            <a:ext cx="1042416" cy="438912"/>
          </a:xfrm>
          <a:prstGeom prst="rect">
            <a:avLst/>
          </a:prstGeom>
          <a:noFill/>
          <a:ln/>
        </p:spPr>
        <p:txBody>
          <a:bodyPr wrap="square" lIns="1016" tIns="1016" rIns="1016" bIns="1016"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Nginx</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Reverse proxy</a:t>
            </a:r>
            <a:endParaRPr lang="en-US" sz="1200" dirty="0"/>
          </a:p>
        </p:txBody>
      </p:sp>
      <p:sp>
        <p:nvSpPr>
          <p:cNvPr id="12" name="Text 10"/>
          <p:cNvSpPr/>
          <p:nvPr/>
        </p:nvSpPr>
        <p:spPr>
          <a:xfrm>
            <a:off x="932688" y="5175504"/>
            <a:ext cx="1325880" cy="475488"/>
          </a:xfrm>
          <a:prstGeom prst="rect">
            <a:avLst/>
          </a:prstGeom>
          <a:noFill/>
          <a:ln/>
        </p:spPr>
        <p:txBody>
          <a:bodyPr wrap="square" lIns="1016" tIns="1016" rIns="1016" bIns="1016" rtlCol="0" anchor="ctr">
            <a:normAutofit/>
          </a:bodyPr>
          <a:lstStyle/>
          <a:p>
            <a:pPr algn="ctr" indent="0" marL="0">
              <a:buNone/>
            </a:pPr>
            <a:r>
              <a:rPr lang="en-US" sz="1050" b="1" dirty="0">
                <a:solidFill>
                  <a:srgbClr val="CBD5E1"/>
                </a:solidFill>
                <a:latin typeface="Arial" pitchFamily="34" charset="0"/>
                <a:ea typeface="Arial" pitchFamily="34" charset="-122"/>
                <a:cs typeface="Arial" pitchFamily="34" charset="-120"/>
              </a:rPr>
              <a:t>Desktop + mobile</a:t>
            </a:r>
            <a:endParaRPr lang="en-US" sz="1050" dirty="0"/>
          </a:p>
        </p:txBody>
      </p:sp>
      <p:sp>
        <p:nvSpPr>
          <p:cNvPr id="13" name="Shape 11"/>
          <p:cNvSpPr/>
          <p:nvPr/>
        </p:nvSpPr>
        <p:spPr>
          <a:xfrm>
            <a:off x="2697480" y="3858768"/>
            <a:ext cx="594360" cy="0"/>
          </a:xfrm>
          <a:prstGeom prst="line">
            <a:avLst/>
          </a:prstGeom>
          <a:noFill/>
          <a:ln w="25400">
            <a:solidFill>
              <a:srgbClr val="94A3B8"/>
            </a:solidFill>
            <a:prstDash val="solid"/>
            <a:headEnd type="none"/>
            <a:tailEnd type="triangle"/>
          </a:ln>
        </p:spPr>
      </p:sp>
      <p:sp>
        <p:nvSpPr>
          <p:cNvPr id="14" name="Shape 12"/>
          <p:cNvSpPr/>
          <p:nvPr/>
        </p:nvSpPr>
        <p:spPr>
          <a:xfrm>
            <a:off x="3401568" y="1572768"/>
            <a:ext cx="5120640" cy="4526280"/>
          </a:xfrm>
          <a:prstGeom prst="roundRect">
            <a:avLst>
              <a:gd name="adj" fmla="val 1616"/>
            </a:avLst>
          </a:prstGeom>
          <a:solidFill>
            <a:srgbClr val="FFFFFF"/>
          </a:solidFill>
          <a:ln w="10160">
            <a:solidFill>
              <a:srgbClr val="BFDBFE"/>
            </a:solidFill>
            <a:prstDash val="solid"/>
          </a:ln>
          <a:effectLst>
            <a:outerShdw sx="100000" sy="100000" kx="0" ky="0" algn="bl" rotWithShape="0" blurRad="19050" dist="50800" dir="2700000">
              <a:srgbClr val="94A3B8">
                <a:alpha val="13000"/>
              </a:srgbClr>
            </a:outerShdw>
          </a:effectLst>
        </p:spPr>
      </p:sp>
      <p:sp>
        <p:nvSpPr>
          <p:cNvPr id="15" name="Text 13"/>
          <p:cNvSpPr/>
          <p:nvPr/>
        </p:nvSpPr>
        <p:spPr>
          <a:xfrm>
            <a:off x="3703320" y="1810512"/>
            <a:ext cx="3200400" cy="228600"/>
          </a:xfrm>
          <a:prstGeom prst="rect">
            <a:avLst/>
          </a:prstGeom>
          <a:noFill/>
          <a:ln/>
        </p:spPr>
        <p:txBody>
          <a:bodyPr wrap="square" lIns="0" tIns="0" rIns="0" bIns="0" rtlCol="0" anchor="ctr"/>
          <a:lstStyle/>
          <a:p>
            <a:pPr indent="0" marL="0">
              <a:buNone/>
            </a:pPr>
            <a:r>
              <a:rPr lang="en-US" sz="900" b="1" spc="110" kern="0" dirty="0">
                <a:solidFill>
                  <a:srgbClr val="2563EB"/>
                </a:solidFill>
                <a:latin typeface="Arial" pitchFamily="34" charset="0"/>
                <a:ea typeface="Arial" pitchFamily="34" charset="-122"/>
                <a:cs typeface="Arial" pitchFamily="34" charset="-120"/>
              </a:rPr>
              <a:t>SPRING BOOT 3.5 · JAVA 21</a:t>
            </a:r>
            <a:endParaRPr lang="en-US" sz="900" dirty="0"/>
          </a:p>
        </p:txBody>
      </p:sp>
      <p:sp>
        <p:nvSpPr>
          <p:cNvPr id="16" name="Shape 14"/>
          <p:cNvSpPr/>
          <p:nvPr/>
        </p:nvSpPr>
        <p:spPr>
          <a:xfrm>
            <a:off x="3675888" y="2267712"/>
            <a:ext cx="1298448" cy="621792"/>
          </a:xfrm>
          <a:prstGeom prst="roundRect">
            <a:avLst>
              <a:gd name="adj" fmla="val 11765"/>
            </a:avLst>
          </a:prstGeom>
          <a:solidFill>
            <a:srgbClr val="F8FAFC"/>
          </a:solidFill>
          <a:ln w="10160">
            <a:solidFill>
              <a:srgbClr val="CBD5E1"/>
            </a:solidFill>
            <a:prstDash val="solid"/>
          </a:ln>
        </p:spPr>
      </p:sp>
      <p:sp>
        <p:nvSpPr>
          <p:cNvPr id="17" name="Text 15"/>
          <p:cNvSpPr/>
          <p:nvPr/>
        </p:nvSpPr>
        <p:spPr>
          <a:xfrm>
            <a:off x="3785616" y="2340864"/>
            <a:ext cx="1078992" cy="457200"/>
          </a:xfrm>
          <a:prstGeom prst="rect">
            <a:avLst/>
          </a:prstGeom>
          <a:noFill/>
          <a:ln/>
        </p:spPr>
        <p:txBody>
          <a:bodyPr wrap="square" lIns="1016" tIns="1016" rIns="1016" bIns="1016" rtlCol="0" anchor="ctr">
            <a:normAutofit/>
          </a:bodyPr>
          <a:lstStyle/>
          <a:p>
            <a:pPr algn="ctr" indent="0" marL="0">
              <a:buNone/>
            </a:pPr>
            <a:r>
              <a:rPr lang="en-US" sz="1100" b="1" dirty="0">
                <a:solidFill>
                  <a:srgbClr val="0F172A"/>
                </a:solidFill>
                <a:latin typeface="Arial" pitchFamily="34" charset="0"/>
                <a:ea typeface="Arial" pitchFamily="34" charset="-122"/>
                <a:cs typeface="Arial" pitchFamily="34" charset="-120"/>
              </a:rPr>
              <a:t>Account</a:t>
            </a:r>
            <a:endParaRPr lang="en-US" sz="1100" dirty="0"/>
          </a:p>
        </p:txBody>
      </p:sp>
      <p:sp>
        <p:nvSpPr>
          <p:cNvPr id="18" name="Shape 16"/>
          <p:cNvSpPr/>
          <p:nvPr/>
        </p:nvSpPr>
        <p:spPr>
          <a:xfrm>
            <a:off x="5184648" y="2267712"/>
            <a:ext cx="1298448" cy="621792"/>
          </a:xfrm>
          <a:prstGeom prst="roundRect">
            <a:avLst>
              <a:gd name="adj" fmla="val 11765"/>
            </a:avLst>
          </a:prstGeom>
          <a:solidFill>
            <a:srgbClr val="EFF6FF"/>
          </a:solidFill>
          <a:ln w="10160">
            <a:solidFill>
              <a:srgbClr val="93C5FD"/>
            </a:solidFill>
            <a:prstDash val="solid"/>
          </a:ln>
        </p:spPr>
      </p:sp>
      <p:sp>
        <p:nvSpPr>
          <p:cNvPr id="19" name="Text 17"/>
          <p:cNvSpPr/>
          <p:nvPr/>
        </p:nvSpPr>
        <p:spPr>
          <a:xfrm>
            <a:off x="5294376" y="2340864"/>
            <a:ext cx="1078992" cy="457200"/>
          </a:xfrm>
          <a:prstGeom prst="rect">
            <a:avLst/>
          </a:prstGeom>
          <a:noFill/>
          <a:ln/>
        </p:spPr>
        <p:txBody>
          <a:bodyPr wrap="square" lIns="1016" tIns="1016" rIns="1016" bIns="1016" rtlCol="0" anchor="ctr">
            <a:normAutofit/>
          </a:bodyPr>
          <a:lstStyle/>
          <a:p>
            <a:pPr algn="ctr" indent="0" marL="0">
              <a:buNone/>
            </a:pPr>
            <a:r>
              <a:rPr lang="en-US" sz="1100" b="1" dirty="0">
                <a:solidFill>
                  <a:srgbClr val="0F172A"/>
                </a:solidFill>
                <a:latin typeface="Arial" pitchFamily="34" charset="0"/>
                <a:ea typeface="Arial" pitchFamily="34" charset="-122"/>
                <a:cs typeface="Arial" pitchFamily="34" charset="-120"/>
              </a:rPr>
              <a:t>Trade</a:t>
            </a:r>
            <a:endParaRPr lang="en-US" sz="1100" dirty="0"/>
          </a:p>
        </p:txBody>
      </p:sp>
      <p:sp>
        <p:nvSpPr>
          <p:cNvPr id="20" name="Shape 18"/>
          <p:cNvSpPr/>
          <p:nvPr/>
        </p:nvSpPr>
        <p:spPr>
          <a:xfrm>
            <a:off x="6693408" y="2267712"/>
            <a:ext cx="1298448" cy="621792"/>
          </a:xfrm>
          <a:prstGeom prst="roundRect">
            <a:avLst>
              <a:gd name="adj" fmla="val 11765"/>
            </a:avLst>
          </a:prstGeom>
          <a:solidFill>
            <a:srgbClr val="F8FAFC"/>
          </a:solidFill>
          <a:ln w="10160">
            <a:solidFill>
              <a:srgbClr val="CBD5E1"/>
            </a:solidFill>
            <a:prstDash val="solid"/>
          </a:ln>
        </p:spPr>
      </p:sp>
      <p:sp>
        <p:nvSpPr>
          <p:cNvPr id="21" name="Text 19"/>
          <p:cNvSpPr/>
          <p:nvPr/>
        </p:nvSpPr>
        <p:spPr>
          <a:xfrm>
            <a:off x="6803136" y="2340864"/>
            <a:ext cx="1078992" cy="457200"/>
          </a:xfrm>
          <a:prstGeom prst="rect">
            <a:avLst/>
          </a:prstGeom>
          <a:noFill/>
          <a:ln/>
        </p:spPr>
        <p:txBody>
          <a:bodyPr wrap="square" lIns="1016" tIns="1016" rIns="1016" bIns="1016" rtlCol="0" anchor="ctr">
            <a:normAutofit/>
          </a:bodyPr>
          <a:lstStyle/>
          <a:p>
            <a:pPr algn="ctr" indent="0" marL="0">
              <a:buNone/>
            </a:pPr>
            <a:r>
              <a:rPr lang="en-US" sz="1100" b="1" dirty="0">
                <a:solidFill>
                  <a:srgbClr val="0F172A"/>
                </a:solidFill>
                <a:latin typeface="Arial" pitchFamily="34" charset="0"/>
                <a:ea typeface="Arial" pitchFamily="34" charset="-122"/>
                <a:cs typeface="Arial" pitchFamily="34" charset="-120"/>
              </a:rPr>
              <a:t>Position</a:t>
            </a:r>
            <a:endParaRPr lang="en-US" sz="1100" dirty="0"/>
          </a:p>
        </p:txBody>
      </p:sp>
      <p:sp>
        <p:nvSpPr>
          <p:cNvPr id="22" name="Shape 20"/>
          <p:cNvSpPr/>
          <p:nvPr/>
        </p:nvSpPr>
        <p:spPr>
          <a:xfrm>
            <a:off x="3675888" y="3127248"/>
            <a:ext cx="1298448" cy="621792"/>
          </a:xfrm>
          <a:prstGeom prst="roundRect">
            <a:avLst>
              <a:gd name="adj" fmla="val 11765"/>
            </a:avLst>
          </a:prstGeom>
          <a:solidFill>
            <a:srgbClr val="F8FAFC"/>
          </a:solidFill>
          <a:ln w="10160">
            <a:solidFill>
              <a:srgbClr val="CBD5E1"/>
            </a:solidFill>
            <a:prstDash val="solid"/>
          </a:ln>
        </p:spPr>
      </p:sp>
      <p:sp>
        <p:nvSpPr>
          <p:cNvPr id="23" name="Text 21"/>
          <p:cNvSpPr/>
          <p:nvPr/>
        </p:nvSpPr>
        <p:spPr>
          <a:xfrm>
            <a:off x="3785616" y="3200400"/>
            <a:ext cx="1078992" cy="457200"/>
          </a:xfrm>
          <a:prstGeom prst="rect">
            <a:avLst/>
          </a:prstGeom>
          <a:noFill/>
          <a:ln/>
        </p:spPr>
        <p:txBody>
          <a:bodyPr wrap="square" lIns="1016" tIns="1016" rIns="1016" bIns="1016" rtlCol="0" anchor="ctr">
            <a:normAutofit/>
          </a:bodyPr>
          <a:lstStyle/>
          <a:p>
            <a:pPr algn="ctr" indent="0" marL="0">
              <a:buNone/>
            </a:pPr>
            <a:r>
              <a:rPr lang="en-US" sz="1100" b="1" dirty="0">
                <a:solidFill>
                  <a:srgbClr val="0F172A"/>
                </a:solidFill>
                <a:latin typeface="Arial" pitchFamily="34" charset="0"/>
                <a:ea typeface="Arial" pitchFamily="34" charset="-122"/>
                <a:cs typeface="Arial" pitchFamily="34" charset="-120"/>
              </a:rPr>
              <a:t>Market Data</a:t>
            </a:r>
            <a:endParaRPr lang="en-US" sz="1100" dirty="0"/>
          </a:p>
        </p:txBody>
      </p:sp>
      <p:sp>
        <p:nvSpPr>
          <p:cNvPr id="24" name="Shape 22"/>
          <p:cNvSpPr/>
          <p:nvPr/>
        </p:nvSpPr>
        <p:spPr>
          <a:xfrm>
            <a:off x="5184648" y="3127248"/>
            <a:ext cx="1298448" cy="621792"/>
          </a:xfrm>
          <a:prstGeom prst="roundRect">
            <a:avLst>
              <a:gd name="adj" fmla="val 11765"/>
            </a:avLst>
          </a:prstGeom>
          <a:solidFill>
            <a:srgbClr val="F8FAFC"/>
          </a:solidFill>
          <a:ln w="10160">
            <a:solidFill>
              <a:srgbClr val="CBD5E1"/>
            </a:solidFill>
            <a:prstDash val="solid"/>
          </a:ln>
        </p:spPr>
      </p:sp>
      <p:sp>
        <p:nvSpPr>
          <p:cNvPr id="25" name="Text 23"/>
          <p:cNvSpPr/>
          <p:nvPr/>
        </p:nvSpPr>
        <p:spPr>
          <a:xfrm>
            <a:off x="5294376" y="3200400"/>
            <a:ext cx="1078992" cy="457200"/>
          </a:xfrm>
          <a:prstGeom prst="rect">
            <a:avLst/>
          </a:prstGeom>
          <a:noFill/>
          <a:ln/>
        </p:spPr>
        <p:txBody>
          <a:bodyPr wrap="square" lIns="1016" tIns="1016" rIns="1016" bIns="1016" rtlCol="0" anchor="ctr">
            <a:normAutofit/>
          </a:bodyPr>
          <a:lstStyle/>
          <a:p>
            <a:pPr algn="ctr" indent="0" marL="0">
              <a:buNone/>
            </a:pPr>
            <a:r>
              <a:rPr lang="en-US" sz="1100" b="1" dirty="0">
                <a:solidFill>
                  <a:srgbClr val="0F172A"/>
                </a:solidFill>
                <a:latin typeface="Arial" pitchFamily="34" charset="0"/>
                <a:ea typeface="Arial" pitchFamily="34" charset="-122"/>
                <a:cs typeface="Arial" pitchFamily="34" charset="-120"/>
              </a:rPr>
              <a:t>P&amp;L</a:t>
            </a:r>
            <a:endParaRPr lang="en-US" sz="1100" dirty="0"/>
          </a:p>
        </p:txBody>
      </p:sp>
      <p:sp>
        <p:nvSpPr>
          <p:cNvPr id="26" name="Shape 24"/>
          <p:cNvSpPr/>
          <p:nvPr/>
        </p:nvSpPr>
        <p:spPr>
          <a:xfrm>
            <a:off x="3675888" y="4160520"/>
            <a:ext cx="4553712" cy="0"/>
          </a:xfrm>
          <a:prstGeom prst="line">
            <a:avLst/>
          </a:prstGeom>
          <a:noFill/>
          <a:ln w="12700">
            <a:solidFill>
              <a:srgbClr val="CBD5E1"/>
            </a:solidFill>
            <a:prstDash val="solid"/>
          </a:ln>
        </p:spPr>
      </p:sp>
      <p:sp>
        <p:nvSpPr>
          <p:cNvPr id="27" name="Shape 25"/>
          <p:cNvSpPr/>
          <p:nvPr/>
        </p:nvSpPr>
        <p:spPr>
          <a:xfrm>
            <a:off x="3675888" y="4507992"/>
            <a:ext cx="1234440" cy="804672"/>
          </a:xfrm>
          <a:prstGeom prst="chevron">
            <a:avLst/>
          </a:prstGeom>
          <a:solidFill>
            <a:srgbClr val="DBEAFE"/>
          </a:solidFill>
          <a:ln w="12700">
            <a:solidFill>
              <a:srgbClr val="FFFFFF"/>
            </a:solidFill>
            <a:prstDash val="solid"/>
          </a:ln>
        </p:spPr>
      </p:sp>
      <p:sp>
        <p:nvSpPr>
          <p:cNvPr id="28" name="Text 26"/>
          <p:cNvSpPr/>
          <p:nvPr/>
        </p:nvSpPr>
        <p:spPr>
          <a:xfrm>
            <a:off x="3721608" y="4645152"/>
            <a:ext cx="960120" cy="484632"/>
          </a:xfrm>
          <a:prstGeom prst="rect">
            <a:avLst/>
          </a:prstGeom>
          <a:noFill/>
          <a:ln/>
        </p:spPr>
        <p:txBody>
          <a:bodyPr wrap="square" lIns="1016" tIns="1016" rIns="1016" bIns="1016" rtlCol="0" anchor="ctr">
            <a:normAutofit/>
          </a:bodyPr>
          <a:lstStyle/>
          <a:p>
            <a:pPr algn="ctr" indent="0" marL="0">
              <a:buNone/>
            </a:pPr>
            <a:r>
              <a:rPr lang="en-US" sz="950" b="1" dirty="0">
                <a:solidFill>
                  <a:srgbClr val="334155"/>
                </a:solidFill>
                <a:latin typeface="Arial" pitchFamily="34" charset="0"/>
                <a:ea typeface="Arial" pitchFamily="34" charset="-122"/>
                <a:cs typeface="Arial" pitchFamily="34" charset="-120"/>
              </a:rPr>
              <a:t>HTTP API</a:t>
            </a:r>
            <a:endParaRPr lang="en-US" sz="950" dirty="0"/>
          </a:p>
        </p:txBody>
      </p:sp>
      <p:sp>
        <p:nvSpPr>
          <p:cNvPr id="29" name="Shape 27"/>
          <p:cNvSpPr/>
          <p:nvPr/>
        </p:nvSpPr>
        <p:spPr>
          <a:xfrm>
            <a:off x="4800600" y="4507992"/>
            <a:ext cx="1234440" cy="804672"/>
          </a:xfrm>
          <a:prstGeom prst="chevron">
            <a:avLst/>
          </a:prstGeom>
          <a:solidFill>
            <a:srgbClr val="DBEAFE"/>
          </a:solidFill>
          <a:ln w="12700">
            <a:solidFill>
              <a:srgbClr val="FFFFFF"/>
            </a:solidFill>
            <a:prstDash val="solid"/>
          </a:ln>
        </p:spPr>
      </p:sp>
      <p:sp>
        <p:nvSpPr>
          <p:cNvPr id="30" name="Text 28"/>
          <p:cNvSpPr/>
          <p:nvPr/>
        </p:nvSpPr>
        <p:spPr>
          <a:xfrm>
            <a:off x="4846320" y="4645152"/>
            <a:ext cx="960120" cy="484632"/>
          </a:xfrm>
          <a:prstGeom prst="rect">
            <a:avLst/>
          </a:prstGeom>
          <a:noFill/>
          <a:ln/>
        </p:spPr>
        <p:txBody>
          <a:bodyPr wrap="square" lIns="1016" tIns="1016" rIns="1016" bIns="1016" rtlCol="0" anchor="ctr">
            <a:normAutofit/>
          </a:bodyPr>
          <a:lstStyle/>
          <a:p>
            <a:pPr algn="ctr" indent="0" marL="0">
              <a:buNone/>
            </a:pPr>
            <a:r>
              <a:rPr lang="en-US" sz="950" b="1" dirty="0">
                <a:solidFill>
                  <a:srgbClr val="334155"/>
                </a:solidFill>
                <a:latin typeface="Arial" pitchFamily="34" charset="0"/>
                <a:ea typeface="Arial" pitchFamily="34" charset="-122"/>
                <a:cs typeface="Arial" pitchFamily="34" charset="-120"/>
              </a:rPr>
              <a:t>Application</a:t>
            </a:r>
            <a:endParaRPr lang="en-US" sz="950" dirty="0"/>
          </a:p>
        </p:txBody>
      </p:sp>
      <p:sp>
        <p:nvSpPr>
          <p:cNvPr id="31" name="Shape 29"/>
          <p:cNvSpPr/>
          <p:nvPr/>
        </p:nvSpPr>
        <p:spPr>
          <a:xfrm>
            <a:off x="5925312" y="4507992"/>
            <a:ext cx="1234440" cy="804672"/>
          </a:xfrm>
          <a:prstGeom prst="chevron">
            <a:avLst/>
          </a:prstGeom>
          <a:solidFill>
            <a:srgbClr val="2563EB"/>
          </a:solidFill>
          <a:ln w="12700">
            <a:solidFill>
              <a:srgbClr val="FFFFFF"/>
            </a:solidFill>
            <a:prstDash val="solid"/>
          </a:ln>
        </p:spPr>
      </p:sp>
      <p:sp>
        <p:nvSpPr>
          <p:cNvPr id="32" name="Text 30"/>
          <p:cNvSpPr/>
          <p:nvPr/>
        </p:nvSpPr>
        <p:spPr>
          <a:xfrm>
            <a:off x="5971032" y="4645152"/>
            <a:ext cx="960120" cy="484632"/>
          </a:xfrm>
          <a:prstGeom prst="rect">
            <a:avLst/>
          </a:prstGeom>
          <a:noFill/>
          <a:ln/>
        </p:spPr>
        <p:txBody>
          <a:bodyPr wrap="square" lIns="1016" tIns="1016" rIns="1016" bIns="1016" rtlCol="0" anchor="ctr">
            <a:norm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Domain</a:t>
            </a:r>
            <a:endParaRPr lang="en-US" sz="950" dirty="0"/>
          </a:p>
        </p:txBody>
      </p:sp>
      <p:sp>
        <p:nvSpPr>
          <p:cNvPr id="33" name="Shape 31"/>
          <p:cNvSpPr/>
          <p:nvPr/>
        </p:nvSpPr>
        <p:spPr>
          <a:xfrm>
            <a:off x="7050024" y="4507992"/>
            <a:ext cx="1234440" cy="804672"/>
          </a:xfrm>
          <a:prstGeom prst="chevron">
            <a:avLst/>
          </a:prstGeom>
          <a:solidFill>
            <a:srgbClr val="E2E8F0"/>
          </a:solidFill>
          <a:ln w="12700">
            <a:solidFill>
              <a:srgbClr val="FFFFFF"/>
            </a:solidFill>
            <a:prstDash val="solid"/>
          </a:ln>
        </p:spPr>
      </p:sp>
      <p:sp>
        <p:nvSpPr>
          <p:cNvPr id="34" name="Text 32"/>
          <p:cNvSpPr/>
          <p:nvPr/>
        </p:nvSpPr>
        <p:spPr>
          <a:xfrm>
            <a:off x="7095744" y="4645152"/>
            <a:ext cx="960120" cy="484632"/>
          </a:xfrm>
          <a:prstGeom prst="rect">
            <a:avLst/>
          </a:prstGeom>
          <a:noFill/>
          <a:ln/>
        </p:spPr>
        <p:txBody>
          <a:bodyPr wrap="square" lIns="1016" tIns="1016" rIns="1016" bIns="1016" rtlCol="0" anchor="ctr">
            <a:normAutofit/>
          </a:bodyPr>
          <a:lstStyle/>
          <a:p>
            <a:pPr algn="ctr" indent="0" marL="0">
              <a:buNone/>
            </a:pPr>
            <a:r>
              <a:rPr lang="en-US" sz="950" b="1" dirty="0">
                <a:solidFill>
                  <a:srgbClr val="334155"/>
                </a:solidFill>
                <a:latin typeface="Arial" pitchFamily="34" charset="0"/>
                <a:ea typeface="Arial" pitchFamily="34" charset="-122"/>
                <a:cs typeface="Arial" pitchFamily="34" charset="-120"/>
              </a:rPr>
              <a:t>Infrastructure</a:t>
            </a:r>
            <a:endParaRPr lang="en-US" sz="950" dirty="0"/>
          </a:p>
        </p:txBody>
      </p:sp>
      <p:sp>
        <p:nvSpPr>
          <p:cNvPr id="35" name="Text 33"/>
          <p:cNvSpPr/>
          <p:nvPr/>
        </p:nvSpPr>
        <p:spPr>
          <a:xfrm>
            <a:off x="3712464" y="5532120"/>
            <a:ext cx="4434840" cy="228600"/>
          </a:xfrm>
          <a:prstGeom prst="rect">
            <a:avLst/>
          </a:prstGeom>
          <a:noFill/>
          <a:ln/>
        </p:spPr>
        <p:txBody>
          <a:bodyPr wrap="square" lIns="0" tIns="0" rIns="0" bIns="0" rtlCol="0" anchor="ctr"/>
          <a:lstStyle/>
          <a:p>
            <a:pPr algn="ctr" indent="0" marL="0">
              <a:buNone/>
            </a:pPr>
            <a:r>
              <a:rPr lang="en-US" sz="950" b="1" dirty="0">
                <a:solidFill>
                  <a:srgbClr val="334155"/>
                </a:solidFill>
                <a:latin typeface="Arial" pitchFamily="34" charset="0"/>
                <a:ea typeface="Arial" pitchFamily="34" charset="-122"/>
                <a:cs typeface="Arial" pitchFamily="34" charset="-120"/>
              </a:rPr>
              <a:t>API → Application → Domain ← Infrastructure</a:t>
            </a:r>
            <a:endParaRPr lang="en-US" sz="950" dirty="0"/>
          </a:p>
        </p:txBody>
      </p:sp>
      <p:sp>
        <p:nvSpPr>
          <p:cNvPr id="36" name="Shape 34"/>
          <p:cNvSpPr/>
          <p:nvPr/>
        </p:nvSpPr>
        <p:spPr>
          <a:xfrm>
            <a:off x="8668512" y="3858768"/>
            <a:ext cx="594360" cy="0"/>
          </a:xfrm>
          <a:prstGeom prst="line">
            <a:avLst/>
          </a:prstGeom>
          <a:noFill/>
          <a:ln w="25400">
            <a:solidFill>
              <a:srgbClr val="94A3B8"/>
            </a:solidFill>
            <a:prstDash val="solid"/>
            <a:headEnd type="none"/>
            <a:tailEnd type="triangle"/>
          </a:ln>
        </p:spPr>
      </p:sp>
      <p:sp>
        <p:nvSpPr>
          <p:cNvPr id="37" name="Shape 35"/>
          <p:cNvSpPr/>
          <p:nvPr/>
        </p:nvSpPr>
        <p:spPr>
          <a:xfrm>
            <a:off x="9372600" y="1572768"/>
            <a:ext cx="2148840" cy="4526280"/>
          </a:xfrm>
          <a:prstGeom prst="roundRect">
            <a:avLst>
              <a:gd name="adj" fmla="val 3404"/>
            </a:avLst>
          </a:prstGeom>
          <a:solidFill>
            <a:srgbClr val="F8FAFC"/>
          </a:solidFill>
          <a:ln w="10160">
            <a:solidFill>
              <a:srgbClr val="CBD5E1"/>
            </a:solidFill>
            <a:prstDash val="solid"/>
          </a:ln>
          <a:effectLst>
            <a:outerShdw sx="100000" sy="100000" kx="0" ky="0" algn="bl" rotWithShape="0" blurRad="19050" dist="50800" dir="2700000">
              <a:srgbClr val="94A3B8">
                <a:alpha val="13000"/>
              </a:srgbClr>
            </a:outerShdw>
          </a:effectLst>
        </p:spPr>
      </p:sp>
      <p:sp>
        <p:nvSpPr>
          <p:cNvPr id="38" name="Text 36"/>
          <p:cNvSpPr/>
          <p:nvPr/>
        </p:nvSpPr>
        <p:spPr>
          <a:xfrm>
            <a:off x="9692640" y="1810512"/>
            <a:ext cx="1508760" cy="548640"/>
          </a:xfrm>
          <a:prstGeom prst="rect">
            <a:avLst/>
          </a:prstGeom>
          <a:noFill/>
          <a:ln/>
        </p:spPr>
        <p:txBody>
          <a:bodyPr wrap="square" lIns="1016" tIns="1016" rIns="1016" bIns="1016" rtlCol="0" anchor="ctr">
            <a:normAutofit/>
          </a:bodyPr>
          <a:lstStyle/>
          <a:p>
            <a:pPr algn="ctr" indent="0" marL="0">
              <a:buNone/>
            </a:pPr>
            <a:r>
              <a:rPr lang="en-US" sz="1400" b="1" dirty="0">
                <a:solidFill>
                  <a:srgbClr val="0F172A"/>
                </a:solidFill>
                <a:latin typeface="Arial" pitchFamily="34" charset="0"/>
                <a:ea typeface="Arial" pitchFamily="34" charset="-122"/>
                <a:cs typeface="Arial" pitchFamily="34" charset="-120"/>
              </a:rPr>
              <a:t>DATA &amp; EXTERNALS</a:t>
            </a:r>
            <a:endParaRPr lang="en-US" sz="1400" dirty="0"/>
          </a:p>
        </p:txBody>
      </p:sp>
      <p:sp>
        <p:nvSpPr>
          <p:cNvPr id="39" name="Shape 37"/>
          <p:cNvSpPr/>
          <p:nvPr/>
        </p:nvSpPr>
        <p:spPr>
          <a:xfrm>
            <a:off x="9646920" y="2651760"/>
            <a:ext cx="1600200" cy="713232"/>
          </a:xfrm>
          <a:prstGeom prst="roundRect">
            <a:avLst>
              <a:gd name="adj" fmla="val 10256"/>
            </a:avLst>
          </a:prstGeom>
          <a:solidFill>
            <a:srgbClr val="EFF6FF"/>
          </a:solidFill>
          <a:ln w="10160">
            <a:solidFill>
              <a:srgbClr val="EFF6FF"/>
            </a:solidFill>
            <a:prstDash val="solid"/>
          </a:ln>
        </p:spPr>
      </p:sp>
      <p:sp>
        <p:nvSpPr>
          <p:cNvPr id="40" name="Text 38"/>
          <p:cNvSpPr/>
          <p:nvPr/>
        </p:nvSpPr>
        <p:spPr>
          <a:xfrm>
            <a:off x="9765792" y="2734056"/>
            <a:ext cx="1362456" cy="502920"/>
          </a:xfrm>
          <a:prstGeom prst="rect">
            <a:avLst/>
          </a:prstGeom>
          <a:noFill/>
          <a:ln/>
        </p:spPr>
        <p:txBody>
          <a:bodyPr wrap="square" lIns="1016" tIns="1016" rIns="1016" bIns="1016" rtlCol="0" anchor="ctr">
            <a:normAutofit/>
          </a:bodyPr>
          <a:lstStyle/>
          <a:p>
            <a:pPr algn="ctr" indent="0" marL="0">
              <a:buNone/>
            </a:pPr>
            <a:r>
              <a:rPr lang="en-US" sz="1150" b="1" dirty="0">
                <a:solidFill>
                  <a:srgbClr val="2563EB"/>
                </a:solidFill>
                <a:latin typeface="Arial" pitchFamily="34" charset="0"/>
                <a:ea typeface="Arial" pitchFamily="34" charset="-122"/>
                <a:cs typeface="Arial" pitchFamily="34" charset="-120"/>
              </a:rPr>
              <a:t>MySQL 8.4</a:t>
            </a:r>
            <a:endParaRPr lang="en-US" sz="1150" dirty="0"/>
          </a:p>
          <a:p>
            <a:pPr algn="ctr" indent="0" marL="0">
              <a:buNone/>
            </a:pPr>
            <a:r>
              <a:rPr lang="en-US" sz="1150" b="1" dirty="0">
                <a:solidFill>
                  <a:srgbClr val="2563EB"/>
                </a:solidFill>
                <a:latin typeface="Arial" pitchFamily="34" charset="0"/>
                <a:ea typeface="Arial" pitchFamily="34" charset="-122"/>
                <a:cs typeface="Arial" pitchFamily="34" charset="-120"/>
              </a:rPr>
              <a:t>Accounts · Trades · Imports · History</a:t>
            </a:r>
            <a:endParaRPr lang="en-US" sz="1150" dirty="0"/>
          </a:p>
        </p:txBody>
      </p:sp>
      <p:sp>
        <p:nvSpPr>
          <p:cNvPr id="41" name="Shape 39"/>
          <p:cNvSpPr/>
          <p:nvPr/>
        </p:nvSpPr>
        <p:spPr>
          <a:xfrm>
            <a:off x="9646920" y="3611880"/>
            <a:ext cx="1600200" cy="713232"/>
          </a:xfrm>
          <a:prstGeom prst="roundRect">
            <a:avLst>
              <a:gd name="adj" fmla="val 10256"/>
            </a:avLst>
          </a:prstGeom>
          <a:solidFill>
            <a:srgbClr val="FEF3C7"/>
          </a:solidFill>
          <a:ln w="10160">
            <a:solidFill>
              <a:srgbClr val="FEF3C7"/>
            </a:solidFill>
            <a:prstDash val="solid"/>
          </a:ln>
        </p:spPr>
      </p:sp>
      <p:sp>
        <p:nvSpPr>
          <p:cNvPr id="42" name="Text 40"/>
          <p:cNvSpPr/>
          <p:nvPr/>
        </p:nvSpPr>
        <p:spPr>
          <a:xfrm>
            <a:off x="9765792" y="3694176"/>
            <a:ext cx="1362456" cy="502920"/>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latin typeface="Arial" pitchFamily="34" charset="0"/>
                <a:ea typeface="Arial" pitchFamily="34" charset="-122"/>
                <a:cs typeface="Arial" pitchFamily="34" charset="-120"/>
              </a:rPr>
              <a:t>Redis 7.4 · Disposable quote cache</a:t>
            </a:r>
            <a:endParaRPr lang="en-US" sz="1150" dirty="0"/>
          </a:p>
        </p:txBody>
      </p:sp>
      <p:sp>
        <p:nvSpPr>
          <p:cNvPr id="43" name="Shape 41"/>
          <p:cNvSpPr/>
          <p:nvPr/>
        </p:nvSpPr>
        <p:spPr>
          <a:xfrm>
            <a:off x="9646920" y="4572000"/>
            <a:ext cx="1600200" cy="713232"/>
          </a:xfrm>
          <a:prstGeom prst="roundRect">
            <a:avLst>
              <a:gd name="adj" fmla="val 10256"/>
            </a:avLst>
          </a:prstGeom>
          <a:solidFill>
            <a:srgbClr val="DCFCE7"/>
          </a:solidFill>
          <a:ln w="10160">
            <a:solidFill>
              <a:srgbClr val="DCFCE7"/>
            </a:solidFill>
            <a:prstDash val="solid"/>
          </a:ln>
        </p:spPr>
      </p:sp>
      <p:sp>
        <p:nvSpPr>
          <p:cNvPr id="44" name="Text 42"/>
          <p:cNvSpPr/>
          <p:nvPr/>
        </p:nvSpPr>
        <p:spPr>
          <a:xfrm>
            <a:off x="9765792" y="4654296"/>
            <a:ext cx="1362456" cy="502920"/>
          </a:xfrm>
          <a:prstGeom prst="rect">
            <a:avLst/>
          </a:prstGeom>
          <a:noFill/>
          <a:ln/>
        </p:spPr>
        <p:txBody>
          <a:bodyPr wrap="square" lIns="1016" tIns="1016" rIns="1016" bIns="1016" rtlCol="0" anchor="ctr">
            <a:normAutofit/>
          </a:bodyPr>
          <a:lstStyle/>
          <a:p>
            <a:pPr algn="ctr" indent="0" marL="0">
              <a:buNone/>
            </a:pPr>
            <a:r>
              <a:rPr lang="en-US" sz="1150" b="1" dirty="0">
                <a:solidFill>
                  <a:srgbClr val="15803D"/>
                </a:solidFill>
                <a:latin typeface="Arial" pitchFamily="34" charset="0"/>
                <a:ea typeface="Arial" pitchFamily="34" charset="-122"/>
                <a:cs typeface="Arial" pitchFamily="34" charset="-120"/>
              </a:rPr>
              <a:t>Mock / Finnhub provider</a:t>
            </a:r>
            <a:endParaRPr lang="en-US" sz="1150" dirty="0"/>
          </a:p>
        </p:txBody>
      </p:sp>
      <p:sp>
        <p:nvSpPr>
          <p:cNvPr id="45" name="Shape 43"/>
          <p:cNvSpPr/>
          <p:nvPr/>
        </p:nvSpPr>
        <p:spPr>
          <a:xfrm>
            <a:off x="9564624" y="5486400"/>
            <a:ext cx="1773936" cy="292608"/>
          </a:xfrm>
          <a:prstGeom prst="roundRect">
            <a:avLst>
              <a:gd name="adj" fmla="val 25000"/>
            </a:avLst>
          </a:prstGeom>
          <a:solidFill>
            <a:srgbClr val="E2E8F0"/>
          </a:solidFill>
          <a:ln w="12700">
            <a:solidFill>
              <a:srgbClr val="E2E8F0"/>
            </a:solidFill>
            <a:prstDash val="solid"/>
          </a:ln>
        </p:spPr>
      </p:sp>
      <p:sp>
        <p:nvSpPr>
          <p:cNvPr id="46" name="Text 44"/>
          <p:cNvSpPr/>
          <p:nvPr/>
        </p:nvSpPr>
        <p:spPr>
          <a:xfrm>
            <a:off x="9564624" y="5504688"/>
            <a:ext cx="1773936" cy="201168"/>
          </a:xfrm>
          <a:prstGeom prst="rect">
            <a:avLst/>
          </a:prstGeom>
          <a:noFill/>
          <a:ln/>
        </p:spPr>
        <p:txBody>
          <a:bodyPr wrap="square" lIns="0" tIns="0" rIns="0" bIns="0" rtlCol="0" anchor="ctr">
            <a:normAutofit/>
          </a:bodyPr>
          <a:lstStyle/>
          <a:p>
            <a:pPr algn="ctr" indent="0" marL="0">
              <a:buNone/>
            </a:pPr>
            <a:r>
              <a:rPr lang="en-US" sz="750" b="1" dirty="0">
                <a:solidFill>
                  <a:srgbClr val="334155"/>
                </a:solidFill>
                <a:latin typeface="Arial" pitchFamily="34" charset="0"/>
                <a:ea typeface="Arial" pitchFamily="34" charset="-122"/>
                <a:cs typeface="Arial" pitchFamily="34" charset="-120"/>
              </a:rPr>
              <a:t>REDIS ≠ SYSTEM OF RECORD</a:t>
            </a:r>
            <a:endParaRPr lang="en-US" sz="75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RESILIENCE</a:t>
            </a:r>
            <a:endParaRPr lang="en-US" sz="800" dirty="0"/>
          </a:p>
        </p:txBody>
      </p:sp>
      <p:sp>
        <p:nvSpPr>
          <p:cNvPr id="3" name="Text 1"/>
          <p:cNvSpPr/>
          <p:nvPr/>
        </p:nvSpPr>
        <p:spPr>
          <a:xfrm>
            <a:off x="566928" y="585216"/>
            <a:ext cx="8595360" cy="530352"/>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Market-Data Resilience and Honest Degradation</a:t>
            </a:r>
            <a:endParaRPr lang="en-US" sz="2400" dirty="0"/>
          </a:p>
        </p:txBody>
      </p:sp>
      <p:sp>
        <p:nvSpPr>
          <p:cNvPr id="4" name="Text 2"/>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07</a:t>
            </a:r>
            <a:endParaRPr lang="en-US" sz="1800" dirty="0"/>
          </a:p>
        </p:txBody>
      </p:sp>
      <p:sp>
        <p:nvSpPr>
          <p:cNvPr id="5" name="Shape 3"/>
          <p:cNvSpPr/>
          <p:nvPr/>
        </p:nvSpPr>
        <p:spPr>
          <a:xfrm>
            <a:off x="658368" y="1874520"/>
            <a:ext cx="1691640" cy="1188720"/>
          </a:xfrm>
          <a:prstGeom prst="roundRect">
            <a:avLst>
              <a:gd name="adj" fmla="val 6154"/>
            </a:avLst>
          </a:prstGeom>
          <a:solidFill>
            <a:srgbClr val="FFFFFF"/>
          </a:solidFill>
          <a:ln w="10160">
            <a:solidFill>
              <a:srgbClr val="CBD5E1"/>
            </a:solidFill>
            <a:prstDash val="solid"/>
          </a:ln>
        </p:spPr>
      </p:sp>
      <p:sp>
        <p:nvSpPr>
          <p:cNvPr id="6" name="Text 4"/>
          <p:cNvSpPr/>
          <p:nvPr/>
        </p:nvSpPr>
        <p:spPr>
          <a:xfrm>
            <a:off x="822960" y="2084832"/>
            <a:ext cx="1362456" cy="694944"/>
          </a:xfrm>
          <a:prstGeom prst="rect">
            <a:avLst/>
          </a:prstGeom>
          <a:noFill/>
          <a:ln/>
        </p:spPr>
        <p:txBody>
          <a:bodyPr wrap="square" lIns="1016" tIns="1016" rIns="1016" bIns="1016" rtlCol="0" anchor="ctr">
            <a:normAutofit/>
          </a:bodyPr>
          <a:lstStyle/>
          <a:p>
            <a:pPr algn="ctr" indent="0" marL="0">
              <a:buNone/>
            </a:pPr>
            <a:r>
              <a:rPr lang="en-US" sz="1400" b="1" dirty="0">
                <a:solidFill>
                  <a:srgbClr val="2563EB"/>
                </a:solidFill>
                <a:latin typeface="Arial" pitchFamily="34" charset="0"/>
                <a:ea typeface="Arial" pitchFamily="34" charset="-122"/>
                <a:cs typeface="Arial" pitchFamily="34" charset="-120"/>
              </a:rPr>
              <a:t>Request quote</a:t>
            </a:r>
            <a:endParaRPr lang="en-US" sz="1400" dirty="0"/>
          </a:p>
        </p:txBody>
      </p:sp>
      <p:sp>
        <p:nvSpPr>
          <p:cNvPr id="7" name="Shape 5"/>
          <p:cNvSpPr/>
          <p:nvPr/>
        </p:nvSpPr>
        <p:spPr>
          <a:xfrm>
            <a:off x="2414016" y="2459736"/>
            <a:ext cx="384048" cy="0"/>
          </a:xfrm>
          <a:prstGeom prst="line">
            <a:avLst/>
          </a:prstGeom>
          <a:noFill/>
          <a:ln w="25400">
            <a:solidFill>
              <a:srgbClr val="94A3B8"/>
            </a:solidFill>
            <a:prstDash val="solid"/>
            <a:headEnd type="none"/>
            <a:tailEnd type="triangle"/>
          </a:ln>
        </p:spPr>
      </p:sp>
      <p:sp>
        <p:nvSpPr>
          <p:cNvPr id="8" name="Shape 6"/>
          <p:cNvSpPr/>
          <p:nvPr/>
        </p:nvSpPr>
        <p:spPr>
          <a:xfrm>
            <a:off x="2880360" y="1874520"/>
            <a:ext cx="1691640" cy="1188720"/>
          </a:xfrm>
          <a:prstGeom prst="roundRect">
            <a:avLst>
              <a:gd name="adj" fmla="val 6154"/>
            </a:avLst>
          </a:prstGeom>
          <a:solidFill>
            <a:srgbClr val="EFF6FF"/>
          </a:solidFill>
          <a:ln w="10160">
            <a:solidFill>
              <a:srgbClr val="EFF6FF"/>
            </a:solidFill>
            <a:prstDash val="solid"/>
          </a:ln>
        </p:spPr>
      </p:sp>
      <p:sp>
        <p:nvSpPr>
          <p:cNvPr id="9" name="Text 7"/>
          <p:cNvSpPr/>
          <p:nvPr/>
        </p:nvSpPr>
        <p:spPr>
          <a:xfrm>
            <a:off x="3044952" y="2084832"/>
            <a:ext cx="1362456" cy="694944"/>
          </a:xfrm>
          <a:prstGeom prst="rect">
            <a:avLst/>
          </a:prstGeom>
          <a:noFill/>
          <a:ln/>
        </p:spPr>
        <p:txBody>
          <a:bodyPr wrap="square" lIns="1016" tIns="1016" rIns="1016" bIns="1016" rtlCol="0" anchor="ctr">
            <a:normAutofit/>
          </a:bodyPr>
          <a:lstStyle/>
          <a:p>
            <a:pPr algn="ctr" indent="0" marL="0">
              <a:buNone/>
            </a:pPr>
            <a:r>
              <a:rPr lang="en-US" sz="1400" b="1" dirty="0">
                <a:solidFill>
                  <a:srgbClr val="1D4ED8"/>
                </a:solidFill>
                <a:latin typeface="Arial" pitchFamily="34" charset="0"/>
                <a:ea typeface="Arial" pitchFamily="34" charset="-122"/>
                <a:cs typeface="Arial" pitchFamily="34" charset="-120"/>
              </a:rPr>
              <a:t>Provider</a:t>
            </a:r>
            <a:endParaRPr lang="en-US" sz="1400" dirty="0"/>
          </a:p>
          <a:p>
            <a:pPr algn="ctr" indent="0" marL="0">
              <a:buNone/>
            </a:pPr>
            <a:r>
              <a:rPr lang="en-US" sz="1400" b="1" dirty="0">
                <a:solidFill>
                  <a:srgbClr val="1D4ED8"/>
                </a:solidFill>
                <a:latin typeface="Arial" pitchFamily="34" charset="0"/>
                <a:ea typeface="Arial" pitchFamily="34" charset="-122"/>
                <a:cs typeface="Arial" pitchFamily="34" charset="-120"/>
              </a:rPr>
              <a:t>Mock or Finnhub</a:t>
            </a:r>
            <a:endParaRPr lang="en-US" sz="1400" dirty="0"/>
          </a:p>
        </p:txBody>
      </p:sp>
      <p:sp>
        <p:nvSpPr>
          <p:cNvPr id="10" name="Shape 8"/>
          <p:cNvSpPr/>
          <p:nvPr/>
        </p:nvSpPr>
        <p:spPr>
          <a:xfrm>
            <a:off x="4636008" y="2459736"/>
            <a:ext cx="384048" cy="0"/>
          </a:xfrm>
          <a:prstGeom prst="line">
            <a:avLst/>
          </a:prstGeom>
          <a:noFill/>
          <a:ln w="25400">
            <a:solidFill>
              <a:srgbClr val="94A3B8"/>
            </a:solidFill>
            <a:prstDash val="solid"/>
            <a:headEnd type="none"/>
            <a:tailEnd type="triangle"/>
          </a:ln>
        </p:spPr>
      </p:sp>
      <p:sp>
        <p:nvSpPr>
          <p:cNvPr id="11" name="Shape 9"/>
          <p:cNvSpPr/>
          <p:nvPr/>
        </p:nvSpPr>
        <p:spPr>
          <a:xfrm>
            <a:off x="5102352" y="1874520"/>
            <a:ext cx="1691640" cy="1188720"/>
          </a:xfrm>
          <a:prstGeom prst="roundRect">
            <a:avLst>
              <a:gd name="adj" fmla="val 6154"/>
            </a:avLst>
          </a:prstGeom>
          <a:solidFill>
            <a:srgbClr val="FEF3C7"/>
          </a:solidFill>
          <a:ln w="10160">
            <a:solidFill>
              <a:srgbClr val="FEF3C7"/>
            </a:solidFill>
            <a:prstDash val="solid"/>
          </a:ln>
        </p:spPr>
      </p:sp>
      <p:sp>
        <p:nvSpPr>
          <p:cNvPr id="12" name="Text 10"/>
          <p:cNvSpPr/>
          <p:nvPr/>
        </p:nvSpPr>
        <p:spPr>
          <a:xfrm>
            <a:off x="5266944" y="2084832"/>
            <a:ext cx="1362456" cy="694944"/>
          </a:xfrm>
          <a:prstGeom prst="rect">
            <a:avLst/>
          </a:prstGeom>
          <a:noFill/>
          <a:ln/>
        </p:spPr>
        <p:txBody>
          <a:bodyPr wrap="square" lIns="1016" tIns="1016" rIns="1016" bIns="1016" rtlCol="0" anchor="ctr">
            <a:normAutofit/>
          </a:bodyPr>
          <a:lstStyle/>
          <a:p>
            <a:pPr algn="ctr" indent="0" marL="0">
              <a:buNone/>
            </a:pPr>
            <a:r>
              <a:rPr lang="en-US" sz="1400" b="1" dirty="0">
                <a:solidFill>
                  <a:srgbClr val="D97706"/>
                </a:solidFill>
                <a:latin typeface="Arial" pitchFamily="34" charset="0"/>
                <a:ea typeface="Arial" pitchFamily="34" charset="-122"/>
                <a:cs typeface="Arial" pitchFamily="34" charset="-120"/>
              </a:rPr>
              <a:t>Redis</a:t>
            </a:r>
            <a:endParaRPr lang="en-US" sz="1400" dirty="0"/>
          </a:p>
          <a:p>
            <a:pPr algn="ctr" indent="0" marL="0">
              <a:buNone/>
            </a:pPr>
            <a:r>
              <a:rPr lang="en-US" sz="1400" b="1" dirty="0">
                <a:solidFill>
                  <a:srgbClr val="D97706"/>
                </a:solidFill>
                <a:latin typeface="Arial" pitchFamily="34" charset="0"/>
                <a:ea typeface="Arial" pitchFamily="34" charset="-122"/>
                <a:cs typeface="Arial" pitchFamily="34" charset="-120"/>
              </a:rPr>
              <a:t>Fresh + retained</a:t>
            </a:r>
            <a:endParaRPr lang="en-US" sz="1400" dirty="0"/>
          </a:p>
        </p:txBody>
      </p:sp>
      <p:sp>
        <p:nvSpPr>
          <p:cNvPr id="13" name="Shape 11"/>
          <p:cNvSpPr/>
          <p:nvPr/>
        </p:nvSpPr>
        <p:spPr>
          <a:xfrm>
            <a:off x="6858000" y="2459736"/>
            <a:ext cx="384048" cy="0"/>
          </a:xfrm>
          <a:prstGeom prst="line">
            <a:avLst/>
          </a:prstGeom>
          <a:noFill/>
          <a:ln w="25400">
            <a:solidFill>
              <a:srgbClr val="94A3B8"/>
            </a:solidFill>
            <a:prstDash val="solid"/>
            <a:headEnd type="none"/>
            <a:tailEnd type="triangle"/>
          </a:ln>
        </p:spPr>
      </p:sp>
      <p:sp>
        <p:nvSpPr>
          <p:cNvPr id="14" name="Shape 12"/>
          <p:cNvSpPr/>
          <p:nvPr/>
        </p:nvSpPr>
        <p:spPr>
          <a:xfrm>
            <a:off x="7324344" y="1874520"/>
            <a:ext cx="1691640" cy="1188720"/>
          </a:xfrm>
          <a:prstGeom prst="roundRect">
            <a:avLst>
              <a:gd name="adj" fmla="val 6154"/>
            </a:avLst>
          </a:prstGeom>
          <a:solidFill>
            <a:srgbClr val="DCFCE7"/>
          </a:solidFill>
          <a:ln w="10160">
            <a:solidFill>
              <a:srgbClr val="DCFCE7"/>
            </a:solidFill>
            <a:prstDash val="solid"/>
          </a:ln>
        </p:spPr>
      </p:sp>
      <p:sp>
        <p:nvSpPr>
          <p:cNvPr id="15" name="Text 13"/>
          <p:cNvSpPr/>
          <p:nvPr/>
        </p:nvSpPr>
        <p:spPr>
          <a:xfrm>
            <a:off x="7488936" y="2084832"/>
            <a:ext cx="1362456" cy="694944"/>
          </a:xfrm>
          <a:prstGeom prst="rect">
            <a:avLst/>
          </a:prstGeom>
          <a:noFill/>
          <a:ln/>
        </p:spPr>
        <p:txBody>
          <a:bodyPr wrap="square" lIns="1016" tIns="1016" rIns="1016" bIns="1016" rtlCol="0" anchor="ctr">
            <a:normAutofit/>
          </a:bodyPr>
          <a:lstStyle/>
          <a:p>
            <a:pPr algn="ctr" indent="0" marL="0">
              <a:buNone/>
            </a:pPr>
            <a:r>
              <a:rPr lang="en-US" sz="1400" b="1" dirty="0">
                <a:solidFill>
                  <a:srgbClr val="15803D"/>
                </a:solidFill>
                <a:latin typeface="Arial" pitchFamily="34" charset="0"/>
                <a:ea typeface="Arial" pitchFamily="34" charset="-122"/>
                <a:cs typeface="Arial" pitchFamily="34" charset="-120"/>
              </a:rPr>
              <a:t>Valuation result</a:t>
            </a:r>
            <a:endParaRPr lang="en-US" sz="1400" dirty="0"/>
          </a:p>
        </p:txBody>
      </p:sp>
      <p:sp>
        <p:nvSpPr>
          <p:cNvPr id="16" name="Shape 14"/>
          <p:cNvSpPr/>
          <p:nvPr/>
        </p:nvSpPr>
        <p:spPr>
          <a:xfrm>
            <a:off x="9107424" y="2459736"/>
            <a:ext cx="384048" cy="0"/>
          </a:xfrm>
          <a:prstGeom prst="line">
            <a:avLst/>
          </a:prstGeom>
          <a:noFill/>
          <a:ln w="25400">
            <a:solidFill>
              <a:srgbClr val="94A3B8"/>
            </a:solidFill>
            <a:prstDash val="solid"/>
            <a:headEnd type="none"/>
            <a:tailEnd type="triangle"/>
          </a:ln>
        </p:spPr>
      </p:sp>
      <p:sp>
        <p:nvSpPr>
          <p:cNvPr id="17" name="Shape 15"/>
          <p:cNvSpPr/>
          <p:nvPr/>
        </p:nvSpPr>
        <p:spPr>
          <a:xfrm>
            <a:off x="9619488" y="1664208"/>
            <a:ext cx="1901952" cy="1618488"/>
          </a:xfrm>
          <a:prstGeom prst="roundRect">
            <a:avLst>
              <a:gd name="adj" fmla="val 4520"/>
            </a:avLst>
          </a:prstGeom>
          <a:solidFill>
            <a:srgbClr val="0F172A"/>
          </a:solidFill>
          <a:ln w="10160">
            <a:solidFill>
              <a:srgbClr val="0F172A"/>
            </a:solidFill>
            <a:prstDash val="solid"/>
          </a:ln>
          <a:effectLst>
            <a:outerShdw sx="100000" sy="100000" kx="0" ky="0" algn="bl" rotWithShape="0" blurRad="19050" dist="50800" dir="2700000">
              <a:srgbClr val="94A3B8">
                <a:alpha val="13000"/>
              </a:srgbClr>
            </a:outerShdw>
          </a:effectLst>
        </p:spPr>
      </p:sp>
      <p:sp>
        <p:nvSpPr>
          <p:cNvPr id="18" name="Text 16"/>
          <p:cNvSpPr/>
          <p:nvPr/>
        </p:nvSpPr>
        <p:spPr>
          <a:xfrm>
            <a:off x="9875520" y="1847088"/>
            <a:ext cx="1389888" cy="512064"/>
          </a:xfrm>
          <a:prstGeom prst="rect">
            <a:avLst/>
          </a:prstGeom>
          <a:noFill/>
          <a:ln/>
        </p:spPr>
        <p:txBody>
          <a:bodyPr wrap="square" lIns="1016" tIns="1016" rIns="1016" bIns="1016"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STATUS MUST BE VISIBLE</a:t>
            </a:r>
            <a:endParaRPr lang="en-US" sz="1300" dirty="0"/>
          </a:p>
        </p:txBody>
      </p:sp>
      <p:sp>
        <p:nvSpPr>
          <p:cNvPr id="19" name="Shape 17"/>
          <p:cNvSpPr/>
          <p:nvPr/>
        </p:nvSpPr>
        <p:spPr>
          <a:xfrm>
            <a:off x="9875520" y="2523744"/>
            <a:ext cx="566928" cy="292608"/>
          </a:xfrm>
          <a:prstGeom prst="roundRect">
            <a:avLst>
              <a:gd name="adj" fmla="val 25000"/>
            </a:avLst>
          </a:prstGeom>
          <a:solidFill>
            <a:srgbClr val="1E3A8A"/>
          </a:solidFill>
          <a:ln w="12700">
            <a:solidFill>
              <a:srgbClr val="1E3A8A"/>
            </a:solidFill>
            <a:prstDash val="solid"/>
          </a:ln>
        </p:spPr>
      </p:sp>
      <p:sp>
        <p:nvSpPr>
          <p:cNvPr id="20" name="Text 18"/>
          <p:cNvSpPr/>
          <p:nvPr/>
        </p:nvSpPr>
        <p:spPr>
          <a:xfrm>
            <a:off x="9875520" y="2542032"/>
            <a:ext cx="566928"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MOCK</a:t>
            </a:r>
            <a:endParaRPr lang="en-US" sz="750" dirty="0"/>
          </a:p>
        </p:txBody>
      </p:sp>
      <p:sp>
        <p:nvSpPr>
          <p:cNvPr id="21" name="Shape 19"/>
          <p:cNvSpPr/>
          <p:nvPr/>
        </p:nvSpPr>
        <p:spPr>
          <a:xfrm>
            <a:off x="10524744" y="2523744"/>
            <a:ext cx="566928" cy="292608"/>
          </a:xfrm>
          <a:prstGeom prst="roundRect">
            <a:avLst>
              <a:gd name="adj" fmla="val 25000"/>
            </a:avLst>
          </a:prstGeom>
          <a:solidFill>
            <a:srgbClr val="14532D"/>
          </a:solidFill>
          <a:ln w="12700">
            <a:solidFill>
              <a:srgbClr val="14532D"/>
            </a:solidFill>
            <a:prstDash val="solid"/>
          </a:ln>
        </p:spPr>
      </p:sp>
      <p:sp>
        <p:nvSpPr>
          <p:cNvPr id="22" name="Text 20"/>
          <p:cNvSpPr/>
          <p:nvPr/>
        </p:nvSpPr>
        <p:spPr>
          <a:xfrm>
            <a:off x="10524744" y="2542032"/>
            <a:ext cx="566928" cy="201168"/>
          </a:xfrm>
          <a:prstGeom prst="rect">
            <a:avLst/>
          </a:prstGeom>
          <a:noFill/>
          <a:ln/>
        </p:spPr>
        <p:txBody>
          <a:bodyPr wrap="square" lIns="0" tIns="0" rIns="0" bIns="0" rtlCol="0" anchor="ctr">
            <a:normAutofit/>
          </a:bodyPr>
          <a:lstStyle/>
          <a:p>
            <a:pPr algn="ctr" indent="0" marL="0">
              <a:buNone/>
            </a:pPr>
            <a:r>
              <a:rPr lang="en-US" sz="750" b="1" dirty="0">
                <a:solidFill>
                  <a:srgbClr val="DCFCE7"/>
                </a:solidFill>
                <a:latin typeface="Arial" pitchFamily="34" charset="0"/>
                <a:ea typeface="Arial" pitchFamily="34" charset="-122"/>
                <a:cs typeface="Arial" pitchFamily="34" charset="-120"/>
              </a:rPr>
              <a:t>LIVE</a:t>
            </a:r>
            <a:endParaRPr lang="en-US" sz="750" dirty="0"/>
          </a:p>
        </p:txBody>
      </p:sp>
      <p:sp>
        <p:nvSpPr>
          <p:cNvPr id="23" name="Shape 21"/>
          <p:cNvSpPr/>
          <p:nvPr/>
        </p:nvSpPr>
        <p:spPr>
          <a:xfrm>
            <a:off x="9875520" y="2852928"/>
            <a:ext cx="566928" cy="292608"/>
          </a:xfrm>
          <a:prstGeom prst="roundRect">
            <a:avLst>
              <a:gd name="adj" fmla="val 25000"/>
            </a:avLst>
          </a:prstGeom>
          <a:solidFill>
            <a:srgbClr val="78350F"/>
          </a:solidFill>
          <a:ln w="12700">
            <a:solidFill>
              <a:srgbClr val="78350F"/>
            </a:solidFill>
            <a:prstDash val="solid"/>
          </a:ln>
        </p:spPr>
      </p:sp>
      <p:sp>
        <p:nvSpPr>
          <p:cNvPr id="24" name="Text 22"/>
          <p:cNvSpPr/>
          <p:nvPr/>
        </p:nvSpPr>
        <p:spPr>
          <a:xfrm>
            <a:off x="9875520" y="2871216"/>
            <a:ext cx="566928" cy="201168"/>
          </a:xfrm>
          <a:prstGeom prst="rect">
            <a:avLst/>
          </a:prstGeom>
          <a:noFill/>
          <a:ln/>
        </p:spPr>
        <p:txBody>
          <a:bodyPr wrap="square" lIns="0" tIns="0" rIns="0" bIns="0" rtlCol="0" anchor="ctr">
            <a:normAutofit/>
          </a:bodyPr>
          <a:lstStyle/>
          <a:p>
            <a:pPr algn="ctr" indent="0" marL="0">
              <a:buNone/>
            </a:pPr>
            <a:r>
              <a:rPr lang="en-US" sz="750" b="1" dirty="0">
                <a:solidFill>
                  <a:srgbClr val="FEF3C7"/>
                </a:solidFill>
                <a:latin typeface="Arial" pitchFamily="34" charset="0"/>
                <a:ea typeface="Arial" pitchFamily="34" charset="-122"/>
                <a:cs typeface="Arial" pitchFamily="34" charset="-120"/>
              </a:rPr>
              <a:t>STALE</a:t>
            </a:r>
            <a:endParaRPr lang="en-US" sz="750" dirty="0"/>
          </a:p>
        </p:txBody>
      </p:sp>
      <p:sp>
        <p:nvSpPr>
          <p:cNvPr id="25" name="Shape 23"/>
          <p:cNvSpPr/>
          <p:nvPr/>
        </p:nvSpPr>
        <p:spPr>
          <a:xfrm>
            <a:off x="10524744" y="2852928"/>
            <a:ext cx="566928" cy="292608"/>
          </a:xfrm>
          <a:prstGeom prst="roundRect">
            <a:avLst>
              <a:gd name="adj" fmla="val 25000"/>
            </a:avLst>
          </a:prstGeom>
          <a:solidFill>
            <a:srgbClr val="334155"/>
          </a:solidFill>
          <a:ln w="12700">
            <a:solidFill>
              <a:srgbClr val="334155"/>
            </a:solidFill>
            <a:prstDash val="solid"/>
          </a:ln>
        </p:spPr>
      </p:sp>
      <p:sp>
        <p:nvSpPr>
          <p:cNvPr id="26" name="Text 24"/>
          <p:cNvSpPr/>
          <p:nvPr/>
        </p:nvSpPr>
        <p:spPr>
          <a:xfrm>
            <a:off x="10524744" y="2871216"/>
            <a:ext cx="566928" cy="201168"/>
          </a:xfrm>
          <a:prstGeom prst="rect">
            <a:avLst/>
          </a:prstGeom>
          <a:noFill/>
          <a:ln/>
        </p:spPr>
        <p:txBody>
          <a:bodyPr wrap="square" lIns="0" tIns="0" rIns="0" bIns="0" rtlCol="0" anchor="ctr">
            <a:normAutofit/>
          </a:bodyPr>
          <a:lstStyle/>
          <a:p>
            <a:pPr algn="ctr" indent="0" marL="0">
              <a:buNone/>
            </a:pPr>
            <a:r>
              <a:rPr lang="en-US" sz="750" b="1" dirty="0">
                <a:solidFill>
                  <a:srgbClr val="E2E8F0"/>
                </a:solidFill>
                <a:latin typeface="Arial" pitchFamily="34" charset="0"/>
                <a:ea typeface="Arial" pitchFamily="34" charset="-122"/>
                <a:cs typeface="Arial" pitchFamily="34" charset="-120"/>
              </a:rPr>
              <a:t>CACHED</a:t>
            </a:r>
            <a:endParaRPr lang="en-US" sz="750" dirty="0"/>
          </a:p>
        </p:txBody>
      </p:sp>
      <p:sp>
        <p:nvSpPr>
          <p:cNvPr id="27" name="Text 25"/>
          <p:cNvSpPr/>
          <p:nvPr/>
        </p:nvSpPr>
        <p:spPr>
          <a:xfrm>
            <a:off x="749808" y="3767328"/>
            <a:ext cx="1828800" cy="228600"/>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CACHE WINDOWS</a:t>
            </a:r>
            <a:endParaRPr lang="en-US" sz="900" dirty="0"/>
          </a:p>
        </p:txBody>
      </p:sp>
      <p:sp>
        <p:nvSpPr>
          <p:cNvPr id="28" name="Shape 26"/>
          <p:cNvSpPr/>
          <p:nvPr/>
        </p:nvSpPr>
        <p:spPr>
          <a:xfrm>
            <a:off x="749808" y="4462272"/>
            <a:ext cx="9930384" cy="0"/>
          </a:xfrm>
          <a:prstGeom prst="line">
            <a:avLst/>
          </a:prstGeom>
          <a:noFill/>
          <a:ln w="50800">
            <a:solidFill>
              <a:srgbClr val="CBD5E1"/>
            </a:solidFill>
            <a:prstDash val="solid"/>
          </a:ln>
        </p:spPr>
      </p:sp>
      <p:sp>
        <p:nvSpPr>
          <p:cNvPr id="29" name="Shape 27"/>
          <p:cNvSpPr/>
          <p:nvPr/>
        </p:nvSpPr>
        <p:spPr>
          <a:xfrm>
            <a:off x="749808" y="4462272"/>
            <a:ext cx="3657600" cy="0"/>
          </a:xfrm>
          <a:prstGeom prst="line">
            <a:avLst/>
          </a:prstGeom>
          <a:noFill/>
          <a:ln w="88900">
            <a:solidFill>
              <a:srgbClr val="15803D"/>
            </a:solidFill>
            <a:prstDash val="solid"/>
          </a:ln>
        </p:spPr>
      </p:sp>
      <p:sp>
        <p:nvSpPr>
          <p:cNvPr id="30" name="Shape 28"/>
          <p:cNvSpPr/>
          <p:nvPr/>
        </p:nvSpPr>
        <p:spPr>
          <a:xfrm>
            <a:off x="4407408" y="4462272"/>
            <a:ext cx="5349240" cy="0"/>
          </a:xfrm>
          <a:prstGeom prst="line">
            <a:avLst/>
          </a:prstGeom>
          <a:noFill/>
          <a:ln w="88900">
            <a:solidFill>
              <a:srgbClr val="D97706"/>
            </a:solidFill>
            <a:prstDash val="solid"/>
          </a:ln>
        </p:spPr>
      </p:sp>
      <p:sp>
        <p:nvSpPr>
          <p:cNvPr id="31" name="Shape 29"/>
          <p:cNvSpPr/>
          <p:nvPr/>
        </p:nvSpPr>
        <p:spPr>
          <a:xfrm>
            <a:off x="9756648" y="4462272"/>
            <a:ext cx="923544" cy="0"/>
          </a:xfrm>
          <a:prstGeom prst="line">
            <a:avLst/>
          </a:prstGeom>
          <a:noFill/>
          <a:ln w="88900">
            <a:solidFill>
              <a:srgbClr val="DC2626"/>
            </a:solidFill>
            <a:prstDash val="solid"/>
          </a:ln>
        </p:spPr>
      </p:sp>
      <p:sp>
        <p:nvSpPr>
          <p:cNvPr id="32" name="Text 30"/>
          <p:cNvSpPr/>
          <p:nvPr/>
        </p:nvSpPr>
        <p:spPr>
          <a:xfrm>
            <a:off x="749808" y="4645152"/>
            <a:ext cx="3246120" cy="566928"/>
          </a:xfrm>
          <a:prstGeom prst="rect">
            <a:avLst/>
          </a:prstGeom>
          <a:noFill/>
          <a:ln/>
        </p:spPr>
        <p:txBody>
          <a:bodyPr wrap="square" lIns="1016" tIns="1016" rIns="1016" bIns="1016" rtlCol="0" anchor="ctr">
            <a:normAutofit/>
          </a:bodyPr>
          <a:lstStyle/>
          <a:p>
            <a:pPr algn="l" indent="0" marL="0">
              <a:buNone/>
            </a:pPr>
            <a:r>
              <a:rPr lang="en-US" sz="1300" b="1" dirty="0">
                <a:solidFill>
                  <a:srgbClr val="15803D"/>
                </a:solidFill>
                <a:latin typeface="Arial" pitchFamily="34" charset="0"/>
                <a:ea typeface="Arial" pitchFamily="34" charset="-122"/>
                <a:cs typeface="Arial" pitchFamily="34" charset="-120"/>
              </a:rPr>
              <a:t>Fresh TTL · default 60s</a:t>
            </a:r>
            <a:endParaRPr lang="en-US" sz="1300" dirty="0"/>
          </a:p>
        </p:txBody>
      </p:sp>
      <p:sp>
        <p:nvSpPr>
          <p:cNvPr id="33" name="Text 31"/>
          <p:cNvSpPr/>
          <p:nvPr/>
        </p:nvSpPr>
        <p:spPr>
          <a:xfrm>
            <a:off x="4416552" y="4645152"/>
            <a:ext cx="4800600" cy="566928"/>
          </a:xfrm>
          <a:prstGeom prst="rect">
            <a:avLst/>
          </a:prstGeom>
          <a:noFill/>
          <a:ln/>
        </p:spPr>
        <p:txBody>
          <a:bodyPr wrap="square" lIns="1016" tIns="1016" rIns="1016" bIns="1016" rtlCol="0" anchor="ctr">
            <a:normAutofit/>
          </a:bodyPr>
          <a:lstStyle/>
          <a:p>
            <a:pPr algn="l" indent="0" marL="0">
              <a:buNone/>
            </a:pPr>
            <a:r>
              <a:rPr lang="en-US" sz="1300" b="1" dirty="0">
                <a:solidFill>
                  <a:srgbClr val="D97706"/>
                </a:solidFill>
                <a:latin typeface="Arial" pitchFamily="34" charset="0"/>
                <a:ea typeface="Arial" pitchFamily="34" charset="-122"/>
                <a:cs typeface="Arial" pitchFamily="34" charset="-120"/>
              </a:rPr>
              <a:t>Retention TTL · stale fallback on failure only</a:t>
            </a:r>
            <a:endParaRPr lang="en-US" sz="1300" dirty="0"/>
          </a:p>
        </p:txBody>
      </p:sp>
      <p:sp>
        <p:nvSpPr>
          <p:cNvPr id="34" name="Text 32"/>
          <p:cNvSpPr/>
          <p:nvPr/>
        </p:nvSpPr>
        <p:spPr>
          <a:xfrm>
            <a:off x="9765792" y="4645152"/>
            <a:ext cx="960120" cy="566928"/>
          </a:xfrm>
          <a:prstGeom prst="rect">
            <a:avLst/>
          </a:prstGeom>
          <a:noFill/>
          <a:ln/>
        </p:spPr>
        <p:txBody>
          <a:bodyPr wrap="square" lIns="1016" tIns="1016" rIns="1016" bIns="1016" rtlCol="0" anchor="ctr">
            <a:normAutofit/>
          </a:bodyPr>
          <a:lstStyle/>
          <a:p>
            <a:pPr algn="ctr" indent="0" marL="0">
              <a:buNone/>
            </a:pPr>
            <a:r>
              <a:rPr lang="en-US" sz="1100" b="1" dirty="0">
                <a:solidFill>
                  <a:srgbClr val="DC2626"/>
                </a:solidFill>
                <a:latin typeface="Arial" pitchFamily="34" charset="0"/>
                <a:ea typeface="Arial" pitchFamily="34" charset="-122"/>
                <a:cs typeface="Arial" pitchFamily="34" charset="-120"/>
              </a:rPr>
              <a:t>Unavailable</a:t>
            </a:r>
            <a:endParaRPr lang="en-US" sz="1100" dirty="0"/>
          </a:p>
        </p:txBody>
      </p:sp>
      <p:sp>
        <p:nvSpPr>
          <p:cNvPr id="35" name="Shape 33"/>
          <p:cNvSpPr/>
          <p:nvPr/>
        </p:nvSpPr>
        <p:spPr>
          <a:xfrm>
            <a:off x="2011680" y="5559552"/>
            <a:ext cx="8138160" cy="475488"/>
          </a:xfrm>
          <a:prstGeom prst="roundRect">
            <a:avLst>
              <a:gd name="adj" fmla="val 15385"/>
            </a:avLst>
          </a:prstGeom>
          <a:solidFill>
            <a:srgbClr val="FEE2E2"/>
          </a:solidFill>
          <a:ln w="12700">
            <a:solidFill>
              <a:srgbClr val="FCA5A5"/>
            </a:solidFill>
            <a:prstDash val="solid"/>
          </a:ln>
        </p:spPr>
      </p:sp>
      <p:sp>
        <p:nvSpPr>
          <p:cNvPr id="36" name="Text 34"/>
          <p:cNvSpPr/>
          <p:nvPr/>
        </p:nvSpPr>
        <p:spPr>
          <a:xfrm>
            <a:off x="2240280" y="5623560"/>
            <a:ext cx="7680960" cy="292608"/>
          </a:xfrm>
          <a:prstGeom prst="rect">
            <a:avLst/>
          </a:prstGeom>
          <a:noFill/>
          <a:ln/>
        </p:spPr>
        <p:txBody>
          <a:bodyPr wrap="square" lIns="1016" tIns="1016" rIns="1016" bIns="1016" rtlCol="0" anchor="ctr">
            <a:normAutofit/>
          </a:bodyPr>
          <a:lstStyle/>
          <a:p>
            <a:pPr algn="ctr" indent="0" marL="0">
              <a:buNone/>
            </a:pPr>
            <a:r>
              <a:rPr lang="en-US" sz="1300" b="1" dirty="0">
                <a:solidFill>
                  <a:srgbClr val="DC2626"/>
                </a:solidFill>
                <a:latin typeface="Arial" pitchFamily="34" charset="0"/>
                <a:ea typeface="Arial" pitchFamily="34" charset="-122"/>
                <a:cs typeface="Arial" pitchFamily="34" charset="-120"/>
              </a:rPr>
              <a:t>A failed real provider never silently falls back to generated Mock data.</a:t>
            </a:r>
            <a:endParaRPr lang="en-US" sz="1300" dirty="0"/>
          </a:p>
        </p:txBody>
      </p:sp>
      <p:sp>
        <p:nvSpPr>
          <p:cNvPr id="37" name="Shape 35"/>
          <p:cNvSpPr/>
          <p:nvPr/>
        </p:nvSpPr>
        <p:spPr>
          <a:xfrm>
            <a:off x="8796528" y="6144768"/>
            <a:ext cx="2450592" cy="292608"/>
          </a:xfrm>
          <a:prstGeom prst="roundRect">
            <a:avLst>
              <a:gd name="adj" fmla="val 25000"/>
            </a:avLst>
          </a:prstGeom>
          <a:solidFill>
            <a:srgbClr val="E2E8F0"/>
          </a:solidFill>
          <a:ln w="12700">
            <a:solidFill>
              <a:srgbClr val="E2E8F0"/>
            </a:solidFill>
            <a:prstDash val="solid"/>
          </a:ln>
        </p:spPr>
      </p:sp>
      <p:sp>
        <p:nvSpPr>
          <p:cNvPr id="38" name="Text 36"/>
          <p:cNvSpPr/>
          <p:nvPr/>
        </p:nvSpPr>
        <p:spPr>
          <a:xfrm>
            <a:off x="8796528" y="6163056"/>
            <a:ext cx="2450592" cy="201168"/>
          </a:xfrm>
          <a:prstGeom prst="rect">
            <a:avLst/>
          </a:prstGeom>
          <a:noFill/>
          <a:ln/>
        </p:spPr>
        <p:txBody>
          <a:bodyPr wrap="square" lIns="0" tIns="0" rIns="0" bIns="0" rtlCol="0" anchor="ctr">
            <a:normAutofit/>
          </a:bodyPr>
          <a:lstStyle/>
          <a:p>
            <a:pPr algn="ctr" indent="0" marL="0">
              <a:buNone/>
            </a:pPr>
            <a:r>
              <a:rPr lang="en-US" sz="750" b="1" dirty="0">
                <a:solidFill>
                  <a:srgbClr val="334155"/>
                </a:solidFill>
                <a:latin typeface="Arial" pitchFamily="34" charset="0"/>
                <a:ea typeface="Arial" pitchFamily="34" charset="-122"/>
                <a:cs typeface="Arial" pitchFamily="34" charset="-120"/>
              </a:rPr>
              <a:t>MYSQL QUOTE + VALUATION SNAPSHOTS</a:t>
            </a:r>
            <a:endParaRPr lang="en-US" sz="75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PRODUCT EXPERIENCE</a:t>
            </a:r>
            <a:endParaRPr lang="en-US" sz="800" dirty="0"/>
          </a:p>
        </p:txBody>
      </p:sp>
      <p:sp>
        <p:nvSpPr>
          <p:cNvPr id="3" name="Text 1"/>
          <p:cNvSpPr/>
          <p:nvPr/>
        </p:nvSpPr>
        <p:spPr>
          <a:xfrm>
            <a:off x="566928" y="585216"/>
            <a:ext cx="8595360" cy="530352"/>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From Trades to Portfolio Insight</a:t>
            </a:r>
            <a:endParaRPr lang="en-US" sz="2400" dirty="0"/>
          </a:p>
        </p:txBody>
      </p:sp>
      <p:sp>
        <p:nvSpPr>
          <p:cNvPr id="4" name="Text 2"/>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08</a:t>
            </a:r>
            <a:endParaRPr lang="en-US" sz="1800" dirty="0"/>
          </a:p>
        </p:txBody>
      </p:sp>
      <p:sp>
        <p:nvSpPr>
          <p:cNvPr id="5" name="Shape 3"/>
          <p:cNvSpPr/>
          <p:nvPr/>
        </p:nvSpPr>
        <p:spPr>
          <a:xfrm>
            <a:off x="3666744" y="1380744"/>
            <a:ext cx="7891272" cy="4956048"/>
          </a:xfrm>
          <a:prstGeom prst="roundRect">
            <a:avLst>
              <a:gd name="adj" fmla="val 1476"/>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6" name="Image 0" descr="Demo Growth dashboard with portfolio valuation and position P&amp;L">    </p:cNvPr>
          <p:cNvPicPr>
            <a:picLocks noChangeAspect="1"/>
          </p:cNvPicPr>
          <p:nvPr/>
        </p:nvPicPr>
        <p:blipFill>
          <a:blip r:embed="rId1"/>
          <a:stretch>
            <a:fillRect/>
          </a:stretch>
        </p:blipFill>
        <p:spPr>
          <a:xfrm>
            <a:off x="3703320" y="1417320"/>
            <a:ext cx="7818120" cy="4882896"/>
          </a:xfrm>
          <a:prstGeom prst="rect">
            <a:avLst/>
          </a:prstGeom>
        </p:spPr>
      </p:pic>
      <p:sp>
        <p:nvSpPr>
          <p:cNvPr id="7" name="Shape 4"/>
          <p:cNvSpPr/>
          <p:nvPr/>
        </p:nvSpPr>
        <p:spPr>
          <a:xfrm>
            <a:off x="676656" y="1600200"/>
            <a:ext cx="493776" cy="493776"/>
          </a:xfrm>
          <a:prstGeom prst="ellipse">
            <a:avLst/>
          </a:prstGeom>
          <a:solidFill>
            <a:srgbClr val="DBEAFE"/>
          </a:solidFill>
          <a:ln w="12700">
            <a:solidFill>
              <a:srgbClr val="DBEAFE"/>
            </a:solidFill>
            <a:prstDash val="solid"/>
          </a:ln>
        </p:spPr>
      </p:sp>
      <p:sp>
        <p:nvSpPr>
          <p:cNvPr id="8" name="Text 5"/>
          <p:cNvSpPr/>
          <p:nvPr/>
        </p:nvSpPr>
        <p:spPr>
          <a:xfrm>
            <a:off x="676656" y="1719072"/>
            <a:ext cx="493776" cy="182880"/>
          </a:xfrm>
          <a:prstGeom prst="rect">
            <a:avLst/>
          </a:prstGeom>
          <a:noFill/>
          <a:ln/>
        </p:spPr>
        <p:txBody>
          <a:bodyPr wrap="square" lIns="0" tIns="0" rIns="0" bIns="0"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1</a:t>
            </a:r>
            <a:endParaRPr lang="en-US" sz="1000" dirty="0"/>
          </a:p>
        </p:txBody>
      </p:sp>
      <p:sp>
        <p:nvSpPr>
          <p:cNvPr id="9" name="Text 6"/>
          <p:cNvSpPr/>
          <p:nvPr/>
        </p:nvSpPr>
        <p:spPr>
          <a:xfrm>
            <a:off x="1353312" y="1572768"/>
            <a:ext cx="1965960" cy="621792"/>
          </a:xfrm>
          <a:prstGeom prst="rect">
            <a:avLst/>
          </a:prstGeom>
          <a:noFill/>
          <a:ln/>
        </p:spPr>
        <p:txBody>
          <a:bodyPr wrap="square" lIns="1016" tIns="1016" rIns="1016" bIns="1016" rtlCol="0" anchor="ctr">
            <a:normAutofit/>
          </a:bodyPr>
          <a:lstStyle/>
          <a:p>
            <a:pPr algn="l" indent="0" marL="0">
              <a:buNone/>
            </a:pPr>
            <a:r>
              <a:rPr lang="en-US" sz="1500" b="1" dirty="0">
                <a:solidFill>
                  <a:srgbClr val="0F172A"/>
                </a:solidFill>
                <a:latin typeface="Arial" pitchFamily="34" charset="0"/>
                <a:ea typeface="Arial" pitchFamily="34" charset="-122"/>
                <a:cs typeface="Arial" pitchFamily="34" charset="-120"/>
              </a:rPr>
              <a:t>One backend model</a:t>
            </a:r>
            <a:endParaRPr lang="en-US" sz="1500" dirty="0"/>
          </a:p>
        </p:txBody>
      </p:sp>
      <p:sp>
        <p:nvSpPr>
          <p:cNvPr id="10" name="Shape 7"/>
          <p:cNvSpPr/>
          <p:nvPr/>
        </p:nvSpPr>
        <p:spPr>
          <a:xfrm>
            <a:off x="676656" y="2898648"/>
            <a:ext cx="493776" cy="493776"/>
          </a:xfrm>
          <a:prstGeom prst="ellipse">
            <a:avLst/>
          </a:prstGeom>
          <a:solidFill>
            <a:srgbClr val="FEF3C7"/>
          </a:solidFill>
          <a:ln w="12700">
            <a:solidFill>
              <a:srgbClr val="FEF3C7"/>
            </a:solidFill>
            <a:prstDash val="solid"/>
          </a:ln>
        </p:spPr>
      </p:sp>
      <p:sp>
        <p:nvSpPr>
          <p:cNvPr id="11" name="Text 8"/>
          <p:cNvSpPr/>
          <p:nvPr/>
        </p:nvSpPr>
        <p:spPr>
          <a:xfrm>
            <a:off x="676656" y="3017520"/>
            <a:ext cx="493776" cy="182880"/>
          </a:xfrm>
          <a:prstGeom prst="rect">
            <a:avLst/>
          </a:prstGeom>
          <a:noFill/>
          <a:ln/>
        </p:spPr>
        <p:txBody>
          <a:bodyPr wrap="square" lIns="0" tIns="0" rIns="0" bIns="0"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2</a:t>
            </a:r>
            <a:endParaRPr lang="en-US" sz="1000" dirty="0"/>
          </a:p>
        </p:txBody>
      </p:sp>
      <p:sp>
        <p:nvSpPr>
          <p:cNvPr id="12" name="Text 9"/>
          <p:cNvSpPr/>
          <p:nvPr/>
        </p:nvSpPr>
        <p:spPr>
          <a:xfrm>
            <a:off x="1353312" y="2871216"/>
            <a:ext cx="1965960" cy="621792"/>
          </a:xfrm>
          <a:prstGeom prst="rect">
            <a:avLst/>
          </a:prstGeom>
          <a:noFill/>
          <a:ln/>
        </p:spPr>
        <p:txBody>
          <a:bodyPr wrap="square" lIns="1016" tIns="1016" rIns="1016" bIns="1016" rtlCol="0" anchor="ctr">
            <a:normAutofit/>
          </a:bodyPr>
          <a:lstStyle/>
          <a:p>
            <a:pPr algn="l" indent="0" marL="0">
              <a:buNone/>
            </a:pPr>
            <a:r>
              <a:rPr lang="en-US" sz="1500" b="1" dirty="0">
                <a:solidFill>
                  <a:srgbClr val="0F172A"/>
                </a:solidFill>
                <a:latin typeface="Arial" pitchFamily="34" charset="0"/>
                <a:ea typeface="Arial" pitchFamily="34" charset="-122"/>
                <a:cs typeface="Arial" pitchFamily="34" charset="-120"/>
              </a:rPr>
              <a:t>Source + freshness</a:t>
            </a:r>
            <a:endParaRPr lang="en-US" sz="1500" dirty="0"/>
          </a:p>
        </p:txBody>
      </p:sp>
      <p:sp>
        <p:nvSpPr>
          <p:cNvPr id="13" name="Shape 10"/>
          <p:cNvSpPr/>
          <p:nvPr/>
        </p:nvSpPr>
        <p:spPr>
          <a:xfrm>
            <a:off x="676656" y="4197096"/>
            <a:ext cx="493776" cy="493776"/>
          </a:xfrm>
          <a:prstGeom prst="ellipse">
            <a:avLst/>
          </a:prstGeom>
          <a:solidFill>
            <a:srgbClr val="DBEAFE"/>
          </a:solidFill>
          <a:ln w="12700">
            <a:solidFill>
              <a:srgbClr val="DBEAFE"/>
            </a:solidFill>
            <a:prstDash val="solid"/>
          </a:ln>
        </p:spPr>
      </p:sp>
      <p:sp>
        <p:nvSpPr>
          <p:cNvPr id="14" name="Text 11"/>
          <p:cNvSpPr/>
          <p:nvPr/>
        </p:nvSpPr>
        <p:spPr>
          <a:xfrm>
            <a:off x="676656" y="4315968"/>
            <a:ext cx="493776" cy="182880"/>
          </a:xfrm>
          <a:prstGeom prst="rect">
            <a:avLst/>
          </a:prstGeom>
          <a:noFill/>
          <a:ln/>
        </p:spPr>
        <p:txBody>
          <a:bodyPr wrap="square" lIns="0" tIns="0" rIns="0" bIns="0"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3</a:t>
            </a:r>
            <a:endParaRPr lang="en-US" sz="1000" dirty="0"/>
          </a:p>
        </p:txBody>
      </p:sp>
      <p:sp>
        <p:nvSpPr>
          <p:cNvPr id="15" name="Text 12"/>
          <p:cNvSpPr/>
          <p:nvPr/>
        </p:nvSpPr>
        <p:spPr>
          <a:xfrm>
            <a:off x="1353312" y="4169664"/>
            <a:ext cx="1965960" cy="621792"/>
          </a:xfrm>
          <a:prstGeom prst="rect">
            <a:avLst/>
          </a:prstGeom>
          <a:noFill/>
          <a:ln/>
        </p:spPr>
        <p:txBody>
          <a:bodyPr wrap="square" lIns="1016" tIns="1016" rIns="1016" bIns="1016" rtlCol="0" anchor="ctr">
            <a:normAutofit/>
          </a:bodyPr>
          <a:lstStyle/>
          <a:p>
            <a:pPr algn="l" indent="0" marL="0">
              <a:buNone/>
            </a:pPr>
            <a:r>
              <a:rPr lang="en-US" sz="1500" b="1" dirty="0">
                <a:solidFill>
                  <a:srgbClr val="0F172A"/>
                </a:solidFill>
                <a:latin typeface="Arial" pitchFamily="34" charset="0"/>
                <a:ea typeface="Arial" pitchFamily="34" charset="-122"/>
                <a:cs typeface="Arial" pitchFamily="34" charset="-120"/>
              </a:rPr>
              <a:t>Persisted 1D / 7D / 30D / ALL history</a:t>
            </a:r>
            <a:endParaRPr lang="en-US" sz="1500" dirty="0"/>
          </a:p>
        </p:txBody>
      </p:sp>
      <p:sp>
        <p:nvSpPr>
          <p:cNvPr id="16" name="Shape 13"/>
          <p:cNvSpPr/>
          <p:nvPr/>
        </p:nvSpPr>
        <p:spPr>
          <a:xfrm>
            <a:off x="676656" y="5458968"/>
            <a:ext cx="2633472" cy="804672"/>
          </a:xfrm>
          <a:prstGeom prst="roundRect">
            <a:avLst>
              <a:gd name="adj" fmla="val 9091"/>
            </a:avLst>
          </a:prstGeom>
          <a:solidFill>
            <a:srgbClr val="0F172A"/>
          </a:solidFill>
          <a:ln w="10160">
            <a:solidFill>
              <a:srgbClr val="0F172A"/>
            </a:solidFill>
            <a:prstDash val="solid"/>
          </a:ln>
          <a:effectLst>
            <a:outerShdw sx="100000" sy="100000" kx="0" ky="0" algn="bl" rotWithShape="0" blurRad="19050" dist="50800" dir="2700000">
              <a:srgbClr val="94A3B8">
                <a:alpha val="13000"/>
              </a:srgbClr>
            </a:outerShdw>
          </a:effectLst>
        </p:spPr>
      </p:sp>
      <p:sp>
        <p:nvSpPr>
          <p:cNvPr id="17" name="Text 14"/>
          <p:cNvSpPr/>
          <p:nvPr/>
        </p:nvSpPr>
        <p:spPr>
          <a:xfrm>
            <a:off x="868680" y="5577840"/>
            <a:ext cx="2240280" cy="502920"/>
          </a:xfrm>
          <a:prstGeom prst="rect">
            <a:avLst/>
          </a:prstGeom>
          <a:noFill/>
          <a:ln/>
        </p:spPr>
        <p:txBody>
          <a:bodyPr wrap="square" lIns="1016" tIns="1016" rIns="1016" bIns="1016"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No fake zero prices or fabricated history</a:t>
            </a:r>
            <a:endParaRPr lang="en-US" sz="115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OPERATIONS</a:t>
            </a:r>
            <a:endParaRPr lang="en-US" sz="800" dirty="0"/>
          </a:p>
        </p:txBody>
      </p:sp>
      <p:sp>
        <p:nvSpPr>
          <p:cNvPr id="3" name="Text 1"/>
          <p:cNvSpPr/>
          <p:nvPr/>
        </p:nvSpPr>
        <p:spPr>
          <a:xfrm>
            <a:off x="566928" y="585216"/>
            <a:ext cx="8595360" cy="530352"/>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Product Workbench</a:t>
            </a:r>
            <a:endParaRPr lang="en-US" sz="2400" dirty="0"/>
          </a:p>
        </p:txBody>
      </p:sp>
      <p:sp>
        <p:nvSpPr>
          <p:cNvPr id="4" name="Text 2"/>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09</a:t>
            </a:r>
            <a:endParaRPr lang="en-US" sz="1800" dirty="0"/>
          </a:p>
        </p:txBody>
      </p:sp>
      <p:sp>
        <p:nvSpPr>
          <p:cNvPr id="5" name="Shape 3"/>
          <p:cNvSpPr/>
          <p:nvPr/>
        </p:nvSpPr>
        <p:spPr>
          <a:xfrm>
            <a:off x="621792" y="1572768"/>
            <a:ext cx="3474720" cy="2199132"/>
          </a:xfrm>
          <a:prstGeom prst="roundRect">
            <a:avLst>
              <a:gd name="adj" fmla="val 3326"/>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6" name="Image 0" descr="Accounts product page">    </p:cNvPr>
          <p:cNvPicPr>
            <a:picLocks noChangeAspect="1"/>
          </p:cNvPicPr>
          <p:nvPr/>
        </p:nvPicPr>
        <p:blipFill>
          <a:blip r:embed="rId1"/>
          <a:stretch>
            <a:fillRect/>
          </a:stretch>
        </p:blipFill>
        <p:spPr>
          <a:xfrm>
            <a:off x="658368" y="1609344"/>
            <a:ext cx="3401568" cy="2125980"/>
          </a:xfrm>
          <a:prstGeom prst="rect">
            <a:avLst/>
          </a:prstGeom>
        </p:spPr>
      </p:pic>
      <p:sp>
        <p:nvSpPr>
          <p:cNvPr id="7" name="Shape 4"/>
          <p:cNvSpPr/>
          <p:nvPr/>
        </p:nvSpPr>
        <p:spPr>
          <a:xfrm>
            <a:off x="658368" y="3913632"/>
            <a:ext cx="3401568" cy="1444752"/>
          </a:xfrm>
          <a:prstGeom prst="roundRect">
            <a:avLst>
              <a:gd name="adj" fmla="val 5063"/>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8" name="Text 5"/>
          <p:cNvSpPr/>
          <p:nvPr/>
        </p:nvSpPr>
        <p:spPr>
          <a:xfrm>
            <a:off x="886968" y="4096512"/>
            <a:ext cx="2944368" cy="502920"/>
          </a:xfrm>
          <a:prstGeom prst="rect">
            <a:avLst/>
          </a:prstGeom>
          <a:noFill/>
          <a:ln/>
        </p:spPr>
        <p:txBody>
          <a:bodyPr wrap="square" lIns="1016" tIns="1016" rIns="1016" bIns="1016" rtlCol="0" anchor="ctr">
            <a:normAutofit/>
          </a:bodyPr>
          <a:lstStyle/>
          <a:p>
            <a:pPr algn="ctr" indent="0" marL="0">
              <a:buNone/>
            </a:pPr>
            <a:r>
              <a:rPr lang="en-US" sz="1600" b="1" dirty="0">
                <a:solidFill>
                  <a:srgbClr val="0F172A"/>
                </a:solidFill>
                <a:latin typeface="Arial" pitchFamily="34" charset="0"/>
                <a:ea typeface="Arial" pitchFamily="34" charset="-122"/>
                <a:cs typeface="Arial" pitchFamily="34" charset="-120"/>
              </a:rPr>
              <a:t>Accounts</a:t>
            </a:r>
            <a:endParaRPr lang="en-US" sz="1600" dirty="0"/>
          </a:p>
        </p:txBody>
      </p:sp>
      <p:sp>
        <p:nvSpPr>
          <p:cNvPr id="9" name="Text 6"/>
          <p:cNvSpPr/>
          <p:nvPr/>
        </p:nvSpPr>
        <p:spPr>
          <a:xfrm>
            <a:off x="914400" y="4736592"/>
            <a:ext cx="2889504" cy="256032"/>
          </a:xfrm>
          <a:prstGeom prst="rect">
            <a:avLst/>
          </a:prstGeom>
          <a:noFill/>
          <a:ln/>
        </p:spPr>
        <p:txBody>
          <a:bodyPr wrap="square" lIns="0" tIns="0" rIns="0" bIns="0" rtlCol="0" anchor="ctr">
            <a:normAutofit/>
          </a:bodyPr>
          <a:lstStyle/>
          <a:p>
            <a:pPr algn="ctr" indent="0" marL="0">
              <a:buNone/>
            </a:pPr>
            <a:r>
              <a:rPr lang="en-US" sz="1050" dirty="0">
                <a:solidFill>
                  <a:srgbClr val="64748B"/>
                </a:solidFill>
                <a:latin typeface="Arial" pitchFamily="34" charset="0"/>
                <a:ea typeface="Arial" pitchFamily="34" charset="-122"/>
                <a:cs typeface="Arial" pitchFamily="34" charset="-120"/>
              </a:rPr>
              <a:t>Account status + account-level positions</a:t>
            </a:r>
            <a:endParaRPr lang="en-US" sz="1050" dirty="0"/>
          </a:p>
        </p:txBody>
      </p:sp>
      <p:sp>
        <p:nvSpPr>
          <p:cNvPr id="10" name="Shape 7"/>
          <p:cNvSpPr/>
          <p:nvPr/>
        </p:nvSpPr>
        <p:spPr>
          <a:xfrm>
            <a:off x="4425696" y="1572768"/>
            <a:ext cx="3474720" cy="2199132"/>
          </a:xfrm>
          <a:prstGeom prst="roundRect">
            <a:avLst>
              <a:gd name="adj" fmla="val 3326"/>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11" name="Image 1" descr="Activity product page">    </p:cNvPr>
          <p:cNvPicPr>
            <a:picLocks noChangeAspect="1"/>
          </p:cNvPicPr>
          <p:nvPr/>
        </p:nvPicPr>
        <p:blipFill>
          <a:blip r:embed="rId2"/>
          <a:stretch>
            <a:fillRect/>
          </a:stretch>
        </p:blipFill>
        <p:spPr>
          <a:xfrm>
            <a:off x="4462272" y="1609344"/>
            <a:ext cx="3401568" cy="2125980"/>
          </a:xfrm>
          <a:prstGeom prst="rect">
            <a:avLst/>
          </a:prstGeom>
        </p:spPr>
      </p:pic>
      <p:sp>
        <p:nvSpPr>
          <p:cNvPr id="12" name="Shape 8"/>
          <p:cNvSpPr/>
          <p:nvPr/>
        </p:nvSpPr>
        <p:spPr>
          <a:xfrm>
            <a:off x="4462272" y="3913632"/>
            <a:ext cx="3401568" cy="1444752"/>
          </a:xfrm>
          <a:prstGeom prst="roundRect">
            <a:avLst>
              <a:gd name="adj" fmla="val 5063"/>
            </a:avLst>
          </a:prstGeom>
          <a:solidFill>
            <a:srgbClr val="EFF6FF"/>
          </a:solidFill>
          <a:ln w="10160">
            <a:solidFill>
              <a:srgbClr val="93C5FD"/>
            </a:solidFill>
            <a:prstDash val="solid"/>
          </a:ln>
          <a:effectLst>
            <a:outerShdw sx="100000" sy="100000" kx="0" ky="0" algn="bl" rotWithShape="0" blurRad="19050" dist="50800" dir="2700000">
              <a:srgbClr val="94A3B8">
                <a:alpha val="13000"/>
              </a:srgbClr>
            </a:outerShdw>
          </a:effectLst>
        </p:spPr>
      </p:sp>
      <p:sp>
        <p:nvSpPr>
          <p:cNvPr id="13" name="Text 9"/>
          <p:cNvSpPr/>
          <p:nvPr/>
        </p:nvSpPr>
        <p:spPr>
          <a:xfrm>
            <a:off x="4690872" y="4096512"/>
            <a:ext cx="2944368" cy="502920"/>
          </a:xfrm>
          <a:prstGeom prst="rect">
            <a:avLst/>
          </a:prstGeom>
          <a:noFill/>
          <a:ln/>
        </p:spPr>
        <p:txBody>
          <a:bodyPr wrap="square" lIns="1016" tIns="1016" rIns="1016" bIns="1016" rtlCol="0" anchor="ctr">
            <a:normAutofit/>
          </a:bodyPr>
          <a:lstStyle/>
          <a:p>
            <a:pPr algn="ctr" indent="0" marL="0">
              <a:buNone/>
            </a:pPr>
            <a:r>
              <a:rPr lang="en-US" sz="1600" b="1" dirty="0">
                <a:solidFill>
                  <a:srgbClr val="0F172A"/>
                </a:solidFill>
                <a:latin typeface="Arial" pitchFamily="34" charset="0"/>
                <a:ea typeface="Arial" pitchFamily="34" charset="-122"/>
                <a:cs typeface="Arial" pitchFamily="34" charset="-120"/>
              </a:rPr>
              <a:t>Activity</a:t>
            </a:r>
            <a:endParaRPr lang="en-US" sz="1600" dirty="0"/>
          </a:p>
        </p:txBody>
      </p:sp>
      <p:sp>
        <p:nvSpPr>
          <p:cNvPr id="14" name="Text 10"/>
          <p:cNvSpPr/>
          <p:nvPr/>
        </p:nvSpPr>
        <p:spPr>
          <a:xfrm>
            <a:off x="4718304" y="4736592"/>
            <a:ext cx="2889504" cy="256032"/>
          </a:xfrm>
          <a:prstGeom prst="rect">
            <a:avLst/>
          </a:prstGeom>
          <a:noFill/>
          <a:ln/>
        </p:spPr>
        <p:txBody>
          <a:bodyPr wrap="square" lIns="0" tIns="0" rIns="0" bIns="0" rtlCol="0" anchor="ctr">
            <a:normAutofit/>
          </a:bodyPr>
          <a:lstStyle/>
          <a:p>
            <a:pPr algn="ctr" indent="0" marL="0">
              <a:buNone/>
            </a:pPr>
            <a:r>
              <a:rPr lang="en-US" sz="1050" dirty="0">
                <a:solidFill>
                  <a:srgbClr val="64748B"/>
                </a:solidFill>
                <a:latin typeface="Arial" pitchFamily="34" charset="0"/>
                <a:ea typeface="Arial" pitchFamily="34" charset="-122"/>
                <a:cs typeface="Arial" pitchFamily="34" charset="-120"/>
              </a:rPr>
              <a:t>Booking + CSV import + audit actions</a:t>
            </a:r>
            <a:endParaRPr lang="en-US" sz="1050" dirty="0"/>
          </a:p>
        </p:txBody>
      </p:sp>
      <p:sp>
        <p:nvSpPr>
          <p:cNvPr id="15" name="Shape 11"/>
          <p:cNvSpPr/>
          <p:nvPr/>
        </p:nvSpPr>
        <p:spPr>
          <a:xfrm>
            <a:off x="8229600" y="1572768"/>
            <a:ext cx="3474720" cy="2199132"/>
          </a:xfrm>
          <a:prstGeom prst="roundRect">
            <a:avLst>
              <a:gd name="adj" fmla="val 3326"/>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16" name="Image 2" descr="Market Data product page">    </p:cNvPr>
          <p:cNvPicPr>
            <a:picLocks noChangeAspect="1"/>
          </p:cNvPicPr>
          <p:nvPr/>
        </p:nvPicPr>
        <p:blipFill>
          <a:blip r:embed="rId3"/>
          <a:stretch>
            <a:fillRect/>
          </a:stretch>
        </p:blipFill>
        <p:spPr>
          <a:xfrm>
            <a:off x="8266176" y="1609344"/>
            <a:ext cx="3401568" cy="2125980"/>
          </a:xfrm>
          <a:prstGeom prst="rect">
            <a:avLst/>
          </a:prstGeom>
        </p:spPr>
      </p:pic>
      <p:sp>
        <p:nvSpPr>
          <p:cNvPr id="17" name="Shape 12"/>
          <p:cNvSpPr/>
          <p:nvPr/>
        </p:nvSpPr>
        <p:spPr>
          <a:xfrm>
            <a:off x="8266176" y="3913632"/>
            <a:ext cx="3401568" cy="1444752"/>
          </a:xfrm>
          <a:prstGeom prst="roundRect">
            <a:avLst>
              <a:gd name="adj" fmla="val 5063"/>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8" name="Text 13"/>
          <p:cNvSpPr/>
          <p:nvPr/>
        </p:nvSpPr>
        <p:spPr>
          <a:xfrm>
            <a:off x="8494776" y="4096512"/>
            <a:ext cx="2944368" cy="502920"/>
          </a:xfrm>
          <a:prstGeom prst="rect">
            <a:avLst/>
          </a:prstGeom>
          <a:noFill/>
          <a:ln/>
        </p:spPr>
        <p:txBody>
          <a:bodyPr wrap="square" lIns="1016" tIns="1016" rIns="1016" bIns="1016" rtlCol="0" anchor="ctr">
            <a:normAutofit/>
          </a:bodyPr>
          <a:lstStyle/>
          <a:p>
            <a:pPr algn="ctr" indent="0" marL="0">
              <a:buNone/>
            </a:pPr>
            <a:r>
              <a:rPr lang="en-US" sz="1600" b="1" dirty="0">
                <a:solidFill>
                  <a:srgbClr val="0F172A"/>
                </a:solidFill>
                <a:latin typeface="Arial" pitchFamily="34" charset="0"/>
                <a:ea typeface="Arial" pitchFamily="34" charset="-122"/>
                <a:cs typeface="Arial" pitchFamily="34" charset="-120"/>
              </a:rPr>
              <a:t>Market Data</a:t>
            </a:r>
            <a:endParaRPr lang="en-US" sz="1600" dirty="0"/>
          </a:p>
        </p:txBody>
      </p:sp>
      <p:sp>
        <p:nvSpPr>
          <p:cNvPr id="19" name="Text 14"/>
          <p:cNvSpPr/>
          <p:nvPr/>
        </p:nvSpPr>
        <p:spPr>
          <a:xfrm>
            <a:off x="8522208" y="4736592"/>
            <a:ext cx="2889504" cy="256032"/>
          </a:xfrm>
          <a:prstGeom prst="rect">
            <a:avLst/>
          </a:prstGeom>
          <a:noFill/>
          <a:ln/>
        </p:spPr>
        <p:txBody>
          <a:bodyPr wrap="square" lIns="0" tIns="0" rIns="0" bIns="0" rtlCol="0" anchor="ctr">
            <a:normAutofit/>
          </a:bodyPr>
          <a:lstStyle/>
          <a:p>
            <a:pPr algn="ctr" indent="0" marL="0">
              <a:buNone/>
            </a:pPr>
            <a:r>
              <a:rPr lang="en-US" sz="1050" dirty="0">
                <a:solidFill>
                  <a:srgbClr val="64748B"/>
                </a:solidFill>
                <a:latin typeface="Arial" pitchFamily="34" charset="0"/>
                <a:ea typeface="Arial" pitchFamily="34" charset="-122"/>
                <a:cs typeface="Arial" pitchFamily="34" charset="-120"/>
              </a:rPr>
              <a:t>Search + refresh + outage simulation</a:t>
            </a:r>
            <a:endParaRPr lang="en-US" sz="1050" dirty="0"/>
          </a:p>
        </p:txBody>
      </p:sp>
      <p:sp>
        <p:nvSpPr>
          <p:cNvPr id="20" name="Shape 15"/>
          <p:cNvSpPr/>
          <p:nvPr/>
        </p:nvSpPr>
        <p:spPr>
          <a:xfrm>
            <a:off x="1874520" y="5715000"/>
            <a:ext cx="8458200" cy="457200"/>
          </a:xfrm>
          <a:prstGeom prst="roundRect">
            <a:avLst>
              <a:gd name="adj" fmla="val 16000"/>
            </a:avLst>
          </a:prstGeom>
          <a:solidFill>
            <a:srgbClr val="E2E8F0"/>
          </a:solidFill>
          <a:ln w="12700">
            <a:solidFill>
              <a:srgbClr val="E2E8F0"/>
            </a:solidFill>
            <a:prstDash val="solid"/>
          </a:ln>
        </p:spPr>
      </p:sp>
      <p:sp>
        <p:nvSpPr>
          <p:cNvPr id="21" name="Text 16"/>
          <p:cNvSpPr/>
          <p:nvPr/>
        </p:nvSpPr>
        <p:spPr>
          <a:xfrm>
            <a:off x="2130552" y="5779008"/>
            <a:ext cx="7946136" cy="274320"/>
          </a:xfrm>
          <a:prstGeom prst="rect">
            <a:avLst/>
          </a:prstGeom>
          <a:noFill/>
          <a:ln/>
        </p:spPr>
        <p:txBody>
          <a:bodyPr wrap="square" lIns="1016" tIns="1016" rIns="1016" bIns="1016" rtlCol="0" anchor="ctr">
            <a:normAutofit/>
          </a:bodyPr>
          <a:lstStyle/>
          <a:p>
            <a:pPr algn="ctr" indent="0" marL="0">
              <a:buNone/>
            </a:pPr>
            <a:r>
              <a:rPr lang="en-US" sz="1250" b="1" dirty="0">
                <a:solidFill>
                  <a:srgbClr val="334155"/>
                </a:solidFill>
                <a:latin typeface="Arial" pitchFamily="34" charset="0"/>
                <a:ea typeface="Arial" pitchFamily="34" charset="-122"/>
                <a:cs typeface="Arial" pitchFamily="34" charset="-120"/>
              </a:rPr>
              <a:t>Responsive desktop/mobile UI · English, Chinese, and Portuguese · Text-labelled states</a:t>
            </a:r>
            <a:endParaRPr lang="en-US" sz="125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QUALITY GATE</a:t>
            </a:r>
            <a:endParaRPr lang="en-US" sz="800" dirty="0"/>
          </a:p>
        </p:txBody>
      </p:sp>
      <p:sp>
        <p:nvSpPr>
          <p:cNvPr id="3" name="Text 1"/>
          <p:cNvSpPr/>
          <p:nvPr/>
        </p:nvSpPr>
        <p:spPr>
          <a:xfrm>
            <a:off x="566928" y="585216"/>
            <a:ext cx="8595360" cy="530352"/>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Engineering Quality and Delivery</a:t>
            </a:r>
            <a:endParaRPr lang="en-US" sz="2400" dirty="0"/>
          </a:p>
        </p:txBody>
      </p:sp>
      <p:sp>
        <p:nvSpPr>
          <p:cNvPr id="4" name="Text 2"/>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10</a:t>
            </a:r>
            <a:endParaRPr lang="en-US" sz="1800" dirty="0"/>
          </a:p>
        </p:txBody>
      </p:sp>
      <p:sp>
        <p:nvSpPr>
          <p:cNvPr id="5" name="Shape 3"/>
          <p:cNvSpPr/>
          <p:nvPr/>
        </p:nvSpPr>
        <p:spPr>
          <a:xfrm>
            <a:off x="685800" y="1709928"/>
            <a:ext cx="2057400" cy="1417320"/>
          </a:xfrm>
          <a:prstGeom prst="roundRect">
            <a:avLst>
              <a:gd name="adj" fmla="val 5161"/>
            </a:avLst>
          </a:prstGeom>
          <a:solidFill>
            <a:srgbClr val="FFFFFF"/>
          </a:solidFill>
          <a:ln w="10160">
            <a:solidFill>
              <a:srgbClr val="CBD5E1"/>
            </a:solidFill>
            <a:prstDash val="solid"/>
          </a:ln>
          <a:effectLst>
            <a:outerShdw sx="100000" sy="100000" kx="0" ky="0" algn="bl" rotWithShape="0" blurRad="19050" dist="50800" dir="2700000">
              <a:srgbClr val="94A3B8">
                <a:alpha val="13000"/>
              </a:srgbClr>
            </a:outerShdw>
          </a:effectLst>
        </p:spPr>
      </p:sp>
      <p:sp>
        <p:nvSpPr>
          <p:cNvPr id="6" name="Text 4"/>
          <p:cNvSpPr/>
          <p:nvPr/>
        </p:nvSpPr>
        <p:spPr>
          <a:xfrm>
            <a:off x="886968" y="1929384"/>
            <a:ext cx="1655064" cy="219456"/>
          </a:xfrm>
          <a:prstGeom prst="rect">
            <a:avLst/>
          </a:prstGeom>
          <a:noFill/>
          <a:ln/>
        </p:spPr>
        <p:txBody>
          <a:bodyPr wrap="square" lIns="0" tIns="0" rIns="0" bIns="0" rtlCol="0" anchor="ctr"/>
          <a:lstStyle/>
          <a:p>
            <a:pPr algn="ctr" indent="0" marL="0">
              <a:buNone/>
            </a:pPr>
            <a:r>
              <a:rPr lang="en-US" sz="1000" b="1" spc="80" kern="0" dirty="0">
                <a:solidFill>
                  <a:srgbClr val="2563EB"/>
                </a:solidFill>
                <a:latin typeface="Arial" pitchFamily="34" charset="0"/>
                <a:ea typeface="Arial" pitchFamily="34" charset="-122"/>
                <a:cs typeface="Arial" pitchFamily="34" charset="-120"/>
              </a:rPr>
              <a:t>BACKEND</a:t>
            </a:r>
            <a:endParaRPr lang="en-US" sz="1000" dirty="0"/>
          </a:p>
        </p:txBody>
      </p:sp>
      <p:sp>
        <p:nvSpPr>
          <p:cNvPr id="7" name="Text 5"/>
          <p:cNvSpPr/>
          <p:nvPr/>
        </p:nvSpPr>
        <p:spPr>
          <a:xfrm>
            <a:off x="905256" y="2331720"/>
            <a:ext cx="1618488" cy="475488"/>
          </a:xfrm>
          <a:prstGeom prst="rect">
            <a:avLst/>
          </a:prstGeom>
          <a:noFill/>
          <a:ln/>
        </p:spPr>
        <p:txBody>
          <a:bodyPr wrap="square" lIns="0" tIns="0" rIns="0" bIns="0" rtlCol="0" anchor="ctr">
            <a:normAutofit/>
          </a:bodyPr>
          <a:lstStyle/>
          <a:p>
            <a:pPr algn="ctr" indent="0" marL="0">
              <a:buNone/>
            </a:pPr>
            <a:r>
              <a:rPr lang="en-US" sz="850" dirty="0">
                <a:solidFill>
                  <a:srgbClr val="334155"/>
                </a:solidFill>
                <a:latin typeface="Arial" pitchFamily="34" charset="0"/>
                <a:ea typeface="Arial" pitchFamily="34" charset="-122"/>
                <a:cs typeface="Arial" pitchFamily="34" charset="-120"/>
              </a:rPr>
              <a:t>Unit + API +</a:t>
            </a:r>
            <a:endParaRPr lang="en-US" sz="850" dirty="0"/>
          </a:p>
          <a:p>
            <a:pPr algn="ctr" indent="0" marL="0">
              <a:buNone/>
            </a:pPr>
            <a:r>
              <a:rPr lang="en-US" sz="850" dirty="0">
                <a:solidFill>
                  <a:srgbClr val="334155"/>
                </a:solidFill>
                <a:latin typeface="Arial" pitchFamily="34" charset="0"/>
                <a:ea typeface="Arial" pitchFamily="34" charset="-122"/>
                <a:cs typeface="Arial" pitchFamily="34" charset="-120"/>
              </a:rPr>
              <a:t>Testcontainers</a:t>
            </a:r>
            <a:endParaRPr lang="en-US" sz="850" dirty="0"/>
          </a:p>
        </p:txBody>
      </p:sp>
      <p:sp>
        <p:nvSpPr>
          <p:cNvPr id="8" name="Shape 6"/>
          <p:cNvSpPr/>
          <p:nvPr/>
        </p:nvSpPr>
        <p:spPr>
          <a:xfrm>
            <a:off x="2816352" y="2423160"/>
            <a:ext cx="182880" cy="0"/>
          </a:xfrm>
          <a:prstGeom prst="line">
            <a:avLst/>
          </a:prstGeom>
          <a:noFill/>
          <a:ln w="25400">
            <a:solidFill>
              <a:srgbClr val="94A3B8"/>
            </a:solidFill>
            <a:prstDash val="solid"/>
            <a:headEnd type="none"/>
            <a:tailEnd type="triangle"/>
          </a:ln>
        </p:spPr>
      </p:sp>
      <p:sp>
        <p:nvSpPr>
          <p:cNvPr id="9" name="Shape 7"/>
          <p:cNvSpPr/>
          <p:nvPr/>
        </p:nvSpPr>
        <p:spPr>
          <a:xfrm>
            <a:off x="3090672" y="1709928"/>
            <a:ext cx="2057400" cy="1417320"/>
          </a:xfrm>
          <a:prstGeom prst="roundRect">
            <a:avLst>
              <a:gd name="adj" fmla="val 5161"/>
            </a:avLst>
          </a:prstGeom>
          <a:solidFill>
            <a:srgbClr val="FFFFFF"/>
          </a:solidFill>
          <a:ln w="10160">
            <a:solidFill>
              <a:srgbClr val="CBD5E1"/>
            </a:solidFill>
            <a:prstDash val="solid"/>
          </a:ln>
          <a:effectLst>
            <a:outerShdw sx="100000" sy="100000" kx="0" ky="0" algn="bl" rotWithShape="0" blurRad="19050" dist="50800" dir="2700000">
              <a:srgbClr val="94A3B8">
                <a:alpha val="13000"/>
              </a:srgbClr>
            </a:outerShdw>
          </a:effectLst>
        </p:spPr>
      </p:sp>
      <p:sp>
        <p:nvSpPr>
          <p:cNvPr id="10" name="Text 8"/>
          <p:cNvSpPr/>
          <p:nvPr/>
        </p:nvSpPr>
        <p:spPr>
          <a:xfrm>
            <a:off x="3291840" y="1929384"/>
            <a:ext cx="1655064" cy="219456"/>
          </a:xfrm>
          <a:prstGeom prst="rect">
            <a:avLst/>
          </a:prstGeom>
          <a:noFill/>
          <a:ln/>
        </p:spPr>
        <p:txBody>
          <a:bodyPr wrap="square" lIns="0" tIns="0" rIns="0" bIns="0" rtlCol="0" anchor="ctr"/>
          <a:lstStyle/>
          <a:p>
            <a:pPr algn="ctr" indent="0" marL="0">
              <a:buNone/>
            </a:pPr>
            <a:r>
              <a:rPr lang="en-US" sz="1000" b="1" spc="80" kern="0" dirty="0">
                <a:solidFill>
                  <a:srgbClr val="2563EB"/>
                </a:solidFill>
                <a:latin typeface="Arial" pitchFamily="34" charset="0"/>
                <a:ea typeface="Arial" pitchFamily="34" charset="-122"/>
                <a:cs typeface="Arial" pitchFamily="34" charset="-120"/>
              </a:rPr>
              <a:t>FRONTEND</a:t>
            </a:r>
            <a:endParaRPr lang="en-US" sz="1000" dirty="0"/>
          </a:p>
        </p:txBody>
      </p:sp>
      <p:sp>
        <p:nvSpPr>
          <p:cNvPr id="11" name="Text 9"/>
          <p:cNvSpPr/>
          <p:nvPr/>
        </p:nvSpPr>
        <p:spPr>
          <a:xfrm>
            <a:off x="3310128" y="2331720"/>
            <a:ext cx="1618488" cy="475488"/>
          </a:xfrm>
          <a:prstGeom prst="rect">
            <a:avLst/>
          </a:prstGeom>
          <a:noFill/>
          <a:ln/>
        </p:spPr>
        <p:txBody>
          <a:bodyPr wrap="square" lIns="0" tIns="0" rIns="0" bIns="0" rtlCol="0" anchor="ctr">
            <a:normAutofit/>
          </a:bodyPr>
          <a:lstStyle/>
          <a:p>
            <a:pPr algn="ctr" indent="0" marL="0">
              <a:buNone/>
            </a:pPr>
            <a:r>
              <a:rPr lang="en-US" sz="850" dirty="0">
                <a:solidFill>
                  <a:srgbClr val="334155"/>
                </a:solidFill>
                <a:latin typeface="Arial" pitchFamily="34" charset="0"/>
                <a:ea typeface="Arial" pitchFamily="34" charset="-122"/>
                <a:cs typeface="Arial" pitchFamily="34" charset="-120"/>
              </a:rPr>
              <a:t>Vitest + ESLint +</a:t>
            </a:r>
            <a:endParaRPr lang="en-US" sz="850" dirty="0"/>
          </a:p>
          <a:p>
            <a:pPr algn="ctr" indent="0" marL="0">
              <a:buNone/>
            </a:pPr>
            <a:r>
              <a:rPr lang="en-US" sz="850" dirty="0">
                <a:solidFill>
                  <a:srgbClr val="334155"/>
                </a:solidFill>
                <a:latin typeface="Arial" pitchFamily="34" charset="0"/>
                <a:ea typeface="Arial" pitchFamily="34" charset="-122"/>
                <a:cs typeface="Arial" pitchFamily="34" charset="-120"/>
              </a:rPr>
              <a:t>Production build</a:t>
            </a:r>
            <a:endParaRPr lang="en-US" sz="850" dirty="0"/>
          </a:p>
        </p:txBody>
      </p:sp>
      <p:sp>
        <p:nvSpPr>
          <p:cNvPr id="12" name="Shape 10"/>
          <p:cNvSpPr/>
          <p:nvPr/>
        </p:nvSpPr>
        <p:spPr>
          <a:xfrm>
            <a:off x="5221224" y="2423160"/>
            <a:ext cx="182880" cy="0"/>
          </a:xfrm>
          <a:prstGeom prst="line">
            <a:avLst/>
          </a:prstGeom>
          <a:noFill/>
          <a:ln w="25400">
            <a:solidFill>
              <a:srgbClr val="94A3B8"/>
            </a:solidFill>
            <a:prstDash val="solid"/>
            <a:headEnd type="none"/>
            <a:tailEnd type="triangle"/>
          </a:ln>
        </p:spPr>
      </p:sp>
      <p:sp>
        <p:nvSpPr>
          <p:cNvPr id="13" name="Shape 11"/>
          <p:cNvSpPr/>
          <p:nvPr/>
        </p:nvSpPr>
        <p:spPr>
          <a:xfrm>
            <a:off x="5495544" y="1709928"/>
            <a:ext cx="2057400" cy="1417320"/>
          </a:xfrm>
          <a:prstGeom prst="roundRect">
            <a:avLst>
              <a:gd name="adj" fmla="val 5161"/>
            </a:avLst>
          </a:prstGeom>
          <a:solidFill>
            <a:srgbClr val="EFF6FF"/>
          </a:solidFill>
          <a:ln w="10160">
            <a:solidFill>
              <a:srgbClr val="93C5FD"/>
            </a:solidFill>
            <a:prstDash val="solid"/>
          </a:ln>
          <a:effectLst>
            <a:outerShdw sx="100000" sy="100000" kx="0" ky="0" algn="bl" rotWithShape="0" blurRad="19050" dist="50800" dir="2700000">
              <a:srgbClr val="94A3B8">
                <a:alpha val="13000"/>
              </a:srgbClr>
            </a:outerShdw>
          </a:effectLst>
        </p:spPr>
      </p:sp>
      <p:sp>
        <p:nvSpPr>
          <p:cNvPr id="14" name="Text 12"/>
          <p:cNvSpPr/>
          <p:nvPr/>
        </p:nvSpPr>
        <p:spPr>
          <a:xfrm>
            <a:off x="5696712" y="1929384"/>
            <a:ext cx="1655064" cy="219456"/>
          </a:xfrm>
          <a:prstGeom prst="rect">
            <a:avLst/>
          </a:prstGeom>
          <a:noFill/>
          <a:ln/>
        </p:spPr>
        <p:txBody>
          <a:bodyPr wrap="square" lIns="0" tIns="0" rIns="0" bIns="0" rtlCol="0" anchor="ctr"/>
          <a:lstStyle/>
          <a:p>
            <a:pPr algn="ctr" indent="0" marL="0">
              <a:buNone/>
            </a:pPr>
            <a:r>
              <a:rPr lang="en-US" sz="1000" b="1" spc="80" kern="0" dirty="0">
                <a:solidFill>
                  <a:srgbClr val="2563EB"/>
                </a:solidFill>
                <a:latin typeface="Arial" pitchFamily="34" charset="0"/>
                <a:ea typeface="Arial" pitchFamily="34" charset="-122"/>
                <a:cs typeface="Arial" pitchFamily="34" charset="-120"/>
              </a:rPr>
              <a:t>COMPOSE</a:t>
            </a:r>
            <a:endParaRPr lang="en-US" sz="1000" dirty="0"/>
          </a:p>
        </p:txBody>
      </p:sp>
      <p:sp>
        <p:nvSpPr>
          <p:cNvPr id="15" name="Text 13"/>
          <p:cNvSpPr/>
          <p:nvPr/>
        </p:nvSpPr>
        <p:spPr>
          <a:xfrm>
            <a:off x="5715000" y="2331720"/>
            <a:ext cx="1618488" cy="475488"/>
          </a:xfrm>
          <a:prstGeom prst="rect">
            <a:avLst/>
          </a:prstGeom>
          <a:noFill/>
          <a:ln/>
        </p:spPr>
        <p:txBody>
          <a:bodyPr wrap="square" lIns="0" tIns="0" rIns="0" bIns="0" rtlCol="0" anchor="ctr">
            <a:normAutofit/>
          </a:bodyPr>
          <a:lstStyle/>
          <a:p>
            <a:pPr algn="ctr" indent="0" marL="0">
              <a:buNone/>
            </a:pPr>
            <a:r>
              <a:rPr lang="en-US" sz="850" dirty="0">
                <a:solidFill>
                  <a:srgbClr val="334155"/>
                </a:solidFill>
                <a:latin typeface="Arial" pitchFamily="34" charset="0"/>
                <a:ea typeface="Arial" pitchFamily="34" charset="-122"/>
                <a:cs typeface="Arial" pitchFamily="34" charset="-120"/>
              </a:rPr>
              <a:t>Lifecycle + P&amp;L +</a:t>
            </a:r>
            <a:endParaRPr lang="en-US" sz="850" dirty="0"/>
          </a:p>
          <a:p>
            <a:pPr algn="ctr" indent="0" marL="0">
              <a:buNone/>
            </a:pPr>
            <a:r>
              <a:rPr lang="en-US" sz="850" dirty="0">
                <a:solidFill>
                  <a:srgbClr val="334155"/>
                </a:solidFill>
                <a:latin typeface="Arial" pitchFamily="34" charset="0"/>
                <a:ea typeface="Arial" pitchFamily="34" charset="-122"/>
                <a:cs typeface="Arial" pitchFamily="34" charset="-120"/>
              </a:rPr>
              <a:t>Stale fallback</a:t>
            </a:r>
            <a:endParaRPr lang="en-US" sz="850" dirty="0"/>
          </a:p>
        </p:txBody>
      </p:sp>
      <p:sp>
        <p:nvSpPr>
          <p:cNvPr id="16" name="Shape 14"/>
          <p:cNvSpPr/>
          <p:nvPr/>
        </p:nvSpPr>
        <p:spPr>
          <a:xfrm>
            <a:off x="7626096" y="2423160"/>
            <a:ext cx="182880" cy="0"/>
          </a:xfrm>
          <a:prstGeom prst="line">
            <a:avLst/>
          </a:prstGeom>
          <a:noFill/>
          <a:ln w="25400">
            <a:solidFill>
              <a:srgbClr val="94A3B8"/>
            </a:solidFill>
            <a:prstDash val="solid"/>
            <a:headEnd type="none"/>
            <a:tailEnd type="triangle"/>
          </a:ln>
        </p:spPr>
      </p:sp>
      <p:sp>
        <p:nvSpPr>
          <p:cNvPr id="17" name="Shape 15"/>
          <p:cNvSpPr/>
          <p:nvPr/>
        </p:nvSpPr>
        <p:spPr>
          <a:xfrm>
            <a:off x="7900416" y="1709928"/>
            <a:ext cx="2057400" cy="1417320"/>
          </a:xfrm>
          <a:prstGeom prst="roundRect">
            <a:avLst>
              <a:gd name="adj" fmla="val 5161"/>
            </a:avLst>
          </a:prstGeom>
          <a:solidFill>
            <a:srgbClr val="FFFFFF"/>
          </a:solidFill>
          <a:ln w="10160">
            <a:solidFill>
              <a:srgbClr val="CBD5E1"/>
            </a:solidFill>
            <a:prstDash val="solid"/>
          </a:ln>
          <a:effectLst>
            <a:outerShdw sx="100000" sy="100000" kx="0" ky="0" algn="bl" rotWithShape="0" blurRad="19050" dist="50800" dir="2700000">
              <a:srgbClr val="94A3B8">
                <a:alpha val="13000"/>
              </a:srgbClr>
            </a:outerShdw>
          </a:effectLst>
        </p:spPr>
      </p:sp>
      <p:sp>
        <p:nvSpPr>
          <p:cNvPr id="18" name="Text 16"/>
          <p:cNvSpPr/>
          <p:nvPr/>
        </p:nvSpPr>
        <p:spPr>
          <a:xfrm>
            <a:off x="8101584" y="1929384"/>
            <a:ext cx="1655064" cy="219456"/>
          </a:xfrm>
          <a:prstGeom prst="rect">
            <a:avLst/>
          </a:prstGeom>
          <a:noFill/>
          <a:ln/>
        </p:spPr>
        <p:txBody>
          <a:bodyPr wrap="square" lIns="0" tIns="0" rIns="0" bIns="0" rtlCol="0" anchor="ctr"/>
          <a:lstStyle/>
          <a:p>
            <a:pPr algn="ctr" indent="0" marL="0">
              <a:buNone/>
            </a:pPr>
            <a:r>
              <a:rPr lang="en-US" sz="1000" b="1" spc="80" kern="0" dirty="0">
                <a:solidFill>
                  <a:srgbClr val="2563EB"/>
                </a:solidFill>
                <a:latin typeface="Arial" pitchFamily="34" charset="0"/>
                <a:ea typeface="Arial" pitchFamily="34" charset="-122"/>
                <a:cs typeface="Arial" pitchFamily="34" charset="-120"/>
              </a:rPr>
              <a:t>E2E</a:t>
            </a:r>
            <a:endParaRPr lang="en-US" sz="1000" dirty="0"/>
          </a:p>
        </p:txBody>
      </p:sp>
      <p:sp>
        <p:nvSpPr>
          <p:cNvPr id="19" name="Text 17"/>
          <p:cNvSpPr/>
          <p:nvPr/>
        </p:nvSpPr>
        <p:spPr>
          <a:xfrm>
            <a:off x="8119872" y="2331720"/>
            <a:ext cx="1618488" cy="475488"/>
          </a:xfrm>
          <a:prstGeom prst="rect">
            <a:avLst/>
          </a:prstGeom>
          <a:noFill/>
          <a:ln/>
        </p:spPr>
        <p:txBody>
          <a:bodyPr wrap="square" lIns="0" tIns="0" rIns="0" bIns="0" rtlCol="0" anchor="ctr">
            <a:normAutofit/>
          </a:bodyPr>
          <a:lstStyle/>
          <a:p>
            <a:pPr algn="ctr" indent="0" marL="0">
              <a:buNone/>
            </a:pPr>
            <a:r>
              <a:rPr lang="en-US" sz="850" dirty="0">
                <a:solidFill>
                  <a:srgbClr val="334155"/>
                </a:solidFill>
                <a:latin typeface="Arial" pitchFamily="34" charset="0"/>
                <a:ea typeface="Arial" pitchFamily="34" charset="-122"/>
                <a:cs typeface="Arial" pitchFamily="34" charset="-120"/>
              </a:rPr>
              <a:t>Playwright desktop +</a:t>
            </a:r>
            <a:endParaRPr lang="en-US" sz="850" dirty="0"/>
          </a:p>
          <a:p>
            <a:pPr algn="ctr" indent="0" marL="0">
              <a:buNone/>
            </a:pPr>
            <a:r>
              <a:rPr lang="en-US" sz="850" dirty="0">
                <a:solidFill>
                  <a:srgbClr val="334155"/>
                </a:solidFill>
                <a:latin typeface="Arial" pitchFamily="34" charset="0"/>
                <a:ea typeface="Arial" pitchFamily="34" charset="-122"/>
                <a:cs typeface="Arial" pitchFamily="34" charset="-120"/>
              </a:rPr>
              <a:t>mobile journey</a:t>
            </a:r>
            <a:endParaRPr lang="en-US" sz="850" dirty="0"/>
          </a:p>
        </p:txBody>
      </p:sp>
      <p:sp>
        <p:nvSpPr>
          <p:cNvPr id="20" name="Shape 18"/>
          <p:cNvSpPr/>
          <p:nvPr/>
        </p:nvSpPr>
        <p:spPr>
          <a:xfrm>
            <a:off x="10030968" y="2423160"/>
            <a:ext cx="182880" cy="0"/>
          </a:xfrm>
          <a:prstGeom prst="line">
            <a:avLst/>
          </a:prstGeom>
          <a:noFill/>
          <a:ln w="25400">
            <a:solidFill>
              <a:srgbClr val="94A3B8"/>
            </a:solidFill>
            <a:prstDash val="solid"/>
            <a:headEnd type="none"/>
            <a:tailEnd type="triangle"/>
          </a:ln>
        </p:spPr>
      </p:sp>
      <p:sp>
        <p:nvSpPr>
          <p:cNvPr id="21" name="Shape 19"/>
          <p:cNvSpPr/>
          <p:nvPr/>
        </p:nvSpPr>
        <p:spPr>
          <a:xfrm>
            <a:off x="10287000" y="1627632"/>
            <a:ext cx="1234440" cy="1581912"/>
          </a:xfrm>
          <a:prstGeom prst="roundRect">
            <a:avLst>
              <a:gd name="adj" fmla="val 5926"/>
            </a:avLst>
          </a:prstGeom>
          <a:solidFill>
            <a:srgbClr val="DCFCE7"/>
          </a:solidFill>
          <a:ln w="10160">
            <a:solidFill>
              <a:srgbClr val="86EFAC"/>
            </a:solidFill>
            <a:prstDash val="solid"/>
          </a:ln>
          <a:effectLst>
            <a:outerShdw sx="100000" sy="100000" kx="0" ky="0" algn="bl" rotWithShape="0" blurRad="19050" dist="50800" dir="2700000">
              <a:srgbClr val="94A3B8">
                <a:alpha val="13000"/>
              </a:srgbClr>
            </a:outerShdw>
          </a:effectLst>
        </p:spPr>
      </p:sp>
      <p:sp>
        <p:nvSpPr>
          <p:cNvPr id="22" name="Shape 20"/>
          <p:cNvSpPr/>
          <p:nvPr/>
        </p:nvSpPr>
        <p:spPr>
          <a:xfrm>
            <a:off x="10671048" y="1856232"/>
            <a:ext cx="475488" cy="475488"/>
          </a:xfrm>
          <a:prstGeom prst="ellipse">
            <a:avLst/>
          </a:prstGeom>
          <a:solidFill>
            <a:srgbClr val="15803D"/>
          </a:solidFill>
          <a:ln w="12700">
            <a:solidFill>
              <a:srgbClr val="15803D"/>
            </a:solidFill>
            <a:prstDash val="solid"/>
          </a:ln>
        </p:spPr>
      </p:sp>
      <p:sp>
        <p:nvSpPr>
          <p:cNvPr id="23" name="Text 21"/>
          <p:cNvSpPr/>
          <p:nvPr/>
        </p:nvSpPr>
        <p:spPr>
          <a:xfrm>
            <a:off x="10671048" y="1956816"/>
            <a:ext cx="475488"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4" name="Text 22"/>
          <p:cNvSpPr/>
          <p:nvPr/>
        </p:nvSpPr>
        <p:spPr>
          <a:xfrm>
            <a:off x="10469880" y="2487168"/>
            <a:ext cx="868680" cy="475488"/>
          </a:xfrm>
          <a:prstGeom prst="rect">
            <a:avLst/>
          </a:prstGeom>
          <a:noFill/>
          <a:ln/>
        </p:spPr>
        <p:txBody>
          <a:bodyPr wrap="square" lIns="1016" tIns="1016" rIns="1016" bIns="1016" rtlCol="0" anchor="ctr">
            <a:normAutofit/>
          </a:bodyPr>
          <a:lstStyle/>
          <a:p>
            <a:pPr algn="ctr" indent="0" marL="0">
              <a:buNone/>
            </a:pPr>
            <a:r>
              <a:rPr lang="en-US" sz="1150" b="1" dirty="0">
                <a:solidFill>
                  <a:srgbClr val="15803D"/>
                </a:solidFill>
                <a:latin typeface="Arial" pitchFamily="34" charset="0"/>
                <a:ea typeface="Arial" pitchFamily="34" charset="-122"/>
                <a:cs typeface="Arial" pitchFamily="34" charset="-120"/>
              </a:rPr>
              <a:t>QUALITY GATE</a:t>
            </a:r>
            <a:endParaRPr lang="en-US" sz="1150" dirty="0"/>
          </a:p>
        </p:txBody>
      </p:sp>
      <p:sp>
        <p:nvSpPr>
          <p:cNvPr id="25" name="Text 23"/>
          <p:cNvSpPr/>
          <p:nvPr/>
        </p:nvSpPr>
        <p:spPr>
          <a:xfrm>
            <a:off x="713232" y="3749040"/>
            <a:ext cx="2560320" cy="228600"/>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COVERAGE BY RISK</a:t>
            </a:r>
            <a:endParaRPr lang="en-US" sz="900" dirty="0"/>
          </a:p>
        </p:txBody>
      </p:sp>
      <p:sp>
        <p:nvSpPr>
          <p:cNvPr id="26" name="Shape 24"/>
          <p:cNvSpPr/>
          <p:nvPr/>
        </p:nvSpPr>
        <p:spPr>
          <a:xfrm>
            <a:off x="749808" y="4215384"/>
            <a:ext cx="219456" cy="219456"/>
          </a:xfrm>
          <a:prstGeom prst="ellipse">
            <a:avLst/>
          </a:prstGeom>
          <a:solidFill>
            <a:srgbClr val="2563EB"/>
          </a:solidFill>
          <a:ln w="12700">
            <a:solidFill>
              <a:srgbClr val="2563EB"/>
            </a:solidFill>
            <a:prstDash val="solid"/>
          </a:ln>
        </p:spPr>
      </p:sp>
      <p:sp>
        <p:nvSpPr>
          <p:cNvPr id="27" name="Text 25"/>
          <p:cNvSpPr/>
          <p:nvPr/>
        </p:nvSpPr>
        <p:spPr>
          <a:xfrm>
            <a:off x="1115568" y="4133088"/>
            <a:ext cx="2084832" cy="347472"/>
          </a:xfrm>
          <a:prstGeom prst="rect">
            <a:avLst/>
          </a:prstGeom>
          <a:noFill/>
          <a:ln/>
        </p:spPr>
        <p:txBody>
          <a:bodyPr wrap="square" lIns="1016" tIns="1016" rIns="1016" bIns="1016" rtlCol="0" anchor="ctr">
            <a:normAutofit/>
          </a:bodyPr>
          <a:lstStyle/>
          <a:p>
            <a:pPr algn="l" indent="0" marL="0">
              <a:buNone/>
            </a:pPr>
            <a:r>
              <a:rPr lang="en-US" sz="1050" b="1" dirty="0">
                <a:solidFill>
                  <a:srgbClr val="0F172A"/>
                </a:solidFill>
                <a:latin typeface="Arial" pitchFamily="34" charset="0"/>
                <a:ea typeface="Arial" pitchFamily="34" charset="-122"/>
                <a:cs typeface="Arial" pitchFamily="34" charset="-120"/>
              </a:rPr>
              <a:t>Domain rules</a:t>
            </a:r>
            <a:endParaRPr lang="en-US" sz="1050" dirty="0"/>
          </a:p>
        </p:txBody>
      </p:sp>
      <p:sp>
        <p:nvSpPr>
          <p:cNvPr id="28" name="Text 26"/>
          <p:cNvSpPr/>
          <p:nvPr/>
        </p:nvSpPr>
        <p:spPr>
          <a:xfrm>
            <a:off x="3310128" y="4178808"/>
            <a:ext cx="416052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Trade / Position / P&amp;L</a:t>
            </a:r>
            <a:endParaRPr lang="en-US" sz="850" dirty="0"/>
          </a:p>
        </p:txBody>
      </p:sp>
      <p:sp>
        <p:nvSpPr>
          <p:cNvPr id="29" name="Shape 27"/>
          <p:cNvSpPr/>
          <p:nvPr/>
        </p:nvSpPr>
        <p:spPr>
          <a:xfrm>
            <a:off x="749808" y="4736592"/>
            <a:ext cx="219456" cy="219456"/>
          </a:xfrm>
          <a:prstGeom prst="ellipse">
            <a:avLst/>
          </a:prstGeom>
          <a:solidFill>
            <a:srgbClr val="2563EB"/>
          </a:solidFill>
          <a:ln w="12700">
            <a:solidFill>
              <a:srgbClr val="2563EB"/>
            </a:solidFill>
            <a:prstDash val="solid"/>
          </a:ln>
        </p:spPr>
      </p:sp>
      <p:sp>
        <p:nvSpPr>
          <p:cNvPr id="30" name="Text 28"/>
          <p:cNvSpPr/>
          <p:nvPr/>
        </p:nvSpPr>
        <p:spPr>
          <a:xfrm>
            <a:off x="1115568" y="4654296"/>
            <a:ext cx="2084832" cy="347472"/>
          </a:xfrm>
          <a:prstGeom prst="rect">
            <a:avLst/>
          </a:prstGeom>
          <a:noFill/>
          <a:ln/>
        </p:spPr>
        <p:txBody>
          <a:bodyPr wrap="square" lIns="1016" tIns="1016" rIns="1016" bIns="1016" rtlCol="0" anchor="ctr">
            <a:normAutofit/>
          </a:bodyPr>
          <a:lstStyle/>
          <a:p>
            <a:pPr algn="l" indent="0" marL="0">
              <a:buNone/>
            </a:pPr>
            <a:r>
              <a:rPr lang="en-US" sz="1050" b="1" dirty="0">
                <a:solidFill>
                  <a:srgbClr val="0F172A"/>
                </a:solidFill>
                <a:latin typeface="Arial" pitchFamily="34" charset="0"/>
                <a:ea typeface="Arial" pitchFamily="34" charset="-122"/>
                <a:cs typeface="Arial" pitchFamily="34" charset="-120"/>
              </a:rPr>
              <a:t>Architecture</a:t>
            </a:r>
            <a:endParaRPr lang="en-US" sz="1050" dirty="0"/>
          </a:p>
        </p:txBody>
      </p:sp>
      <p:sp>
        <p:nvSpPr>
          <p:cNvPr id="31" name="Text 29"/>
          <p:cNvSpPr/>
          <p:nvPr/>
        </p:nvSpPr>
        <p:spPr>
          <a:xfrm>
            <a:off x="3310128" y="4700016"/>
            <a:ext cx="416052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ArchUnit dependency checks</a:t>
            </a:r>
            <a:endParaRPr lang="en-US" sz="850" dirty="0"/>
          </a:p>
        </p:txBody>
      </p:sp>
      <p:sp>
        <p:nvSpPr>
          <p:cNvPr id="32" name="Shape 30"/>
          <p:cNvSpPr/>
          <p:nvPr/>
        </p:nvSpPr>
        <p:spPr>
          <a:xfrm>
            <a:off x="749808" y="5257800"/>
            <a:ext cx="219456" cy="219456"/>
          </a:xfrm>
          <a:prstGeom prst="ellipse">
            <a:avLst/>
          </a:prstGeom>
          <a:solidFill>
            <a:srgbClr val="15803D"/>
          </a:solidFill>
          <a:ln w="12700">
            <a:solidFill>
              <a:srgbClr val="15803D"/>
            </a:solidFill>
            <a:prstDash val="solid"/>
          </a:ln>
        </p:spPr>
      </p:sp>
      <p:sp>
        <p:nvSpPr>
          <p:cNvPr id="33" name="Text 31"/>
          <p:cNvSpPr/>
          <p:nvPr/>
        </p:nvSpPr>
        <p:spPr>
          <a:xfrm>
            <a:off x="1115568" y="5175504"/>
            <a:ext cx="2084832" cy="347472"/>
          </a:xfrm>
          <a:prstGeom prst="rect">
            <a:avLst/>
          </a:prstGeom>
          <a:noFill/>
          <a:ln/>
        </p:spPr>
        <p:txBody>
          <a:bodyPr wrap="square" lIns="1016" tIns="1016" rIns="1016" bIns="1016" rtlCol="0" anchor="ctr">
            <a:normAutofit/>
          </a:bodyPr>
          <a:lstStyle/>
          <a:p>
            <a:pPr algn="l" indent="0" marL="0">
              <a:buNone/>
            </a:pPr>
            <a:r>
              <a:rPr lang="en-US" sz="1050" b="1" dirty="0">
                <a:solidFill>
                  <a:srgbClr val="0F172A"/>
                </a:solidFill>
                <a:latin typeface="Arial" pitchFamily="34" charset="0"/>
                <a:ea typeface="Arial" pitchFamily="34" charset="-122"/>
                <a:cs typeface="Arial" pitchFamily="34" charset="-120"/>
              </a:rPr>
              <a:t>Real dependencies</a:t>
            </a:r>
            <a:endParaRPr lang="en-US" sz="1050" dirty="0"/>
          </a:p>
        </p:txBody>
      </p:sp>
      <p:sp>
        <p:nvSpPr>
          <p:cNvPr id="34" name="Text 32"/>
          <p:cNvSpPr/>
          <p:nvPr/>
        </p:nvSpPr>
        <p:spPr>
          <a:xfrm>
            <a:off x="3310128" y="5221224"/>
            <a:ext cx="416052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MySQL 8.4 + Redis 7.4</a:t>
            </a:r>
            <a:endParaRPr lang="en-US" sz="850" dirty="0"/>
          </a:p>
        </p:txBody>
      </p:sp>
      <p:sp>
        <p:nvSpPr>
          <p:cNvPr id="35" name="Shape 33"/>
          <p:cNvSpPr/>
          <p:nvPr/>
        </p:nvSpPr>
        <p:spPr>
          <a:xfrm>
            <a:off x="749808" y="5779008"/>
            <a:ext cx="219456" cy="219456"/>
          </a:xfrm>
          <a:prstGeom prst="ellipse">
            <a:avLst/>
          </a:prstGeom>
          <a:solidFill>
            <a:srgbClr val="15803D"/>
          </a:solidFill>
          <a:ln w="12700">
            <a:solidFill>
              <a:srgbClr val="15803D"/>
            </a:solidFill>
            <a:prstDash val="solid"/>
          </a:ln>
        </p:spPr>
      </p:sp>
      <p:sp>
        <p:nvSpPr>
          <p:cNvPr id="36" name="Text 34"/>
          <p:cNvSpPr/>
          <p:nvPr/>
        </p:nvSpPr>
        <p:spPr>
          <a:xfrm>
            <a:off x="1115568" y="5696712"/>
            <a:ext cx="2084832" cy="347472"/>
          </a:xfrm>
          <a:prstGeom prst="rect">
            <a:avLst/>
          </a:prstGeom>
          <a:noFill/>
          <a:ln/>
        </p:spPr>
        <p:txBody>
          <a:bodyPr wrap="square" lIns="1016" tIns="1016" rIns="1016" bIns="1016" rtlCol="0" anchor="ctr">
            <a:normAutofit/>
          </a:bodyPr>
          <a:lstStyle/>
          <a:p>
            <a:pPr algn="l" indent="0" marL="0">
              <a:buNone/>
            </a:pPr>
            <a:r>
              <a:rPr lang="en-US" sz="1050" b="1" dirty="0">
                <a:solidFill>
                  <a:srgbClr val="0F172A"/>
                </a:solidFill>
                <a:latin typeface="Arial" pitchFamily="34" charset="0"/>
                <a:ea typeface="Arial" pitchFamily="34" charset="-122"/>
                <a:cs typeface="Arial" pitchFamily="34" charset="-120"/>
              </a:rPr>
              <a:t>User journey</a:t>
            </a:r>
            <a:endParaRPr lang="en-US" sz="1050" dirty="0"/>
          </a:p>
        </p:txBody>
      </p:sp>
      <p:sp>
        <p:nvSpPr>
          <p:cNvPr id="37" name="Text 35"/>
          <p:cNvSpPr/>
          <p:nvPr/>
        </p:nvSpPr>
        <p:spPr>
          <a:xfrm>
            <a:off x="3310128" y="5742432"/>
            <a:ext cx="416052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Booking → outage → recovery</a:t>
            </a:r>
            <a:endParaRPr lang="en-US" sz="850" dirty="0"/>
          </a:p>
        </p:txBody>
      </p:sp>
      <p:sp>
        <p:nvSpPr>
          <p:cNvPr id="38" name="Shape 36"/>
          <p:cNvSpPr/>
          <p:nvPr/>
        </p:nvSpPr>
        <p:spPr>
          <a:xfrm>
            <a:off x="7680960" y="3950208"/>
            <a:ext cx="3794760" cy="1984248"/>
          </a:xfrm>
          <a:prstGeom prst="roundRect">
            <a:avLst>
              <a:gd name="adj" fmla="val 3687"/>
            </a:avLst>
          </a:prstGeom>
          <a:solidFill>
            <a:srgbClr val="0F172A"/>
          </a:solidFill>
          <a:ln w="10160">
            <a:solidFill>
              <a:srgbClr val="0F172A"/>
            </a:solidFill>
            <a:prstDash val="solid"/>
          </a:ln>
          <a:effectLst>
            <a:outerShdw sx="100000" sy="100000" kx="0" ky="0" algn="bl" rotWithShape="0" blurRad="19050" dist="50800" dir="2700000">
              <a:srgbClr val="94A3B8">
                <a:alpha val="13000"/>
              </a:srgbClr>
            </a:outerShdw>
          </a:effectLst>
        </p:spPr>
      </p:sp>
      <p:sp>
        <p:nvSpPr>
          <p:cNvPr id="39" name="Text 37"/>
          <p:cNvSpPr/>
          <p:nvPr/>
        </p:nvSpPr>
        <p:spPr>
          <a:xfrm>
            <a:off x="8028432" y="4270248"/>
            <a:ext cx="3108960" cy="640080"/>
          </a:xfrm>
          <a:prstGeom prst="rect">
            <a:avLst/>
          </a:prstGeom>
          <a:noFill/>
          <a:ln/>
        </p:spPr>
        <p:txBody>
          <a:bodyPr wrap="square" lIns="1016" tIns="1016" rIns="1016" bIns="1016" rtlCol="0" anchor="ctr">
            <a:normAutofit/>
          </a:bodyPr>
          <a:lstStyle/>
          <a:p>
            <a:pPr algn="ctr" indent="0" marL="0">
              <a:buNone/>
            </a:pPr>
            <a:r>
              <a:rPr lang="en-US" sz="1600" b="1" dirty="0">
                <a:solidFill>
                  <a:srgbClr val="FFFFFF"/>
                </a:solidFill>
                <a:latin typeface="Arial" pitchFamily="34" charset="0"/>
                <a:ea typeface="Arial" pitchFamily="34" charset="-122"/>
                <a:cs typeface="Arial" pitchFamily="34" charset="-120"/>
              </a:rPr>
              <a:t>Every failure produces useful diagnostics</a:t>
            </a:r>
            <a:endParaRPr lang="en-US" sz="1600" dirty="0"/>
          </a:p>
        </p:txBody>
      </p:sp>
      <p:sp>
        <p:nvSpPr>
          <p:cNvPr id="40" name="Text 38"/>
          <p:cNvSpPr/>
          <p:nvPr/>
        </p:nvSpPr>
        <p:spPr>
          <a:xfrm>
            <a:off x="8101584" y="5184648"/>
            <a:ext cx="2962656" cy="320040"/>
          </a:xfrm>
          <a:prstGeom prst="rect">
            <a:avLst/>
          </a:prstGeom>
          <a:noFill/>
          <a:ln/>
        </p:spPr>
        <p:txBody>
          <a:bodyPr wrap="square" lIns="0" tIns="0" rIns="0" bIns="0" rtlCol="0" anchor="ctr">
            <a:normAutofit/>
          </a:bodyPr>
          <a:lstStyle/>
          <a:p>
            <a:pPr algn="ctr" indent="0" marL="0">
              <a:buNone/>
            </a:pPr>
            <a:r>
              <a:rPr lang="en-US" sz="850" dirty="0">
                <a:solidFill>
                  <a:srgbClr val="94A3B8"/>
                </a:solidFill>
                <a:latin typeface="Arial" pitchFamily="34" charset="0"/>
                <a:ea typeface="Arial" pitchFamily="34" charset="-122"/>
                <a:cs typeface="Arial" pitchFamily="34" charset="-120"/>
              </a:rPr>
              <a:t>Reports · traces · screenshots · videos · isolated Compose logs</a:t>
            </a:r>
            <a:endParaRPr lang="en-US" sz="85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WHAT COMES NEXT</a:t>
            </a:r>
            <a:endParaRPr lang="en-US" sz="800" dirty="0"/>
          </a:p>
        </p:txBody>
      </p:sp>
      <p:sp>
        <p:nvSpPr>
          <p:cNvPr id="3" name="Text 1"/>
          <p:cNvSpPr/>
          <p:nvPr/>
        </p:nvSpPr>
        <p:spPr>
          <a:xfrm>
            <a:off x="566928" y="585216"/>
            <a:ext cx="8595360" cy="530352"/>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Boundaries and Roadmap</a:t>
            </a:r>
            <a:endParaRPr lang="en-US" sz="2400" dirty="0"/>
          </a:p>
        </p:txBody>
      </p:sp>
      <p:sp>
        <p:nvSpPr>
          <p:cNvPr id="4" name="Text 2"/>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11</a:t>
            </a:r>
            <a:endParaRPr lang="en-US" sz="1800" dirty="0"/>
          </a:p>
        </p:txBody>
      </p:sp>
      <p:sp>
        <p:nvSpPr>
          <p:cNvPr id="5" name="Text 3"/>
          <p:cNvSpPr/>
          <p:nvPr/>
        </p:nvSpPr>
        <p:spPr>
          <a:xfrm>
            <a:off x="713232" y="1508760"/>
            <a:ext cx="4297680" cy="274320"/>
          </a:xfrm>
          <a:prstGeom prst="rect">
            <a:avLst/>
          </a:prstGeom>
          <a:noFill/>
          <a:ln/>
        </p:spPr>
        <p:txBody>
          <a:bodyPr wrap="square" lIns="0" tIns="0" rIns="0" bIns="0" rtlCol="0" anchor="ctr"/>
          <a:lstStyle/>
          <a:p>
            <a:pPr indent="0" marL="0">
              <a:buNone/>
            </a:pPr>
            <a:r>
              <a:rPr lang="en-US" sz="1000" b="1" dirty="0">
                <a:solidFill>
                  <a:srgbClr val="D97706"/>
                </a:solidFill>
                <a:latin typeface="Arial" pitchFamily="34" charset="0"/>
                <a:ea typeface="Arial" pitchFamily="34" charset="-122"/>
                <a:cs typeface="Arial" pitchFamily="34" charset="-120"/>
              </a:rPr>
              <a:t>CURRENT BOUNDARIES</a:t>
            </a:r>
            <a:endParaRPr lang="en-US" sz="1000" dirty="0"/>
          </a:p>
        </p:txBody>
      </p:sp>
      <p:sp>
        <p:nvSpPr>
          <p:cNvPr id="6" name="Shape 4"/>
          <p:cNvSpPr/>
          <p:nvPr/>
        </p:nvSpPr>
        <p:spPr>
          <a:xfrm>
            <a:off x="713232" y="1920240"/>
            <a:ext cx="1901952" cy="713232"/>
          </a:xfrm>
          <a:prstGeom prst="roundRect">
            <a:avLst>
              <a:gd name="adj" fmla="val 10256"/>
            </a:avLst>
          </a:prstGeom>
          <a:solidFill>
            <a:srgbClr val="FFFBEB"/>
          </a:solidFill>
          <a:ln w="10160">
            <a:solidFill>
              <a:srgbClr val="FDE68A"/>
            </a:solidFill>
            <a:prstDash val="solid"/>
          </a:ln>
        </p:spPr>
      </p:sp>
      <p:sp>
        <p:nvSpPr>
          <p:cNvPr id="7" name="Text 5"/>
          <p:cNvSpPr/>
          <p:nvPr/>
        </p:nvSpPr>
        <p:spPr>
          <a:xfrm>
            <a:off x="868680" y="2011680"/>
            <a:ext cx="1591056" cy="493776"/>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latin typeface="Arial" pitchFamily="34" charset="0"/>
                <a:ea typeface="Arial" pitchFamily="34" charset="-122"/>
                <a:cs typeface="Arial" pitchFamily="34" charset="-120"/>
              </a:rPr>
              <a:t>Single user</a:t>
            </a:r>
            <a:endParaRPr lang="en-US" sz="1150" dirty="0"/>
          </a:p>
        </p:txBody>
      </p:sp>
      <p:sp>
        <p:nvSpPr>
          <p:cNvPr id="8" name="Shape 6"/>
          <p:cNvSpPr/>
          <p:nvPr/>
        </p:nvSpPr>
        <p:spPr>
          <a:xfrm>
            <a:off x="2862072" y="1920240"/>
            <a:ext cx="1901952" cy="713232"/>
          </a:xfrm>
          <a:prstGeom prst="roundRect">
            <a:avLst>
              <a:gd name="adj" fmla="val 10256"/>
            </a:avLst>
          </a:prstGeom>
          <a:solidFill>
            <a:srgbClr val="FFFBEB"/>
          </a:solidFill>
          <a:ln w="10160">
            <a:solidFill>
              <a:srgbClr val="FDE68A"/>
            </a:solidFill>
            <a:prstDash val="solid"/>
          </a:ln>
        </p:spPr>
      </p:sp>
      <p:sp>
        <p:nvSpPr>
          <p:cNvPr id="9" name="Text 7"/>
          <p:cNvSpPr/>
          <p:nvPr/>
        </p:nvSpPr>
        <p:spPr>
          <a:xfrm>
            <a:off x="3017520" y="2011680"/>
            <a:ext cx="1591056" cy="493776"/>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latin typeface="Arial" pitchFamily="34" charset="0"/>
                <a:ea typeface="Arial" pitchFamily="34" charset="-122"/>
                <a:cs typeface="Arial" pitchFamily="34" charset="-120"/>
              </a:rPr>
              <a:t>USD only</a:t>
            </a:r>
            <a:endParaRPr lang="en-US" sz="1150" dirty="0"/>
          </a:p>
        </p:txBody>
      </p:sp>
      <p:sp>
        <p:nvSpPr>
          <p:cNvPr id="10" name="Shape 8"/>
          <p:cNvSpPr/>
          <p:nvPr/>
        </p:nvSpPr>
        <p:spPr>
          <a:xfrm>
            <a:off x="713232" y="2880360"/>
            <a:ext cx="1901952" cy="713232"/>
          </a:xfrm>
          <a:prstGeom prst="roundRect">
            <a:avLst>
              <a:gd name="adj" fmla="val 10256"/>
            </a:avLst>
          </a:prstGeom>
          <a:solidFill>
            <a:srgbClr val="FFFBEB"/>
          </a:solidFill>
          <a:ln w="10160">
            <a:solidFill>
              <a:srgbClr val="FDE68A"/>
            </a:solidFill>
            <a:prstDash val="solid"/>
          </a:ln>
        </p:spPr>
      </p:sp>
      <p:sp>
        <p:nvSpPr>
          <p:cNvPr id="11" name="Text 9"/>
          <p:cNvSpPr/>
          <p:nvPr/>
        </p:nvSpPr>
        <p:spPr>
          <a:xfrm>
            <a:off x="868680" y="2971800"/>
            <a:ext cx="1591056" cy="493776"/>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latin typeface="Arial" pitchFamily="34" charset="0"/>
                <a:ea typeface="Arial" pitchFamily="34" charset="-122"/>
                <a:cs typeface="Arial" pitchFamily="34" charset="-120"/>
              </a:rPr>
              <a:t>No cash ledger</a:t>
            </a:r>
            <a:endParaRPr lang="en-US" sz="1150" dirty="0"/>
          </a:p>
        </p:txBody>
      </p:sp>
      <p:sp>
        <p:nvSpPr>
          <p:cNvPr id="12" name="Shape 10"/>
          <p:cNvSpPr/>
          <p:nvPr/>
        </p:nvSpPr>
        <p:spPr>
          <a:xfrm>
            <a:off x="2862072" y="2880360"/>
            <a:ext cx="1901952" cy="713232"/>
          </a:xfrm>
          <a:prstGeom prst="roundRect">
            <a:avLst>
              <a:gd name="adj" fmla="val 10256"/>
            </a:avLst>
          </a:prstGeom>
          <a:solidFill>
            <a:srgbClr val="FFFBEB"/>
          </a:solidFill>
          <a:ln w="10160">
            <a:solidFill>
              <a:srgbClr val="FDE68A"/>
            </a:solidFill>
            <a:prstDash val="solid"/>
          </a:ln>
        </p:spPr>
      </p:sp>
      <p:sp>
        <p:nvSpPr>
          <p:cNvPr id="13" name="Text 11"/>
          <p:cNvSpPr/>
          <p:nvPr/>
        </p:nvSpPr>
        <p:spPr>
          <a:xfrm>
            <a:off x="3017520" y="2971800"/>
            <a:ext cx="1591056" cy="493776"/>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latin typeface="Arial" pitchFamily="34" charset="0"/>
                <a:ea typeface="Arial" pitchFamily="34" charset="-122"/>
                <a:cs typeface="Arial" pitchFamily="34" charset="-120"/>
              </a:rPr>
              <a:t>No shorting</a:t>
            </a:r>
            <a:endParaRPr lang="en-US" sz="1150" dirty="0"/>
          </a:p>
        </p:txBody>
      </p:sp>
      <p:sp>
        <p:nvSpPr>
          <p:cNvPr id="14" name="Shape 12"/>
          <p:cNvSpPr/>
          <p:nvPr/>
        </p:nvSpPr>
        <p:spPr>
          <a:xfrm>
            <a:off x="713232" y="3840480"/>
            <a:ext cx="1901952" cy="713232"/>
          </a:xfrm>
          <a:prstGeom prst="roundRect">
            <a:avLst>
              <a:gd name="adj" fmla="val 10256"/>
            </a:avLst>
          </a:prstGeom>
          <a:solidFill>
            <a:srgbClr val="FFFBEB"/>
          </a:solidFill>
          <a:ln w="10160">
            <a:solidFill>
              <a:srgbClr val="FDE68A"/>
            </a:solidFill>
            <a:prstDash val="solid"/>
          </a:ln>
        </p:spPr>
      </p:sp>
      <p:sp>
        <p:nvSpPr>
          <p:cNvPr id="15" name="Text 13"/>
          <p:cNvSpPr/>
          <p:nvPr/>
        </p:nvSpPr>
        <p:spPr>
          <a:xfrm>
            <a:off x="868680" y="3931920"/>
            <a:ext cx="1591056" cy="493776"/>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latin typeface="Arial" pitchFamily="34" charset="0"/>
                <a:ea typeface="Arial" pitchFamily="34" charset="-122"/>
                <a:cs typeface="Arial" pitchFamily="34" charset="-120"/>
              </a:rPr>
              <a:t>Unrealized P&amp;L only</a:t>
            </a:r>
            <a:endParaRPr lang="en-US" sz="1150" dirty="0"/>
          </a:p>
        </p:txBody>
      </p:sp>
      <p:sp>
        <p:nvSpPr>
          <p:cNvPr id="16" name="Shape 14"/>
          <p:cNvSpPr/>
          <p:nvPr/>
        </p:nvSpPr>
        <p:spPr>
          <a:xfrm>
            <a:off x="2862072" y="3840480"/>
            <a:ext cx="1901952" cy="713232"/>
          </a:xfrm>
          <a:prstGeom prst="roundRect">
            <a:avLst>
              <a:gd name="adj" fmla="val 10256"/>
            </a:avLst>
          </a:prstGeom>
          <a:solidFill>
            <a:srgbClr val="FFFBEB"/>
          </a:solidFill>
          <a:ln w="10160">
            <a:solidFill>
              <a:srgbClr val="FDE68A"/>
            </a:solidFill>
            <a:prstDash val="solid"/>
          </a:ln>
        </p:spPr>
      </p:sp>
      <p:sp>
        <p:nvSpPr>
          <p:cNvPr id="17" name="Text 15"/>
          <p:cNvSpPr/>
          <p:nvPr/>
        </p:nvSpPr>
        <p:spPr>
          <a:xfrm>
            <a:off x="3017520" y="3931920"/>
            <a:ext cx="1591056" cy="493776"/>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latin typeface="Arial" pitchFamily="34" charset="0"/>
                <a:ea typeface="Arial" pitchFamily="34" charset="-122"/>
                <a:cs typeface="Arial" pitchFamily="34" charset="-120"/>
              </a:rPr>
              <a:t>Weighted average only</a:t>
            </a:r>
            <a:endParaRPr lang="en-US" sz="1150" dirty="0"/>
          </a:p>
        </p:txBody>
      </p:sp>
      <p:sp>
        <p:nvSpPr>
          <p:cNvPr id="18" name="Shape 16"/>
          <p:cNvSpPr/>
          <p:nvPr/>
        </p:nvSpPr>
        <p:spPr>
          <a:xfrm>
            <a:off x="5230368" y="1572768"/>
            <a:ext cx="0" cy="4370832"/>
          </a:xfrm>
          <a:prstGeom prst="line">
            <a:avLst/>
          </a:prstGeom>
          <a:noFill/>
          <a:ln w="15240">
            <a:solidFill>
              <a:srgbClr val="CBD5E1"/>
            </a:solidFill>
            <a:prstDash val="solid"/>
          </a:ln>
        </p:spPr>
      </p:sp>
      <p:sp>
        <p:nvSpPr>
          <p:cNvPr id="19" name="Text 17"/>
          <p:cNvSpPr/>
          <p:nvPr/>
        </p:nvSpPr>
        <p:spPr>
          <a:xfrm>
            <a:off x="5623560" y="1508760"/>
            <a:ext cx="5394960" cy="274320"/>
          </a:xfrm>
          <a:prstGeom prst="rect">
            <a:avLst/>
          </a:prstGeom>
          <a:noFill/>
          <a:ln/>
        </p:spPr>
        <p:txBody>
          <a:bodyPr wrap="square" lIns="0" tIns="0" rIns="0" bIns="0" rtlCol="0" anchor="ctr"/>
          <a:lstStyle/>
          <a:p>
            <a:pPr indent="0" marL="0">
              <a:buNone/>
            </a:pPr>
            <a:r>
              <a:rPr lang="en-US" sz="1000" b="1" dirty="0">
                <a:solidFill>
                  <a:srgbClr val="2563EB"/>
                </a:solidFill>
                <a:latin typeface="Arial" pitchFamily="34" charset="0"/>
                <a:ea typeface="Arial" pitchFamily="34" charset="-122"/>
                <a:cs typeface="Arial" pitchFamily="34" charset="-120"/>
              </a:rPr>
              <a:t>ROADMAP</a:t>
            </a:r>
            <a:endParaRPr lang="en-US" sz="1000" dirty="0"/>
          </a:p>
        </p:txBody>
      </p:sp>
      <p:sp>
        <p:nvSpPr>
          <p:cNvPr id="20" name="Shape 18"/>
          <p:cNvSpPr/>
          <p:nvPr/>
        </p:nvSpPr>
        <p:spPr>
          <a:xfrm>
            <a:off x="5650992" y="1938528"/>
            <a:ext cx="502920" cy="502920"/>
          </a:xfrm>
          <a:prstGeom prst="ellipse">
            <a:avLst/>
          </a:prstGeom>
          <a:solidFill>
            <a:srgbClr val="2563EB"/>
          </a:solidFill>
          <a:ln w="12700">
            <a:solidFill>
              <a:srgbClr val="2563EB"/>
            </a:solidFill>
            <a:prstDash val="solid"/>
          </a:ln>
        </p:spPr>
      </p:sp>
      <p:sp>
        <p:nvSpPr>
          <p:cNvPr id="21" name="Text 19"/>
          <p:cNvSpPr/>
          <p:nvPr/>
        </p:nvSpPr>
        <p:spPr>
          <a:xfrm>
            <a:off x="5650992" y="2057400"/>
            <a:ext cx="50292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01</a:t>
            </a:r>
            <a:endParaRPr lang="en-US" sz="900" dirty="0"/>
          </a:p>
        </p:txBody>
      </p:sp>
      <p:sp>
        <p:nvSpPr>
          <p:cNvPr id="22" name="Text 20"/>
          <p:cNvSpPr/>
          <p:nvPr/>
        </p:nvSpPr>
        <p:spPr>
          <a:xfrm>
            <a:off x="6400800" y="1892808"/>
            <a:ext cx="4892040" cy="603504"/>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latin typeface="Arial" pitchFamily="34" charset="0"/>
                <a:ea typeface="Arial" pitchFamily="34" charset="-122"/>
                <a:cs typeface="Arial" pitchFamily="34" charset="-120"/>
              </a:rPr>
              <a:t>Auth · authorization · ownership</a:t>
            </a:r>
            <a:endParaRPr lang="en-US" sz="1300" dirty="0"/>
          </a:p>
        </p:txBody>
      </p:sp>
      <p:sp>
        <p:nvSpPr>
          <p:cNvPr id="23" name="Shape 21"/>
          <p:cNvSpPr/>
          <p:nvPr/>
        </p:nvSpPr>
        <p:spPr>
          <a:xfrm>
            <a:off x="5902452" y="2450592"/>
            <a:ext cx="0" cy="429768"/>
          </a:xfrm>
          <a:prstGeom prst="line">
            <a:avLst/>
          </a:prstGeom>
          <a:noFill/>
          <a:ln w="25400">
            <a:solidFill>
              <a:srgbClr val="93C5FD"/>
            </a:solidFill>
            <a:prstDash val="solid"/>
          </a:ln>
        </p:spPr>
      </p:sp>
      <p:sp>
        <p:nvSpPr>
          <p:cNvPr id="24" name="Shape 22"/>
          <p:cNvSpPr/>
          <p:nvPr/>
        </p:nvSpPr>
        <p:spPr>
          <a:xfrm>
            <a:off x="5650992" y="2880360"/>
            <a:ext cx="502920" cy="502920"/>
          </a:xfrm>
          <a:prstGeom prst="ellipse">
            <a:avLst/>
          </a:prstGeom>
          <a:solidFill>
            <a:srgbClr val="DBEAFE"/>
          </a:solidFill>
          <a:ln w="12700">
            <a:solidFill>
              <a:srgbClr val="DBEAFE"/>
            </a:solidFill>
            <a:prstDash val="solid"/>
          </a:ln>
        </p:spPr>
      </p:sp>
      <p:sp>
        <p:nvSpPr>
          <p:cNvPr id="25" name="Text 23"/>
          <p:cNvSpPr/>
          <p:nvPr/>
        </p:nvSpPr>
        <p:spPr>
          <a:xfrm>
            <a:off x="5650992" y="2999232"/>
            <a:ext cx="502920" cy="182880"/>
          </a:xfrm>
          <a:prstGeom prst="rect">
            <a:avLst/>
          </a:prstGeom>
          <a:noFill/>
          <a:ln/>
        </p:spPr>
        <p:txBody>
          <a:bodyPr wrap="square" lIns="0" tIns="0" rIns="0" bIns="0"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02</a:t>
            </a:r>
            <a:endParaRPr lang="en-US" sz="900" dirty="0"/>
          </a:p>
        </p:txBody>
      </p:sp>
      <p:sp>
        <p:nvSpPr>
          <p:cNvPr id="26" name="Text 24"/>
          <p:cNvSpPr/>
          <p:nvPr/>
        </p:nvSpPr>
        <p:spPr>
          <a:xfrm>
            <a:off x="6400800" y="2834640"/>
            <a:ext cx="4892040" cy="603504"/>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latin typeface="Arial" pitchFamily="34" charset="0"/>
                <a:ea typeface="Arial" pitchFamily="34" charset="-122"/>
                <a:cs typeface="Arial" pitchFamily="34" charset="-120"/>
              </a:rPr>
              <a:t>Cash · FX · realized P&amp;L · tax lots</a:t>
            </a:r>
            <a:endParaRPr lang="en-US" sz="1300" dirty="0"/>
          </a:p>
        </p:txBody>
      </p:sp>
      <p:sp>
        <p:nvSpPr>
          <p:cNvPr id="27" name="Shape 25"/>
          <p:cNvSpPr/>
          <p:nvPr/>
        </p:nvSpPr>
        <p:spPr>
          <a:xfrm>
            <a:off x="5902452" y="3392424"/>
            <a:ext cx="0" cy="429768"/>
          </a:xfrm>
          <a:prstGeom prst="line">
            <a:avLst/>
          </a:prstGeom>
          <a:noFill/>
          <a:ln w="25400">
            <a:solidFill>
              <a:srgbClr val="93C5FD"/>
            </a:solidFill>
            <a:prstDash val="solid"/>
          </a:ln>
        </p:spPr>
      </p:sp>
      <p:sp>
        <p:nvSpPr>
          <p:cNvPr id="28" name="Shape 26"/>
          <p:cNvSpPr/>
          <p:nvPr/>
        </p:nvSpPr>
        <p:spPr>
          <a:xfrm>
            <a:off x="5650992" y="3822192"/>
            <a:ext cx="502920" cy="502920"/>
          </a:xfrm>
          <a:prstGeom prst="ellipse">
            <a:avLst/>
          </a:prstGeom>
          <a:solidFill>
            <a:srgbClr val="DBEAFE"/>
          </a:solidFill>
          <a:ln w="12700">
            <a:solidFill>
              <a:srgbClr val="DBEAFE"/>
            </a:solidFill>
            <a:prstDash val="solid"/>
          </a:ln>
        </p:spPr>
      </p:sp>
      <p:sp>
        <p:nvSpPr>
          <p:cNvPr id="29" name="Text 27"/>
          <p:cNvSpPr/>
          <p:nvPr/>
        </p:nvSpPr>
        <p:spPr>
          <a:xfrm>
            <a:off x="5650992" y="3941064"/>
            <a:ext cx="502920" cy="182880"/>
          </a:xfrm>
          <a:prstGeom prst="rect">
            <a:avLst/>
          </a:prstGeom>
          <a:noFill/>
          <a:ln/>
        </p:spPr>
        <p:txBody>
          <a:bodyPr wrap="square" lIns="0" tIns="0" rIns="0" bIns="0"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03</a:t>
            </a:r>
            <a:endParaRPr lang="en-US" sz="900" dirty="0"/>
          </a:p>
        </p:txBody>
      </p:sp>
      <p:sp>
        <p:nvSpPr>
          <p:cNvPr id="30" name="Text 28"/>
          <p:cNvSpPr/>
          <p:nvPr/>
        </p:nvSpPr>
        <p:spPr>
          <a:xfrm>
            <a:off x="6400800" y="3776472"/>
            <a:ext cx="4892040" cy="603504"/>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latin typeface="Arial" pitchFamily="34" charset="0"/>
                <a:ea typeface="Arial" pitchFamily="34" charset="-122"/>
                <a:cs typeface="Arial" pitchFamily="34" charset="-120"/>
              </a:rPr>
              <a:t>More providers · WebSocket streaming</a:t>
            </a:r>
            <a:endParaRPr lang="en-US" sz="1300" dirty="0"/>
          </a:p>
        </p:txBody>
      </p:sp>
      <p:sp>
        <p:nvSpPr>
          <p:cNvPr id="31" name="Shape 29"/>
          <p:cNvSpPr/>
          <p:nvPr/>
        </p:nvSpPr>
        <p:spPr>
          <a:xfrm>
            <a:off x="5902452" y="4334256"/>
            <a:ext cx="0" cy="429768"/>
          </a:xfrm>
          <a:prstGeom prst="line">
            <a:avLst/>
          </a:prstGeom>
          <a:noFill/>
          <a:ln w="25400">
            <a:solidFill>
              <a:srgbClr val="93C5FD"/>
            </a:solidFill>
            <a:prstDash val="solid"/>
          </a:ln>
        </p:spPr>
      </p:sp>
      <p:sp>
        <p:nvSpPr>
          <p:cNvPr id="32" name="Shape 30"/>
          <p:cNvSpPr/>
          <p:nvPr/>
        </p:nvSpPr>
        <p:spPr>
          <a:xfrm>
            <a:off x="5650992" y="4764024"/>
            <a:ext cx="502920" cy="502920"/>
          </a:xfrm>
          <a:prstGeom prst="ellipse">
            <a:avLst/>
          </a:prstGeom>
          <a:solidFill>
            <a:srgbClr val="DBEAFE"/>
          </a:solidFill>
          <a:ln w="12700">
            <a:solidFill>
              <a:srgbClr val="DBEAFE"/>
            </a:solidFill>
            <a:prstDash val="solid"/>
          </a:ln>
        </p:spPr>
      </p:sp>
      <p:sp>
        <p:nvSpPr>
          <p:cNvPr id="33" name="Text 31"/>
          <p:cNvSpPr/>
          <p:nvPr/>
        </p:nvSpPr>
        <p:spPr>
          <a:xfrm>
            <a:off x="5650992" y="4882896"/>
            <a:ext cx="502920" cy="182880"/>
          </a:xfrm>
          <a:prstGeom prst="rect">
            <a:avLst/>
          </a:prstGeom>
          <a:noFill/>
          <a:ln/>
        </p:spPr>
        <p:txBody>
          <a:bodyPr wrap="square" lIns="0" tIns="0" rIns="0" bIns="0"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04</a:t>
            </a:r>
            <a:endParaRPr lang="en-US" sz="900" dirty="0"/>
          </a:p>
        </p:txBody>
      </p:sp>
      <p:sp>
        <p:nvSpPr>
          <p:cNvPr id="34" name="Text 32"/>
          <p:cNvSpPr/>
          <p:nvPr/>
        </p:nvSpPr>
        <p:spPr>
          <a:xfrm>
            <a:off x="6400800" y="4718304"/>
            <a:ext cx="4892040" cy="603504"/>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latin typeface="Arial" pitchFamily="34" charset="0"/>
                <a:ea typeface="Arial" pitchFamily="34" charset="-122"/>
                <a:cs typeface="Arial" pitchFamily="34" charset="-120"/>
              </a:rPr>
              <a:t>Secrets · observability · deployment</a:t>
            </a:r>
            <a:endParaRPr lang="en-US" sz="1300" dirty="0"/>
          </a:p>
        </p:txBody>
      </p:sp>
      <p:sp>
        <p:nvSpPr>
          <p:cNvPr id="35" name="Shape 33"/>
          <p:cNvSpPr/>
          <p:nvPr/>
        </p:nvSpPr>
        <p:spPr>
          <a:xfrm>
            <a:off x="1143000" y="5248656"/>
            <a:ext cx="9921240" cy="713232"/>
          </a:xfrm>
          <a:prstGeom prst="roundRect">
            <a:avLst>
              <a:gd name="adj" fmla="val 10256"/>
            </a:avLst>
          </a:prstGeom>
          <a:solidFill>
            <a:srgbClr val="EFF6FF"/>
          </a:solidFill>
          <a:ln w="12700">
            <a:solidFill>
              <a:srgbClr val="BFDBFE"/>
            </a:solidFill>
            <a:prstDash val="solid"/>
          </a:ln>
        </p:spPr>
      </p:sp>
      <p:sp>
        <p:nvSpPr>
          <p:cNvPr id="36" name="Text 34"/>
          <p:cNvSpPr/>
          <p:nvPr/>
        </p:nvSpPr>
        <p:spPr>
          <a:xfrm>
            <a:off x="1417320" y="5394960"/>
            <a:ext cx="9372600" cy="411480"/>
          </a:xfrm>
          <a:prstGeom prst="rect">
            <a:avLst/>
          </a:prstGeom>
          <a:noFill/>
          <a:ln/>
        </p:spPr>
        <p:txBody>
          <a:bodyPr wrap="square" lIns="1016" tIns="1016" rIns="1016" bIns="1016" rtlCol="0" anchor="ctr">
            <a:normAutofit/>
          </a:bodyPr>
          <a:lstStyle/>
          <a:p>
            <a:pPr algn="ctr" indent="0" marL="0">
              <a:buNone/>
            </a:pPr>
            <a:r>
              <a:rPr lang="en-US" sz="1400" b="1" dirty="0">
                <a:solidFill>
                  <a:srgbClr val="1D4ED8"/>
                </a:solidFill>
                <a:latin typeface="Arial" pitchFamily="34" charset="0"/>
                <a:ea typeface="Arial" pitchFamily="34" charset="-122"/>
                <a:cs typeface="Arial" pitchFamily="34" charset="-120"/>
              </a:rPr>
              <a:t>Explicit boundaries create a testable starting point for the next increment.</a:t>
            </a:r>
            <a:endParaRPr lang="en-US" sz="140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8869680" y="-1371600"/>
            <a:ext cx="4754880" cy="4754880"/>
          </a:xfrm>
          <a:prstGeom prst="ellipse">
            <a:avLst/>
          </a:prstGeom>
          <a:solidFill>
            <a:srgbClr val="2563EB">
              <a:alpha val="28000"/>
            </a:srgbClr>
          </a:solidFill>
          <a:ln w="12700">
            <a:solidFill>
              <a:srgbClr val="2563EB">
                <a:alpha val="0"/>
              </a:srgbClr>
            </a:solidFill>
            <a:prstDash val="solid"/>
          </a:ln>
        </p:spPr>
      </p:sp>
      <p:sp>
        <p:nvSpPr>
          <p:cNvPr id="4" name="Text 2"/>
          <p:cNvSpPr/>
          <p:nvPr/>
        </p:nvSpPr>
        <p:spPr>
          <a:xfrm>
            <a:off x="713232" y="594360"/>
            <a:ext cx="2011680" cy="228600"/>
          </a:xfrm>
          <a:prstGeom prst="rect">
            <a:avLst/>
          </a:prstGeom>
          <a:noFill/>
          <a:ln/>
        </p:spPr>
        <p:txBody>
          <a:bodyPr wrap="square" lIns="0" tIns="0" rIns="0" bIns="0" rtlCol="0" anchor="ctr"/>
          <a:lstStyle/>
          <a:p>
            <a:pPr indent="0" marL="0">
              <a:buNone/>
            </a:pPr>
            <a:r>
              <a:rPr lang="en-US" sz="900" b="1" spc="180" kern="0" dirty="0">
                <a:solidFill>
                  <a:srgbClr val="93C5FD"/>
                </a:solidFill>
                <a:latin typeface="Arial" pitchFamily="34" charset="0"/>
                <a:ea typeface="Arial" pitchFamily="34" charset="-122"/>
                <a:cs typeface="Arial" pitchFamily="34" charset="-120"/>
              </a:rPr>
              <a:t>TAKEAWAY</a:t>
            </a:r>
            <a:endParaRPr lang="en-US" sz="900" dirty="0"/>
          </a:p>
        </p:txBody>
      </p:sp>
      <p:sp>
        <p:nvSpPr>
          <p:cNvPr id="5" name="Text 3"/>
          <p:cNvSpPr/>
          <p:nvPr/>
        </p:nvSpPr>
        <p:spPr>
          <a:xfrm>
            <a:off x="713232" y="1078992"/>
            <a:ext cx="6126480" cy="530352"/>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Trade facts → Trusted valuation</a:t>
            </a:r>
            <a:endParaRPr lang="en-US" sz="2800" dirty="0"/>
          </a:p>
        </p:txBody>
      </p:sp>
      <p:sp>
        <p:nvSpPr>
          <p:cNvPr id="6" name="Shape 4"/>
          <p:cNvSpPr/>
          <p:nvPr/>
        </p:nvSpPr>
        <p:spPr>
          <a:xfrm>
            <a:off x="713232" y="2578608"/>
            <a:ext cx="1874520" cy="941832"/>
          </a:xfrm>
          <a:prstGeom prst="roundRect">
            <a:avLst>
              <a:gd name="adj" fmla="val 7767"/>
            </a:avLst>
          </a:prstGeom>
          <a:solidFill>
            <a:srgbClr val="1E293B"/>
          </a:solidFill>
          <a:ln w="12700">
            <a:solidFill>
              <a:srgbClr val="334155"/>
            </a:solidFill>
            <a:prstDash val="solid"/>
          </a:ln>
        </p:spPr>
      </p:sp>
      <p:sp>
        <p:nvSpPr>
          <p:cNvPr id="7" name="Text 5"/>
          <p:cNvSpPr/>
          <p:nvPr/>
        </p:nvSpPr>
        <p:spPr>
          <a:xfrm>
            <a:off x="877824" y="2761488"/>
            <a:ext cx="1545336" cy="502920"/>
          </a:xfrm>
          <a:prstGeom prst="rect">
            <a:avLst/>
          </a:prstGeom>
          <a:noFill/>
          <a:ln/>
        </p:spPr>
        <p:txBody>
          <a:bodyPr wrap="square" lIns="1016" tIns="1016" rIns="1016" bIns="1016"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AUDITABLE</a:t>
            </a:r>
            <a:endParaRPr lang="en-US" sz="1500" dirty="0"/>
          </a:p>
        </p:txBody>
      </p:sp>
      <p:sp>
        <p:nvSpPr>
          <p:cNvPr id="8" name="Shape 6"/>
          <p:cNvSpPr/>
          <p:nvPr/>
        </p:nvSpPr>
        <p:spPr>
          <a:xfrm>
            <a:off x="2862072" y="2578608"/>
            <a:ext cx="1874520" cy="941832"/>
          </a:xfrm>
          <a:prstGeom prst="roundRect">
            <a:avLst>
              <a:gd name="adj" fmla="val 7767"/>
            </a:avLst>
          </a:prstGeom>
          <a:solidFill>
            <a:srgbClr val="1D4ED8"/>
          </a:solidFill>
          <a:ln w="12700">
            <a:solidFill>
              <a:srgbClr val="3B82F6"/>
            </a:solidFill>
            <a:prstDash val="solid"/>
          </a:ln>
        </p:spPr>
      </p:sp>
      <p:sp>
        <p:nvSpPr>
          <p:cNvPr id="9" name="Text 7"/>
          <p:cNvSpPr/>
          <p:nvPr/>
        </p:nvSpPr>
        <p:spPr>
          <a:xfrm>
            <a:off x="3026664" y="2761488"/>
            <a:ext cx="1545336" cy="502920"/>
          </a:xfrm>
          <a:prstGeom prst="rect">
            <a:avLst/>
          </a:prstGeom>
          <a:noFill/>
          <a:ln/>
        </p:spPr>
        <p:txBody>
          <a:bodyPr wrap="square" lIns="1016" tIns="1016" rIns="1016" bIns="1016"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RESILIENT</a:t>
            </a:r>
            <a:endParaRPr lang="en-US" sz="1500" dirty="0"/>
          </a:p>
        </p:txBody>
      </p:sp>
      <p:sp>
        <p:nvSpPr>
          <p:cNvPr id="10" name="Shape 8"/>
          <p:cNvSpPr/>
          <p:nvPr/>
        </p:nvSpPr>
        <p:spPr>
          <a:xfrm>
            <a:off x="5010912" y="2578608"/>
            <a:ext cx="1874520" cy="941832"/>
          </a:xfrm>
          <a:prstGeom prst="roundRect">
            <a:avLst>
              <a:gd name="adj" fmla="val 7767"/>
            </a:avLst>
          </a:prstGeom>
          <a:solidFill>
            <a:srgbClr val="1E293B"/>
          </a:solidFill>
          <a:ln w="12700">
            <a:solidFill>
              <a:srgbClr val="334155"/>
            </a:solidFill>
            <a:prstDash val="solid"/>
          </a:ln>
        </p:spPr>
      </p:sp>
      <p:sp>
        <p:nvSpPr>
          <p:cNvPr id="11" name="Text 9"/>
          <p:cNvSpPr/>
          <p:nvPr/>
        </p:nvSpPr>
        <p:spPr>
          <a:xfrm>
            <a:off x="5175504" y="2761488"/>
            <a:ext cx="1545336" cy="502920"/>
          </a:xfrm>
          <a:prstGeom prst="rect">
            <a:avLst/>
          </a:prstGeom>
          <a:noFill/>
          <a:ln/>
        </p:spPr>
        <p:txBody>
          <a:bodyPr wrap="square" lIns="1016" tIns="1016" rIns="1016" bIns="1016"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VERIFIABLE</a:t>
            </a:r>
            <a:endParaRPr lang="en-US" sz="1500" dirty="0"/>
          </a:p>
        </p:txBody>
      </p:sp>
      <p:sp>
        <p:nvSpPr>
          <p:cNvPr id="12" name="Text 10"/>
          <p:cNvSpPr/>
          <p:nvPr/>
        </p:nvSpPr>
        <p:spPr>
          <a:xfrm>
            <a:off x="749808" y="4133088"/>
            <a:ext cx="2377440" cy="228600"/>
          </a:xfrm>
          <a:prstGeom prst="rect">
            <a:avLst/>
          </a:prstGeom>
          <a:noFill/>
          <a:ln/>
        </p:spPr>
        <p:txBody>
          <a:bodyPr wrap="square" lIns="0" tIns="0" rIns="0" bIns="0" rtlCol="0" anchor="ctr"/>
          <a:lstStyle/>
          <a:p>
            <a:pPr indent="0" marL="0">
              <a:buNone/>
            </a:pPr>
            <a:r>
              <a:rPr lang="en-US" sz="900" b="1" spc="140" kern="0" dirty="0">
                <a:solidFill>
                  <a:srgbClr val="93C5FD"/>
                </a:solidFill>
                <a:latin typeface="Arial" pitchFamily="34" charset="0"/>
                <a:ea typeface="Arial" pitchFamily="34" charset="-122"/>
                <a:cs typeface="Arial" pitchFamily="34" charset="-120"/>
              </a:rPr>
              <a:t>LIVE DEMO PATH</a:t>
            </a:r>
            <a:endParaRPr lang="en-US" sz="900" dirty="0"/>
          </a:p>
        </p:txBody>
      </p:sp>
      <p:sp>
        <p:nvSpPr>
          <p:cNvPr id="13" name="Shape 11"/>
          <p:cNvSpPr/>
          <p:nvPr/>
        </p:nvSpPr>
        <p:spPr>
          <a:xfrm>
            <a:off x="749808" y="4608576"/>
            <a:ext cx="1024128" cy="292608"/>
          </a:xfrm>
          <a:prstGeom prst="roundRect">
            <a:avLst>
              <a:gd name="adj" fmla="val 25000"/>
            </a:avLst>
          </a:prstGeom>
          <a:solidFill>
            <a:srgbClr val="1E3A8A"/>
          </a:solidFill>
          <a:ln w="12700">
            <a:solidFill>
              <a:srgbClr val="1E3A8A"/>
            </a:solidFill>
            <a:prstDash val="solid"/>
          </a:ln>
        </p:spPr>
      </p:sp>
      <p:sp>
        <p:nvSpPr>
          <p:cNvPr id="14" name="Text 12"/>
          <p:cNvSpPr/>
          <p:nvPr/>
        </p:nvSpPr>
        <p:spPr>
          <a:xfrm>
            <a:off x="749808" y="4626864"/>
            <a:ext cx="1024128"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ACCOUNTS</a:t>
            </a:r>
            <a:endParaRPr lang="en-US" sz="750" dirty="0"/>
          </a:p>
        </p:txBody>
      </p:sp>
      <p:sp>
        <p:nvSpPr>
          <p:cNvPr id="15" name="Shape 13"/>
          <p:cNvSpPr/>
          <p:nvPr/>
        </p:nvSpPr>
        <p:spPr>
          <a:xfrm>
            <a:off x="1819656" y="4754880"/>
            <a:ext cx="182880" cy="0"/>
          </a:xfrm>
          <a:prstGeom prst="line">
            <a:avLst/>
          </a:prstGeom>
          <a:noFill/>
          <a:ln w="25400">
            <a:solidFill>
              <a:srgbClr val="64748B"/>
            </a:solidFill>
            <a:prstDash val="solid"/>
            <a:headEnd type="none"/>
            <a:tailEnd type="triangle"/>
          </a:ln>
        </p:spPr>
      </p:sp>
      <p:sp>
        <p:nvSpPr>
          <p:cNvPr id="16" name="Shape 14"/>
          <p:cNvSpPr/>
          <p:nvPr/>
        </p:nvSpPr>
        <p:spPr>
          <a:xfrm>
            <a:off x="2057400" y="4608576"/>
            <a:ext cx="1024128" cy="292608"/>
          </a:xfrm>
          <a:prstGeom prst="roundRect">
            <a:avLst>
              <a:gd name="adj" fmla="val 25000"/>
            </a:avLst>
          </a:prstGeom>
          <a:solidFill>
            <a:srgbClr val="1E3A8A"/>
          </a:solidFill>
          <a:ln w="12700">
            <a:solidFill>
              <a:srgbClr val="1E3A8A"/>
            </a:solidFill>
            <a:prstDash val="solid"/>
          </a:ln>
        </p:spPr>
      </p:sp>
      <p:sp>
        <p:nvSpPr>
          <p:cNvPr id="17" name="Text 15"/>
          <p:cNvSpPr/>
          <p:nvPr/>
        </p:nvSpPr>
        <p:spPr>
          <a:xfrm>
            <a:off x="2057400" y="4626864"/>
            <a:ext cx="1024128"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ACTIVITY</a:t>
            </a:r>
            <a:endParaRPr lang="en-US" sz="750" dirty="0"/>
          </a:p>
        </p:txBody>
      </p:sp>
      <p:sp>
        <p:nvSpPr>
          <p:cNvPr id="18" name="Shape 16"/>
          <p:cNvSpPr/>
          <p:nvPr/>
        </p:nvSpPr>
        <p:spPr>
          <a:xfrm>
            <a:off x="3127248" y="4754880"/>
            <a:ext cx="182880" cy="0"/>
          </a:xfrm>
          <a:prstGeom prst="line">
            <a:avLst/>
          </a:prstGeom>
          <a:noFill/>
          <a:ln w="25400">
            <a:solidFill>
              <a:srgbClr val="64748B"/>
            </a:solidFill>
            <a:prstDash val="solid"/>
            <a:headEnd type="none"/>
            <a:tailEnd type="triangle"/>
          </a:ln>
        </p:spPr>
      </p:sp>
      <p:sp>
        <p:nvSpPr>
          <p:cNvPr id="19" name="Shape 17"/>
          <p:cNvSpPr/>
          <p:nvPr/>
        </p:nvSpPr>
        <p:spPr>
          <a:xfrm>
            <a:off x="3364992" y="4608576"/>
            <a:ext cx="1024128" cy="292608"/>
          </a:xfrm>
          <a:prstGeom prst="roundRect">
            <a:avLst>
              <a:gd name="adj" fmla="val 25000"/>
            </a:avLst>
          </a:prstGeom>
          <a:solidFill>
            <a:srgbClr val="1E3A8A"/>
          </a:solidFill>
          <a:ln w="12700">
            <a:solidFill>
              <a:srgbClr val="1E3A8A"/>
            </a:solidFill>
            <a:prstDash val="solid"/>
          </a:ln>
        </p:spPr>
      </p:sp>
      <p:sp>
        <p:nvSpPr>
          <p:cNvPr id="20" name="Text 18"/>
          <p:cNvSpPr/>
          <p:nvPr/>
        </p:nvSpPr>
        <p:spPr>
          <a:xfrm>
            <a:off x="3364992" y="4626864"/>
            <a:ext cx="1024128"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CSV IMPORT</a:t>
            </a:r>
            <a:endParaRPr lang="en-US" sz="750" dirty="0"/>
          </a:p>
        </p:txBody>
      </p:sp>
      <p:sp>
        <p:nvSpPr>
          <p:cNvPr id="21" name="Shape 19"/>
          <p:cNvSpPr/>
          <p:nvPr/>
        </p:nvSpPr>
        <p:spPr>
          <a:xfrm>
            <a:off x="4434840" y="4754880"/>
            <a:ext cx="182880" cy="0"/>
          </a:xfrm>
          <a:prstGeom prst="line">
            <a:avLst/>
          </a:prstGeom>
          <a:noFill/>
          <a:ln w="25400">
            <a:solidFill>
              <a:srgbClr val="64748B"/>
            </a:solidFill>
            <a:prstDash val="solid"/>
            <a:headEnd type="none"/>
            <a:tailEnd type="triangle"/>
          </a:ln>
        </p:spPr>
      </p:sp>
      <p:sp>
        <p:nvSpPr>
          <p:cNvPr id="22" name="Shape 20"/>
          <p:cNvSpPr/>
          <p:nvPr/>
        </p:nvSpPr>
        <p:spPr>
          <a:xfrm>
            <a:off x="4672584" y="4608576"/>
            <a:ext cx="1024128" cy="292608"/>
          </a:xfrm>
          <a:prstGeom prst="roundRect">
            <a:avLst>
              <a:gd name="adj" fmla="val 25000"/>
            </a:avLst>
          </a:prstGeom>
          <a:solidFill>
            <a:srgbClr val="78350F"/>
          </a:solidFill>
          <a:ln w="12700">
            <a:solidFill>
              <a:srgbClr val="78350F"/>
            </a:solidFill>
            <a:prstDash val="solid"/>
          </a:ln>
        </p:spPr>
      </p:sp>
      <p:sp>
        <p:nvSpPr>
          <p:cNvPr id="23" name="Text 21"/>
          <p:cNvSpPr/>
          <p:nvPr/>
        </p:nvSpPr>
        <p:spPr>
          <a:xfrm>
            <a:off x="4672584" y="4626864"/>
            <a:ext cx="1024128" cy="201168"/>
          </a:xfrm>
          <a:prstGeom prst="rect">
            <a:avLst/>
          </a:prstGeom>
          <a:noFill/>
          <a:ln/>
        </p:spPr>
        <p:txBody>
          <a:bodyPr wrap="square" lIns="0" tIns="0" rIns="0" bIns="0" rtlCol="0" anchor="ctr">
            <a:normAutofit/>
          </a:bodyPr>
          <a:lstStyle/>
          <a:p>
            <a:pPr algn="ctr" indent="0" marL="0">
              <a:buNone/>
            </a:pPr>
            <a:r>
              <a:rPr lang="en-US" sz="750" b="1" dirty="0">
                <a:solidFill>
                  <a:srgbClr val="FEF3C7"/>
                </a:solidFill>
                <a:latin typeface="Arial" pitchFamily="34" charset="0"/>
                <a:ea typeface="Arial" pitchFamily="34" charset="-122"/>
                <a:cs typeface="Arial" pitchFamily="34" charset="-120"/>
              </a:rPr>
              <a:t>DASHBOARD</a:t>
            </a:r>
            <a:endParaRPr lang="en-US" sz="750" dirty="0"/>
          </a:p>
        </p:txBody>
      </p:sp>
      <p:sp>
        <p:nvSpPr>
          <p:cNvPr id="24" name="Shape 22"/>
          <p:cNvSpPr/>
          <p:nvPr/>
        </p:nvSpPr>
        <p:spPr>
          <a:xfrm>
            <a:off x="5742432" y="4754880"/>
            <a:ext cx="182880" cy="0"/>
          </a:xfrm>
          <a:prstGeom prst="line">
            <a:avLst/>
          </a:prstGeom>
          <a:noFill/>
          <a:ln w="25400">
            <a:solidFill>
              <a:srgbClr val="64748B"/>
            </a:solidFill>
            <a:prstDash val="solid"/>
            <a:headEnd type="none"/>
            <a:tailEnd type="triangle"/>
          </a:ln>
        </p:spPr>
      </p:sp>
      <p:sp>
        <p:nvSpPr>
          <p:cNvPr id="25" name="Shape 23"/>
          <p:cNvSpPr/>
          <p:nvPr/>
        </p:nvSpPr>
        <p:spPr>
          <a:xfrm>
            <a:off x="5980176" y="4608576"/>
            <a:ext cx="1024128" cy="292608"/>
          </a:xfrm>
          <a:prstGeom prst="roundRect">
            <a:avLst>
              <a:gd name="adj" fmla="val 25000"/>
            </a:avLst>
          </a:prstGeom>
          <a:solidFill>
            <a:srgbClr val="7F1D1D"/>
          </a:solidFill>
          <a:ln w="12700">
            <a:solidFill>
              <a:srgbClr val="7F1D1D"/>
            </a:solidFill>
            <a:prstDash val="solid"/>
          </a:ln>
        </p:spPr>
      </p:sp>
      <p:sp>
        <p:nvSpPr>
          <p:cNvPr id="26" name="Text 24"/>
          <p:cNvSpPr/>
          <p:nvPr/>
        </p:nvSpPr>
        <p:spPr>
          <a:xfrm>
            <a:off x="5980176" y="4626864"/>
            <a:ext cx="1024128" cy="201168"/>
          </a:xfrm>
          <a:prstGeom prst="rect">
            <a:avLst/>
          </a:prstGeom>
          <a:noFill/>
          <a:ln/>
        </p:spPr>
        <p:txBody>
          <a:bodyPr wrap="square" lIns="0" tIns="0" rIns="0" bIns="0" rtlCol="0" anchor="ctr">
            <a:normAutofit/>
          </a:bodyPr>
          <a:lstStyle/>
          <a:p>
            <a:pPr algn="ctr" indent="0" marL="0">
              <a:buNone/>
            </a:pPr>
            <a:r>
              <a:rPr lang="en-US" sz="750" b="1" dirty="0">
                <a:solidFill>
                  <a:srgbClr val="FEE2E2"/>
                </a:solidFill>
                <a:latin typeface="Arial" pitchFamily="34" charset="0"/>
                <a:ea typeface="Arial" pitchFamily="34" charset="-122"/>
                <a:cs typeface="Arial" pitchFamily="34" charset="-120"/>
              </a:rPr>
              <a:t>MARKET DATA</a:t>
            </a:r>
            <a:endParaRPr lang="en-US" sz="750" dirty="0"/>
          </a:p>
        </p:txBody>
      </p:sp>
      <p:sp>
        <p:nvSpPr>
          <p:cNvPr id="27" name="Shape 25"/>
          <p:cNvSpPr/>
          <p:nvPr/>
        </p:nvSpPr>
        <p:spPr>
          <a:xfrm>
            <a:off x="7543800" y="1865376"/>
            <a:ext cx="3794760" cy="3566160"/>
          </a:xfrm>
          <a:prstGeom prst="roundRect">
            <a:avLst>
              <a:gd name="adj" fmla="val 2051"/>
            </a:avLst>
          </a:prstGeom>
          <a:solidFill>
            <a:srgbClr val="111C32"/>
          </a:solidFill>
          <a:ln w="10160">
            <a:solidFill>
              <a:srgbClr val="334155"/>
            </a:solidFill>
            <a:prstDash val="solid"/>
          </a:ln>
        </p:spPr>
      </p:sp>
      <p:sp>
        <p:nvSpPr>
          <p:cNvPr id="28" name="Text 26"/>
          <p:cNvSpPr/>
          <p:nvPr/>
        </p:nvSpPr>
        <p:spPr>
          <a:xfrm>
            <a:off x="8028432" y="2423160"/>
            <a:ext cx="2834640" cy="777240"/>
          </a:xfrm>
          <a:prstGeom prst="rect">
            <a:avLst/>
          </a:prstGeom>
          <a:noFill/>
          <a:ln/>
        </p:spPr>
        <p:txBody>
          <a:bodyPr wrap="square" lIns="1016" tIns="1016" rIns="1016" bIns="1016" rtlCol="0" anchor="ctr">
            <a:normAutofit/>
          </a:bodyPr>
          <a:lstStyle/>
          <a:p>
            <a:pPr algn="ctr" indent="0" marL="0">
              <a:buNone/>
            </a:pPr>
            <a:r>
              <a:rPr lang="en-US" sz="3000" b="1" dirty="0">
                <a:solidFill>
                  <a:srgbClr val="FFFFFF"/>
                </a:solidFill>
                <a:latin typeface="Arial" pitchFamily="34" charset="0"/>
                <a:ea typeface="Arial" pitchFamily="34" charset="-122"/>
                <a:cs typeface="Arial" pitchFamily="34" charset="-120"/>
              </a:rPr>
              <a:t>THANK YOU</a:t>
            </a:r>
            <a:endParaRPr lang="en-US" sz="3000" dirty="0"/>
          </a:p>
        </p:txBody>
      </p:sp>
      <p:sp>
        <p:nvSpPr>
          <p:cNvPr id="29" name="Shape 27"/>
          <p:cNvSpPr/>
          <p:nvPr/>
        </p:nvSpPr>
        <p:spPr>
          <a:xfrm>
            <a:off x="8092440" y="3493008"/>
            <a:ext cx="2697480" cy="0"/>
          </a:xfrm>
          <a:prstGeom prst="line">
            <a:avLst/>
          </a:prstGeom>
          <a:noFill/>
          <a:ln w="12700">
            <a:solidFill>
              <a:srgbClr val="334155"/>
            </a:solidFill>
            <a:prstDash val="solid"/>
          </a:ln>
        </p:spPr>
      </p:sp>
      <p:sp>
        <p:nvSpPr>
          <p:cNvPr id="30" name="Text 28"/>
          <p:cNvSpPr/>
          <p:nvPr/>
        </p:nvSpPr>
        <p:spPr>
          <a:xfrm>
            <a:off x="8028432" y="3886200"/>
            <a:ext cx="2834640" cy="658368"/>
          </a:xfrm>
          <a:prstGeom prst="rect">
            <a:avLst/>
          </a:prstGeom>
          <a:noFill/>
          <a:ln/>
        </p:spPr>
        <p:txBody>
          <a:bodyPr wrap="square" lIns="1016" tIns="1016" rIns="1016" bIns="1016"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Questions &amp; discussion</a:t>
            </a:r>
            <a:endParaRPr lang="en-US" sz="1800" dirty="0"/>
          </a:p>
        </p:txBody>
      </p:sp>
      <p:sp>
        <p:nvSpPr>
          <p:cNvPr id="31" name="Text 29"/>
          <p:cNvSpPr/>
          <p:nvPr/>
        </p:nvSpPr>
        <p:spPr>
          <a:xfrm>
            <a:off x="8028432" y="4882896"/>
            <a:ext cx="2834640" cy="219456"/>
          </a:xfrm>
          <a:prstGeom prst="rect">
            <a:avLst/>
          </a:prstGeom>
          <a:noFill/>
          <a:ln/>
        </p:spPr>
        <p:txBody>
          <a:bodyPr wrap="square" lIns="0" tIns="0" rIns="0" bIns="0"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Group 5 · Give me five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Equity Trade Booking Engine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Equity Trade Booking Engine</dc:title>
  <dc:subject>English project presentation</dc:subject>
  <dc:creator>Group 5 — Give me five</dc:creator>
  <cp:lastModifiedBy>Group 5 — Give me five</cp:lastModifiedBy>
  <cp:revision>1</cp:revision>
  <dcterms:created xsi:type="dcterms:W3CDTF">2026-07-30T05:49:15Z</dcterms:created>
  <dcterms:modified xsi:type="dcterms:W3CDTF">2026-07-30T05:49:15Z</dcterms:modified>
</cp:coreProperties>
</file>