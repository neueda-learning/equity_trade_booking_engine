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股票交易记账引擎 / Equity Trade Booking Engine
### 中文
大家好，我们是第五组 Give me five。今天介绍的项目是股票交易记账引擎。它面向单用户、多证券账户场景，把账户管理、买卖记账、交易生命周期、持仓计算、市场行情和未实现盈亏放在同一条可审计的业务链路中。我们希望展示的不只是一个页面应用，而是一套在数据一致性、故障降级和工程质量上都可以解释、验证和演示的交易后台。
### English
Hello everyone. We are Group 5, “Give me five.” Today we are presenting the Equity Trade Booking Engine. It is designed for a single user managing multiple securities accounts, and it connects account setup, trade booking, lifecycle management, position calculation, market quotes, and unrealized P&amp;L in one auditable workflow. Our goal is not simply to demonstrate a user interface. We want to show a trading back office whose data integrity, failure behavior, and engineering quality can all be explained, tested, and demonstrated.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从碎片操作到可信闭环 / From Fragmented Tasks to a Trusted Loop
### 中文
传统的演示项目常把账户、交易、行情和盈亏拆成互不关联的 CRUD 页面，这会留下三个问题：交易修改后是否还能追溯，卖出或撤单后持仓是否仍然正确，行情服务失败时系统会不会悄悄显示错误数据。本项目把这些问题统一为一个闭环：交易是事实，持仓由有效交易重放得到，行情只负责估值，盈亏由后端统一计算。这样每个数字都能追溯到来源，每种异常也有明确语义。
### English
Many demonstration systems treat accounts, trades, quotes, and P&amp;L as unrelated CRUD screens. That leaves three important questions unanswered: can an amended trade still be audited, does a sell or cancellation keep the position correct, and what happens when the quote provider fails? This project turns those concerns into one closed loop. Trades are the business facts, positions are replayed from valid trades, market data is used only for valuation, and P&amp;L is calculated centrally by the backend. As a result, every number has a traceable origin and every failure state has an explicit meaning.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端到端业务闭环 / End-to-End Business Loop
### 中文
业务从创建证券账户开始。用户选择经过校验的美股、ADR 或 ETF，录入买卖方向、数量、价格和执行时间。系统按照时间顺序重放已入账交易，得到按账户和股票代码聚合的持仓。随后获取行情并计算市值、成本和未实现盈亏，最后把最新估值和历史快照呈现在 Dashboard。取消、删除或修改交易都会重新影响下游持仓和盈亏，但不会抹掉原始审计记录。
### English
The workflow starts with a securities account. The user selects a verified U.S. stock, ADR, or ETF and records the side, quantity, trade price, and execution time. The system replays booked trades chronologically to derive positions by account and ticker. It then obtains quotes, calculates market value, cost basis, and unrealized P&amp;L, and presents both the current valuation and persistent history on the dashboard. Cancelling, deleting, or amending a trade changes downstream positions and P&amp;L, while the original audit evidence remains intact.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交易生命周期与业务不变量 / Lifecycle and Business Invariants
### 中文
交易生命周期的核心不是“能不能改”，而是“改完之后还能不能说明发生过什么”。正常交易状态是 BOOKED；取消后变为 CANCELLED，并记录取消原因。删除是保留审计的软删除，修改则取消原交易并创建一条 replacement，通过 supersedesTradeId 建立关联。系统还有三条不变量：取消操作幂等；任何时间点都不允许形成负持仓；持仓只由 BOOKED 交易参与计算。这些规则同时存在于领域模型和测试中。
### English
The key lifecycle question is not whether a trade can be changed, but whether we can still explain what happened afterward. A normal trade is BOOKED. Cancellation moves it to CANCELLED and records a reason. Deletion is audit-preserving soft cancellation, while amendment cancels the original and creates a replacement linked through `supersedesTradeId`. Three invariants protect the model: cancellation is idempotent, the chronological trade timeline may never produce a negative position, and only BOOKED trades contribute to positions. These rules are represented in both the domain model and the automated tests.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持仓与盈亏计算 / Position and P&amp;L Calculation
### 中文
持仓采用加权平均成本。买入会增加数量和成本基础，卖出按当前平均成本减少成本基础，因此不会因为卖出价格改变剩余持仓的平均成本。估值公式很直接：市值等于数量乘市场价，未实现盈亏等于市值减成本基础，收益率等于未实现盈亏除以成本基础。所有核心计算都在后端使用十进制数完成，避免前端浮点误差。若行情缺失，值保持为 null，界面不会把零价格伪装成真实行情。
### English
Positions use weighted-average cost. A buy increases quantity and cost basis. A sell reduces cost basis at the current average cost, so the sale price does not distort the average cost of the remaining position. Valuation is straightforward: market value equals quantity times market price; unrealized P&amp;L equals market value minus cost basis; and return percentage equals unrealized P&amp;L divided by cost basis. Core calculations use backend decimal arithmetic to avoid browser floating-point differences. If a quote is missing, the value stays null—the UI never invents a zero market price.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模块化单体架构 / Modular Monolith Architecture
### 中文
系统采用模块化单体，而不是为了形式拆分微服务。前端由 React 和 TypeScript 构建，通过 Nginx 反向代理访问 Spring Boot API。后端按 Account、Trade、Position、Market Data 和 P&amp;L 划分业务模块，每个模块遵循 API 到 Application 到 Domain 的依赖方向，Infrastructure 通过端口适配领域。MySQL 保存账户、交易和估值快照，是系统事实来源；Redis 只缓存行情，可以随时丢弃，不承载唯一业务数据。这种边界降低了部署复杂度，也保留了未来拆分的可能。
### English
The system uses a modular monolith rather than splitting into microservices for appearance alone. The React and TypeScript frontend reaches the Spring Boot API through Nginx. The backend is divided into Account, Trade, Position, Market Data, and P&amp;L modules. Inside each module, dependencies flow from API to application to domain, while infrastructure implements domain-facing ports. MySQL stores accounts, trades, and valuation snapshots and is the system of record. Redis caches market quotes only and can be discarded without losing unique business data. This boundary keeps deployment simple while preserving a path to future extraction.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行情韧性与诚实降级 / Market-Data Resilience
### 中文
行情模块支持确定性的 Mock 和显式配置的 Finnhub。系统不会在真实行情失败时偷偷切换到 Mock，因为那会把演示数据误认为真实数据。正常请求先访问 provider，并把成功结果写入 Redis。缓存有两个时间窗口：新鲜期内可直接复用；超过新鲜期但仍在保留期内，只能在 provider 故障时作为 stale fallback。界面明确显示 MOCK、LIVE、CACHED、STALE 和 INCOMPLETE，让用户知道数据从哪里来、是否过期、估值是否完整。
### English
The market-data module supports deterministic Mock data and explicitly configured Finnhub data. It never silently switches from a failed real provider to Mock, because that would misrepresent generated values as market truth. A normal request calls the provider and stores a successful result in Redis. The cache has two windows: a fresh period for normal reuse, and a longer retention period that is available only as a stale fallback when the provider fails. The UI displays MOCK, LIVE, CACHED, STALE, and INCOMPLETE states so users know the origin, age, and completeness of every valuation.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Dashboard：从交易到组合洞察 / From Trades to Portfolio Insight
### 中文
Dashboard 是整个闭环的结果页。它可以按全部账户或单个账户查看，展示总市值、总成本、未实现盈亏、收益率、持仓数量和未定价持仓。下方逐个股票代码显示数量、平均成本、市场价、市值、盈亏和行情状态。这里的关键不是把数字画得漂亮，而是让每个指标都来自同一套后端计算，并且在行情陈旧或不完整时主动提示。估值历史只保存真实生成的快照，不会为了图表好看而伪造数据。
### English
The dashboard is the result page for the entire workflow. It can show all accounts or one selected account, with total market value, cost basis, unrealized P&amp;L, return, open positions, and unpriced positions. The position table then exposes quantity, average cost, market price, market value, P&amp;L, and quote status for each ticker. The important point is not visual decoration; it is that every metric comes from one backend calculation model and that stale or incomplete quotes are surfaced immediately. Valuation history contains only persisted snapshots—the system never fabricates history to make a chart look better.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产品工作台 / Product Workbench
### 中文
除了 Dashboard，系统还有三个操作工作台。Accounts 管理多个证券账户及启用状态，并可查看账户级持仓。Activity 负责交易录入、分页查询、取消、审计保留的删除和修改。Market Data 提供股票搜索、单个或批量刷新、provider 状态以及演示环境下的故障模拟。桌面端和移动端共享同一套信息架构，关键状态使用文字标签而不只依赖颜色，方便测试和无障碍访问。
### English
Beyond the dashboard, the product has three operational workbenches. Accounts manages multiple securities accounts and their active state, with account-level position views. Activity supports trade entry, paginated search, cancellation, audit-preserving deletion, and amendment. Market Data provides instrument search, single and batch refresh, provider status, and controlled outage simulation in demo mode. Desktop and mobile layouts share one information architecture, and important states use text labels rather than color alone, which improves accessibility and makes behavior easier to test.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工程质量与交付 / Engineering Quality and Delivery
### 中文
质量体系覆盖从领域规则到完整用户旅程。后端包含领域单元测试、API 集成测试、MySQL 和 Redis 的 Testcontainers 测试，以及 ArchUnit 架构约束。前端使用 Vitest、Testing Library 和 ESLint，并进行生产构建。Compose smoke test 验证生命周期、盈亏、缓存降级和容器重启；Playwright 在桌面和移动尺寸执行端到端流程。GitHub Actions 把 backend、frontend、compose-smoke 和 e2e 汇总到统一 quality gate，任何一项失败都不能通过。
### English
The quality strategy covers everything from domain rules to the complete user journey. The backend includes domain unit tests, API integration tests, MySQL and Redis Testcontainers tests, and ArchUnit dependency checks. The frontend uses Vitest, Testing Library, ESLint, and a production build. The Compose smoke test verifies lifecycle behavior, P&amp;L, cache fallback, and container restart. Playwright runs the end-to-end workflow at both desktop and mobile sizes. GitHub Actions combines backend, frontend, compose-smoke, and E2E jobs into one quality gate, so no partial success can be reported as a passing build.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已知边界与演进路线 / Boundaries and Roadmap
### 中文
当前版本有意控制范围：单用户、仅美元、没有现金账本、不允许做空，只计算未实现盈亏，并采用加权平均成本。这些不是隐藏缺陷，而是清晰的产品边界。下一阶段可以沿三条路线演进：第一，加入认证、授权和账户归属；第二，增加现金、多币种、已实现盈亏和税务批次；第三，引入更多行情源、WebSocket 实时推送、历史 K 线、生产级密钥管理和可观测性。现有模块边界为这些扩展提供了落点。
### English
The current release deliberately limits scope: it is single-user, USD-only, has no cash ledger, does not allow short positions, calculates unrealized P&amp;L only, and uses weighted-average cost. These are explicit product boundaries rather than hidden defects. The next stage can evolve along three paths. First, add authentication, authorization, and account ownership. Second, add cash, multiple currencies, realized P&amp;L, and tax-lot accounting. Third, introduce more quote providers, WebSocket streaming, historical candles, production secret management, and observability. The current module boundaries provide clear extension points for each path.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总结与演示路径 / Takeaway and Demo Path
### 中文
总结来说，这个项目把交易事实、可重算持仓、可解释行情和一致的盈亏计算连接成一个可信闭环。它的三个核心价值是：业务规则可审计，外部故障可降级，交付结果可验证。现场演示可以按 Accounts 创建账户、Activity 录入买卖、Dashboard 查看盈亏、Market Data 模拟故障、再回到 Dashboard 观察 STALE 标记的顺序进行。谢谢大家，接下来欢迎提问。
### English
To conclude, this project connects trade facts, replayable positions, explainable market data, and consistent P&amp;L into one trusted loop. Its three core values are auditable business rules, graceful external failure behavior, and verifiable delivery quality. A live demo can follow a simple path: create an account in Accounts, book buy and sell activity, inspect P&amp;L on the Dashboard, simulate a provider outage in Market Data, and return to the Dashboard to observe the STALE status. Thank you, and we welcome your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7FC"/>
        </a:solidFill>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563EB"/>
          </a:solidFill>
          <a:ln w="12700">
            <a:solidFill>
              <a:srgbClr val="2563EB"/>
            </a:solidFill>
            <a:prstDash val="solid"/>
          </a:ln>
        </p:spPr>
      </p:sp>
      <p:sp>
        <p:nvSpPr>
          <p:cNvPr id="3" name="Text 1"/>
          <p:cNvSpPr/>
          <p:nvPr/>
        </p:nvSpPr>
        <p:spPr>
          <a:xfrm>
            <a:off x="502920" y="6473952"/>
            <a:ext cx="4206240" cy="182880"/>
          </a:xfrm>
          <a:prstGeom prst="rect">
            <a:avLst/>
          </a:prstGeom>
          <a:noFill/>
          <a:ln/>
        </p:spPr>
        <p:txBody>
          <a:bodyPr wrap="square" lIns="0" tIns="0" rIns="0" bIns="0" rtlCol="0" anchor="ctr"/>
          <a:lstStyle/>
          <a:p>
            <a:pPr indent="0" marL="0">
              <a:buNone/>
            </a:pPr>
            <a:r>
              <a:rPr lang="en-US" sz="750" b="1" spc="120" kern="0" dirty="0">
                <a:solidFill>
                  <a:srgbClr val="64748B"/>
                </a:solidFill>
                <a:latin typeface="Arial" pitchFamily="34" charset="0"/>
                <a:ea typeface="Arial" pitchFamily="34" charset="-122"/>
                <a:cs typeface="Arial" pitchFamily="34" charset="-120"/>
              </a:rPr>
              <a:t>EQUITY TRADE BOOKING ENGINE</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1097280" y="-1463040"/>
            <a:ext cx="4572000" cy="4572000"/>
          </a:xfrm>
          <a:prstGeom prst="ellipse">
            <a:avLst/>
          </a:prstGeom>
          <a:solidFill>
            <a:srgbClr val="2563EB">
              <a:alpha val="28000"/>
            </a:srgbClr>
          </a:solidFill>
          <a:ln w="12700">
            <a:solidFill>
              <a:srgbClr val="2563EB">
                <a:alpha val="0"/>
              </a:srgbClr>
            </a:solidFill>
            <a:prstDash val="solid"/>
          </a:ln>
        </p:spPr>
      </p:sp>
      <p:sp>
        <p:nvSpPr>
          <p:cNvPr id="4" name="Text 2"/>
          <p:cNvSpPr/>
          <p:nvPr/>
        </p:nvSpPr>
        <p:spPr>
          <a:xfrm>
            <a:off x="685800" y="530352"/>
            <a:ext cx="3840480" cy="228600"/>
          </a:xfrm>
          <a:prstGeom prst="rect">
            <a:avLst/>
          </a:prstGeom>
          <a:noFill/>
          <a:ln/>
        </p:spPr>
        <p:txBody>
          <a:bodyPr wrap="square" lIns="0" tIns="0" rIns="0" bIns="0" rtlCol="0" anchor="ctr"/>
          <a:lstStyle/>
          <a:p>
            <a:pPr indent="0" marL="0">
              <a:buNone/>
            </a:pPr>
            <a:r>
              <a:rPr lang="en-US" sz="900" b="1" spc="180" kern="0" dirty="0">
                <a:solidFill>
                  <a:srgbClr val="93C5FD"/>
                </a:solidFill>
                <a:latin typeface="Arial" pitchFamily="34" charset="0"/>
                <a:ea typeface="Arial" pitchFamily="34" charset="-122"/>
                <a:cs typeface="Arial" pitchFamily="34" charset="-120"/>
              </a:rPr>
              <a:t>GROUP 5  /  GIVE ME FIVE</a:t>
            </a:r>
            <a:endParaRPr lang="en-US" sz="900" dirty="0"/>
          </a:p>
        </p:txBody>
      </p:sp>
      <p:sp>
        <p:nvSpPr>
          <p:cNvPr id="5" name="Text 3"/>
          <p:cNvSpPr/>
          <p:nvPr/>
        </p:nvSpPr>
        <p:spPr>
          <a:xfrm>
            <a:off x="685800" y="1234440"/>
            <a:ext cx="4206240" cy="1463040"/>
          </a:xfrm>
          <a:prstGeom prst="rect">
            <a:avLst/>
          </a:prstGeom>
          <a:noFill/>
          <a:ln/>
        </p:spPr>
        <p:txBody>
          <a:bodyPr wrap="square" lIns="0" tIns="0" rIns="0" bIns="0" rtlCol="0" anchor="ctr">
            <a:normAutofit/>
          </a:bodyPr>
          <a:lstStyle/>
          <a:p>
            <a:pPr indent="0" marL="0">
              <a:buNone/>
            </a:pPr>
            <a:r>
              <a:rPr lang="en-US" sz="3400" b="1" dirty="0">
                <a:solidFill>
                  <a:srgbClr val="FFFFFF"/>
                </a:solidFill>
              </a:rPr>
              <a:t>股票交易</a:t>
            </a:r>
            <a:endParaRPr lang="en-US" sz="3400" dirty="0"/>
          </a:p>
          <a:p>
            <a:pPr indent="0" marL="0">
              <a:buNone/>
            </a:pPr>
            <a:r>
              <a:rPr lang="en-US" sz="3400" b="1" dirty="0">
                <a:solidFill>
                  <a:srgbClr val="FFFFFF"/>
                </a:solidFill>
              </a:rPr>
              <a:t>记账引擎</a:t>
            </a:r>
            <a:endParaRPr lang="en-US" sz="3400" dirty="0"/>
          </a:p>
        </p:txBody>
      </p:sp>
      <p:sp>
        <p:nvSpPr>
          <p:cNvPr id="6" name="Text 4"/>
          <p:cNvSpPr/>
          <p:nvPr/>
        </p:nvSpPr>
        <p:spPr>
          <a:xfrm>
            <a:off x="685800" y="2852928"/>
            <a:ext cx="4069080" cy="987552"/>
          </a:xfrm>
          <a:prstGeom prst="rect">
            <a:avLst/>
          </a:prstGeom>
          <a:noFill/>
          <a:ln/>
        </p:spPr>
        <p:txBody>
          <a:bodyPr wrap="square" lIns="0" tIns="0" rIns="0" bIns="0" rtlCol="0" anchor="ctr">
            <a:normAutofit/>
          </a:bodyPr>
          <a:lstStyle/>
          <a:p>
            <a:pPr indent="0" marL="0">
              <a:buNone/>
            </a:pPr>
            <a:r>
              <a:rPr lang="en-US" sz="2300" b="1" dirty="0">
                <a:solidFill>
                  <a:srgbClr val="BFDBFE"/>
                </a:solidFill>
                <a:latin typeface="Arial" pitchFamily="34" charset="0"/>
                <a:ea typeface="Arial" pitchFamily="34" charset="-122"/>
                <a:cs typeface="Arial" pitchFamily="34" charset="-120"/>
              </a:rPr>
              <a:t>Equity Trade</a:t>
            </a:r>
            <a:endParaRPr lang="en-US" sz="2300" dirty="0"/>
          </a:p>
          <a:p>
            <a:pPr indent="0" marL="0">
              <a:buNone/>
            </a:pPr>
            <a:r>
              <a:rPr lang="en-US" sz="2300" b="1" dirty="0">
                <a:solidFill>
                  <a:srgbClr val="BFDBFE"/>
                </a:solidFill>
                <a:latin typeface="Arial" pitchFamily="34" charset="0"/>
                <a:ea typeface="Arial" pitchFamily="34" charset="-122"/>
                <a:cs typeface="Arial" pitchFamily="34" charset="-120"/>
              </a:rPr>
              <a:t>Booking Engine</a:t>
            </a:r>
            <a:endParaRPr lang="en-US" sz="2300" dirty="0"/>
          </a:p>
        </p:txBody>
      </p:sp>
      <p:sp>
        <p:nvSpPr>
          <p:cNvPr id="7" name="Text 5"/>
          <p:cNvSpPr/>
          <p:nvPr/>
        </p:nvSpPr>
        <p:spPr>
          <a:xfrm>
            <a:off x="685800" y="4187952"/>
            <a:ext cx="4069080" cy="685800"/>
          </a:xfrm>
          <a:prstGeom prst="rect">
            <a:avLst/>
          </a:prstGeom>
          <a:noFill/>
          <a:ln/>
        </p:spPr>
        <p:txBody>
          <a:bodyPr wrap="square" lIns="0" tIns="0" rIns="0" bIns="0" rtlCol="0" anchor="ctr">
            <a:normAutofit/>
          </a:bodyPr>
          <a:lstStyle/>
          <a:p>
            <a:pPr indent="0" marL="0">
              <a:buNone/>
            </a:pPr>
            <a:r>
              <a:rPr lang="en-US" sz="1100" dirty="0">
                <a:solidFill>
                  <a:srgbClr val="CBD5E1"/>
                </a:solidFill>
              </a:rPr>
              <a:t>交易事实 · 可重算持仓 · 可解释行情 · 一致盈亏</a:t>
            </a:r>
            <a:endParaRPr lang="en-US" sz="1100" dirty="0"/>
          </a:p>
          <a:p>
            <a:pPr indent="0" marL="0">
              <a:buNone/>
            </a:pPr>
            <a:r>
              <a:rPr lang="en-US" sz="1100" dirty="0">
                <a:solidFill>
                  <a:srgbClr val="CBD5E1"/>
                </a:solidFill>
              </a:rPr>
              <a:t>Trade facts · Replayable positions · Explainable quotes · Consistent P&amp;L</a:t>
            </a:r>
            <a:endParaRPr lang="en-US" sz="1100" dirty="0"/>
          </a:p>
        </p:txBody>
      </p:sp>
      <p:sp>
        <p:nvSpPr>
          <p:cNvPr id="8" name="Shape 6"/>
          <p:cNvSpPr/>
          <p:nvPr/>
        </p:nvSpPr>
        <p:spPr>
          <a:xfrm>
            <a:off x="685800" y="5321808"/>
            <a:ext cx="841248" cy="292608"/>
          </a:xfrm>
          <a:prstGeom prst="roundRect">
            <a:avLst>
              <a:gd name="adj" fmla="val 25000"/>
            </a:avLst>
          </a:prstGeom>
          <a:solidFill>
            <a:srgbClr val="1E3A8A"/>
          </a:solidFill>
          <a:ln w="12700">
            <a:solidFill>
              <a:srgbClr val="1E3A8A"/>
            </a:solidFill>
            <a:prstDash val="solid"/>
          </a:ln>
        </p:spPr>
      </p:sp>
      <p:sp>
        <p:nvSpPr>
          <p:cNvPr id="9" name="Text 7"/>
          <p:cNvSpPr/>
          <p:nvPr/>
        </p:nvSpPr>
        <p:spPr>
          <a:xfrm>
            <a:off x="685800" y="5340096"/>
            <a:ext cx="84124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JAVA 21</a:t>
            </a:r>
            <a:endParaRPr lang="en-US" sz="750" dirty="0"/>
          </a:p>
        </p:txBody>
      </p:sp>
      <p:sp>
        <p:nvSpPr>
          <p:cNvPr id="10" name="Shape 8"/>
          <p:cNvSpPr/>
          <p:nvPr/>
        </p:nvSpPr>
        <p:spPr>
          <a:xfrm>
            <a:off x="1645920" y="5321808"/>
            <a:ext cx="1170432" cy="292608"/>
          </a:xfrm>
          <a:prstGeom prst="roundRect">
            <a:avLst>
              <a:gd name="adj" fmla="val 25000"/>
            </a:avLst>
          </a:prstGeom>
          <a:solidFill>
            <a:srgbClr val="1E3A8A"/>
          </a:solidFill>
          <a:ln w="12700">
            <a:solidFill>
              <a:srgbClr val="1E3A8A"/>
            </a:solidFill>
            <a:prstDash val="solid"/>
          </a:ln>
        </p:spPr>
      </p:sp>
      <p:sp>
        <p:nvSpPr>
          <p:cNvPr id="11" name="Text 9"/>
          <p:cNvSpPr/>
          <p:nvPr/>
        </p:nvSpPr>
        <p:spPr>
          <a:xfrm>
            <a:off x="1645920" y="5340096"/>
            <a:ext cx="1170432"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SPRING BOOT</a:t>
            </a:r>
            <a:endParaRPr lang="en-US" sz="750" dirty="0"/>
          </a:p>
        </p:txBody>
      </p:sp>
      <p:sp>
        <p:nvSpPr>
          <p:cNvPr id="12" name="Shape 10"/>
          <p:cNvSpPr/>
          <p:nvPr/>
        </p:nvSpPr>
        <p:spPr>
          <a:xfrm>
            <a:off x="2944368" y="5321808"/>
            <a:ext cx="932688" cy="292608"/>
          </a:xfrm>
          <a:prstGeom prst="roundRect">
            <a:avLst>
              <a:gd name="adj" fmla="val 25000"/>
            </a:avLst>
          </a:prstGeom>
          <a:solidFill>
            <a:srgbClr val="1E3A8A"/>
          </a:solidFill>
          <a:ln w="12700">
            <a:solidFill>
              <a:srgbClr val="1E3A8A"/>
            </a:solidFill>
            <a:prstDash val="solid"/>
          </a:ln>
        </p:spPr>
      </p:sp>
      <p:sp>
        <p:nvSpPr>
          <p:cNvPr id="13" name="Text 11"/>
          <p:cNvSpPr/>
          <p:nvPr/>
        </p:nvSpPr>
        <p:spPr>
          <a:xfrm>
            <a:off x="2944368" y="5340096"/>
            <a:ext cx="93268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REACT 19</a:t>
            </a:r>
            <a:endParaRPr lang="en-US" sz="750" dirty="0"/>
          </a:p>
        </p:txBody>
      </p:sp>
      <p:sp>
        <p:nvSpPr>
          <p:cNvPr id="14" name="Shape 12"/>
          <p:cNvSpPr/>
          <p:nvPr/>
        </p:nvSpPr>
        <p:spPr>
          <a:xfrm>
            <a:off x="685800" y="5715000"/>
            <a:ext cx="1444752" cy="292608"/>
          </a:xfrm>
          <a:prstGeom prst="roundRect">
            <a:avLst>
              <a:gd name="adj" fmla="val 25000"/>
            </a:avLst>
          </a:prstGeom>
          <a:solidFill>
            <a:srgbClr val="1E3A8A"/>
          </a:solidFill>
          <a:ln w="12700">
            <a:solidFill>
              <a:srgbClr val="1E3A8A"/>
            </a:solidFill>
            <a:prstDash val="solid"/>
          </a:ln>
        </p:spPr>
      </p:sp>
      <p:sp>
        <p:nvSpPr>
          <p:cNvPr id="15" name="Text 13"/>
          <p:cNvSpPr/>
          <p:nvPr/>
        </p:nvSpPr>
        <p:spPr>
          <a:xfrm>
            <a:off x="685800" y="5733288"/>
            <a:ext cx="1444752"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MYSQL + REDIS</a:t>
            </a:r>
            <a:endParaRPr lang="en-US" sz="750" dirty="0"/>
          </a:p>
        </p:txBody>
      </p:sp>
      <p:sp>
        <p:nvSpPr>
          <p:cNvPr id="16" name="Shape 14"/>
          <p:cNvSpPr/>
          <p:nvPr/>
        </p:nvSpPr>
        <p:spPr>
          <a:xfrm>
            <a:off x="2258568" y="5715000"/>
            <a:ext cx="1554480" cy="292608"/>
          </a:xfrm>
          <a:prstGeom prst="roundRect">
            <a:avLst>
              <a:gd name="adj" fmla="val 25000"/>
            </a:avLst>
          </a:prstGeom>
          <a:solidFill>
            <a:srgbClr val="1E3A8A"/>
          </a:solidFill>
          <a:ln w="12700">
            <a:solidFill>
              <a:srgbClr val="1E3A8A"/>
            </a:solidFill>
            <a:prstDash val="solid"/>
          </a:ln>
        </p:spPr>
      </p:sp>
      <p:sp>
        <p:nvSpPr>
          <p:cNvPr id="17" name="Text 15"/>
          <p:cNvSpPr/>
          <p:nvPr/>
        </p:nvSpPr>
        <p:spPr>
          <a:xfrm>
            <a:off x="2258568" y="5733288"/>
            <a:ext cx="1554480"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DOCKER COMPOSE</a:t>
            </a:r>
            <a:endParaRPr lang="en-US" sz="750" dirty="0"/>
          </a:p>
        </p:txBody>
      </p:sp>
      <p:sp>
        <p:nvSpPr>
          <p:cNvPr id="18" name="Shape 16"/>
          <p:cNvSpPr/>
          <p:nvPr/>
        </p:nvSpPr>
        <p:spPr>
          <a:xfrm>
            <a:off x="4974336" y="996696"/>
            <a:ext cx="6702552" cy="4215384"/>
          </a:xfrm>
          <a:prstGeom prst="roundRect">
            <a:avLst>
              <a:gd name="adj" fmla="val 1735"/>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9" name="Image 0" descr="Dashboard showing portfolio metrics and position P&amp;L">    </p:cNvPr>
          <p:cNvPicPr>
            <a:picLocks noChangeAspect="1"/>
          </p:cNvPicPr>
          <p:nvPr/>
        </p:nvPicPr>
        <p:blipFill>
          <a:blip r:embed="rId1"/>
          <a:stretch>
            <a:fillRect/>
          </a:stretch>
        </p:blipFill>
        <p:spPr>
          <a:xfrm>
            <a:off x="5010912" y="1033272"/>
            <a:ext cx="6629400" cy="4142232"/>
          </a:xfrm>
          <a:prstGeom prst="rect">
            <a:avLst/>
          </a:prstGeom>
        </p:spPr>
      </p:pic>
      <p:sp>
        <p:nvSpPr>
          <p:cNvPr id="20" name="Shape 17"/>
          <p:cNvSpPr/>
          <p:nvPr/>
        </p:nvSpPr>
        <p:spPr>
          <a:xfrm>
            <a:off x="7059168" y="4919472"/>
            <a:ext cx="3858768" cy="685800"/>
          </a:xfrm>
          <a:prstGeom prst="roundRect">
            <a:avLst>
              <a:gd name="adj" fmla="val 10667"/>
            </a:avLst>
          </a:prstGeom>
          <a:solidFill>
            <a:srgbClr val="2563EB"/>
          </a:solidFill>
          <a:ln w="12700">
            <a:solidFill>
              <a:srgbClr val="2563EB"/>
            </a:solidFill>
            <a:prstDash val="solid"/>
          </a:ln>
        </p:spPr>
      </p:sp>
      <p:sp>
        <p:nvSpPr>
          <p:cNvPr id="21" name="Text 18"/>
          <p:cNvSpPr/>
          <p:nvPr/>
        </p:nvSpPr>
        <p:spPr>
          <a:xfrm>
            <a:off x="7223760" y="5020056"/>
            <a:ext cx="3529584" cy="457200"/>
          </a:xfrm>
          <a:prstGeom prst="rect">
            <a:avLst/>
          </a:prstGeom>
          <a:noFill/>
          <a:ln/>
        </p:spPr>
        <p:txBody>
          <a:bodyPr wrap="square" lIns="1016" tIns="1016" rIns="1016" bIns="1016" rtlCol="0" anchor="ctr">
            <a:normAutofit/>
          </a:bodyPr>
          <a:lstStyle/>
          <a:p>
            <a:pPr algn="ctr" indent="0" marL="0">
              <a:buNone/>
            </a:pPr>
            <a:r>
              <a:rPr lang="en-US" sz="1300" b="1" dirty="0">
                <a:solidFill>
                  <a:srgbClr val="FFFFFF"/>
                </a:solidFill>
              </a:rPr>
              <a:t>从交易录入到组合估值的可信闭环</a:t>
            </a:r>
            <a:endParaRPr lang="en-US" sz="1300" dirty="0"/>
          </a:p>
          <a:p>
            <a:pPr algn="ctr" indent="0" marL="0">
              <a:buNone/>
            </a:pPr>
            <a:r>
              <a:rPr lang="en-US" sz="800" dirty="0">
                <a:solidFill>
                  <a:srgbClr val="DBEAFE"/>
                </a:solidFill>
                <a:latin typeface="Arial" pitchFamily="34" charset="0"/>
                <a:ea typeface="Arial" pitchFamily="34" charset="-122"/>
                <a:cs typeface="Arial" pitchFamily="34" charset="-120"/>
              </a:rPr>
              <a:t>A trusted loop from booking to valuation</a:t>
            </a:r>
            <a:endParaRPr lang="en-US" sz="1300" dirty="0"/>
          </a:p>
        </p:txBody>
      </p:sp>
      <p:sp>
        <p:nvSpPr>
          <p:cNvPr id="22" name="Text 19"/>
          <p:cNvSpPr/>
          <p:nvPr/>
        </p:nvSpPr>
        <p:spPr>
          <a:xfrm>
            <a:off x="10744200" y="6291072"/>
            <a:ext cx="822960" cy="182880"/>
          </a:xfrm>
          <a:prstGeom prst="rect">
            <a:avLst/>
          </a:prstGeom>
          <a:noFill/>
          <a:ln/>
        </p:spPr>
        <p:txBody>
          <a:bodyPr wrap="square" lIns="0" tIns="0" rIns="0" bIns="0" rtlCol="0" anchor="ctr"/>
          <a:lstStyle/>
          <a:p>
            <a:pPr algn="r" indent="0" marL="0">
              <a:buNone/>
            </a:pPr>
            <a:r>
              <a:rPr lang="en-US" sz="800" dirty="0">
                <a:solidFill>
                  <a:srgbClr val="64748B"/>
                </a:solidFill>
                <a:latin typeface="Arial" pitchFamily="34" charset="0"/>
                <a:ea typeface="Arial" pitchFamily="34" charset="-122"/>
                <a:cs typeface="Arial" pitchFamily="34" charset="-120"/>
              </a:rPr>
              <a:t>2026.07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WHY THIS SYSTEM</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从碎片操作到可信闭环</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From Fragmented Tasks to a Trusted Loop</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02</a:t>
            </a:r>
            <a:endParaRPr lang="en-US" sz="1800" dirty="0"/>
          </a:p>
        </p:txBody>
      </p:sp>
      <p:sp>
        <p:nvSpPr>
          <p:cNvPr id="6" name="Text 4"/>
          <p:cNvSpPr/>
          <p:nvPr/>
        </p:nvSpPr>
        <p:spPr>
          <a:xfrm>
            <a:off x="731520" y="1490472"/>
            <a:ext cx="4023360" cy="256032"/>
          </a:xfrm>
          <a:prstGeom prst="rect">
            <a:avLst/>
          </a:prstGeom>
          <a:noFill/>
          <a:ln/>
        </p:spPr>
        <p:txBody>
          <a:bodyPr wrap="square" lIns="0" tIns="0" rIns="0" bIns="0" rtlCol="0" anchor="ctr"/>
          <a:lstStyle/>
          <a:p>
            <a:pPr indent="0" marL="0">
              <a:buNone/>
            </a:pPr>
            <a:r>
              <a:rPr lang="en-US" sz="1000" b="1" dirty="0">
                <a:solidFill>
                  <a:srgbClr val="DC2626"/>
                </a:solidFill>
                <a:latin typeface="Arial" pitchFamily="34" charset="0"/>
                <a:ea typeface="Arial" pitchFamily="34" charset="-122"/>
                <a:cs typeface="Arial" pitchFamily="34" charset="-120"/>
              </a:rPr>
              <a:t>常见风险 / COMMON RISKS</a:t>
            </a:r>
            <a:endParaRPr lang="en-US" sz="1000" dirty="0"/>
          </a:p>
        </p:txBody>
      </p:sp>
      <p:sp>
        <p:nvSpPr>
          <p:cNvPr id="7" name="Text 5"/>
          <p:cNvSpPr/>
          <p:nvPr/>
        </p:nvSpPr>
        <p:spPr>
          <a:xfrm>
            <a:off x="7223760" y="1490472"/>
            <a:ext cx="3977640" cy="256032"/>
          </a:xfrm>
          <a:prstGeom prst="rect">
            <a:avLst/>
          </a:prstGeom>
          <a:noFill/>
          <a:ln/>
        </p:spPr>
        <p:txBody>
          <a:bodyPr wrap="square" lIns="0" tIns="0" rIns="0" bIns="0" rtlCol="0" anchor="ctr"/>
          <a:lstStyle/>
          <a:p>
            <a:pPr indent="0" marL="0">
              <a:buNone/>
            </a:pPr>
            <a:r>
              <a:rPr lang="en-US" sz="1000" b="1" dirty="0">
                <a:solidFill>
                  <a:srgbClr val="2563EB"/>
                </a:solidFill>
                <a:latin typeface="Arial" pitchFamily="34" charset="0"/>
                <a:ea typeface="Arial" pitchFamily="34" charset="-122"/>
                <a:cs typeface="Arial" pitchFamily="34" charset="-120"/>
              </a:rPr>
              <a:t>本项目的回答 / OUR RESPONSE</a:t>
            </a:r>
            <a:endParaRPr lang="en-US" sz="1000" dirty="0"/>
          </a:p>
        </p:txBody>
      </p:sp>
      <p:sp>
        <p:nvSpPr>
          <p:cNvPr id="8" name="Shape 6"/>
          <p:cNvSpPr/>
          <p:nvPr/>
        </p:nvSpPr>
        <p:spPr>
          <a:xfrm>
            <a:off x="731520" y="1847088"/>
            <a:ext cx="4041648" cy="850392"/>
          </a:xfrm>
          <a:prstGeom prst="roundRect">
            <a:avLst>
              <a:gd name="adj" fmla="val 8602"/>
            </a:avLst>
          </a:prstGeom>
          <a:solidFill>
            <a:srgbClr val="FFF7F7"/>
          </a:solidFill>
          <a:ln w="10160">
            <a:solidFill>
              <a:srgbClr val="FECACA"/>
            </a:solidFill>
            <a:prstDash val="solid"/>
          </a:ln>
          <a:effectLst>
            <a:outerShdw sx="100000" sy="100000" kx="0" ky="0" algn="bl" rotWithShape="0" blurRad="19050" dist="50800" dir="2700000">
              <a:srgbClr val="94A3B8">
                <a:alpha val="13000"/>
              </a:srgbClr>
            </a:outerShdw>
          </a:effectLst>
        </p:spPr>
      </p:sp>
      <p:sp>
        <p:nvSpPr>
          <p:cNvPr id="9" name="Shape 7"/>
          <p:cNvSpPr/>
          <p:nvPr/>
        </p:nvSpPr>
        <p:spPr>
          <a:xfrm>
            <a:off x="941832" y="2103120"/>
            <a:ext cx="310896" cy="310896"/>
          </a:xfrm>
          <a:prstGeom prst="ellipse">
            <a:avLst/>
          </a:prstGeom>
          <a:solidFill>
            <a:srgbClr val="FEE2E2"/>
          </a:solidFill>
          <a:ln w="12700">
            <a:solidFill>
              <a:srgbClr val="FEE2E2"/>
            </a:solidFill>
            <a:prstDash val="solid"/>
          </a:ln>
        </p:spPr>
      </p:sp>
      <p:sp>
        <p:nvSpPr>
          <p:cNvPr id="10" name="Text 8"/>
          <p:cNvSpPr/>
          <p:nvPr/>
        </p:nvSpPr>
        <p:spPr>
          <a:xfrm>
            <a:off x="941832" y="2112264"/>
            <a:ext cx="310896" cy="201168"/>
          </a:xfrm>
          <a:prstGeom prst="rect">
            <a:avLst/>
          </a:prstGeom>
          <a:noFill/>
          <a:ln/>
        </p:spPr>
        <p:txBody>
          <a:bodyPr wrap="square" lIns="0" tIns="0" rIns="0" bIns="0"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a:t>
            </a:r>
            <a:endParaRPr lang="en-US" sz="1000" dirty="0"/>
          </a:p>
        </p:txBody>
      </p:sp>
      <p:sp>
        <p:nvSpPr>
          <p:cNvPr id="11" name="Text 9"/>
          <p:cNvSpPr/>
          <p:nvPr/>
        </p:nvSpPr>
        <p:spPr>
          <a:xfrm>
            <a:off x="1389888" y="1984248"/>
            <a:ext cx="310896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修改覆盖原记录</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Mutation erases history</a:t>
            </a:r>
            <a:endParaRPr lang="en-US" sz="1300" dirty="0"/>
          </a:p>
        </p:txBody>
      </p:sp>
      <p:sp>
        <p:nvSpPr>
          <p:cNvPr id="12" name="Shape 10"/>
          <p:cNvSpPr/>
          <p:nvPr/>
        </p:nvSpPr>
        <p:spPr>
          <a:xfrm>
            <a:off x="5138928" y="2276856"/>
            <a:ext cx="1325880" cy="0"/>
          </a:xfrm>
          <a:prstGeom prst="line">
            <a:avLst/>
          </a:prstGeom>
          <a:noFill/>
          <a:ln w="25400">
            <a:solidFill>
              <a:srgbClr val="94A3B8"/>
            </a:solidFill>
            <a:prstDash val="solid"/>
            <a:headEnd type="none"/>
            <a:tailEnd type="triangle"/>
          </a:ln>
        </p:spPr>
      </p:sp>
      <p:sp>
        <p:nvSpPr>
          <p:cNvPr id="13" name="Shape 11"/>
          <p:cNvSpPr/>
          <p:nvPr/>
        </p:nvSpPr>
        <p:spPr>
          <a:xfrm>
            <a:off x="7086600" y="1847088"/>
            <a:ext cx="4187952" cy="850392"/>
          </a:xfrm>
          <a:prstGeom prst="roundRect">
            <a:avLst>
              <a:gd name="adj" fmla="val 8602"/>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14" name="Shape 12"/>
          <p:cNvSpPr/>
          <p:nvPr/>
        </p:nvSpPr>
        <p:spPr>
          <a:xfrm>
            <a:off x="7296912" y="2103120"/>
            <a:ext cx="310896" cy="310896"/>
          </a:xfrm>
          <a:prstGeom prst="ellipse">
            <a:avLst/>
          </a:prstGeom>
          <a:solidFill>
            <a:srgbClr val="DBEAFE"/>
          </a:solidFill>
          <a:ln w="12700">
            <a:solidFill>
              <a:srgbClr val="DBEAFE"/>
            </a:solidFill>
            <a:prstDash val="solid"/>
          </a:ln>
        </p:spPr>
      </p:sp>
      <p:sp>
        <p:nvSpPr>
          <p:cNvPr id="15" name="Text 13"/>
          <p:cNvSpPr/>
          <p:nvPr/>
        </p:nvSpPr>
        <p:spPr>
          <a:xfrm>
            <a:off x="7296912" y="2103120"/>
            <a:ext cx="310896" cy="20116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a:t>
            </a:r>
            <a:endParaRPr lang="en-US" sz="1000" dirty="0"/>
          </a:p>
        </p:txBody>
      </p:sp>
      <p:sp>
        <p:nvSpPr>
          <p:cNvPr id="16" name="Text 14"/>
          <p:cNvSpPr/>
          <p:nvPr/>
        </p:nvSpPr>
        <p:spPr>
          <a:xfrm>
            <a:off x="7754112" y="1984248"/>
            <a:ext cx="320040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审计保留的生命周期</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Audit-preserving lifecycle</a:t>
            </a:r>
            <a:endParaRPr lang="en-US" sz="1300" dirty="0"/>
          </a:p>
        </p:txBody>
      </p:sp>
      <p:sp>
        <p:nvSpPr>
          <p:cNvPr id="17" name="Shape 15"/>
          <p:cNvSpPr/>
          <p:nvPr/>
        </p:nvSpPr>
        <p:spPr>
          <a:xfrm>
            <a:off x="731520" y="3017520"/>
            <a:ext cx="4041648" cy="850392"/>
          </a:xfrm>
          <a:prstGeom prst="roundRect">
            <a:avLst>
              <a:gd name="adj" fmla="val 8602"/>
            </a:avLst>
          </a:prstGeom>
          <a:solidFill>
            <a:srgbClr val="FFFFFF"/>
          </a:solidFill>
          <a:ln w="10160">
            <a:solidFill>
              <a:srgbClr val="FECACA"/>
            </a:solidFill>
            <a:prstDash val="solid"/>
          </a:ln>
          <a:effectLst>
            <a:outerShdw sx="100000" sy="100000" kx="0" ky="0" algn="bl" rotWithShape="0" blurRad="19050" dist="50800" dir="2700000">
              <a:srgbClr val="94A3B8">
                <a:alpha val="13000"/>
              </a:srgbClr>
            </a:outerShdw>
          </a:effectLst>
        </p:spPr>
      </p:sp>
      <p:sp>
        <p:nvSpPr>
          <p:cNvPr id="18" name="Shape 16"/>
          <p:cNvSpPr/>
          <p:nvPr/>
        </p:nvSpPr>
        <p:spPr>
          <a:xfrm>
            <a:off x="941832" y="3273552"/>
            <a:ext cx="310896" cy="310896"/>
          </a:xfrm>
          <a:prstGeom prst="ellipse">
            <a:avLst/>
          </a:prstGeom>
          <a:solidFill>
            <a:srgbClr val="FEE2E2"/>
          </a:solidFill>
          <a:ln w="12700">
            <a:solidFill>
              <a:srgbClr val="FEE2E2"/>
            </a:solidFill>
            <a:prstDash val="solid"/>
          </a:ln>
        </p:spPr>
      </p:sp>
      <p:sp>
        <p:nvSpPr>
          <p:cNvPr id="19" name="Text 17"/>
          <p:cNvSpPr/>
          <p:nvPr/>
        </p:nvSpPr>
        <p:spPr>
          <a:xfrm>
            <a:off x="941832" y="3282696"/>
            <a:ext cx="310896" cy="201168"/>
          </a:xfrm>
          <a:prstGeom prst="rect">
            <a:avLst/>
          </a:prstGeom>
          <a:noFill/>
          <a:ln/>
        </p:spPr>
        <p:txBody>
          <a:bodyPr wrap="square" lIns="0" tIns="0" rIns="0" bIns="0"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a:t>
            </a:r>
            <a:endParaRPr lang="en-US" sz="1000" dirty="0"/>
          </a:p>
        </p:txBody>
      </p:sp>
      <p:sp>
        <p:nvSpPr>
          <p:cNvPr id="20" name="Text 18"/>
          <p:cNvSpPr/>
          <p:nvPr/>
        </p:nvSpPr>
        <p:spPr>
          <a:xfrm>
            <a:off x="1389888" y="3154680"/>
            <a:ext cx="310896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卖出与撤单易破坏持仓</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Position drift after changes</a:t>
            </a:r>
            <a:endParaRPr lang="en-US" sz="1300" dirty="0"/>
          </a:p>
        </p:txBody>
      </p:sp>
      <p:sp>
        <p:nvSpPr>
          <p:cNvPr id="21" name="Shape 19"/>
          <p:cNvSpPr/>
          <p:nvPr/>
        </p:nvSpPr>
        <p:spPr>
          <a:xfrm>
            <a:off x="5138928" y="3447288"/>
            <a:ext cx="1325880" cy="0"/>
          </a:xfrm>
          <a:prstGeom prst="line">
            <a:avLst/>
          </a:prstGeom>
          <a:noFill/>
          <a:ln w="25400">
            <a:solidFill>
              <a:srgbClr val="94A3B8"/>
            </a:solidFill>
            <a:prstDash val="solid"/>
            <a:headEnd type="none"/>
            <a:tailEnd type="triangle"/>
          </a:ln>
        </p:spPr>
      </p:sp>
      <p:sp>
        <p:nvSpPr>
          <p:cNvPr id="22" name="Shape 20"/>
          <p:cNvSpPr/>
          <p:nvPr/>
        </p:nvSpPr>
        <p:spPr>
          <a:xfrm>
            <a:off x="7086600" y="3017520"/>
            <a:ext cx="4187952" cy="850392"/>
          </a:xfrm>
          <a:prstGeom prst="roundRect">
            <a:avLst>
              <a:gd name="adj" fmla="val 8602"/>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23" name="Shape 21"/>
          <p:cNvSpPr/>
          <p:nvPr/>
        </p:nvSpPr>
        <p:spPr>
          <a:xfrm>
            <a:off x="7296912" y="3273552"/>
            <a:ext cx="310896" cy="310896"/>
          </a:xfrm>
          <a:prstGeom prst="ellipse">
            <a:avLst/>
          </a:prstGeom>
          <a:solidFill>
            <a:srgbClr val="DBEAFE"/>
          </a:solidFill>
          <a:ln w="12700">
            <a:solidFill>
              <a:srgbClr val="DBEAFE"/>
            </a:solidFill>
            <a:prstDash val="solid"/>
          </a:ln>
        </p:spPr>
      </p:sp>
      <p:sp>
        <p:nvSpPr>
          <p:cNvPr id="24" name="Text 22"/>
          <p:cNvSpPr/>
          <p:nvPr/>
        </p:nvSpPr>
        <p:spPr>
          <a:xfrm>
            <a:off x="7296912" y="3273552"/>
            <a:ext cx="310896" cy="20116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a:t>
            </a:r>
            <a:endParaRPr lang="en-US" sz="1000" dirty="0"/>
          </a:p>
        </p:txBody>
      </p:sp>
      <p:sp>
        <p:nvSpPr>
          <p:cNvPr id="25" name="Text 23"/>
          <p:cNvSpPr/>
          <p:nvPr/>
        </p:nvSpPr>
        <p:spPr>
          <a:xfrm>
            <a:off x="7754112" y="3154680"/>
            <a:ext cx="320040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按时间重放交易事实</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Chronological trade replay</a:t>
            </a:r>
            <a:endParaRPr lang="en-US" sz="1300" dirty="0"/>
          </a:p>
        </p:txBody>
      </p:sp>
      <p:sp>
        <p:nvSpPr>
          <p:cNvPr id="26" name="Shape 24"/>
          <p:cNvSpPr/>
          <p:nvPr/>
        </p:nvSpPr>
        <p:spPr>
          <a:xfrm>
            <a:off x="731520" y="4187952"/>
            <a:ext cx="4041648" cy="850392"/>
          </a:xfrm>
          <a:prstGeom prst="roundRect">
            <a:avLst>
              <a:gd name="adj" fmla="val 8602"/>
            </a:avLst>
          </a:prstGeom>
          <a:solidFill>
            <a:srgbClr val="FFFFFF"/>
          </a:solidFill>
          <a:ln w="10160">
            <a:solidFill>
              <a:srgbClr val="FECACA"/>
            </a:solidFill>
            <a:prstDash val="solid"/>
          </a:ln>
          <a:effectLst>
            <a:outerShdw sx="100000" sy="100000" kx="0" ky="0" algn="bl" rotWithShape="0" blurRad="19050" dist="50800" dir="2700000">
              <a:srgbClr val="94A3B8">
                <a:alpha val="13000"/>
              </a:srgbClr>
            </a:outerShdw>
          </a:effectLst>
        </p:spPr>
      </p:sp>
      <p:sp>
        <p:nvSpPr>
          <p:cNvPr id="27" name="Shape 25"/>
          <p:cNvSpPr/>
          <p:nvPr/>
        </p:nvSpPr>
        <p:spPr>
          <a:xfrm>
            <a:off x="941832" y="4443984"/>
            <a:ext cx="310896" cy="310896"/>
          </a:xfrm>
          <a:prstGeom prst="ellipse">
            <a:avLst/>
          </a:prstGeom>
          <a:solidFill>
            <a:srgbClr val="FEE2E2"/>
          </a:solidFill>
          <a:ln w="12700">
            <a:solidFill>
              <a:srgbClr val="FEE2E2"/>
            </a:solidFill>
            <a:prstDash val="solid"/>
          </a:ln>
        </p:spPr>
      </p:sp>
      <p:sp>
        <p:nvSpPr>
          <p:cNvPr id="28" name="Text 26"/>
          <p:cNvSpPr/>
          <p:nvPr/>
        </p:nvSpPr>
        <p:spPr>
          <a:xfrm>
            <a:off x="941832" y="4453128"/>
            <a:ext cx="310896" cy="201168"/>
          </a:xfrm>
          <a:prstGeom prst="rect">
            <a:avLst/>
          </a:prstGeom>
          <a:noFill/>
          <a:ln/>
        </p:spPr>
        <p:txBody>
          <a:bodyPr wrap="square" lIns="0" tIns="0" rIns="0" bIns="0" rtlCol="0" anchor="ctr"/>
          <a:lstStyle/>
          <a:p>
            <a:pPr algn="ctr" indent="0" marL="0">
              <a:buNone/>
            </a:pPr>
            <a:r>
              <a:rPr lang="en-US" sz="1000" b="1" dirty="0">
                <a:solidFill>
                  <a:srgbClr val="DC2626"/>
                </a:solidFill>
                <a:latin typeface="Arial" pitchFamily="34" charset="0"/>
                <a:ea typeface="Arial" pitchFamily="34" charset="-122"/>
                <a:cs typeface="Arial" pitchFamily="34" charset="-120"/>
              </a:rPr>
              <a:t>!</a:t>
            </a:r>
            <a:endParaRPr lang="en-US" sz="1000" dirty="0"/>
          </a:p>
        </p:txBody>
      </p:sp>
      <p:sp>
        <p:nvSpPr>
          <p:cNvPr id="29" name="Text 27"/>
          <p:cNvSpPr/>
          <p:nvPr/>
        </p:nvSpPr>
        <p:spPr>
          <a:xfrm>
            <a:off x="1389888" y="4325112"/>
            <a:ext cx="310896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行情故障可能误导估值</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Quote failure can mislead</a:t>
            </a:r>
            <a:endParaRPr lang="en-US" sz="1300" dirty="0"/>
          </a:p>
        </p:txBody>
      </p:sp>
      <p:sp>
        <p:nvSpPr>
          <p:cNvPr id="30" name="Shape 28"/>
          <p:cNvSpPr/>
          <p:nvPr/>
        </p:nvSpPr>
        <p:spPr>
          <a:xfrm>
            <a:off x="5138928" y="4617720"/>
            <a:ext cx="1325880" cy="0"/>
          </a:xfrm>
          <a:prstGeom prst="line">
            <a:avLst/>
          </a:prstGeom>
          <a:noFill/>
          <a:ln w="25400">
            <a:solidFill>
              <a:srgbClr val="94A3B8"/>
            </a:solidFill>
            <a:prstDash val="solid"/>
            <a:headEnd type="none"/>
            <a:tailEnd type="triangle"/>
          </a:ln>
        </p:spPr>
      </p:sp>
      <p:sp>
        <p:nvSpPr>
          <p:cNvPr id="31" name="Shape 29"/>
          <p:cNvSpPr/>
          <p:nvPr/>
        </p:nvSpPr>
        <p:spPr>
          <a:xfrm>
            <a:off x="7086600" y="4187952"/>
            <a:ext cx="4187952" cy="850392"/>
          </a:xfrm>
          <a:prstGeom prst="roundRect">
            <a:avLst>
              <a:gd name="adj" fmla="val 8602"/>
            </a:avLst>
          </a:prstGeom>
          <a:solidFill>
            <a:srgbClr val="EFF6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32" name="Shape 30"/>
          <p:cNvSpPr/>
          <p:nvPr/>
        </p:nvSpPr>
        <p:spPr>
          <a:xfrm>
            <a:off x="7296912" y="4443984"/>
            <a:ext cx="310896" cy="310896"/>
          </a:xfrm>
          <a:prstGeom prst="ellipse">
            <a:avLst/>
          </a:prstGeom>
          <a:solidFill>
            <a:srgbClr val="DBEAFE"/>
          </a:solidFill>
          <a:ln w="12700">
            <a:solidFill>
              <a:srgbClr val="DBEAFE"/>
            </a:solidFill>
            <a:prstDash val="solid"/>
          </a:ln>
        </p:spPr>
      </p:sp>
      <p:sp>
        <p:nvSpPr>
          <p:cNvPr id="33" name="Text 31"/>
          <p:cNvSpPr/>
          <p:nvPr/>
        </p:nvSpPr>
        <p:spPr>
          <a:xfrm>
            <a:off x="7296912" y="4443984"/>
            <a:ext cx="310896" cy="201168"/>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a:t>
            </a:r>
            <a:endParaRPr lang="en-US" sz="1000" dirty="0"/>
          </a:p>
        </p:txBody>
      </p:sp>
      <p:sp>
        <p:nvSpPr>
          <p:cNvPr id="34" name="Text 32"/>
          <p:cNvSpPr/>
          <p:nvPr/>
        </p:nvSpPr>
        <p:spPr>
          <a:xfrm>
            <a:off x="7754112" y="4325112"/>
            <a:ext cx="3200400" cy="53035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显式来源与陈旧状态</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Explicit source and staleness</a:t>
            </a:r>
            <a:endParaRPr lang="en-US" sz="1300" dirty="0"/>
          </a:p>
        </p:txBody>
      </p:sp>
      <p:sp>
        <p:nvSpPr>
          <p:cNvPr id="35" name="Shape 33"/>
          <p:cNvSpPr/>
          <p:nvPr/>
        </p:nvSpPr>
        <p:spPr>
          <a:xfrm>
            <a:off x="1993392" y="5669280"/>
            <a:ext cx="8211312" cy="502920"/>
          </a:xfrm>
          <a:prstGeom prst="roundRect">
            <a:avLst>
              <a:gd name="adj" fmla="val 14545"/>
            </a:avLst>
          </a:prstGeom>
          <a:solidFill>
            <a:srgbClr val="0F172A"/>
          </a:solidFill>
          <a:ln w="12700">
            <a:solidFill>
              <a:srgbClr val="0F172A"/>
            </a:solidFill>
            <a:prstDash val="solid"/>
          </a:ln>
        </p:spPr>
      </p:sp>
      <p:sp>
        <p:nvSpPr>
          <p:cNvPr id="36" name="Text 34"/>
          <p:cNvSpPr/>
          <p:nvPr/>
        </p:nvSpPr>
        <p:spPr>
          <a:xfrm>
            <a:off x="2240280" y="5742432"/>
            <a:ext cx="7717536" cy="320040"/>
          </a:xfrm>
          <a:prstGeom prst="rect">
            <a:avLst/>
          </a:prstGeom>
          <a:noFill/>
          <a:ln/>
        </p:spPr>
        <p:txBody>
          <a:bodyPr wrap="square" lIns="1016" tIns="1016" rIns="1016" bIns="1016" rtlCol="0" anchor="ctr">
            <a:normAutofit/>
          </a:bodyPr>
          <a:lstStyle/>
          <a:p>
            <a:pPr algn="ctr" indent="0" marL="0">
              <a:buNone/>
            </a:pPr>
            <a:r>
              <a:rPr lang="en-US" sz="1400" b="1" dirty="0">
                <a:solidFill>
                  <a:srgbClr val="FFFFFF"/>
                </a:solidFill>
              </a:rPr>
              <a:t>交易是事实，持仓可重算，行情只估值，盈亏统一算</a:t>
            </a:r>
            <a:endParaRPr lang="en-US" sz="1400" dirty="0"/>
          </a:p>
          <a:p>
            <a:pPr algn="ctr" indent="0" marL="0">
              <a:buNone/>
            </a:pPr>
            <a:r>
              <a:rPr lang="en-US" sz="850" dirty="0">
                <a:solidFill>
                  <a:srgbClr val="BFDBFE"/>
                </a:solidFill>
                <a:latin typeface="Arial" pitchFamily="34" charset="0"/>
                <a:ea typeface="Arial" pitchFamily="34" charset="-122"/>
                <a:cs typeface="Arial" pitchFamily="34" charset="-120"/>
              </a:rPr>
              <a:t>Trades are facts. Positions are replayed. Quotes value. The backend calculates.</a:t>
            </a:r>
            <a:endParaRPr lang="en-US" sz="14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BUSINESS FLOW</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端到端业务闭环</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End-to-End Business Loop</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03</a:t>
            </a:r>
            <a:endParaRPr lang="en-US" sz="1800" dirty="0"/>
          </a:p>
        </p:txBody>
      </p:sp>
      <p:sp>
        <p:nvSpPr>
          <p:cNvPr id="6" name="Shape 4"/>
          <p:cNvSpPr/>
          <p:nvPr/>
        </p:nvSpPr>
        <p:spPr>
          <a:xfrm>
            <a:off x="566928"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7" name="Shape 5"/>
          <p:cNvSpPr/>
          <p:nvPr/>
        </p:nvSpPr>
        <p:spPr>
          <a:xfrm>
            <a:off x="1161288" y="2103120"/>
            <a:ext cx="658368" cy="658368"/>
          </a:xfrm>
          <a:prstGeom prst="ellipse">
            <a:avLst/>
          </a:prstGeom>
          <a:solidFill>
            <a:srgbClr val="DBEAFE"/>
          </a:solidFill>
          <a:ln w="12700">
            <a:solidFill>
              <a:srgbClr val="DBEAFE"/>
            </a:solidFill>
            <a:prstDash val="solid"/>
          </a:ln>
        </p:spPr>
      </p:sp>
      <p:sp>
        <p:nvSpPr>
          <p:cNvPr id="8" name="Text 6"/>
          <p:cNvSpPr/>
          <p:nvPr/>
        </p:nvSpPr>
        <p:spPr>
          <a:xfrm>
            <a:off x="1161288"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01</a:t>
            </a:r>
            <a:endParaRPr lang="en-US" sz="1200" dirty="0"/>
          </a:p>
        </p:txBody>
      </p:sp>
      <p:sp>
        <p:nvSpPr>
          <p:cNvPr id="9" name="Text 7"/>
          <p:cNvSpPr/>
          <p:nvPr/>
        </p:nvSpPr>
        <p:spPr>
          <a:xfrm>
            <a:off x="777240"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rPr>
              <a:t>账户</a:t>
            </a:r>
            <a:endParaRPr lang="en-US" sz="1700" dirty="0"/>
          </a:p>
          <a:p>
            <a:pPr algn="ctr" indent="0" marL="0">
              <a:buNone/>
            </a:pPr>
            <a:r>
              <a:rPr lang="en-US" sz="900" dirty="0">
                <a:solidFill>
                  <a:srgbClr val="64748B"/>
                </a:solidFill>
                <a:latin typeface="Arial" pitchFamily="34" charset="0"/>
                <a:ea typeface="Arial" pitchFamily="34" charset="-122"/>
                <a:cs typeface="Arial" pitchFamily="34" charset="-120"/>
              </a:rPr>
              <a:t>Account</a:t>
            </a:r>
            <a:endParaRPr lang="en-US" sz="1700" dirty="0"/>
          </a:p>
        </p:txBody>
      </p:sp>
      <p:sp>
        <p:nvSpPr>
          <p:cNvPr id="10" name="Text 8"/>
          <p:cNvSpPr/>
          <p:nvPr/>
        </p:nvSpPr>
        <p:spPr>
          <a:xfrm>
            <a:off x="777240"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ACTIVE / INACTIVE</a:t>
            </a:r>
            <a:endParaRPr lang="en-US" sz="750" dirty="0"/>
          </a:p>
        </p:txBody>
      </p:sp>
      <p:sp>
        <p:nvSpPr>
          <p:cNvPr id="11" name="Shape 9"/>
          <p:cNvSpPr/>
          <p:nvPr/>
        </p:nvSpPr>
        <p:spPr>
          <a:xfrm>
            <a:off x="2468880" y="3044952"/>
            <a:ext cx="338328" cy="0"/>
          </a:xfrm>
          <a:prstGeom prst="line">
            <a:avLst/>
          </a:prstGeom>
          <a:noFill/>
          <a:ln w="25400">
            <a:solidFill>
              <a:srgbClr val="94A3B8"/>
            </a:solidFill>
            <a:prstDash val="solid"/>
            <a:headEnd type="none"/>
            <a:tailEnd type="triangle"/>
          </a:ln>
        </p:spPr>
      </p:sp>
      <p:sp>
        <p:nvSpPr>
          <p:cNvPr id="12" name="Shape 10"/>
          <p:cNvSpPr/>
          <p:nvPr/>
        </p:nvSpPr>
        <p:spPr>
          <a:xfrm>
            <a:off x="2889504"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3" name="Shape 11"/>
          <p:cNvSpPr/>
          <p:nvPr/>
        </p:nvSpPr>
        <p:spPr>
          <a:xfrm>
            <a:off x="3483864" y="2103120"/>
            <a:ext cx="658368" cy="658368"/>
          </a:xfrm>
          <a:prstGeom prst="ellipse">
            <a:avLst/>
          </a:prstGeom>
          <a:solidFill>
            <a:srgbClr val="DBEAFE"/>
          </a:solidFill>
          <a:ln w="12700">
            <a:solidFill>
              <a:srgbClr val="DBEAFE"/>
            </a:solidFill>
            <a:prstDash val="solid"/>
          </a:ln>
        </p:spPr>
      </p:sp>
      <p:sp>
        <p:nvSpPr>
          <p:cNvPr id="14" name="Text 12"/>
          <p:cNvSpPr/>
          <p:nvPr/>
        </p:nvSpPr>
        <p:spPr>
          <a:xfrm>
            <a:off x="3483864"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02</a:t>
            </a:r>
            <a:endParaRPr lang="en-US" sz="1200" dirty="0"/>
          </a:p>
        </p:txBody>
      </p:sp>
      <p:sp>
        <p:nvSpPr>
          <p:cNvPr id="15" name="Text 13"/>
          <p:cNvSpPr/>
          <p:nvPr/>
        </p:nvSpPr>
        <p:spPr>
          <a:xfrm>
            <a:off x="3099816"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rPr>
              <a:t>交易</a:t>
            </a:r>
            <a:endParaRPr lang="en-US" sz="1700" dirty="0"/>
          </a:p>
          <a:p>
            <a:pPr algn="ctr" indent="0" marL="0">
              <a:buNone/>
            </a:pPr>
            <a:r>
              <a:rPr lang="en-US" sz="900" dirty="0">
                <a:solidFill>
                  <a:srgbClr val="64748B"/>
                </a:solidFill>
                <a:latin typeface="Arial" pitchFamily="34" charset="0"/>
                <a:ea typeface="Arial" pitchFamily="34" charset="-122"/>
                <a:cs typeface="Arial" pitchFamily="34" charset="-120"/>
              </a:rPr>
              <a:t>Activity</a:t>
            </a:r>
            <a:endParaRPr lang="en-US" sz="1700" dirty="0"/>
          </a:p>
        </p:txBody>
      </p:sp>
      <p:sp>
        <p:nvSpPr>
          <p:cNvPr id="16" name="Text 14"/>
          <p:cNvSpPr/>
          <p:nvPr/>
        </p:nvSpPr>
        <p:spPr>
          <a:xfrm>
            <a:off x="3099816"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BUY / SELL</a:t>
            </a:r>
            <a:endParaRPr lang="en-US" sz="750" dirty="0"/>
          </a:p>
        </p:txBody>
      </p:sp>
      <p:sp>
        <p:nvSpPr>
          <p:cNvPr id="17" name="Shape 15"/>
          <p:cNvSpPr/>
          <p:nvPr/>
        </p:nvSpPr>
        <p:spPr>
          <a:xfrm>
            <a:off x="4791456" y="3044952"/>
            <a:ext cx="338328" cy="0"/>
          </a:xfrm>
          <a:prstGeom prst="line">
            <a:avLst/>
          </a:prstGeom>
          <a:noFill/>
          <a:ln w="25400">
            <a:solidFill>
              <a:srgbClr val="94A3B8"/>
            </a:solidFill>
            <a:prstDash val="solid"/>
            <a:headEnd type="none"/>
            <a:tailEnd type="triangle"/>
          </a:ln>
        </p:spPr>
      </p:sp>
      <p:sp>
        <p:nvSpPr>
          <p:cNvPr id="18" name="Shape 16"/>
          <p:cNvSpPr/>
          <p:nvPr/>
        </p:nvSpPr>
        <p:spPr>
          <a:xfrm>
            <a:off x="5212080"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9" name="Shape 17"/>
          <p:cNvSpPr/>
          <p:nvPr/>
        </p:nvSpPr>
        <p:spPr>
          <a:xfrm>
            <a:off x="5806440" y="2103120"/>
            <a:ext cx="658368" cy="658368"/>
          </a:xfrm>
          <a:prstGeom prst="ellipse">
            <a:avLst/>
          </a:prstGeom>
          <a:solidFill>
            <a:srgbClr val="DBEAFE"/>
          </a:solidFill>
          <a:ln w="12700">
            <a:solidFill>
              <a:srgbClr val="DBEAFE"/>
            </a:solidFill>
            <a:prstDash val="solid"/>
          </a:ln>
        </p:spPr>
      </p:sp>
      <p:sp>
        <p:nvSpPr>
          <p:cNvPr id="20" name="Text 18"/>
          <p:cNvSpPr/>
          <p:nvPr/>
        </p:nvSpPr>
        <p:spPr>
          <a:xfrm>
            <a:off x="5806440"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03</a:t>
            </a:r>
            <a:endParaRPr lang="en-US" sz="1200" dirty="0"/>
          </a:p>
        </p:txBody>
      </p:sp>
      <p:sp>
        <p:nvSpPr>
          <p:cNvPr id="21" name="Text 19"/>
          <p:cNvSpPr/>
          <p:nvPr/>
        </p:nvSpPr>
        <p:spPr>
          <a:xfrm>
            <a:off x="5422392"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rPr>
              <a:t>持仓</a:t>
            </a:r>
            <a:endParaRPr lang="en-US" sz="1700" dirty="0"/>
          </a:p>
          <a:p>
            <a:pPr algn="ctr" indent="0" marL="0">
              <a:buNone/>
            </a:pPr>
            <a:r>
              <a:rPr lang="en-US" sz="900" dirty="0">
                <a:solidFill>
                  <a:srgbClr val="64748B"/>
                </a:solidFill>
                <a:latin typeface="Arial" pitchFamily="34" charset="0"/>
                <a:ea typeface="Arial" pitchFamily="34" charset="-122"/>
                <a:cs typeface="Arial" pitchFamily="34" charset="-120"/>
              </a:rPr>
              <a:t>Position</a:t>
            </a:r>
            <a:endParaRPr lang="en-US" sz="1700" dirty="0"/>
          </a:p>
        </p:txBody>
      </p:sp>
      <p:sp>
        <p:nvSpPr>
          <p:cNvPr id="22" name="Text 20"/>
          <p:cNvSpPr/>
          <p:nvPr/>
        </p:nvSpPr>
        <p:spPr>
          <a:xfrm>
            <a:off x="5422392"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Replay BOOKED</a:t>
            </a:r>
            <a:endParaRPr lang="en-US" sz="750" dirty="0"/>
          </a:p>
        </p:txBody>
      </p:sp>
      <p:sp>
        <p:nvSpPr>
          <p:cNvPr id="23" name="Shape 21"/>
          <p:cNvSpPr/>
          <p:nvPr/>
        </p:nvSpPr>
        <p:spPr>
          <a:xfrm>
            <a:off x="7114032" y="3044952"/>
            <a:ext cx="338328" cy="0"/>
          </a:xfrm>
          <a:prstGeom prst="line">
            <a:avLst/>
          </a:prstGeom>
          <a:noFill/>
          <a:ln w="25400">
            <a:solidFill>
              <a:srgbClr val="94A3B8"/>
            </a:solidFill>
            <a:prstDash val="solid"/>
            <a:headEnd type="none"/>
            <a:tailEnd type="triangle"/>
          </a:ln>
        </p:spPr>
      </p:sp>
      <p:sp>
        <p:nvSpPr>
          <p:cNvPr id="24" name="Shape 22"/>
          <p:cNvSpPr/>
          <p:nvPr/>
        </p:nvSpPr>
        <p:spPr>
          <a:xfrm>
            <a:off x="7534656" y="1874520"/>
            <a:ext cx="1847088" cy="2331720"/>
          </a:xfrm>
          <a:prstGeom prst="roundRect">
            <a:avLst>
              <a:gd name="adj" fmla="val 3960"/>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5" name="Shape 23"/>
          <p:cNvSpPr/>
          <p:nvPr/>
        </p:nvSpPr>
        <p:spPr>
          <a:xfrm>
            <a:off x="8129016" y="2103120"/>
            <a:ext cx="658368" cy="658368"/>
          </a:xfrm>
          <a:prstGeom prst="ellipse">
            <a:avLst/>
          </a:prstGeom>
          <a:solidFill>
            <a:srgbClr val="DBEAFE"/>
          </a:solidFill>
          <a:ln w="12700">
            <a:solidFill>
              <a:srgbClr val="DBEAFE"/>
            </a:solidFill>
            <a:prstDash val="solid"/>
          </a:ln>
        </p:spPr>
      </p:sp>
      <p:sp>
        <p:nvSpPr>
          <p:cNvPr id="26" name="Text 24"/>
          <p:cNvSpPr/>
          <p:nvPr/>
        </p:nvSpPr>
        <p:spPr>
          <a:xfrm>
            <a:off x="8129016" y="2267712"/>
            <a:ext cx="658368" cy="201168"/>
          </a:xfrm>
          <a:prstGeom prst="rect">
            <a:avLst/>
          </a:prstGeom>
          <a:noFill/>
          <a:ln/>
        </p:spPr>
        <p:txBody>
          <a:bodyPr wrap="square" lIns="0" tIns="0" rIns="0" bIns="0" rtlCol="0" anchor="ctr"/>
          <a:lstStyle/>
          <a:p>
            <a:pPr algn="ctr" indent="0" marL="0">
              <a:buNone/>
            </a:pPr>
            <a:r>
              <a:rPr lang="en-US" sz="1200" b="1" dirty="0">
                <a:solidFill>
                  <a:srgbClr val="1D4ED8"/>
                </a:solidFill>
                <a:latin typeface="Arial" pitchFamily="34" charset="0"/>
                <a:ea typeface="Arial" pitchFamily="34" charset="-122"/>
                <a:cs typeface="Arial" pitchFamily="34" charset="-120"/>
              </a:rPr>
              <a:t>04</a:t>
            </a:r>
            <a:endParaRPr lang="en-US" sz="1200" dirty="0"/>
          </a:p>
        </p:txBody>
      </p:sp>
      <p:sp>
        <p:nvSpPr>
          <p:cNvPr id="27" name="Text 25"/>
          <p:cNvSpPr/>
          <p:nvPr/>
        </p:nvSpPr>
        <p:spPr>
          <a:xfrm>
            <a:off x="7744968"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rPr>
              <a:t>行情</a:t>
            </a:r>
            <a:endParaRPr lang="en-US" sz="1700" dirty="0"/>
          </a:p>
          <a:p>
            <a:pPr algn="ctr" indent="0" marL="0">
              <a:buNone/>
            </a:pPr>
            <a:r>
              <a:rPr lang="en-US" sz="900" dirty="0">
                <a:solidFill>
                  <a:srgbClr val="64748B"/>
                </a:solidFill>
                <a:latin typeface="Arial" pitchFamily="34" charset="0"/>
                <a:ea typeface="Arial" pitchFamily="34" charset="-122"/>
                <a:cs typeface="Arial" pitchFamily="34" charset="-120"/>
              </a:rPr>
              <a:t>Market Data</a:t>
            </a:r>
            <a:endParaRPr lang="en-US" sz="1700" dirty="0"/>
          </a:p>
        </p:txBody>
      </p:sp>
      <p:sp>
        <p:nvSpPr>
          <p:cNvPr id="28" name="Text 26"/>
          <p:cNvSpPr/>
          <p:nvPr/>
        </p:nvSpPr>
        <p:spPr>
          <a:xfrm>
            <a:off x="7744968"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MOCK / LIVE</a:t>
            </a:r>
            <a:endParaRPr lang="en-US" sz="750" dirty="0"/>
          </a:p>
        </p:txBody>
      </p:sp>
      <p:sp>
        <p:nvSpPr>
          <p:cNvPr id="29" name="Shape 27"/>
          <p:cNvSpPr/>
          <p:nvPr/>
        </p:nvSpPr>
        <p:spPr>
          <a:xfrm>
            <a:off x="9436608" y="3044952"/>
            <a:ext cx="338328" cy="0"/>
          </a:xfrm>
          <a:prstGeom prst="line">
            <a:avLst/>
          </a:prstGeom>
          <a:noFill/>
          <a:ln w="25400">
            <a:solidFill>
              <a:srgbClr val="94A3B8"/>
            </a:solidFill>
            <a:prstDash val="solid"/>
            <a:headEnd type="none"/>
            <a:tailEnd type="triangle"/>
          </a:ln>
        </p:spPr>
      </p:sp>
      <p:sp>
        <p:nvSpPr>
          <p:cNvPr id="30" name="Shape 28"/>
          <p:cNvSpPr/>
          <p:nvPr/>
        </p:nvSpPr>
        <p:spPr>
          <a:xfrm>
            <a:off x="9857232" y="1874520"/>
            <a:ext cx="1847088" cy="2331720"/>
          </a:xfrm>
          <a:prstGeom prst="roundRect">
            <a:avLst>
              <a:gd name="adj" fmla="val 3960"/>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31" name="Shape 29"/>
          <p:cNvSpPr/>
          <p:nvPr/>
        </p:nvSpPr>
        <p:spPr>
          <a:xfrm>
            <a:off x="10451592" y="2103120"/>
            <a:ext cx="658368" cy="658368"/>
          </a:xfrm>
          <a:prstGeom prst="ellipse">
            <a:avLst/>
          </a:prstGeom>
          <a:solidFill>
            <a:srgbClr val="2563EB"/>
          </a:solidFill>
          <a:ln w="12700">
            <a:solidFill>
              <a:srgbClr val="2563EB"/>
            </a:solidFill>
            <a:prstDash val="solid"/>
          </a:ln>
        </p:spPr>
      </p:sp>
      <p:sp>
        <p:nvSpPr>
          <p:cNvPr id="32" name="Text 30"/>
          <p:cNvSpPr/>
          <p:nvPr/>
        </p:nvSpPr>
        <p:spPr>
          <a:xfrm>
            <a:off x="10451592" y="2267712"/>
            <a:ext cx="658368"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05</a:t>
            </a:r>
            <a:endParaRPr lang="en-US" sz="1200" dirty="0"/>
          </a:p>
        </p:txBody>
      </p:sp>
      <p:sp>
        <p:nvSpPr>
          <p:cNvPr id="33" name="Text 31"/>
          <p:cNvSpPr/>
          <p:nvPr/>
        </p:nvSpPr>
        <p:spPr>
          <a:xfrm>
            <a:off x="10067544" y="2907792"/>
            <a:ext cx="1426464" cy="566928"/>
          </a:xfrm>
          <a:prstGeom prst="rect">
            <a:avLst/>
          </a:prstGeom>
          <a:noFill/>
          <a:ln/>
        </p:spPr>
        <p:txBody>
          <a:bodyPr wrap="square" lIns="1016" tIns="1016" rIns="1016" bIns="1016" rtlCol="0" anchor="ctr">
            <a:normAutofit/>
          </a:bodyPr>
          <a:lstStyle/>
          <a:p>
            <a:pPr algn="ctr" indent="0" marL="0">
              <a:buNone/>
            </a:pPr>
            <a:r>
              <a:rPr lang="en-US" sz="1700" b="1" dirty="0">
                <a:solidFill>
                  <a:srgbClr val="0F172A"/>
                </a:solidFill>
              </a:rPr>
              <a:t>估值</a:t>
            </a:r>
            <a:endParaRPr lang="en-US" sz="1700" dirty="0"/>
          </a:p>
          <a:p>
            <a:pPr algn="ctr" indent="0" marL="0">
              <a:buNone/>
            </a:pPr>
            <a:r>
              <a:rPr lang="en-US" sz="900" dirty="0">
                <a:solidFill>
                  <a:srgbClr val="64748B"/>
                </a:solidFill>
                <a:latin typeface="Arial" pitchFamily="34" charset="0"/>
                <a:ea typeface="Arial" pitchFamily="34" charset="-122"/>
                <a:cs typeface="Arial" pitchFamily="34" charset="-120"/>
              </a:rPr>
              <a:t>Dashboard</a:t>
            </a:r>
            <a:endParaRPr lang="en-US" sz="1700" dirty="0"/>
          </a:p>
        </p:txBody>
      </p:sp>
      <p:sp>
        <p:nvSpPr>
          <p:cNvPr id="34" name="Text 32"/>
          <p:cNvSpPr/>
          <p:nvPr/>
        </p:nvSpPr>
        <p:spPr>
          <a:xfrm>
            <a:off x="10067544" y="3685032"/>
            <a:ext cx="1426464" cy="201168"/>
          </a:xfrm>
          <a:prstGeom prst="rect">
            <a:avLst/>
          </a:prstGeom>
          <a:noFill/>
          <a:ln/>
        </p:spPr>
        <p:txBody>
          <a:bodyPr wrap="square" lIns="0" tIns="0" rIns="0" bIns="0" rtlCol="0" anchor="ctr">
            <a:normAutofit/>
          </a:bodyPr>
          <a:lstStyle/>
          <a:p>
            <a:pPr algn="ctr" indent="0" marL="0">
              <a:buNone/>
            </a:pPr>
            <a:r>
              <a:rPr lang="en-US" sz="750" b="1" dirty="0">
                <a:solidFill>
                  <a:srgbClr val="64748B"/>
                </a:solidFill>
                <a:latin typeface="Arial" pitchFamily="34" charset="0"/>
                <a:ea typeface="Arial" pitchFamily="34" charset="-122"/>
                <a:cs typeface="Arial" pitchFamily="34" charset="-120"/>
              </a:rPr>
              <a:t>P&amp;L + History</a:t>
            </a:r>
            <a:endParaRPr lang="en-US" sz="750" dirty="0"/>
          </a:p>
        </p:txBody>
      </p:sp>
      <p:sp>
        <p:nvSpPr>
          <p:cNvPr id="35" name="Shape 33"/>
          <p:cNvSpPr/>
          <p:nvPr/>
        </p:nvSpPr>
        <p:spPr>
          <a:xfrm>
            <a:off x="9235440" y="4498848"/>
            <a:ext cx="-7178040" cy="0"/>
          </a:xfrm>
          <a:prstGeom prst="line">
            <a:avLst/>
          </a:prstGeom>
          <a:noFill/>
          <a:ln w="19050">
            <a:solidFill>
              <a:srgbClr val="2563EB"/>
            </a:solidFill>
            <a:prstDash val="solid"/>
            <a:headEnd type="none"/>
            <a:tailEnd type="triangle"/>
          </a:ln>
        </p:spPr>
      </p:sp>
      <p:sp>
        <p:nvSpPr>
          <p:cNvPr id="36" name="Text 34"/>
          <p:cNvSpPr/>
          <p:nvPr/>
        </p:nvSpPr>
        <p:spPr>
          <a:xfrm>
            <a:off x="2240280" y="4736592"/>
            <a:ext cx="6903720" cy="658368"/>
          </a:xfrm>
          <a:prstGeom prst="rect">
            <a:avLst/>
          </a:prstGeom>
          <a:noFill/>
          <a:ln/>
        </p:spPr>
        <p:txBody>
          <a:bodyPr wrap="square" lIns="1016" tIns="1016" rIns="1016" bIns="1016" rtlCol="0" anchor="ctr">
            <a:normAutofit/>
          </a:bodyPr>
          <a:lstStyle/>
          <a:p>
            <a:pPr algn="ctr" indent="0" marL="0">
              <a:buNone/>
            </a:pPr>
            <a:r>
              <a:rPr lang="en-US" sz="1300" b="1" dirty="0">
                <a:solidFill>
                  <a:srgbClr val="0F172A"/>
                </a:solidFill>
              </a:rPr>
              <a:t>取消 / 删除 / 修改会重新影响持仓与盈亏，但保留原始审计证据</a:t>
            </a:r>
            <a:endParaRPr lang="en-US" sz="1300" dirty="0"/>
          </a:p>
          <a:p>
            <a:pPr algn="ctr" indent="0" marL="0">
              <a:buNone/>
            </a:pPr>
            <a:r>
              <a:rPr lang="en-US" sz="850" dirty="0">
                <a:solidFill>
                  <a:srgbClr val="64748B"/>
                </a:solidFill>
                <a:latin typeface="Arial" pitchFamily="34" charset="0"/>
                <a:ea typeface="Arial" pitchFamily="34" charset="-122"/>
                <a:cs typeface="Arial" pitchFamily="34" charset="-120"/>
              </a:rPr>
              <a:t>Cancel, delete, or amend recalculates downstream values without erasing evidence.</a:t>
            </a:r>
            <a:endParaRPr lang="en-US" sz="1300" dirty="0"/>
          </a:p>
        </p:txBody>
      </p:sp>
      <p:sp>
        <p:nvSpPr>
          <p:cNvPr id="37" name="Shape 35"/>
          <p:cNvSpPr/>
          <p:nvPr/>
        </p:nvSpPr>
        <p:spPr>
          <a:xfrm>
            <a:off x="4224528" y="5532120"/>
            <a:ext cx="2103120" cy="292608"/>
          </a:xfrm>
          <a:prstGeom prst="roundRect">
            <a:avLst>
              <a:gd name="adj" fmla="val 25000"/>
            </a:avLst>
          </a:prstGeom>
          <a:solidFill>
            <a:srgbClr val="E2E8F0"/>
          </a:solidFill>
          <a:ln w="12700">
            <a:solidFill>
              <a:srgbClr val="E2E8F0"/>
            </a:solidFill>
            <a:prstDash val="solid"/>
          </a:ln>
        </p:spPr>
      </p:sp>
      <p:sp>
        <p:nvSpPr>
          <p:cNvPr id="38" name="Text 36"/>
          <p:cNvSpPr/>
          <p:nvPr/>
        </p:nvSpPr>
        <p:spPr>
          <a:xfrm>
            <a:off x="4224528" y="5550408"/>
            <a:ext cx="2103120" cy="201168"/>
          </a:xfrm>
          <a:prstGeom prst="rect">
            <a:avLst/>
          </a:prstGeom>
          <a:noFill/>
          <a:ln/>
        </p:spPr>
        <p:txBody>
          <a:bodyPr wrap="square" lIns="0" tIns="0" rIns="0" bIns="0" rtlCol="0" anchor="ctr">
            <a:normAutofit/>
          </a:bodyPr>
          <a:lstStyle/>
          <a:p>
            <a:pPr algn="ctr" indent="0" marL="0">
              <a:buNone/>
            </a:pPr>
            <a:r>
              <a:rPr lang="en-US" sz="750" b="1" dirty="0">
                <a:solidFill>
                  <a:srgbClr val="334155"/>
                </a:solidFill>
                <a:latin typeface="Arial" pitchFamily="34" charset="0"/>
                <a:ea typeface="Arial" pitchFamily="34" charset="-122"/>
                <a:cs typeface="Arial" pitchFamily="34" charset="-120"/>
              </a:rPr>
              <a:t>MYSQL = SYSTEM OF RECORD</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DOMAIN INTEGRITY</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交易生命周期与业务不变量</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Lifecycle and Business Invariants</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04</a:t>
            </a:r>
            <a:endParaRPr lang="en-US" sz="1800" dirty="0"/>
          </a:p>
        </p:txBody>
      </p:sp>
      <p:sp>
        <p:nvSpPr>
          <p:cNvPr id="6" name="Shape 4"/>
          <p:cNvSpPr/>
          <p:nvPr/>
        </p:nvSpPr>
        <p:spPr>
          <a:xfrm>
            <a:off x="685800" y="1874520"/>
            <a:ext cx="2148840" cy="1078992"/>
          </a:xfrm>
          <a:prstGeom prst="roundRect">
            <a:avLst>
              <a:gd name="adj" fmla="val 6780"/>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7" name="Text 5"/>
          <p:cNvSpPr/>
          <p:nvPr/>
        </p:nvSpPr>
        <p:spPr>
          <a:xfrm>
            <a:off x="960120" y="2103120"/>
            <a:ext cx="1600200" cy="594360"/>
          </a:xfrm>
          <a:prstGeom prst="rect">
            <a:avLst/>
          </a:prstGeom>
          <a:noFill/>
          <a:ln/>
        </p:spPr>
        <p:txBody>
          <a:bodyPr wrap="square" lIns="1016" tIns="1016" rIns="1016" bIns="1016" rtlCol="0" anchor="ctr">
            <a:normAutofit/>
          </a:bodyPr>
          <a:lstStyle/>
          <a:p>
            <a:pPr algn="ctr" indent="0" marL="0">
              <a:buNone/>
            </a:pPr>
            <a:r>
              <a:rPr lang="en-US" sz="1700" b="1" dirty="0">
                <a:solidFill>
                  <a:srgbClr val="1D4ED8"/>
                </a:solidFill>
              </a:rPr>
              <a:t>BOOKED</a:t>
            </a:r>
            <a:endParaRPr lang="en-US" sz="1700" dirty="0"/>
          </a:p>
          <a:p>
            <a:pPr algn="ctr" indent="0" marL="0">
              <a:buNone/>
            </a:pPr>
            <a:r>
              <a:rPr lang="en-US" sz="850" dirty="0">
                <a:solidFill>
                  <a:srgbClr val="64748B"/>
                </a:solidFill>
                <a:latin typeface="Arial" pitchFamily="34" charset="0"/>
                <a:ea typeface="Arial" pitchFamily="34" charset="-122"/>
                <a:cs typeface="Arial" pitchFamily="34" charset="-120"/>
              </a:rPr>
              <a:t>Valid business fact</a:t>
            </a:r>
            <a:endParaRPr lang="en-US" sz="1700" dirty="0"/>
          </a:p>
        </p:txBody>
      </p:sp>
      <p:sp>
        <p:nvSpPr>
          <p:cNvPr id="8" name="Shape 6"/>
          <p:cNvSpPr/>
          <p:nvPr/>
        </p:nvSpPr>
        <p:spPr>
          <a:xfrm>
            <a:off x="2971800" y="2404872"/>
            <a:ext cx="914400" cy="0"/>
          </a:xfrm>
          <a:prstGeom prst="line">
            <a:avLst/>
          </a:prstGeom>
          <a:noFill/>
          <a:ln w="25400">
            <a:solidFill>
              <a:srgbClr val="2563EB"/>
            </a:solidFill>
            <a:prstDash val="solid"/>
            <a:headEnd type="none"/>
            <a:tailEnd type="triangle"/>
          </a:ln>
        </p:spPr>
      </p:sp>
      <p:sp>
        <p:nvSpPr>
          <p:cNvPr id="9" name="Shape 7"/>
          <p:cNvSpPr/>
          <p:nvPr/>
        </p:nvSpPr>
        <p:spPr>
          <a:xfrm>
            <a:off x="4023360" y="1874520"/>
            <a:ext cx="2148840" cy="1078992"/>
          </a:xfrm>
          <a:prstGeom prst="roundRect">
            <a:avLst>
              <a:gd name="adj" fmla="val 6780"/>
            </a:avLst>
          </a:prstGeom>
          <a:solidFill>
            <a:srgbClr val="FFF7ED"/>
          </a:solidFill>
          <a:ln w="10160">
            <a:solidFill>
              <a:srgbClr val="FED7AA"/>
            </a:solidFill>
            <a:prstDash val="solid"/>
          </a:ln>
          <a:effectLst>
            <a:outerShdw sx="100000" sy="100000" kx="0" ky="0" algn="bl" rotWithShape="0" blurRad="19050" dist="50800" dir="2700000">
              <a:srgbClr val="94A3B8">
                <a:alpha val="13000"/>
              </a:srgbClr>
            </a:outerShdw>
          </a:effectLst>
        </p:spPr>
      </p:sp>
      <p:sp>
        <p:nvSpPr>
          <p:cNvPr id="10" name="Text 8"/>
          <p:cNvSpPr/>
          <p:nvPr/>
        </p:nvSpPr>
        <p:spPr>
          <a:xfrm>
            <a:off x="4279392" y="2103120"/>
            <a:ext cx="1645920" cy="594360"/>
          </a:xfrm>
          <a:prstGeom prst="rect">
            <a:avLst/>
          </a:prstGeom>
          <a:noFill/>
          <a:ln/>
        </p:spPr>
        <p:txBody>
          <a:bodyPr wrap="square" lIns="1016" tIns="1016" rIns="1016" bIns="1016" rtlCol="0" anchor="ctr">
            <a:normAutofit/>
          </a:bodyPr>
          <a:lstStyle/>
          <a:p>
            <a:pPr algn="ctr" indent="0" marL="0">
              <a:buNone/>
            </a:pPr>
            <a:r>
              <a:rPr lang="en-US" sz="1700" b="1" dirty="0">
                <a:solidFill>
                  <a:srgbClr val="D97706"/>
                </a:solidFill>
              </a:rPr>
              <a:t>CANCELLED</a:t>
            </a:r>
            <a:endParaRPr lang="en-US" sz="1700" dirty="0"/>
          </a:p>
          <a:p>
            <a:pPr algn="ctr" indent="0" marL="0">
              <a:buNone/>
            </a:pPr>
            <a:r>
              <a:rPr lang="en-US" sz="850" dirty="0">
                <a:solidFill>
                  <a:srgbClr val="64748B"/>
                </a:solidFill>
                <a:latin typeface="Arial" pitchFamily="34" charset="0"/>
                <a:ea typeface="Arial" pitchFamily="34" charset="-122"/>
                <a:cs typeface="Arial" pitchFamily="34" charset="-120"/>
              </a:rPr>
              <a:t>Reason is recorded</a:t>
            </a:r>
            <a:endParaRPr lang="en-US" sz="1700" dirty="0"/>
          </a:p>
        </p:txBody>
      </p:sp>
      <p:sp>
        <p:nvSpPr>
          <p:cNvPr id="11" name="Shape 9"/>
          <p:cNvSpPr/>
          <p:nvPr/>
        </p:nvSpPr>
        <p:spPr>
          <a:xfrm>
            <a:off x="6309360" y="2404872"/>
            <a:ext cx="914400" cy="0"/>
          </a:xfrm>
          <a:prstGeom prst="line">
            <a:avLst/>
          </a:prstGeom>
          <a:noFill/>
          <a:ln w="25400">
            <a:solidFill>
              <a:srgbClr val="D97706"/>
            </a:solidFill>
            <a:prstDash val="solid"/>
            <a:headEnd type="none"/>
            <a:tailEnd type="triangle"/>
          </a:ln>
        </p:spPr>
      </p:sp>
      <p:sp>
        <p:nvSpPr>
          <p:cNvPr id="12" name="Shape 10"/>
          <p:cNvSpPr/>
          <p:nvPr/>
        </p:nvSpPr>
        <p:spPr>
          <a:xfrm>
            <a:off x="7360920" y="1874520"/>
            <a:ext cx="4023360" cy="1078992"/>
          </a:xfrm>
          <a:prstGeom prst="roundRect">
            <a:avLst>
              <a:gd name="adj" fmla="val 6780"/>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13" name="Text 11"/>
          <p:cNvSpPr/>
          <p:nvPr/>
        </p:nvSpPr>
        <p:spPr>
          <a:xfrm>
            <a:off x="7635240" y="2039112"/>
            <a:ext cx="3474720" cy="713232"/>
          </a:xfrm>
          <a:prstGeom prst="rect">
            <a:avLst/>
          </a:prstGeom>
          <a:noFill/>
          <a:ln/>
        </p:spPr>
        <p:txBody>
          <a:bodyPr wrap="square" lIns="1016" tIns="1016" rIns="1016" bIns="1016" rtlCol="0" anchor="ctr">
            <a:normAutofit/>
          </a:bodyPr>
          <a:lstStyle/>
          <a:p>
            <a:pPr algn="ctr" indent="0" marL="0">
              <a:buNone/>
            </a:pPr>
            <a:r>
              <a:rPr lang="en-US" sz="1300" b="1" dirty="0">
                <a:solidFill>
                  <a:srgbClr val="0F172A"/>
                </a:solidFill>
              </a:rPr>
              <a:t>原因：CANCELLED / DELETED / AMENDED</a:t>
            </a:r>
            <a:endParaRPr lang="en-US" sz="1300" dirty="0"/>
          </a:p>
          <a:p>
            <a:pPr algn="ctr" indent="0" marL="0">
              <a:buNone/>
            </a:pPr>
            <a:r>
              <a:rPr lang="en-US" sz="850" dirty="0">
                <a:solidFill>
                  <a:srgbClr val="64748B"/>
                </a:solidFill>
                <a:latin typeface="Arial" pitchFamily="34" charset="0"/>
                <a:ea typeface="Arial" pitchFamily="34" charset="-122"/>
                <a:cs typeface="Arial" pitchFamily="34" charset="-120"/>
              </a:rPr>
              <a:t>Amendment creates a linked replacement via supersedesTradeId</a:t>
            </a:r>
            <a:endParaRPr lang="en-US" sz="1300" dirty="0"/>
          </a:p>
        </p:txBody>
      </p:sp>
      <p:sp>
        <p:nvSpPr>
          <p:cNvPr id="14" name="Text 12"/>
          <p:cNvSpPr/>
          <p:nvPr/>
        </p:nvSpPr>
        <p:spPr>
          <a:xfrm>
            <a:off x="704088" y="3730752"/>
            <a:ext cx="594360" cy="594360"/>
          </a:xfrm>
          <a:prstGeom prst="rect">
            <a:avLst/>
          </a:prstGeom>
          <a:noFill/>
          <a:ln/>
        </p:spPr>
        <p:txBody>
          <a:bodyPr wrap="square" lIns="0" tIns="0" rIns="0" bIns="0" rtlCol="0" anchor="ctr"/>
          <a:lstStyle/>
          <a:p>
            <a:pPr algn="ctr" indent="0" marL="0">
              <a:buNone/>
            </a:pPr>
            <a:r>
              <a:rPr lang="en-US" sz="3300" b="1" dirty="0">
                <a:solidFill>
                  <a:srgbClr val="2563EB"/>
                </a:solidFill>
                <a:latin typeface="Arial" pitchFamily="34" charset="0"/>
                <a:ea typeface="Arial" pitchFamily="34" charset="-122"/>
                <a:cs typeface="Arial" pitchFamily="34" charset="-120"/>
              </a:rPr>
              <a:t>3</a:t>
            </a:r>
            <a:endParaRPr lang="en-US" sz="3300" dirty="0"/>
          </a:p>
        </p:txBody>
      </p:sp>
      <p:sp>
        <p:nvSpPr>
          <p:cNvPr id="15" name="Text 13"/>
          <p:cNvSpPr/>
          <p:nvPr/>
        </p:nvSpPr>
        <p:spPr>
          <a:xfrm>
            <a:off x="1417320" y="3703320"/>
            <a:ext cx="2423160" cy="566928"/>
          </a:xfrm>
          <a:prstGeom prst="rect">
            <a:avLst/>
          </a:prstGeom>
          <a:noFill/>
          <a:ln/>
        </p:spPr>
        <p:txBody>
          <a:bodyPr wrap="square" lIns="1016" tIns="1016" rIns="1016" bIns="1016" rtlCol="0" anchor="ctr">
            <a:normAutofit/>
          </a:bodyPr>
          <a:lstStyle/>
          <a:p>
            <a:pPr algn="l" indent="0" marL="0">
              <a:buNone/>
            </a:pPr>
            <a:r>
              <a:rPr lang="en-US" sz="1600" b="1" dirty="0">
                <a:solidFill>
                  <a:srgbClr val="0F172A"/>
                </a:solidFill>
              </a:rPr>
              <a:t>条不可破坏的不变量</a:t>
            </a:r>
            <a:endParaRPr lang="en-US" sz="1600" dirty="0"/>
          </a:p>
          <a:p>
            <a:pPr algn="l" indent="0" marL="0">
              <a:buNone/>
            </a:pPr>
            <a:r>
              <a:rPr lang="en-US" sz="900" dirty="0">
                <a:solidFill>
                  <a:srgbClr val="64748B"/>
                </a:solidFill>
                <a:latin typeface="Arial" pitchFamily="34" charset="0"/>
                <a:ea typeface="Arial" pitchFamily="34" charset="-122"/>
                <a:cs typeface="Arial" pitchFamily="34" charset="-120"/>
              </a:rPr>
              <a:t>Non-negotiable invariants</a:t>
            </a:r>
            <a:endParaRPr lang="en-US" sz="1600" dirty="0"/>
          </a:p>
        </p:txBody>
      </p:sp>
      <p:sp>
        <p:nvSpPr>
          <p:cNvPr id="16" name="Shape 14"/>
          <p:cNvSpPr/>
          <p:nvPr/>
        </p:nvSpPr>
        <p:spPr>
          <a:xfrm>
            <a:off x="713232" y="4498848"/>
            <a:ext cx="3438144" cy="987552"/>
          </a:xfrm>
          <a:prstGeom prst="roundRect">
            <a:avLst>
              <a:gd name="adj" fmla="val 740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7" name="Shape 15"/>
          <p:cNvSpPr/>
          <p:nvPr/>
        </p:nvSpPr>
        <p:spPr>
          <a:xfrm>
            <a:off x="941832" y="4782312"/>
            <a:ext cx="365760" cy="365760"/>
          </a:xfrm>
          <a:prstGeom prst="ellipse">
            <a:avLst/>
          </a:prstGeom>
          <a:solidFill>
            <a:srgbClr val="DCFCE7"/>
          </a:solidFill>
          <a:ln w="12700">
            <a:solidFill>
              <a:srgbClr val="DCFCE7"/>
            </a:solidFill>
            <a:prstDash val="solid"/>
          </a:ln>
        </p:spPr>
      </p:sp>
      <p:sp>
        <p:nvSpPr>
          <p:cNvPr id="18" name="Text 16"/>
          <p:cNvSpPr/>
          <p:nvPr/>
        </p:nvSpPr>
        <p:spPr>
          <a:xfrm>
            <a:off x="941832" y="4846320"/>
            <a:ext cx="365760" cy="164592"/>
          </a:xfrm>
          <a:prstGeom prst="rect">
            <a:avLst/>
          </a:prstGeom>
          <a:noFill/>
          <a:ln/>
        </p:spPr>
        <p:txBody>
          <a:bodyPr wrap="square" lIns="0" tIns="0" rIns="0" bIns="0"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a:t>
            </a:r>
            <a:endParaRPr lang="en-US" sz="900" dirty="0"/>
          </a:p>
        </p:txBody>
      </p:sp>
      <p:sp>
        <p:nvSpPr>
          <p:cNvPr id="19" name="Text 17"/>
          <p:cNvSpPr/>
          <p:nvPr/>
        </p:nvSpPr>
        <p:spPr>
          <a:xfrm>
            <a:off x="1426464" y="4645152"/>
            <a:ext cx="2468880" cy="62179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取消幂等</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Idempotent cancellation</a:t>
            </a:r>
            <a:endParaRPr lang="en-US" sz="1300" dirty="0"/>
          </a:p>
        </p:txBody>
      </p:sp>
      <p:sp>
        <p:nvSpPr>
          <p:cNvPr id="20" name="Shape 18"/>
          <p:cNvSpPr/>
          <p:nvPr/>
        </p:nvSpPr>
        <p:spPr>
          <a:xfrm>
            <a:off x="4489704" y="4498848"/>
            <a:ext cx="3438144" cy="987552"/>
          </a:xfrm>
          <a:prstGeom prst="roundRect">
            <a:avLst>
              <a:gd name="adj" fmla="val 7407"/>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21" name="Shape 19"/>
          <p:cNvSpPr/>
          <p:nvPr/>
        </p:nvSpPr>
        <p:spPr>
          <a:xfrm>
            <a:off x="4718304" y="4782312"/>
            <a:ext cx="365760" cy="365760"/>
          </a:xfrm>
          <a:prstGeom prst="ellipse">
            <a:avLst/>
          </a:prstGeom>
          <a:solidFill>
            <a:srgbClr val="DCFCE7"/>
          </a:solidFill>
          <a:ln w="12700">
            <a:solidFill>
              <a:srgbClr val="DCFCE7"/>
            </a:solidFill>
            <a:prstDash val="solid"/>
          </a:ln>
        </p:spPr>
      </p:sp>
      <p:sp>
        <p:nvSpPr>
          <p:cNvPr id="22" name="Text 20"/>
          <p:cNvSpPr/>
          <p:nvPr/>
        </p:nvSpPr>
        <p:spPr>
          <a:xfrm>
            <a:off x="4718304" y="4846320"/>
            <a:ext cx="365760" cy="164592"/>
          </a:xfrm>
          <a:prstGeom prst="rect">
            <a:avLst/>
          </a:prstGeom>
          <a:noFill/>
          <a:ln/>
        </p:spPr>
        <p:txBody>
          <a:bodyPr wrap="square" lIns="0" tIns="0" rIns="0" bIns="0"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a:t>
            </a:r>
            <a:endParaRPr lang="en-US" sz="900" dirty="0"/>
          </a:p>
        </p:txBody>
      </p:sp>
      <p:sp>
        <p:nvSpPr>
          <p:cNvPr id="23" name="Text 21"/>
          <p:cNvSpPr/>
          <p:nvPr/>
        </p:nvSpPr>
        <p:spPr>
          <a:xfrm>
            <a:off x="5202936" y="4645152"/>
            <a:ext cx="2468880" cy="62179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时间线上禁止负持仓</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No negative point in time</a:t>
            </a:r>
            <a:endParaRPr lang="en-US" sz="1300" dirty="0"/>
          </a:p>
        </p:txBody>
      </p:sp>
      <p:sp>
        <p:nvSpPr>
          <p:cNvPr id="24" name="Shape 22"/>
          <p:cNvSpPr/>
          <p:nvPr/>
        </p:nvSpPr>
        <p:spPr>
          <a:xfrm>
            <a:off x="8266176" y="4498848"/>
            <a:ext cx="3438144" cy="987552"/>
          </a:xfrm>
          <a:prstGeom prst="roundRect">
            <a:avLst>
              <a:gd name="adj" fmla="val 740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5" name="Shape 23"/>
          <p:cNvSpPr/>
          <p:nvPr/>
        </p:nvSpPr>
        <p:spPr>
          <a:xfrm>
            <a:off x="8494776" y="4782312"/>
            <a:ext cx="365760" cy="365760"/>
          </a:xfrm>
          <a:prstGeom prst="ellipse">
            <a:avLst/>
          </a:prstGeom>
          <a:solidFill>
            <a:srgbClr val="DCFCE7"/>
          </a:solidFill>
          <a:ln w="12700">
            <a:solidFill>
              <a:srgbClr val="DCFCE7"/>
            </a:solidFill>
            <a:prstDash val="solid"/>
          </a:ln>
        </p:spPr>
      </p:sp>
      <p:sp>
        <p:nvSpPr>
          <p:cNvPr id="26" name="Text 24"/>
          <p:cNvSpPr/>
          <p:nvPr/>
        </p:nvSpPr>
        <p:spPr>
          <a:xfrm>
            <a:off x="8494776" y="4846320"/>
            <a:ext cx="365760" cy="164592"/>
          </a:xfrm>
          <a:prstGeom prst="rect">
            <a:avLst/>
          </a:prstGeom>
          <a:noFill/>
          <a:ln/>
        </p:spPr>
        <p:txBody>
          <a:bodyPr wrap="square" lIns="0" tIns="0" rIns="0" bIns="0" rtlCol="0" anchor="ctr"/>
          <a:lstStyle/>
          <a:p>
            <a:pPr algn="ctr" indent="0" marL="0">
              <a:buNone/>
            </a:pPr>
            <a:r>
              <a:rPr lang="en-US" sz="900" b="1" dirty="0">
                <a:solidFill>
                  <a:srgbClr val="15803D"/>
                </a:solidFill>
                <a:latin typeface="Arial" pitchFamily="34" charset="0"/>
                <a:ea typeface="Arial" pitchFamily="34" charset="-122"/>
                <a:cs typeface="Arial" pitchFamily="34" charset="-120"/>
              </a:rPr>
              <a:t>✓</a:t>
            </a:r>
            <a:endParaRPr lang="en-US" sz="900" dirty="0"/>
          </a:p>
        </p:txBody>
      </p:sp>
      <p:sp>
        <p:nvSpPr>
          <p:cNvPr id="27" name="Text 25"/>
          <p:cNvSpPr/>
          <p:nvPr/>
        </p:nvSpPr>
        <p:spPr>
          <a:xfrm>
            <a:off x="8979408" y="4645152"/>
            <a:ext cx="2468880" cy="621792"/>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仅 BOOKED 参与持仓</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Only BOOKED trades count</a:t>
            </a:r>
            <a:endParaRPr lang="en-US" sz="13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CALCULATION MODEL</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持仓与盈亏计算</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Position and P&amp;L Calculation</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05</a:t>
            </a:r>
            <a:endParaRPr lang="en-US" sz="1800" dirty="0"/>
          </a:p>
        </p:txBody>
      </p:sp>
      <p:sp>
        <p:nvSpPr>
          <p:cNvPr id="6" name="Shape 4"/>
          <p:cNvSpPr/>
          <p:nvPr/>
        </p:nvSpPr>
        <p:spPr>
          <a:xfrm>
            <a:off x="658368" y="1508760"/>
            <a:ext cx="4754880" cy="4434840"/>
          </a:xfrm>
          <a:prstGeom prst="roundRect">
            <a:avLst>
              <a:gd name="adj" fmla="val 1649"/>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7" name="Text 5"/>
          <p:cNvSpPr/>
          <p:nvPr/>
        </p:nvSpPr>
        <p:spPr>
          <a:xfrm>
            <a:off x="960120" y="1810512"/>
            <a:ext cx="3291840" cy="228600"/>
          </a:xfrm>
          <a:prstGeom prst="rect">
            <a:avLst/>
          </a:prstGeom>
          <a:noFill/>
          <a:ln/>
        </p:spPr>
        <p:txBody>
          <a:bodyPr wrap="square" lIns="0" tIns="0" rIns="0" bIns="0" rtlCol="0" anchor="ctr"/>
          <a:lstStyle/>
          <a:p>
            <a:pPr indent="0" marL="0">
              <a:buNone/>
            </a:pPr>
            <a:r>
              <a:rPr lang="en-US" sz="900" b="1" spc="120" kern="0" dirty="0">
                <a:solidFill>
                  <a:srgbClr val="93C5FD"/>
                </a:solidFill>
                <a:latin typeface="Arial" pitchFamily="34" charset="0"/>
                <a:ea typeface="Arial" pitchFamily="34" charset="-122"/>
                <a:cs typeface="Arial" pitchFamily="34" charset="-120"/>
              </a:rPr>
              <a:t>WEIGHTED-AVERAGE COST</a:t>
            </a:r>
            <a:endParaRPr lang="en-US" sz="900" dirty="0"/>
          </a:p>
        </p:txBody>
      </p:sp>
      <p:sp>
        <p:nvSpPr>
          <p:cNvPr id="8" name="Text 6"/>
          <p:cNvSpPr/>
          <p:nvPr/>
        </p:nvSpPr>
        <p:spPr>
          <a:xfrm>
            <a:off x="960120" y="2212848"/>
            <a:ext cx="4114800" cy="594360"/>
          </a:xfrm>
          <a:prstGeom prst="rect">
            <a:avLst/>
          </a:prstGeom>
          <a:noFill/>
          <a:ln/>
        </p:spPr>
        <p:txBody>
          <a:bodyPr wrap="square" lIns="1016" tIns="1016" rIns="1016" bIns="1016" rtlCol="0" anchor="ctr">
            <a:normAutofit/>
          </a:bodyPr>
          <a:lstStyle/>
          <a:p>
            <a:pPr algn="l" indent="0" marL="0">
              <a:buNone/>
            </a:pPr>
            <a:r>
              <a:rPr lang="en-US" sz="1500" b="1" dirty="0">
                <a:solidFill>
                  <a:srgbClr val="FFFFFF"/>
                </a:solidFill>
              </a:rPr>
              <a:t>买入增加数量与成本基础</a:t>
            </a:r>
            <a:endParaRPr lang="en-US" sz="1500" dirty="0"/>
          </a:p>
          <a:p>
            <a:pPr algn="l" indent="0" marL="0">
              <a:buNone/>
            </a:pPr>
            <a:r>
              <a:rPr lang="en-US" sz="900" dirty="0">
                <a:solidFill>
                  <a:srgbClr val="CBD5E1"/>
                </a:solidFill>
                <a:latin typeface="Arial" pitchFamily="34" charset="0"/>
                <a:ea typeface="Arial" pitchFamily="34" charset="-122"/>
                <a:cs typeface="Arial" pitchFamily="34" charset="-120"/>
              </a:rPr>
              <a:t>BUY increases quantity and cost basis</a:t>
            </a:r>
            <a:endParaRPr lang="en-US" sz="1500" dirty="0"/>
          </a:p>
        </p:txBody>
      </p:sp>
      <p:sp>
        <p:nvSpPr>
          <p:cNvPr id="9" name="Text 7"/>
          <p:cNvSpPr/>
          <p:nvPr/>
        </p:nvSpPr>
        <p:spPr>
          <a:xfrm>
            <a:off x="960120" y="2971800"/>
            <a:ext cx="4114800" cy="658368"/>
          </a:xfrm>
          <a:prstGeom prst="rect">
            <a:avLst/>
          </a:prstGeom>
          <a:noFill/>
          <a:ln/>
        </p:spPr>
        <p:txBody>
          <a:bodyPr wrap="square" lIns="1016" tIns="1016" rIns="1016" bIns="1016" rtlCol="0" anchor="ctr">
            <a:normAutofit/>
          </a:bodyPr>
          <a:lstStyle/>
          <a:p>
            <a:pPr algn="l" indent="0" marL="0">
              <a:buNone/>
            </a:pPr>
            <a:r>
              <a:rPr lang="en-US" sz="1500" b="1" dirty="0">
                <a:solidFill>
                  <a:srgbClr val="FFFFFF"/>
                </a:solidFill>
              </a:rPr>
              <a:t>卖出按当前平均成本减少成本基础</a:t>
            </a:r>
            <a:endParaRPr lang="en-US" sz="1500" dirty="0"/>
          </a:p>
          <a:p>
            <a:pPr algn="l" indent="0" marL="0">
              <a:buNone/>
            </a:pPr>
            <a:r>
              <a:rPr lang="en-US" sz="900" dirty="0">
                <a:solidFill>
                  <a:srgbClr val="CBD5E1"/>
                </a:solidFill>
                <a:latin typeface="Arial" pitchFamily="34" charset="0"/>
                <a:ea typeface="Arial" pitchFamily="34" charset="-122"/>
                <a:cs typeface="Arial" pitchFamily="34" charset="-120"/>
              </a:rPr>
              <a:t>SELL reduces cost basis at the current average cost</a:t>
            </a:r>
            <a:endParaRPr lang="en-US" sz="1500" dirty="0"/>
          </a:p>
        </p:txBody>
      </p:sp>
      <p:sp>
        <p:nvSpPr>
          <p:cNvPr id="10" name="Shape 8"/>
          <p:cNvSpPr/>
          <p:nvPr/>
        </p:nvSpPr>
        <p:spPr>
          <a:xfrm>
            <a:off x="960120" y="3822192"/>
            <a:ext cx="4041648" cy="0"/>
          </a:xfrm>
          <a:prstGeom prst="line">
            <a:avLst/>
          </a:prstGeom>
          <a:noFill/>
          <a:ln w="12700">
            <a:solidFill>
              <a:srgbClr val="334155"/>
            </a:solidFill>
            <a:prstDash val="solid"/>
          </a:ln>
        </p:spPr>
      </p:sp>
      <p:sp>
        <p:nvSpPr>
          <p:cNvPr id="11" name="Text 9"/>
          <p:cNvSpPr/>
          <p:nvPr/>
        </p:nvSpPr>
        <p:spPr>
          <a:xfrm>
            <a:off x="960120" y="4096512"/>
            <a:ext cx="4114800" cy="320040"/>
          </a:xfrm>
          <a:prstGeom prst="rect">
            <a:avLst/>
          </a:prstGeom>
          <a:noFill/>
          <a:ln/>
        </p:spPr>
        <p:txBody>
          <a:bodyPr wrap="square" lIns="0" tIns="0" rIns="0" bIns="0" rtlCol="0" anchor="ctr"/>
          <a:lstStyle/>
          <a:p>
            <a:pPr indent="0" marL="0">
              <a:buNone/>
            </a:pPr>
            <a:r>
              <a:rPr lang="en-US" sz="1400" b="1" dirty="0">
                <a:solidFill>
                  <a:srgbClr val="BFDBFE"/>
                </a:solidFill>
                <a:latin typeface="Arial" pitchFamily="34" charset="0"/>
                <a:ea typeface="Arial" pitchFamily="34" charset="-122"/>
                <a:cs typeface="Arial" pitchFamily="34" charset="-120"/>
              </a:rPr>
              <a:t>marketValue = quantity × marketPrice</a:t>
            </a:r>
            <a:endParaRPr lang="en-US" sz="1400" dirty="0"/>
          </a:p>
        </p:txBody>
      </p:sp>
      <p:sp>
        <p:nvSpPr>
          <p:cNvPr id="12" name="Text 10"/>
          <p:cNvSpPr/>
          <p:nvPr/>
        </p:nvSpPr>
        <p:spPr>
          <a:xfrm>
            <a:off x="960120" y="4617720"/>
            <a:ext cx="4114800" cy="320040"/>
          </a:xfrm>
          <a:prstGeom prst="rect">
            <a:avLst/>
          </a:prstGeom>
          <a:noFill/>
          <a:ln/>
        </p:spPr>
        <p:txBody>
          <a:bodyPr wrap="square" lIns="0" tIns="0" rIns="0" bIns="0" rtlCol="0" anchor="ctr"/>
          <a:lstStyle/>
          <a:p>
            <a:pPr indent="0" marL="0">
              <a:buNone/>
            </a:pPr>
            <a:r>
              <a:rPr lang="en-US" sz="1400" b="1" dirty="0">
                <a:solidFill>
                  <a:srgbClr val="BFDBFE"/>
                </a:solidFill>
                <a:latin typeface="Arial" pitchFamily="34" charset="0"/>
                <a:ea typeface="Arial" pitchFamily="34" charset="-122"/>
                <a:cs typeface="Arial" pitchFamily="34" charset="-120"/>
              </a:rPr>
              <a:t>unrealizedPnl = marketValue − costBasis</a:t>
            </a:r>
            <a:endParaRPr lang="en-US" sz="1400" dirty="0"/>
          </a:p>
        </p:txBody>
      </p:sp>
      <p:sp>
        <p:nvSpPr>
          <p:cNvPr id="13" name="Text 11"/>
          <p:cNvSpPr/>
          <p:nvPr/>
        </p:nvSpPr>
        <p:spPr>
          <a:xfrm>
            <a:off x="960120" y="5138928"/>
            <a:ext cx="4114800" cy="320040"/>
          </a:xfrm>
          <a:prstGeom prst="rect">
            <a:avLst/>
          </a:prstGeom>
          <a:noFill/>
          <a:ln/>
        </p:spPr>
        <p:txBody>
          <a:bodyPr wrap="square" lIns="0" tIns="0" rIns="0" bIns="0" rtlCol="0" anchor="ctr">
            <a:normAutofit/>
          </a:bodyPr>
          <a:lstStyle/>
          <a:p>
            <a:pPr indent="0" marL="0">
              <a:buNone/>
            </a:pPr>
            <a:r>
              <a:rPr lang="en-US" sz="1300" b="1" dirty="0">
                <a:solidFill>
                  <a:srgbClr val="BFDBFE"/>
                </a:solidFill>
                <a:latin typeface="Arial" pitchFamily="34" charset="0"/>
                <a:ea typeface="Arial" pitchFamily="34" charset="-122"/>
                <a:cs typeface="Arial" pitchFamily="34" charset="-120"/>
              </a:rPr>
              <a:t>pnlPercent = unrealizedPnl ÷ costBasis × 100</a:t>
            </a:r>
            <a:endParaRPr lang="en-US" sz="1300" dirty="0"/>
          </a:p>
        </p:txBody>
      </p:sp>
      <p:sp>
        <p:nvSpPr>
          <p:cNvPr id="14" name="Text 12"/>
          <p:cNvSpPr/>
          <p:nvPr/>
        </p:nvSpPr>
        <p:spPr>
          <a:xfrm>
            <a:off x="5897880" y="1554480"/>
            <a:ext cx="3291840" cy="256032"/>
          </a:xfrm>
          <a:prstGeom prst="rect">
            <a:avLst/>
          </a:prstGeom>
          <a:noFill/>
          <a:ln/>
        </p:spPr>
        <p:txBody>
          <a:bodyPr wrap="square" lIns="0" tIns="0" rIns="0" bIns="0" rtlCol="0" anchor="ctr"/>
          <a:lstStyle/>
          <a:p>
            <a:pPr indent="0" marL="0">
              <a:buNone/>
            </a:pPr>
            <a:r>
              <a:rPr lang="en-US" sz="1000" b="1" spc="110" kern="0" dirty="0">
                <a:solidFill>
                  <a:srgbClr val="2563EB"/>
                </a:solidFill>
                <a:latin typeface="Arial" pitchFamily="34" charset="0"/>
                <a:ea typeface="Arial" pitchFamily="34" charset="-122"/>
                <a:cs typeface="Arial" pitchFamily="34" charset="-120"/>
              </a:rPr>
              <a:t>AAPL  ·  DEMO GROWTH</a:t>
            </a:r>
            <a:endParaRPr lang="en-US" sz="1000" dirty="0"/>
          </a:p>
        </p:txBody>
      </p:sp>
      <p:sp>
        <p:nvSpPr>
          <p:cNvPr id="15" name="Shape 13"/>
          <p:cNvSpPr/>
          <p:nvPr/>
        </p:nvSpPr>
        <p:spPr>
          <a:xfrm>
            <a:off x="5879592" y="1965960"/>
            <a:ext cx="1645920"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6" name="Text 14"/>
          <p:cNvSpPr/>
          <p:nvPr/>
        </p:nvSpPr>
        <p:spPr>
          <a:xfrm>
            <a:off x="6044184" y="2084832"/>
            <a:ext cx="1316736"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rPr>
              <a:t>数量</a:t>
            </a:r>
            <a:endParaRPr lang="en-US" sz="1000" dirty="0"/>
          </a:p>
          <a:p>
            <a:pPr algn="l" indent="0" marL="0">
              <a:buNone/>
            </a:pPr>
            <a:r>
              <a:rPr lang="en-US" sz="730" dirty="0">
                <a:solidFill>
                  <a:srgbClr val="64748B"/>
                </a:solidFill>
                <a:latin typeface="Arial" pitchFamily="34" charset="0"/>
                <a:ea typeface="Arial" pitchFamily="34" charset="-122"/>
                <a:cs typeface="Arial" pitchFamily="34" charset="-120"/>
              </a:rPr>
              <a:t>Quantity</a:t>
            </a:r>
            <a:endParaRPr lang="en-US" sz="1000" dirty="0"/>
          </a:p>
        </p:txBody>
      </p:sp>
      <p:sp>
        <p:nvSpPr>
          <p:cNvPr id="17" name="Text 15"/>
          <p:cNvSpPr/>
          <p:nvPr/>
        </p:nvSpPr>
        <p:spPr>
          <a:xfrm>
            <a:off x="6044184" y="2505456"/>
            <a:ext cx="1316736"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8</a:t>
            </a:r>
            <a:endParaRPr lang="en-US" sz="1900" dirty="0"/>
          </a:p>
        </p:txBody>
      </p:sp>
      <p:sp>
        <p:nvSpPr>
          <p:cNvPr id="18" name="Shape 16"/>
          <p:cNvSpPr/>
          <p:nvPr/>
        </p:nvSpPr>
        <p:spPr>
          <a:xfrm>
            <a:off x="7699248" y="1965960"/>
            <a:ext cx="1645920"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9" name="Text 17"/>
          <p:cNvSpPr/>
          <p:nvPr/>
        </p:nvSpPr>
        <p:spPr>
          <a:xfrm>
            <a:off x="7863840" y="2084832"/>
            <a:ext cx="1316736"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rPr>
              <a:t>平均成本</a:t>
            </a:r>
            <a:endParaRPr lang="en-US" sz="1000" dirty="0"/>
          </a:p>
          <a:p>
            <a:pPr algn="l" indent="0" marL="0">
              <a:buNone/>
            </a:pPr>
            <a:r>
              <a:rPr lang="en-US" sz="730" dirty="0">
                <a:solidFill>
                  <a:srgbClr val="64748B"/>
                </a:solidFill>
                <a:latin typeface="Arial" pitchFamily="34" charset="0"/>
                <a:ea typeface="Arial" pitchFamily="34" charset="-122"/>
                <a:cs typeface="Arial" pitchFamily="34" charset="-120"/>
              </a:rPr>
              <a:t>Avg cost</a:t>
            </a:r>
            <a:endParaRPr lang="en-US" sz="1000" dirty="0"/>
          </a:p>
        </p:txBody>
      </p:sp>
      <p:sp>
        <p:nvSpPr>
          <p:cNvPr id="20" name="Text 18"/>
          <p:cNvSpPr/>
          <p:nvPr/>
        </p:nvSpPr>
        <p:spPr>
          <a:xfrm>
            <a:off x="7863840" y="2505456"/>
            <a:ext cx="1316736"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$100.00</a:t>
            </a:r>
            <a:endParaRPr lang="en-US" sz="1900" dirty="0"/>
          </a:p>
        </p:txBody>
      </p:sp>
      <p:sp>
        <p:nvSpPr>
          <p:cNvPr id="21" name="Shape 19"/>
          <p:cNvSpPr/>
          <p:nvPr/>
        </p:nvSpPr>
        <p:spPr>
          <a:xfrm>
            <a:off x="9518904" y="1965960"/>
            <a:ext cx="1645920"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2" name="Text 20"/>
          <p:cNvSpPr/>
          <p:nvPr/>
        </p:nvSpPr>
        <p:spPr>
          <a:xfrm>
            <a:off x="9683496" y="2084832"/>
            <a:ext cx="1316736"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rPr>
              <a:t>市场价</a:t>
            </a:r>
            <a:endParaRPr lang="en-US" sz="1000" dirty="0"/>
          </a:p>
          <a:p>
            <a:pPr algn="l" indent="0" marL="0">
              <a:buNone/>
            </a:pPr>
            <a:r>
              <a:rPr lang="en-US" sz="730" dirty="0">
                <a:solidFill>
                  <a:srgbClr val="64748B"/>
                </a:solidFill>
                <a:latin typeface="Arial" pitchFamily="34" charset="0"/>
                <a:ea typeface="Arial" pitchFamily="34" charset="-122"/>
                <a:cs typeface="Arial" pitchFamily="34" charset="-120"/>
              </a:rPr>
              <a:t>Market price</a:t>
            </a:r>
            <a:endParaRPr lang="en-US" sz="1000" dirty="0"/>
          </a:p>
        </p:txBody>
      </p:sp>
      <p:sp>
        <p:nvSpPr>
          <p:cNvPr id="23" name="Text 21"/>
          <p:cNvSpPr/>
          <p:nvPr/>
        </p:nvSpPr>
        <p:spPr>
          <a:xfrm>
            <a:off x="9683496" y="2505456"/>
            <a:ext cx="1316736"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$195.25</a:t>
            </a:r>
            <a:endParaRPr lang="en-US" sz="1900" dirty="0"/>
          </a:p>
        </p:txBody>
      </p:sp>
      <p:sp>
        <p:nvSpPr>
          <p:cNvPr id="24" name="Shape 22"/>
          <p:cNvSpPr/>
          <p:nvPr/>
        </p:nvSpPr>
        <p:spPr>
          <a:xfrm>
            <a:off x="5879592" y="3337560"/>
            <a:ext cx="2551176"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5" name="Text 23"/>
          <p:cNvSpPr/>
          <p:nvPr/>
        </p:nvSpPr>
        <p:spPr>
          <a:xfrm>
            <a:off x="6044184" y="3456432"/>
            <a:ext cx="2221992"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rPr>
              <a:t>成本基础</a:t>
            </a:r>
            <a:endParaRPr lang="en-US" sz="1000" dirty="0"/>
          </a:p>
          <a:p>
            <a:pPr algn="l" indent="0" marL="0">
              <a:buNone/>
            </a:pPr>
            <a:r>
              <a:rPr lang="en-US" sz="730" dirty="0">
                <a:solidFill>
                  <a:srgbClr val="64748B"/>
                </a:solidFill>
                <a:latin typeface="Arial" pitchFamily="34" charset="0"/>
                <a:ea typeface="Arial" pitchFamily="34" charset="-122"/>
                <a:cs typeface="Arial" pitchFamily="34" charset="-120"/>
              </a:rPr>
              <a:t>Cost basis</a:t>
            </a:r>
            <a:endParaRPr lang="en-US" sz="1000" dirty="0"/>
          </a:p>
        </p:txBody>
      </p:sp>
      <p:sp>
        <p:nvSpPr>
          <p:cNvPr id="26" name="Text 24"/>
          <p:cNvSpPr/>
          <p:nvPr/>
        </p:nvSpPr>
        <p:spPr>
          <a:xfrm>
            <a:off x="6044184" y="3877056"/>
            <a:ext cx="2221992"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$800.00</a:t>
            </a:r>
            <a:endParaRPr lang="en-US" sz="1900" dirty="0"/>
          </a:p>
        </p:txBody>
      </p:sp>
      <p:sp>
        <p:nvSpPr>
          <p:cNvPr id="27" name="Shape 25"/>
          <p:cNvSpPr/>
          <p:nvPr/>
        </p:nvSpPr>
        <p:spPr>
          <a:xfrm>
            <a:off x="8613648" y="3337560"/>
            <a:ext cx="2551176" cy="1051560"/>
          </a:xfrm>
          <a:prstGeom prst="roundRect">
            <a:avLst>
              <a:gd name="adj" fmla="val 6957"/>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28" name="Text 26"/>
          <p:cNvSpPr/>
          <p:nvPr/>
        </p:nvSpPr>
        <p:spPr>
          <a:xfrm>
            <a:off x="8778240" y="3456432"/>
            <a:ext cx="2221992" cy="347472"/>
          </a:xfrm>
          <a:prstGeom prst="rect">
            <a:avLst/>
          </a:prstGeom>
          <a:noFill/>
          <a:ln/>
        </p:spPr>
        <p:txBody>
          <a:bodyPr wrap="square" lIns="1016" tIns="1016" rIns="1016" bIns="1016" rtlCol="0" anchor="ctr">
            <a:normAutofit/>
          </a:bodyPr>
          <a:lstStyle/>
          <a:p>
            <a:pPr algn="l" indent="0" marL="0">
              <a:buNone/>
            </a:pPr>
            <a:r>
              <a:rPr lang="en-US" sz="1000" dirty="0">
                <a:solidFill>
                  <a:srgbClr val="0F172A"/>
                </a:solidFill>
              </a:rPr>
              <a:t>市值</a:t>
            </a:r>
            <a:endParaRPr lang="en-US" sz="1000" dirty="0"/>
          </a:p>
          <a:p>
            <a:pPr algn="l" indent="0" marL="0">
              <a:buNone/>
            </a:pPr>
            <a:r>
              <a:rPr lang="en-US" sz="730" dirty="0">
                <a:solidFill>
                  <a:srgbClr val="64748B"/>
                </a:solidFill>
                <a:latin typeface="Arial" pitchFamily="34" charset="0"/>
                <a:ea typeface="Arial" pitchFamily="34" charset="-122"/>
                <a:cs typeface="Arial" pitchFamily="34" charset="-120"/>
              </a:rPr>
              <a:t>Market value</a:t>
            </a:r>
            <a:endParaRPr lang="en-US" sz="1000" dirty="0"/>
          </a:p>
        </p:txBody>
      </p:sp>
      <p:sp>
        <p:nvSpPr>
          <p:cNvPr id="29" name="Text 27"/>
          <p:cNvSpPr/>
          <p:nvPr/>
        </p:nvSpPr>
        <p:spPr>
          <a:xfrm>
            <a:off x="8778240" y="3877056"/>
            <a:ext cx="2221992" cy="320040"/>
          </a:xfrm>
          <a:prstGeom prst="rect">
            <a:avLst/>
          </a:prstGeom>
          <a:noFill/>
          <a:ln/>
        </p:spPr>
        <p:txBody>
          <a:bodyPr wrap="square" lIns="0" tIns="0" rIns="0" bIns="0" rtlCol="0" anchor="ctr">
            <a:normAutofit/>
          </a:bodyPr>
          <a:lstStyle/>
          <a:p>
            <a:pPr indent="0" marL="0">
              <a:buNone/>
            </a:pPr>
            <a:r>
              <a:rPr lang="en-US" sz="1900" b="1" dirty="0">
                <a:solidFill>
                  <a:srgbClr val="0F172A"/>
                </a:solidFill>
                <a:latin typeface="Arial" pitchFamily="34" charset="0"/>
                <a:ea typeface="Arial" pitchFamily="34" charset="-122"/>
                <a:cs typeface="Arial" pitchFamily="34" charset="-120"/>
              </a:rPr>
              <a:t>$1,562.00</a:t>
            </a:r>
            <a:endParaRPr lang="en-US" sz="1900" dirty="0"/>
          </a:p>
        </p:txBody>
      </p:sp>
      <p:sp>
        <p:nvSpPr>
          <p:cNvPr id="30" name="Shape 28"/>
          <p:cNvSpPr/>
          <p:nvPr/>
        </p:nvSpPr>
        <p:spPr>
          <a:xfrm>
            <a:off x="5879592" y="4727448"/>
            <a:ext cx="5285232" cy="1170432"/>
          </a:xfrm>
          <a:prstGeom prst="roundRect">
            <a:avLst>
              <a:gd name="adj" fmla="val 6250"/>
            </a:avLst>
          </a:prstGeom>
          <a:solidFill>
            <a:srgbClr val="DCFCE7"/>
          </a:solidFill>
          <a:ln w="10160">
            <a:solidFill>
              <a:srgbClr val="86EFAC"/>
            </a:solidFill>
            <a:prstDash val="solid"/>
          </a:ln>
          <a:effectLst>
            <a:outerShdw sx="100000" sy="100000" kx="0" ky="0" algn="bl" rotWithShape="0" blurRad="19050" dist="50800" dir="2700000">
              <a:srgbClr val="94A3B8">
                <a:alpha val="13000"/>
              </a:srgbClr>
            </a:outerShdw>
          </a:effectLst>
        </p:spPr>
      </p:sp>
      <p:sp>
        <p:nvSpPr>
          <p:cNvPr id="31" name="Text 29"/>
          <p:cNvSpPr/>
          <p:nvPr/>
        </p:nvSpPr>
        <p:spPr>
          <a:xfrm>
            <a:off x="6144768" y="4919472"/>
            <a:ext cx="2468880" cy="594360"/>
          </a:xfrm>
          <a:prstGeom prst="rect">
            <a:avLst/>
          </a:prstGeom>
          <a:noFill/>
          <a:ln/>
        </p:spPr>
        <p:txBody>
          <a:bodyPr wrap="square" lIns="1016" tIns="1016" rIns="1016" bIns="1016" rtlCol="0" anchor="ctr">
            <a:normAutofit/>
          </a:bodyPr>
          <a:lstStyle/>
          <a:p>
            <a:pPr algn="l" indent="0" marL="0">
              <a:buNone/>
            </a:pPr>
            <a:r>
              <a:rPr lang="en-US" sz="1300" b="1" dirty="0">
                <a:solidFill>
                  <a:srgbClr val="15803D"/>
                </a:solidFill>
              </a:rPr>
              <a:t>未实现盈亏 / 收益率</a:t>
            </a:r>
            <a:endParaRPr lang="en-US" sz="1300" dirty="0"/>
          </a:p>
          <a:p>
            <a:pPr algn="l" indent="0" marL="0">
              <a:buNone/>
            </a:pPr>
            <a:r>
              <a:rPr lang="en-US" sz="850" dirty="0">
                <a:solidFill>
                  <a:srgbClr val="64748B"/>
                </a:solidFill>
                <a:latin typeface="Arial" pitchFamily="34" charset="0"/>
                <a:ea typeface="Arial" pitchFamily="34" charset="-122"/>
                <a:cs typeface="Arial" pitchFamily="34" charset="-120"/>
              </a:rPr>
              <a:t>Unrealized P&amp;L / Return</a:t>
            </a:r>
            <a:endParaRPr lang="en-US" sz="1300" dirty="0"/>
          </a:p>
        </p:txBody>
      </p:sp>
      <p:sp>
        <p:nvSpPr>
          <p:cNvPr id="32" name="Text 30"/>
          <p:cNvSpPr/>
          <p:nvPr/>
        </p:nvSpPr>
        <p:spPr>
          <a:xfrm>
            <a:off x="8412480" y="5065776"/>
            <a:ext cx="2423160" cy="347472"/>
          </a:xfrm>
          <a:prstGeom prst="rect">
            <a:avLst/>
          </a:prstGeom>
          <a:noFill/>
          <a:ln/>
        </p:spPr>
        <p:txBody>
          <a:bodyPr wrap="square" lIns="0" tIns="0" rIns="0" bIns="0" rtlCol="0" anchor="ctr">
            <a:normAutofit/>
          </a:bodyPr>
          <a:lstStyle/>
          <a:p>
            <a:pPr algn="r" indent="0" marL="0">
              <a:buNone/>
            </a:pPr>
            <a:r>
              <a:rPr lang="en-US" sz="1800" b="1" dirty="0">
                <a:solidFill>
                  <a:srgbClr val="15803D"/>
                </a:solidFill>
                <a:latin typeface="Arial" pitchFamily="34" charset="0"/>
                <a:ea typeface="Arial" pitchFamily="34" charset="-122"/>
                <a:cs typeface="Arial" pitchFamily="34" charset="-120"/>
              </a:rPr>
              <a:t>+$762.00  /  +95.25%</a:t>
            </a:r>
            <a:endParaRPr lang="en-US" sz="1800" dirty="0"/>
          </a:p>
        </p:txBody>
      </p:sp>
      <p:sp>
        <p:nvSpPr>
          <p:cNvPr id="33" name="Text 31"/>
          <p:cNvSpPr/>
          <p:nvPr/>
        </p:nvSpPr>
        <p:spPr>
          <a:xfrm>
            <a:off x="5897880" y="6126480"/>
            <a:ext cx="5257800" cy="201168"/>
          </a:xfrm>
          <a:prstGeom prst="rect">
            <a:avLst/>
          </a:prstGeom>
          <a:noFill/>
          <a:ln/>
        </p:spPr>
        <p:txBody>
          <a:bodyPr wrap="square" lIns="0" tIns="0" rIns="0" bIns="0" rtlCol="0" anchor="ctr"/>
          <a:lstStyle/>
          <a:p>
            <a:pPr indent="0" marL="0">
              <a:buNone/>
            </a:pPr>
            <a:r>
              <a:rPr lang="en-US" sz="800" dirty="0">
                <a:solidFill>
                  <a:srgbClr val="64748B"/>
                </a:solidFill>
                <a:latin typeface="Arial" pitchFamily="34" charset="0"/>
                <a:ea typeface="Arial" pitchFamily="34" charset="-122"/>
                <a:cs typeface="Arial" pitchFamily="34" charset="-120"/>
              </a:rPr>
              <a:t>Decimal arithmetic on the backend · Missing quotes remain null</a:t>
            </a:r>
            <a:endParaRPr lang="en-US" sz="8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SYSTEM DESIGN</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模块化单体架构</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Modular Monolith Architecture</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06</a:t>
            </a:r>
            <a:endParaRPr lang="en-US" sz="1800" dirty="0"/>
          </a:p>
        </p:txBody>
      </p:sp>
      <p:sp>
        <p:nvSpPr>
          <p:cNvPr id="6" name="Shape 4"/>
          <p:cNvSpPr/>
          <p:nvPr/>
        </p:nvSpPr>
        <p:spPr>
          <a:xfrm>
            <a:off x="658368" y="1572768"/>
            <a:ext cx="1874520" cy="4526280"/>
          </a:xfrm>
          <a:prstGeom prst="roundRect">
            <a:avLst>
              <a:gd name="adj" fmla="val 3902"/>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7" name="Text 5"/>
          <p:cNvSpPr/>
          <p:nvPr/>
        </p:nvSpPr>
        <p:spPr>
          <a:xfrm>
            <a:off x="960120" y="1847088"/>
            <a:ext cx="1280160" cy="566928"/>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rPr>
              <a:t>用户界面</a:t>
            </a:r>
            <a:endParaRPr lang="en-US" sz="1500" dirty="0"/>
          </a:p>
          <a:p>
            <a:pPr algn="ctr" indent="0" marL="0">
              <a:buNone/>
            </a:pPr>
            <a:r>
              <a:rPr lang="en-US" sz="800" dirty="0">
                <a:solidFill>
                  <a:srgbClr val="93C5FD"/>
                </a:solidFill>
                <a:latin typeface="Arial" pitchFamily="34" charset="0"/>
                <a:ea typeface="Arial" pitchFamily="34" charset="-122"/>
                <a:cs typeface="Arial" pitchFamily="34" charset="-120"/>
              </a:rPr>
              <a:t>USER EXPERIENCE</a:t>
            </a:r>
            <a:endParaRPr lang="en-US" sz="1500" dirty="0"/>
          </a:p>
        </p:txBody>
      </p:sp>
      <p:sp>
        <p:nvSpPr>
          <p:cNvPr id="8" name="Shape 6"/>
          <p:cNvSpPr/>
          <p:nvPr/>
        </p:nvSpPr>
        <p:spPr>
          <a:xfrm>
            <a:off x="960120" y="2670048"/>
            <a:ext cx="1280160" cy="777240"/>
          </a:xfrm>
          <a:prstGeom prst="roundRect">
            <a:avLst>
              <a:gd name="adj" fmla="val 9412"/>
            </a:avLst>
          </a:prstGeom>
          <a:solidFill>
            <a:srgbClr val="1E3A8A"/>
          </a:solidFill>
          <a:ln w="10160">
            <a:solidFill>
              <a:srgbClr val="1E3A8A"/>
            </a:solidFill>
            <a:prstDash val="solid"/>
          </a:ln>
        </p:spPr>
      </p:sp>
      <p:sp>
        <p:nvSpPr>
          <p:cNvPr id="9" name="Text 7"/>
          <p:cNvSpPr/>
          <p:nvPr/>
        </p:nvSpPr>
        <p:spPr>
          <a:xfrm>
            <a:off x="1078992" y="2816352"/>
            <a:ext cx="1042416" cy="475488"/>
          </a:xfrm>
          <a:prstGeom prst="rect">
            <a:avLst/>
          </a:prstGeom>
          <a:noFill/>
          <a:ln/>
        </p:spPr>
        <p:txBody>
          <a:bodyPr wrap="square" lIns="1016" tIns="1016" rIns="1016" bIns="1016" rtlCol="0" anchor="ctr">
            <a:normAutofit/>
          </a:bodyPr>
          <a:lstStyle/>
          <a:p>
            <a:pPr algn="ctr" indent="0" marL="0">
              <a:buNone/>
            </a:pPr>
            <a:r>
              <a:rPr lang="en-US" sz="1200" b="1" dirty="0">
                <a:solidFill>
                  <a:srgbClr val="FFFFFF"/>
                </a:solidFill>
              </a:rPr>
              <a:t>React 19</a:t>
            </a:r>
            <a:endParaRPr lang="en-US" sz="1200" dirty="0"/>
          </a:p>
          <a:p>
            <a:pPr algn="ctr" indent="0" marL="0">
              <a:buNone/>
            </a:pPr>
            <a:r>
              <a:rPr lang="en-US" sz="750" dirty="0">
                <a:solidFill>
                  <a:srgbClr val="BFDBFE"/>
                </a:solidFill>
                <a:latin typeface="Arial" pitchFamily="34" charset="0"/>
                <a:ea typeface="Arial" pitchFamily="34" charset="-122"/>
                <a:cs typeface="Arial" pitchFamily="34" charset="-120"/>
              </a:rPr>
              <a:t>TypeScript + Vite</a:t>
            </a:r>
            <a:endParaRPr lang="en-US" sz="1200" dirty="0"/>
          </a:p>
        </p:txBody>
      </p:sp>
      <p:sp>
        <p:nvSpPr>
          <p:cNvPr id="10" name="Shape 8"/>
          <p:cNvSpPr/>
          <p:nvPr/>
        </p:nvSpPr>
        <p:spPr>
          <a:xfrm>
            <a:off x="1600200" y="3493008"/>
            <a:ext cx="0" cy="347472"/>
          </a:xfrm>
          <a:prstGeom prst="line">
            <a:avLst/>
          </a:prstGeom>
          <a:noFill/>
          <a:ln w="25400">
            <a:solidFill>
              <a:srgbClr val="93C5FD"/>
            </a:solidFill>
            <a:prstDash val="solid"/>
            <a:headEnd type="none"/>
            <a:tailEnd type="triangle"/>
          </a:ln>
        </p:spPr>
      </p:sp>
      <p:sp>
        <p:nvSpPr>
          <p:cNvPr id="11" name="Shape 9"/>
          <p:cNvSpPr/>
          <p:nvPr/>
        </p:nvSpPr>
        <p:spPr>
          <a:xfrm>
            <a:off x="960120" y="3913632"/>
            <a:ext cx="1280160" cy="777240"/>
          </a:xfrm>
          <a:prstGeom prst="roundRect">
            <a:avLst>
              <a:gd name="adj" fmla="val 9412"/>
            </a:avLst>
          </a:prstGeom>
          <a:solidFill>
            <a:srgbClr val="1E3A8A"/>
          </a:solidFill>
          <a:ln w="10160">
            <a:solidFill>
              <a:srgbClr val="1E3A8A"/>
            </a:solidFill>
            <a:prstDash val="solid"/>
          </a:ln>
        </p:spPr>
      </p:sp>
      <p:sp>
        <p:nvSpPr>
          <p:cNvPr id="12" name="Text 10"/>
          <p:cNvSpPr/>
          <p:nvPr/>
        </p:nvSpPr>
        <p:spPr>
          <a:xfrm>
            <a:off x="1078992" y="4069080"/>
            <a:ext cx="1042416" cy="438912"/>
          </a:xfrm>
          <a:prstGeom prst="rect">
            <a:avLst/>
          </a:prstGeom>
          <a:noFill/>
          <a:ln/>
        </p:spPr>
        <p:txBody>
          <a:bodyPr wrap="square" lIns="1016" tIns="1016" rIns="1016" bIns="1016" rtlCol="0" anchor="ctr">
            <a:normAutofit/>
          </a:bodyPr>
          <a:lstStyle/>
          <a:p>
            <a:pPr algn="ctr" indent="0" marL="0">
              <a:buNone/>
            </a:pPr>
            <a:r>
              <a:rPr lang="en-US" sz="1200" b="1" dirty="0">
                <a:solidFill>
                  <a:srgbClr val="FFFFFF"/>
                </a:solidFill>
              </a:rPr>
              <a:t>Nginx</a:t>
            </a:r>
            <a:endParaRPr lang="en-US" sz="1200" dirty="0"/>
          </a:p>
          <a:p>
            <a:pPr algn="ctr" indent="0" marL="0">
              <a:buNone/>
            </a:pPr>
            <a:r>
              <a:rPr lang="en-US" sz="750" dirty="0">
                <a:solidFill>
                  <a:srgbClr val="BFDBFE"/>
                </a:solidFill>
                <a:latin typeface="Arial" pitchFamily="34" charset="0"/>
                <a:ea typeface="Arial" pitchFamily="34" charset="-122"/>
                <a:cs typeface="Arial" pitchFamily="34" charset="-120"/>
              </a:rPr>
              <a:t>Reverse proxy</a:t>
            </a:r>
            <a:endParaRPr lang="en-US" sz="1200" dirty="0"/>
          </a:p>
        </p:txBody>
      </p:sp>
      <p:sp>
        <p:nvSpPr>
          <p:cNvPr id="13" name="Text 11"/>
          <p:cNvSpPr/>
          <p:nvPr/>
        </p:nvSpPr>
        <p:spPr>
          <a:xfrm>
            <a:off x="932688" y="5175504"/>
            <a:ext cx="1325880" cy="475488"/>
          </a:xfrm>
          <a:prstGeom prst="rect">
            <a:avLst/>
          </a:prstGeom>
          <a:noFill/>
          <a:ln/>
        </p:spPr>
        <p:txBody>
          <a:bodyPr wrap="square" lIns="1016" tIns="1016" rIns="1016" bIns="1016" rtlCol="0" anchor="ctr">
            <a:normAutofit/>
          </a:bodyPr>
          <a:lstStyle/>
          <a:p>
            <a:pPr algn="ctr" indent="0" marL="0">
              <a:buNone/>
            </a:pPr>
            <a:r>
              <a:rPr lang="en-US" sz="1050" b="1" dirty="0">
                <a:solidFill>
                  <a:srgbClr val="CBD5E1"/>
                </a:solidFill>
              </a:rPr>
              <a:t>桌面 + 移动端</a:t>
            </a:r>
            <a:endParaRPr lang="en-US" sz="1050" dirty="0"/>
          </a:p>
          <a:p>
            <a:pPr algn="ctr" indent="0" marL="0">
              <a:buNone/>
            </a:pPr>
            <a:r>
              <a:rPr lang="en-US" sz="750" dirty="0">
                <a:solidFill>
                  <a:srgbClr val="94A3B8"/>
                </a:solidFill>
                <a:latin typeface="Arial" pitchFamily="34" charset="0"/>
                <a:ea typeface="Arial" pitchFamily="34" charset="-122"/>
                <a:cs typeface="Arial" pitchFamily="34" charset="-120"/>
              </a:rPr>
              <a:t>Desktop + mobile</a:t>
            </a:r>
            <a:endParaRPr lang="en-US" sz="1050" dirty="0"/>
          </a:p>
        </p:txBody>
      </p:sp>
      <p:sp>
        <p:nvSpPr>
          <p:cNvPr id="14" name="Shape 12"/>
          <p:cNvSpPr/>
          <p:nvPr/>
        </p:nvSpPr>
        <p:spPr>
          <a:xfrm>
            <a:off x="2697480" y="3858768"/>
            <a:ext cx="594360" cy="0"/>
          </a:xfrm>
          <a:prstGeom prst="line">
            <a:avLst/>
          </a:prstGeom>
          <a:noFill/>
          <a:ln w="25400">
            <a:solidFill>
              <a:srgbClr val="94A3B8"/>
            </a:solidFill>
            <a:prstDash val="solid"/>
            <a:headEnd type="none"/>
            <a:tailEnd type="triangle"/>
          </a:ln>
        </p:spPr>
      </p:sp>
      <p:sp>
        <p:nvSpPr>
          <p:cNvPr id="15" name="Shape 13"/>
          <p:cNvSpPr/>
          <p:nvPr/>
        </p:nvSpPr>
        <p:spPr>
          <a:xfrm>
            <a:off x="3401568" y="1572768"/>
            <a:ext cx="5120640" cy="4526280"/>
          </a:xfrm>
          <a:prstGeom prst="roundRect">
            <a:avLst>
              <a:gd name="adj" fmla="val 1616"/>
            </a:avLst>
          </a:prstGeom>
          <a:solidFill>
            <a:srgbClr val="FFFFFF"/>
          </a:solidFill>
          <a:ln w="10160">
            <a:solidFill>
              <a:srgbClr val="BFDBFE"/>
            </a:solidFill>
            <a:prstDash val="solid"/>
          </a:ln>
          <a:effectLst>
            <a:outerShdw sx="100000" sy="100000" kx="0" ky="0" algn="bl" rotWithShape="0" blurRad="19050" dist="50800" dir="2700000">
              <a:srgbClr val="94A3B8">
                <a:alpha val="13000"/>
              </a:srgbClr>
            </a:outerShdw>
          </a:effectLst>
        </p:spPr>
      </p:sp>
      <p:sp>
        <p:nvSpPr>
          <p:cNvPr id="16" name="Text 14"/>
          <p:cNvSpPr/>
          <p:nvPr/>
        </p:nvSpPr>
        <p:spPr>
          <a:xfrm>
            <a:off x="3703320" y="1810512"/>
            <a:ext cx="3200400" cy="228600"/>
          </a:xfrm>
          <a:prstGeom prst="rect">
            <a:avLst/>
          </a:prstGeom>
          <a:noFill/>
          <a:ln/>
        </p:spPr>
        <p:txBody>
          <a:bodyPr wrap="square" lIns="0" tIns="0" rIns="0" bIns="0" rtlCol="0" anchor="ctr"/>
          <a:lstStyle/>
          <a:p>
            <a:pPr indent="0" marL="0">
              <a:buNone/>
            </a:pPr>
            <a:r>
              <a:rPr lang="en-US" sz="900" b="1" spc="110" kern="0" dirty="0">
                <a:solidFill>
                  <a:srgbClr val="2563EB"/>
                </a:solidFill>
                <a:latin typeface="Arial" pitchFamily="34" charset="0"/>
                <a:ea typeface="Arial" pitchFamily="34" charset="-122"/>
                <a:cs typeface="Arial" pitchFamily="34" charset="-120"/>
              </a:rPr>
              <a:t>SPRING BOOT 3.5 · JAVA 21</a:t>
            </a:r>
            <a:endParaRPr lang="en-US" sz="900" dirty="0"/>
          </a:p>
        </p:txBody>
      </p:sp>
      <p:sp>
        <p:nvSpPr>
          <p:cNvPr id="17" name="Shape 15"/>
          <p:cNvSpPr/>
          <p:nvPr/>
        </p:nvSpPr>
        <p:spPr>
          <a:xfrm>
            <a:off x="3675888" y="2267712"/>
            <a:ext cx="1298448" cy="621792"/>
          </a:xfrm>
          <a:prstGeom prst="roundRect">
            <a:avLst>
              <a:gd name="adj" fmla="val 11765"/>
            </a:avLst>
          </a:prstGeom>
          <a:solidFill>
            <a:srgbClr val="F8FAFC"/>
          </a:solidFill>
          <a:ln w="10160">
            <a:solidFill>
              <a:srgbClr val="CBD5E1"/>
            </a:solidFill>
            <a:prstDash val="solid"/>
          </a:ln>
        </p:spPr>
      </p:sp>
      <p:sp>
        <p:nvSpPr>
          <p:cNvPr id="18" name="Text 16"/>
          <p:cNvSpPr/>
          <p:nvPr/>
        </p:nvSpPr>
        <p:spPr>
          <a:xfrm>
            <a:off x="3785616" y="2340864"/>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rPr>
              <a:t>账户</a:t>
            </a:r>
            <a:endParaRPr lang="en-US" sz="1100" dirty="0"/>
          </a:p>
          <a:p>
            <a:pPr algn="ctr" indent="0" marL="0">
              <a:buNone/>
            </a:pPr>
            <a:r>
              <a:rPr lang="en-US" sz="730" dirty="0">
                <a:solidFill>
                  <a:srgbClr val="64748B"/>
                </a:solidFill>
                <a:latin typeface="Arial" pitchFamily="34" charset="0"/>
                <a:ea typeface="Arial" pitchFamily="34" charset="-122"/>
                <a:cs typeface="Arial" pitchFamily="34" charset="-120"/>
              </a:rPr>
              <a:t>Account</a:t>
            </a:r>
            <a:endParaRPr lang="en-US" sz="1100" dirty="0"/>
          </a:p>
        </p:txBody>
      </p:sp>
      <p:sp>
        <p:nvSpPr>
          <p:cNvPr id="19" name="Shape 17"/>
          <p:cNvSpPr/>
          <p:nvPr/>
        </p:nvSpPr>
        <p:spPr>
          <a:xfrm>
            <a:off x="5184648" y="2267712"/>
            <a:ext cx="1298448" cy="621792"/>
          </a:xfrm>
          <a:prstGeom prst="roundRect">
            <a:avLst>
              <a:gd name="adj" fmla="val 11765"/>
            </a:avLst>
          </a:prstGeom>
          <a:solidFill>
            <a:srgbClr val="EFF6FF"/>
          </a:solidFill>
          <a:ln w="10160">
            <a:solidFill>
              <a:srgbClr val="93C5FD"/>
            </a:solidFill>
            <a:prstDash val="solid"/>
          </a:ln>
        </p:spPr>
      </p:sp>
      <p:sp>
        <p:nvSpPr>
          <p:cNvPr id="20" name="Text 18"/>
          <p:cNvSpPr/>
          <p:nvPr/>
        </p:nvSpPr>
        <p:spPr>
          <a:xfrm>
            <a:off x="5294376" y="2340864"/>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rPr>
              <a:t>交易</a:t>
            </a:r>
            <a:endParaRPr lang="en-US" sz="1100" dirty="0"/>
          </a:p>
          <a:p>
            <a:pPr algn="ctr" indent="0" marL="0">
              <a:buNone/>
            </a:pPr>
            <a:r>
              <a:rPr lang="en-US" sz="730" dirty="0">
                <a:solidFill>
                  <a:srgbClr val="64748B"/>
                </a:solidFill>
                <a:latin typeface="Arial" pitchFamily="34" charset="0"/>
                <a:ea typeface="Arial" pitchFamily="34" charset="-122"/>
                <a:cs typeface="Arial" pitchFamily="34" charset="-120"/>
              </a:rPr>
              <a:t>Trade</a:t>
            </a:r>
            <a:endParaRPr lang="en-US" sz="1100" dirty="0"/>
          </a:p>
        </p:txBody>
      </p:sp>
      <p:sp>
        <p:nvSpPr>
          <p:cNvPr id="21" name="Shape 19"/>
          <p:cNvSpPr/>
          <p:nvPr/>
        </p:nvSpPr>
        <p:spPr>
          <a:xfrm>
            <a:off x="6693408" y="2267712"/>
            <a:ext cx="1298448" cy="621792"/>
          </a:xfrm>
          <a:prstGeom prst="roundRect">
            <a:avLst>
              <a:gd name="adj" fmla="val 11765"/>
            </a:avLst>
          </a:prstGeom>
          <a:solidFill>
            <a:srgbClr val="F8FAFC"/>
          </a:solidFill>
          <a:ln w="10160">
            <a:solidFill>
              <a:srgbClr val="CBD5E1"/>
            </a:solidFill>
            <a:prstDash val="solid"/>
          </a:ln>
        </p:spPr>
      </p:sp>
      <p:sp>
        <p:nvSpPr>
          <p:cNvPr id="22" name="Text 20"/>
          <p:cNvSpPr/>
          <p:nvPr/>
        </p:nvSpPr>
        <p:spPr>
          <a:xfrm>
            <a:off x="6803136" y="2340864"/>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rPr>
              <a:t>持仓</a:t>
            </a:r>
            <a:endParaRPr lang="en-US" sz="1100" dirty="0"/>
          </a:p>
          <a:p>
            <a:pPr algn="ctr" indent="0" marL="0">
              <a:buNone/>
            </a:pPr>
            <a:r>
              <a:rPr lang="en-US" sz="730" dirty="0">
                <a:solidFill>
                  <a:srgbClr val="64748B"/>
                </a:solidFill>
                <a:latin typeface="Arial" pitchFamily="34" charset="0"/>
                <a:ea typeface="Arial" pitchFamily="34" charset="-122"/>
                <a:cs typeface="Arial" pitchFamily="34" charset="-120"/>
              </a:rPr>
              <a:t>Position</a:t>
            </a:r>
            <a:endParaRPr lang="en-US" sz="1100" dirty="0"/>
          </a:p>
        </p:txBody>
      </p:sp>
      <p:sp>
        <p:nvSpPr>
          <p:cNvPr id="23" name="Shape 21"/>
          <p:cNvSpPr/>
          <p:nvPr/>
        </p:nvSpPr>
        <p:spPr>
          <a:xfrm>
            <a:off x="3675888" y="3127248"/>
            <a:ext cx="1298448" cy="621792"/>
          </a:xfrm>
          <a:prstGeom prst="roundRect">
            <a:avLst>
              <a:gd name="adj" fmla="val 11765"/>
            </a:avLst>
          </a:prstGeom>
          <a:solidFill>
            <a:srgbClr val="F8FAFC"/>
          </a:solidFill>
          <a:ln w="10160">
            <a:solidFill>
              <a:srgbClr val="CBD5E1"/>
            </a:solidFill>
            <a:prstDash val="solid"/>
          </a:ln>
        </p:spPr>
      </p:sp>
      <p:sp>
        <p:nvSpPr>
          <p:cNvPr id="24" name="Text 22"/>
          <p:cNvSpPr/>
          <p:nvPr/>
        </p:nvSpPr>
        <p:spPr>
          <a:xfrm>
            <a:off x="3785616" y="3200400"/>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rPr>
              <a:t>行情</a:t>
            </a:r>
            <a:endParaRPr lang="en-US" sz="1100" dirty="0"/>
          </a:p>
          <a:p>
            <a:pPr algn="ctr" indent="0" marL="0">
              <a:buNone/>
            </a:pPr>
            <a:r>
              <a:rPr lang="en-US" sz="730" dirty="0">
                <a:solidFill>
                  <a:srgbClr val="64748B"/>
                </a:solidFill>
                <a:latin typeface="Arial" pitchFamily="34" charset="0"/>
                <a:ea typeface="Arial" pitchFamily="34" charset="-122"/>
                <a:cs typeface="Arial" pitchFamily="34" charset="-120"/>
              </a:rPr>
              <a:t>Market Data</a:t>
            </a:r>
            <a:endParaRPr lang="en-US" sz="1100" dirty="0"/>
          </a:p>
        </p:txBody>
      </p:sp>
      <p:sp>
        <p:nvSpPr>
          <p:cNvPr id="25" name="Shape 23"/>
          <p:cNvSpPr/>
          <p:nvPr/>
        </p:nvSpPr>
        <p:spPr>
          <a:xfrm>
            <a:off x="5184648" y="3127248"/>
            <a:ext cx="1298448" cy="621792"/>
          </a:xfrm>
          <a:prstGeom prst="roundRect">
            <a:avLst>
              <a:gd name="adj" fmla="val 11765"/>
            </a:avLst>
          </a:prstGeom>
          <a:solidFill>
            <a:srgbClr val="F8FAFC"/>
          </a:solidFill>
          <a:ln w="10160">
            <a:solidFill>
              <a:srgbClr val="CBD5E1"/>
            </a:solidFill>
            <a:prstDash val="solid"/>
          </a:ln>
        </p:spPr>
      </p:sp>
      <p:sp>
        <p:nvSpPr>
          <p:cNvPr id="26" name="Text 24"/>
          <p:cNvSpPr/>
          <p:nvPr/>
        </p:nvSpPr>
        <p:spPr>
          <a:xfrm>
            <a:off x="5294376" y="3200400"/>
            <a:ext cx="1078992" cy="457200"/>
          </a:xfrm>
          <a:prstGeom prst="rect">
            <a:avLst/>
          </a:prstGeom>
          <a:noFill/>
          <a:ln/>
        </p:spPr>
        <p:txBody>
          <a:bodyPr wrap="square" lIns="1016" tIns="1016" rIns="1016" bIns="1016" rtlCol="0" anchor="ctr">
            <a:normAutofit/>
          </a:bodyPr>
          <a:lstStyle/>
          <a:p>
            <a:pPr algn="ctr" indent="0" marL="0">
              <a:buNone/>
            </a:pPr>
            <a:r>
              <a:rPr lang="en-US" sz="1100" b="1" dirty="0">
                <a:solidFill>
                  <a:srgbClr val="0F172A"/>
                </a:solidFill>
              </a:rPr>
              <a:t>盈亏</a:t>
            </a:r>
            <a:endParaRPr lang="en-US" sz="1100" dirty="0"/>
          </a:p>
          <a:p>
            <a:pPr algn="ctr" indent="0" marL="0">
              <a:buNone/>
            </a:pPr>
            <a:r>
              <a:rPr lang="en-US" sz="730" dirty="0">
                <a:solidFill>
                  <a:srgbClr val="64748B"/>
                </a:solidFill>
                <a:latin typeface="Arial" pitchFamily="34" charset="0"/>
                <a:ea typeface="Arial" pitchFamily="34" charset="-122"/>
                <a:cs typeface="Arial" pitchFamily="34" charset="-120"/>
              </a:rPr>
              <a:t>P&amp;L</a:t>
            </a:r>
            <a:endParaRPr lang="en-US" sz="1100" dirty="0"/>
          </a:p>
        </p:txBody>
      </p:sp>
      <p:sp>
        <p:nvSpPr>
          <p:cNvPr id="27" name="Shape 25"/>
          <p:cNvSpPr/>
          <p:nvPr/>
        </p:nvSpPr>
        <p:spPr>
          <a:xfrm>
            <a:off x="3675888" y="4160520"/>
            <a:ext cx="4553712" cy="0"/>
          </a:xfrm>
          <a:prstGeom prst="line">
            <a:avLst/>
          </a:prstGeom>
          <a:noFill/>
          <a:ln w="12700">
            <a:solidFill>
              <a:srgbClr val="CBD5E1"/>
            </a:solidFill>
            <a:prstDash val="solid"/>
          </a:ln>
        </p:spPr>
      </p:sp>
      <p:sp>
        <p:nvSpPr>
          <p:cNvPr id="28" name="Shape 26"/>
          <p:cNvSpPr/>
          <p:nvPr/>
        </p:nvSpPr>
        <p:spPr>
          <a:xfrm>
            <a:off x="3675888" y="4507992"/>
            <a:ext cx="1234440" cy="804672"/>
          </a:xfrm>
          <a:prstGeom prst="chevron">
            <a:avLst/>
          </a:prstGeom>
          <a:solidFill>
            <a:srgbClr val="DBEAFE"/>
          </a:solidFill>
          <a:ln w="12700">
            <a:solidFill>
              <a:srgbClr val="FFFFFF"/>
            </a:solidFill>
            <a:prstDash val="solid"/>
          </a:ln>
        </p:spPr>
      </p:sp>
      <p:sp>
        <p:nvSpPr>
          <p:cNvPr id="29" name="Text 27"/>
          <p:cNvSpPr/>
          <p:nvPr/>
        </p:nvSpPr>
        <p:spPr>
          <a:xfrm>
            <a:off x="3721608"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334155"/>
                </a:solidFill>
              </a:rPr>
              <a:t>请求与契约</a:t>
            </a:r>
            <a:endParaRPr lang="en-US" sz="950" dirty="0"/>
          </a:p>
          <a:p>
            <a:pPr algn="ctr" indent="0" marL="0">
              <a:buNone/>
            </a:pPr>
            <a:r>
              <a:rPr lang="en-US" sz="670" dirty="0">
                <a:solidFill>
                  <a:srgbClr val="334155"/>
                </a:solidFill>
                <a:latin typeface="Arial" pitchFamily="34" charset="0"/>
                <a:ea typeface="Arial" pitchFamily="34" charset="-122"/>
                <a:cs typeface="Arial" pitchFamily="34" charset="-120"/>
              </a:rPr>
              <a:t>HTTP API</a:t>
            </a:r>
            <a:endParaRPr lang="en-US" sz="950" dirty="0"/>
          </a:p>
        </p:txBody>
      </p:sp>
      <p:sp>
        <p:nvSpPr>
          <p:cNvPr id="30" name="Shape 28"/>
          <p:cNvSpPr/>
          <p:nvPr/>
        </p:nvSpPr>
        <p:spPr>
          <a:xfrm>
            <a:off x="4800600" y="4507992"/>
            <a:ext cx="1234440" cy="804672"/>
          </a:xfrm>
          <a:prstGeom prst="chevron">
            <a:avLst/>
          </a:prstGeom>
          <a:solidFill>
            <a:srgbClr val="DBEAFE"/>
          </a:solidFill>
          <a:ln w="12700">
            <a:solidFill>
              <a:srgbClr val="FFFFFF"/>
            </a:solidFill>
            <a:prstDash val="solid"/>
          </a:ln>
        </p:spPr>
      </p:sp>
      <p:sp>
        <p:nvSpPr>
          <p:cNvPr id="31" name="Text 29"/>
          <p:cNvSpPr/>
          <p:nvPr/>
        </p:nvSpPr>
        <p:spPr>
          <a:xfrm>
            <a:off x="4846320"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334155"/>
                </a:solidFill>
              </a:rPr>
              <a:t>用例编排</a:t>
            </a:r>
            <a:endParaRPr lang="en-US" sz="950" dirty="0"/>
          </a:p>
          <a:p>
            <a:pPr algn="ctr" indent="0" marL="0">
              <a:buNone/>
            </a:pPr>
            <a:r>
              <a:rPr lang="en-US" sz="670" dirty="0">
                <a:solidFill>
                  <a:srgbClr val="334155"/>
                </a:solidFill>
                <a:latin typeface="Arial" pitchFamily="34" charset="0"/>
                <a:ea typeface="Arial" pitchFamily="34" charset="-122"/>
                <a:cs typeface="Arial" pitchFamily="34" charset="-120"/>
              </a:rPr>
              <a:t>Application</a:t>
            </a:r>
            <a:endParaRPr lang="en-US" sz="950" dirty="0"/>
          </a:p>
        </p:txBody>
      </p:sp>
      <p:sp>
        <p:nvSpPr>
          <p:cNvPr id="32" name="Shape 30"/>
          <p:cNvSpPr/>
          <p:nvPr/>
        </p:nvSpPr>
        <p:spPr>
          <a:xfrm>
            <a:off x="5925312" y="4507992"/>
            <a:ext cx="1234440" cy="804672"/>
          </a:xfrm>
          <a:prstGeom prst="chevron">
            <a:avLst/>
          </a:prstGeom>
          <a:solidFill>
            <a:srgbClr val="2563EB"/>
          </a:solidFill>
          <a:ln w="12700">
            <a:solidFill>
              <a:srgbClr val="FFFFFF"/>
            </a:solidFill>
            <a:prstDash val="solid"/>
          </a:ln>
        </p:spPr>
      </p:sp>
      <p:sp>
        <p:nvSpPr>
          <p:cNvPr id="33" name="Text 31"/>
          <p:cNvSpPr/>
          <p:nvPr/>
        </p:nvSpPr>
        <p:spPr>
          <a:xfrm>
            <a:off x="5971032"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FFFFFF"/>
                </a:solidFill>
              </a:rPr>
              <a:t>业务规则</a:t>
            </a:r>
            <a:endParaRPr lang="en-US" sz="950" dirty="0"/>
          </a:p>
          <a:p>
            <a:pPr algn="ctr" indent="0" marL="0">
              <a:buNone/>
            </a:pPr>
            <a:r>
              <a:rPr lang="en-US" sz="670" dirty="0">
                <a:solidFill>
                  <a:srgbClr val="FFFFFF"/>
                </a:solidFill>
                <a:latin typeface="Arial" pitchFamily="34" charset="0"/>
                <a:ea typeface="Arial" pitchFamily="34" charset="-122"/>
                <a:cs typeface="Arial" pitchFamily="34" charset="-120"/>
              </a:rPr>
              <a:t>Domain</a:t>
            </a:r>
            <a:endParaRPr lang="en-US" sz="950" dirty="0"/>
          </a:p>
        </p:txBody>
      </p:sp>
      <p:sp>
        <p:nvSpPr>
          <p:cNvPr id="34" name="Shape 32"/>
          <p:cNvSpPr/>
          <p:nvPr/>
        </p:nvSpPr>
        <p:spPr>
          <a:xfrm>
            <a:off x="7050024" y="4507992"/>
            <a:ext cx="1234440" cy="804672"/>
          </a:xfrm>
          <a:prstGeom prst="chevron">
            <a:avLst/>
          </a:prstGeom>
          <a:solidFill>
            <a:srgbClr val="E2E8F0"/>
          </a:solidFill>
          <a:ln w="12700">
            <a:solidFill>
              <a:srgbClr val="FFFFFF"/>
            </a:solidFill>
            <a:prstDash val="solid"/>
          </a:ln>
        </p:spPr>
      </p:sp>
      <p:sp>
        <p:nvSpPr>
          <p:cNvPr id="35" name="Text 33"/>
          <p:cNvSpPr/>
          <p:nvPr/>
        </p:nvSpPr>
        <p:spPr>
          <a:xfrm>
            <a:off x="7095744" y="4645152"/>
            <a:ext cx="960120" cy="484632"/>
          </a:xfrm>
          <a:prstGeom prst="rect">
            <a:avLst/>
          </a:prstGeom>
          <a:noFill/>
          <a:ln/>
        </p:spPr>
        <p:txBody>
          <a:bodyPr wrap="square" lIns="1016" tIns="1016" rIns="1016" bIns="1016" rtlCol="0" anchor="ctr">
            <a:normAutofit/>
          </a:bodyPr>
          <a:lstStyle/>
          <a:p>
            <a:pPr algn="ctr" indent="0" marL="0">
              <a:buNone/>
            </a:pPr>
            <a:r>
              <a:rPr lang="en-US" sz="950" b="1" dirty="0">
                <a:solidFill>
                  <a:srgbClr val="334155"/>
                </a:solidFill>
              </a:rPr>
              <a:t>端口适配</a:t>
            </a:r>
            <a:endParaRPr lang="en-US" sz="950" dirty="0"/>
          </a:p>
          <a:p>
            <a:pPr algn="ctr" indent="0" marL="0">
              <a:buNone/>
            </a:pPr>
            <a:r>
              <a:rPr lang="en-US" sz="670" dirty="0">
                <a:solidFill>
                  <a:srgbClr val="334155"/>
                </a:solidFill>
                <a:latin typeface="Arial" pitchFamily="34" charset="0"/>
                <a:ea typeface="Arial" pitchFamily="34" charset="-122"/>
                <a:cs typeface="Arial" pitchFamily="34" charset="-120"/>
              </a:rPr>
              <a:t>Infrastructure</a:t>
            </a:r>
            <a:endParaRPr lang="en-US" sz="950" dirty="0"/>
          </a:p>
        </p:txBody>
      </p:sp>
      <p:sp>
        <p:nvSpPr>
          <p:cNvPr id="36" name="Text 34"/>
          <p:cNvSpPr/>
          <p:nvPr/>
        </p:nvSpPr>
        <p:spPr>
          <a:xfrm>
            <a:off x="3712464" y="5532120"/>
            <a:ext cx="4434840" cy="228600"/>
          </a:xfrm>
          <a:prstGeom prst="rect">
            <a:avLst/>
          </a:prstGeom>
          <a:noFill/>
          <a:ln/>
        </p:spPr>
        <p:txBody>
          <a:bodyPr wrap="square" lIns="0" tIns="0" rIns="0" bIns="0" rtlCol="0" anchor="ctr"/>
          <a:lstStyle/>
          <a:p>
            <a:pPr algn="ctr" indent="0" marL="0">
              <a:buNone/>
            </a:pPr>
            <a:r>
              <a:rPr lang="en-US" sz="950" b="1" dirty="0">
                <a:solidFill>
                  <a:srgbClr val="334155"/>
                </a:solidFill>
                <a:latin typeface="Arial" pitchFamily="34" charset="0"/>
                <a:ea typeface="Arial" pitchFamily="34" charset="-122"/>
                <a:cs typeface="Arial" pitchFamily="34" charset="-120"/>
              </a:rPr>
              <a:t>API → Application → Domain ← Infrastructure</a:t>
            </a:r>
            <a:endParaRPr lang="en-US" sz="950" dirty="0"/>
          </a:p>
        </p:txBody>
      </p:sp>
      <p:sp>
        <p:nvSpPr>
          <p:cNvPr id="37" name="Shape 35"/>
          <p:cNvSpPr/>
          <p:nvPr/>
        </p:nvSpPr>
        <p:spPr>
          <a:xfrm>
            <a:off x="8668512" y="3858768"/>
            <a:ext cx="594360" cy="0"/>
          </a:xfrm>
          <a:prstGeom prst="line">
            <a:avLst/>
          </a:prstGeom>
          <a:noFill/>
          <a:ln w="25400">
            <a:solidFill>
              <a:srgbClr val="94A3B8"/>
            </a:solidFill>
            <a:prstDash val="solid"/>
            <a:headEnd type="none"/>
            <a:tailEnd type="triangle"/>
          </a:ln>
        </p:spPr>
      </p:sp>
      <p:sp>
        <p:nvSpPr>
          <p:cNvPr id="38" name="Shape 36"/>
          <p:cNvSpPr/>
          <p:nvPr/>
        </p:nvSpPr>
        <p:spPr>
          <a:xfrm>
            <a:off x="9372600" y="1572768"/>
            <a:ext cx="2148840" cy="4526280"/>
          </a:xfrm>
          <a:prstGeom prst="roundRect">
            <a:avLst>
              <a:gd name="adj" fmla="val 3404"/>
            </a:avLst>
          </a:prstGeom>
          <a:solidFill>
            <a:srgbClr val="F8FAFC"/>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39" name="Text 37"/>
          <p:cNvSpPr/>
          <p:nvPr/>
        </p:nvSpPr>
        <p:spPr>
          <a:xfrm>
            <a:off x="9692640" y="1810512"/>
            <a:ext cx="1508760" cy="548640"/>
          </a:xfrm>
          <a:prstGeom prst="rect">
            <a:avLst/>
          </a:prstGeom>
          <a:noFill/>
          <a:ln/>
        </p:spPr>
        <p:txBody>
          <a:bodyPr wrap="square" lIns="1016" tIns="1016" rIns="1016" bIns="1016" rtlCol="0" anchor="ctr">
            <a:normAutofit/>
          </a:bodyPr>
          <a:lstStyle/>
          <a:p>
            <a:pPr algn="ctr" indent="0" marL="0">
              <a:buNone/>
            </a:pPr>
            <a:r>
              <a:rPr lang="en-US" sz="1400" b="1" dirty="0">
                <a:solidFill>
                  <a:srgbClr val="0F172A"/>
                </a:solidFill>
              </a:rPr>
              <a:t>数据与外部服务</a:t>
            </a:r>
            <a:endParaRPr lang="en-US" sz="1400" dirty="0"/>
          </a:p>
          <a:p>
            <a:pPr algn="ctr" indent="0" marL="0">
              <a:buNone/>
            </a:pPr>
            <a:r>
              <a:rPr lang="en-US" sz="800" dirty="0">
                <a:solidFill>
                  <a:srgbClr val="64748B"/>
                </a:solidFill>
                <a:latin typeface="Arial" pitchFamily="34" charset="0"/>
                <a:ea typeface="Arial" pitchFamily="34" charset="-122"/>
                <a:cs typeface="Arial" pitchFamily="34" charset="-120"/>
              </a:rPr>
              <a:t>DATA &amp; EXTERNALS</a:t>
            </a:r>
            <a:endParaRPr lang="en-US" sz="1400" dirty="0"/>
          </a:p>
        </p:txBody>
      </p:sp>
      <p:sp>
        <p:nvSpPr>
          <p:cNvPr id="40" name="Shape 38"/>
          <p:cNvSpPr/>
          <p:nvPr/>
        </p:nvSpPr>
        <p:spPr>
          <a:xfrm>
            <a:off x="9646920" y="2651760"/>
            <a:ext cx="1600200" cy="713232"/>
          </a:xfrm>
          <a:prstGeom prst="roundRect">
            <a:avLst>
              <a:gd name="adj" fmla="val 10256"/>
            </a:avLst>
          </a:prstGeom>
          <a:solidFill>
            <a:srgbClr val="EFF6FF"/>
          </a:solidFill>
          <a:ln w="10160">
            <a:solidFill>
              <a:srgbClr val="EFF6FF"/>
            </a:solidFill>
            <a:prstDash val="solid"/>
          </a:ln>
        </p:spPr>
      </p:sp>
      <p:sp>
        <p:nvSpPr>
          <p:cNvPr id="41" name="Text 39"/>
          <p:cNvSpPr/>
          <p:nvPr/>
        </p:nvSpPr>
        <p:spPr>
          <a:xfrm>
            <a:off x="9765792" y="2734056"/>
            <a:ext cx="1362456"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2563EB"/>
                </a:solidFill>
              </a:rPr>
              <a:t>MySQL 8.4</a:t>
            </a:r>
            <a:endParaRPr lang="en-US" sz="1150" dirty="0"/>
          </a:p>
          <a:p>
            <a:pPr algn="ctr" indent="0" marL="0">
              <a:buNone/>
            </a:pPr>
            <a:r>
              <a:rPr lang="en-US" sz="740" dirty="0">
                <a:solidFill>
                  <a:srgbClr val="334155"/>
                </a:solidFill>
                <a:latin typeface="Arial" pitchFamily="34" charset="0"/>
                <a:ea typeface="Arial" pitchFamily="34" charset="-122"/>
                <a:cs typeface="Arial" pitchFamily="34" charset="-120"/>
              </a:rPr>
              <a:t>事实来源</a:t>
            </a:r>
            <a:endParaRPr lang="en-US" sz="1150" dirty="0"/>
          </a:p>
        </p:txBody>
      </p:sp>
      <p:sp>
        <p:nvSpPr>
          <p:cNvPr id="42" name="Shape 40"/>
          <p:cNvSpPr/>
          <p:nvPr/>
        </p:nvSpPr>
        <p:spPr>
          <a:xfrm>
            <a:off x="9646920" y="3611880"/>
            <a:ext cx="1600200" cy="713232"/>
          </a:xfrm>
          <a:prstGeom prst="roundRect">
            <a:avLst>
              <a:gd name="adj" fmla="val 10256"/>
            </a:avLst>
          </a:prstGeom>
          <a:solidFill>
            <a:srgbClr val="FEF3C7"/>
          </a:solidFill>
          <a:ln w="10160">
            <a:solidFill>
              <a:srgbClr val="FEF3C7"/>
            </a:solidFill>
            <a:prstDash val="solid"/>
          </a:ln>
        </p:spPr>
      </p:sp>
      <p:sp>
        <p:nvSpPr>
          <p:cNvPr id="43" name="Text 41"/>
          <p:cNvSpPr/>
          <p:nvPr/>
        </p:nvSpPr>
        <p:spPr>
          <a:xfrm>
            <a:off x="9765792" y="3694176"/>
            <a:ext cx="1362456"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Redis 7.4</a:t>
            </a:r>
            <a:endParaRPr lang="en-US" sz="1150" dirty="0"/>
          </a:p>
          <a:p>
            <a:pPr algn="ctr" indent="0" marL="0">
              <a:buNone/>
            </a:pPr>
            <a:r>
              <a:rPr lang="en-US" sz="740" dirty="0">
                <a:solidFill>
                  <a:srgbClr val="334155"/>
                </a:solidFill>
                <a:latin typeface="Arial" pitchFamily="34" charset="0"/>
                <a:ea typeface="Arial" pitchFamily="34" charset="-122"/>
                <a:cs typeface="Arial" pitchFamily="34" charset="-120"/>
              </a:rPr>
              <a:t>可丢弃行情缓存</a:t>
            </a:r>
            <a:endParaRPr lang="en-US" sz="1150" dirty="0"/>
          </a:p>
        </p:txBody>
      </p:sp>
      <p:sp>
        <p:nvSpPr>
          <p:cNvPr id="44" name="Shape 42"/>
          <p:cNvSpPr/>
          <p:nvPr/>
        </p:nvSpPr>
        <p:spPr>
          <a:xfrm>
            <a:off x="9646920" y="4572000"/>
            <a:ext cx="1600200" cy="713232"/>
          </a:xfrm>
          <a:prstGeom prst="roundRect">
            <a:avLst>
              <a:gd name="adj" fmla="val 10256"/>
            </a:avLst>
          </a:prstGeom>
          <a:solidFill>
            <a:srgbClr val="DCFCE7"/>
          </a:solidFill>
          <a:ln w="10160">
            <a:solidFill>
              <a:srgbClr val="DCFCE7"/>
            </a:solidFill>
            <a:prstDash val="solid"/>
          </a:ln>
        </p:spPr>
      </p:sp>
      <p:sp>
        <p:nvSpPr>
          <p:cNvPr id="45" name="Text 43"/>
          <p:cNvSpPr/>
          <p:nvPr/>
        </p:nvSpPr>
        <p:spPr>
          <a:xfrm>
            <a:off x="9765792" y="4654296"/>
            <a:ext cx="1362456"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15803D"/>
                </a:solidFill>
              </a:rPr>
              <a:t>Mock / Finnhub</a:t>
            </a:r>
            <a:endParaRPr lang="en-US" sz="1150" dirty="0"/>
          </a:p>
          <a:p>
            <a:pPr algn="ctr" indent="0" marL="0">
              <a:buNone/>
            </a:pPr>
            <a:r>
              <a:rPr lang="en-US" sz="740" dirty="0">
                <a:solidFill>
                  <a:srgbClr val="334155"/>
                </a:solidFill>
                <a:latin typeface="Arial" pitchFamily="34" charset="0"/>
                <a:ea typeface="Arial" pitchFamily="34" charset="-122"/>
                <a:cs typeface="Arial" pitchFamily="34" charset="-120"/>
              </a:rPr>
              <a:t>行情 Provider</a:t>
            </a:r>
            <a:endParaRPr lang="en-US" sz="1150" dirty="0"/>
          </a:p>
        </p:txBody>
      </p:sp>
      <p:sp>
        <p:nvSpPr>
          <p:cNvPr id="46" name="Shape 44"/>
          <p:cNvSpPr/>
          <p:nvPr/>
        </p:nvSpPr>
        <p:spPr>
          <a:xfrm>
            <a:off x="9564624" y="5486400"/>
            <a:ext cx="1773936" cy="292608"/>
          </a:xfrm>
          <a:prstGeom prst="roundRect">
            <a:avLst>
              <a:gd name="adj" fmla="val 25000"/>
            </a:avLst>
          </a:prstGeom>
          <a:solidFill>
            <a:srgbClr val="E2E8F0"/>
          </a:solidFill>
          <a:ln w="12700">
            <a:solidFill>
              <a:srgbClr val="E2E8F0"/>
            </a:solidFill>
            <a:prstDash val="solid"/>
          </a:ln>
        </p:spPr>
      </p:sp>
      <p:sp>
        <p:nvSpPr>
          <p:cNvPr id="47" name="Text 45"/>
          <p:cNvSpPr/>
          <p:nvPr/>
        </p:nvSpPr>
        <p:spPr>
          <a:xfrm>
            <a:off x="9564624" y="5504688"/>
            <a:ext cx="1773936" cy="201168"/>
          </a:xfrm>
          <a:prstGeom prst="rect">
            <a:avLst/>
          </a:prstGeom>
          <a:noFill/>
          <a:ln/>
        </p:spPr>
        <p:txBody>
          <a:bodyPr wrap="square" lIns="0" tIns="0" rIns="0" bIns="0" rtlCol="0" anchor="ctr">
            <a:normAutofit/>
          </a:bodyPr>
          <a:lstStyle/>
          <a:p>
            <a:pPr algn="ctr" indent="0" marL="0">
              <a:buNone/>
            </a:pPr>
            <a:r>
              <a:rPr lang="en-US" sz="750" b="1" dirty="0">
                <a:solidFill>
                  <a:srgbClr val="334155"/>
                </a:solidFill>
                <a:latin typeface="Arial" pitchFamily="34" charset="0"/>
                <a:ea typeface="Arial" pitchFamily="34" charset="-122"/>
                <a:cs typeface="Arial" pitchFamily="34" charset="-120"/>
              </a:rPr>
              <a:t>REDIS ≠ SYSTEM OF RECORD</a:t>
            </a:r>
            <a:endParaRPr lang="en-US" sz="7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RESILIENCE</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行情韧性与诚实降级</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Market-Data Resilience and Honest Degradation</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07</a:t>
            </a:r>
            <a:endParaRPr lang="en-US" sz="1800" dirty="0"/>
          </a:p>
        </p:txBody>
      </p:sp>
      <p:sp>
        <p:nvSpPr>
          <p:cNvPr id="6" name="Shape 4"/>
          <p:cNvSpPr/>
          <p:nvPr/>
        </p:nvSpPr>
        <p:spPr>
          <a:xfrm>
            <a:off x="658368" y="1874520"/>
            <a:ext cx="1691640" cy="1188720"/>
          </a:xfrm>
          <a:prstGeom prst="roundRect">
            <a:avLst>
              <a:gd name="adj" fmla="val 6154"/>
            </a:avLst>
          </a:prstGeom>
          <a:solidFill>
            <a:srgbClr val="FFFFFF"/>
          </a:solidFill>
          <a:ln w="10160">
            <a:solidFill>
              <a:srgbClr val="CBD5E1"/>
            </a:solidFill>
            <a:prstDash val="solid"/>
          </a:ln>
        </p:spPr>
      </p:sp>
      <p:sp>
        <p:nvSpPr>
          <p:cNvPr id="7" name="Text 5"/>
          <p:cNvSpPr/>
          <p:nvPr/>
        </p:nvSpPr>
        <p:spPr>
          <a:xfrm>
            <a:off x="822960"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2563EB"/>
                </a:solidFill>
              </a:rPr>
              <a:t>请求行情</a:t>
            </a:r>
            <a:endParaRPr lang="en-US" sz="1400" dirty="0"/>
          </a:p>
          <a:p>
            <a:pPr algn="ctr" indent="0" marL="0">
              <a:buNone/>
            </a:pPr>
            <a:r>
              <a:rPr lang="en-US" sz="800" dirty="0">
                <a:solidFill>
                  <a:srgbClr val="334155"/>
                </a:solidFill>
                <a:latin typeface="Arial" pitchFamily="34" charset="0"/>
                <a:ea typeface="Arial" pitchFamily="34" charset="-122"/>
                <a:cs typeface="Arial" pitchFamily="34" charset="-120"/>
              </a:rPr>
              <a:t>Request quote</a:t>
            </a:r>
            <a:endParaRPr lang="en-US" sz="1400" dirty="0"/>
          </a:p>
        </p:txBody>
      </p:sp>
      <p:sp>
        <p:nvSpPr>
          <p:cNvPr id="8" name="Shape 6"/>
          <p:cNvSpPr/>
          <p:nvPr/>
        </p:nvSpPr>
        <p:spPr>
          <a:xfrm>
            <a:off x="2414016" y="2459736"/>
            <a:ext cx="384048" cy="0"/>
          </a:xfrm>
          <a:prstGeom prst="line">
            <a:avLst/>
          </a:prstGeom>
          <a:noFill/>
          <a:ln w="25400">
            <a:solidFill>
              <a:srgbClr val="94A3B8"/>
            </a:solidFill>
            <a:prstDash val="solid"/>
            <a:headEnd type="none"/>
            <a:tailEnd type="triangle"/>
          </a:ln>
        </p:spPr>
      </p:sp>
      <p:sp>
        <p:nvSpPr>
          <p:cNvPr id="9" name="Shape 7"/>
          <p:cNvSpPr/>
          <p:nvPr/>
        </p:nvSpPr>
        <p:spPr>
          <a:xfrm>
            <a:off x="2880360" y="1874520"/>
            <a:ext cx="1691640" cy="1188720"/>
          </a:xfrm>
          <a:prstGeom prst="roundRect">
            <a:avLst>
              <a:gd name="adj" fmla="val 6154"/>
            </a:avLst>
          </a:prstGeom>
          <a:solidFill>
            <a:srgbClr val="EFF6FF"/>
          </a:solidFill>
          <a:ln w="10160">
            <a:solidFill>
              <a:srgbClr val="EFF6FF"/>
            </a:solidFill>
            <a:prstDash val="solid"/>
          </a:ln>
        </p:spPr>
      </p:sp>
      <p:sp>
        <p:nvSpPr>
          <p:cNvPr id="10" name="Text 8"/>
          <p:cNvSpPr/>
          <p:nvPr/>
        </p:nvSpPr>
        <p:spPr>
          <a:xfrm>
            <a:off x="3044952"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1D4ED8"/>
                </a:solidFill>
              </a:rPr>
              <a:t>Provider</a:t>
            </a:r>
            <a:endParaRPr lang="en-US" sz="1400" dirty="0"/>
          </a:p>
          <a:p>
            <a:pPr algn="ctr" indent="0" marL="0">
              <a:buNone/>
            </a:pPr>
            <a:r>
              <a:rPr lang="en-US" sz="800" dirty="0">
                <a:solidFill>
                  <a:srgbClr val="334155"/>
                </a:solidFill>
                <a:latin typeface="Arial" pitchFamily="34" charset="0"/>
                <a:ea typeface="Arial" pitchFamily="34" charset="-122"/>
                <a:cs typeface="Arial" pitchFamily="34" charset="-120"/>
              </a:rPr>
              <a:t>Mock or Finnhub</a:t>
            </a:r>
            <a:endParaRPr lang="en-US" sz="1400" dirty="0"/>
          </a:p>
        </p:txBody>
      </p:sp>
      <p:sp>
        <p:nvSpPr>
          <p:cNvPr id="11" name="Shape 9"/>
          <p:cNvSpPr/>
          <p:nvPr/>
        </p:nvSpPr>
        <p:spPr>
          <a:xfrm>
            <a:off x="4636008" y="2459736"/>
            <a:ext cx="384048" cy="0"/>
          </a:xfrm>
          <a:prstGeom prst="line">
            <a:avLst/>
          </a:prstGeom>
          <a:noFill/>
          <a:ln w="25400">
            <a:solidFill>
              <a:srgbClr val="94A3B8"/>
            </a:solidFill>
            <a:prstDash val="solid"/>
            <a:headEnd type="none"/>
            <a:tailEnd type="triangle"/>
          </a:ln>
        </p:spPr>
      </p:sp>
      <p:sp>
        <p:nvSpPr>
          <p:cNvPr id="12" name="Shape 10"/>
          <p:cNvSpPr/>
          <p:nvPr/>
        </p:nvSpPr>
        <p:spPr>
          <a:xfrm>
            <a:off x="5102352" y="1874520"/>
            <a:ext cx="1691640" cy="1188720"/>
          </a:xfrm>
          <a:prstGeom prst="roundRect">
            <a:avLst>
              <a:gd name="adj" fmla="val 6154"/>
            </a:avLst>
          </a:prstGeom>
          <a:solidFill>
            <a:srgbClr val="FEF3C7"/>
          </a:solidFill>
          <a:ln w="10160">
            <a:solidFill>
              <a:srgbClr val="FEF3C7"/>
            </a:solidFill>
            <a:prstDash val="solid"/>
          </a:ln>
        </p:spPr>
      </p:sp>
      <p:sp>
        <p:nvSpPr>
          <p:cNvPr id="13" name="Text 11"/>
          <p:cNvSpPr/>
          <p:nvPr/>
        </p:nvSpPr>
        <p:spPr>
          <a:xfrm>
            <a:off x="5266944"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D97706"/>
                </a:solidFill>
              </a:rPr>
              <a:t>Redis</a:t>
            </a:r>
            <a:endParaRPr lang="en-US" sz="1400" dirty="0"/>
          </a:p>
          <a:p>
            <a:pPr algn="ctr" indent="0" marL="0">
              <a:buNone/>
            </a:pPr>
            <a:r>
              <a:rPr lang="en-US" sz="800" dirty="0">
                <a:solidFill>
                  <a:srgbClr val="334155"/>
                </a:solidFill>
                <a:latin typeface="Arial" pitchFamily="34" charset="0"/>
                <a:ea typeface="Arial" pitchFamily="34" charset="-122"/>
                <a:cs typeface="Arial" pitchFamily="34" charset="-120"/>
              </a:rPr>
              <a:t>Fresh + retained</a:t>
            </a:r>
            <a:endParaRPr lang="en-US" sz="1400" dirty="0"/>
          </a:p>
        </p:txBody>
      </p:sp>
      <p:sp>
        <p:nvSpPr>
          <p:cNvPr id="14" name="Shape 12"/>
          <p:cNvSpPr/>
          <p:nvPr/>
        </p:nvSpPr>
        <p:spPr>
          <a:xfrm>
            <a:off x="6858000" y="2459736"/>
            <a:ext cx="384048" cy="0"/>
          </a:xfrm>
          <a:prstGeom prst="line">
            <a:avLst/>
          </a:prstGeom>
          <a:noFill/>
          <a:ln w="25400">
            <a:solidFill>
              <a:srgbClr val="94A3B8"/>
            </a:solidFill>
            <a:prstDash val="solid"/>
            <a:headEnd type="none"/>
            <a:tailEnd type="triangle"/>
          </a:ln>
        </p:spPr>
      </p:sp>
      <p:sp>
        <p:nvSpPr>
          <p:cNvPr id="15" name="Shape 13"/>
          <p:cNvSpPr/>
          <p:nvPr/>
        </p:nvSpPr>
        <p:spPr>
          <a:xfrm>
            <a:off x="7324344" y="1874520"/>
            <a:ext cx="1691640" cy="1188720"/>
          </a:xfrm>
          <a:prstGeom prst="roundRect">
            <a:avLst>
              <a:gd name="adj" fmla="val 6154"/>
            </a:avLst>
          </a:prstGeom>
          <a:solidFill>
            <a:srgbClr val="DCFCE7"/>
          </a:solidFill>
          <a:ln w="10160">
            <a:solidFill>
              <a:srgbClr val="DCFCE7"/>
            </a:solidFill>
            <a:prstDash val="solid"/>
          </a:ln>
        </p:spPr>
      </p:sp>
      <p:sp>
        <p:nvSpPr>
          <p:cNvPr id="16" name="Text 14"/>
          <p:cNvSpPr/>
          <p:nvPr/>
        </p:nvSpPr>
        <p:spPr>
          <a:xfrm>
            <a:off x="7488936" y="2084832"/>
            <a:ext cx="1362456" cy="694944"/>
          </a:xfrm>
          <a:prstGeom prst="rect">
            <a:avLst/>
          </a:prstGeom>
          <a:noFill/>
          <a:ln/>
        </p:spPr>
        <p:txBody>
          <a:bodyPr wrap="square" lIns="1016" tIns="1016" rIns="1016" bIns="1016" rtlCol="0" anchor="ctr">
            <a:normAutofit/>
          </a:bodyPr>
          <a:lstStyle/>
          <a:p>
            <a:pPr algn="ctr" indent="0" marL="0">
              <a:buNone/>
            </a:pPr>
            <a:r>
              <a:rPr lang="en-US" sz="1400" b="1" dirty="0">
                <a:solidFill>
                  <a:srgbClr val="15803D"/>
                </a:solidFill>
              </a:rPr>
              <a:t>估值结果</a:t>
            </a:r>
            <a:endParaRPr lang="en-US" sz="1400" dirty="0"/>
          </a:p>
          <a:p>
            <a:pPr algn="ctr" indent="0" marL="0">
              <a:buNone/>
            </a:pPr>
            <a:r>
              <a:rPr lang="en-US" sz="800" dirty="0">
                <a:solidFill>
                  <a:srgbClr val="334155"/>
                </a:solidFill>
                <a:latin typeface="Arial" pitchFamily="34" charset="0"/>
                <a:ea typeface="Arial" pitchFamily="34" charset="-122"/>
                <a:cs typeface="Arial" pitchFamily="34" charset="-120"/>
              </a:rPr>
              <a:t>Valuation result</a:t>
            </a:r>
            <a:endParaRPr lang="en-US" sz="1400" dirty="0"/>
          </a:p>
        </p:txBody>
      </p:sp>
      <p:sp>
        <p:nvSpPr>
          <p:cNvPr id="17" name="Shape 15"/>
          <p:cNvSpPr/>
          <p:nvPr/>
        </p:nvSpPr>
        <p:spPr>
          <a:xfrm>
            <a:off x="9107424" y="2459736"/>
            <a:ext cx="384048" cy="0"/>
          </a:xfrm>
          <a:prstGeom prst="line">
            <a:avLst/>
          </a:prstGeom>
          <a:noFill/>
          <a:ln w="25400">
            <a:solidFill>
              <a:srgbClr val="94A3B8"/>
            </a:solidFill>
            <a:prstDash val="solid"/>
            <a:headEnd type="none"/>
            <a:tailEnd type="triangle"/>
          </a:ln>
        </p:spPr>
      </p:sp>
      <p:sp>
        <p:nvSpPr>
          <p:cNvPr id="18" name="Shape 16"/>
          <p:cNvSpPr/>
          <p:nvPr/>
        </p:nvSpPr>
        <p:spPr>
          <a:xfrm>
            <a:off x="9619488" y="1664208"/>
            <a:ext cx="1901952" cy="1618488"/>
          </a:xfrm>
          <a:prstGeom prst="roundRect">
            <a:avLst>
              <a:gd name="adj" fmla="val 4520"/>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19" name="Text 17"/>
          <p:cNvSpPr/>
          <p:nvPr/>
        </p:nvSpPr>
        <p:spPr>
          <a:xfrm>
            <a:off x="9875520" y="1847088"/>
            <a:ext cx="1389888" cy="512064"/>
          </a:xfrm>
          <a:prstGeom prst="rect">
            <a:avLst/>
          </a:prstGeom>
          <a:noFill/>
          <a:ln/>
        </p:spPr>
        <p:txBody>
          <a:bodyPr wrap="square" lIns="1016" tIns="1016" rIns="1016" bIns="1016" rtlCol="0" anchor="ctr">
            <a:normAutofit/>
          </a:bodyPr>
          <a:lstStyle/>
          <a:p>
            <a:pPr algn="ctr" indent="0" marL="0">
              <a:buNone/>
            </a:pPr>
            <a:r>
              <a:rPr lang="en-US" sz="1300" b="1" dirty="0">
                <a:solidFill>
                  <a:srgbClr val="FFFFFF"/>
                </a:solidFill>
              </a:rPr>
              <a:t>状态必须可见</a:t>
            </a:r>
            <a:endParaRPr lang="en-US" sz="1300" dirty="0"/>
          </a:p>
          <a:p>
            <a:pPr algn="ctr" indent="0" marL="0">
              <a:buNone/>
            </a:pPr>
            <a:r>
              <a:rPr lang="en-US" sz="750" dirty="0">
                <a:solidFill>
                  <a:srgbClr val="93C5FD"/>
                </a:solidFill>
                <a:latin typeface="Arial" pitchFamily="34" charset="0"/>
                <a:ea typeface="Arial" pitchFamily="34" charset="-122"/>
                <a:cs typeface="Arial" pitchFamily="34" charset="-120"/>
              </a:rPr>
              <a:t>STATUS MUST BE VISIBLE</a:t>
            </a:r>
            <a:endParaRPr lang="en-US" sz="1300" dirty="0"/>
          </a:p>
        </p:txBody>
      </p:sp>
      <p:sp>
        <p:nvSpPr>
          <p:cNvPr id="20" name="Shape 18"/>
          <p:cNvSpPr/>
          <p:nvPr/>
        </p:nvSpPr>
        <p:spPr>
          <a:xfrm>
            <a:off x="9875520" y="2523744"/>
            <a:ext cx="566928" cy="292608"/>
          </a:xfrm>
          <a:prstGeom prst="roundRect">
            <a:avLst>
              <a:gd name="adj" fmla="val 25000"/>
            </a:avLst>
          </a:prstGeom>
          <a:solidFill>
            <a:srgbClr val="1E3A8A"/>
          </a:solidFill>
          <a:ln w="12700">
            <a:solidFill>
              <a:srgbClr val="1E3A8A"/>
            </a:solidFill>
            <a:prstDash val="solid"/>
          </a:ln>
        </p:spPr>
      </p:sp>
      <p:sp>
        <p:nvSpPr>
          <p:cNvPr id="21" name="Text 19"/>
          <p:cNvSpPr/>
          <p:nvPr/>
        </p:nvSpPr>
        <p:spPr>
          <a:xfrm>
            <a:off x="9875520" y="2542032"/>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MOCK</a:t>
            </a:r>
            <a:endParaRPr lang="en-US" sz="750" dirty="0"/>
          </a:p>
        </p:txBody>
      </p:sp>
      <p:sp>
        <p:nvSpPr>
          <p:cNvPr id="22" name="Shape 20"/>
          <p:cNvSpPr/>
          <p:nvPr/>
        </p:nvSpPr>
        <p:spPr>
          <a:xfrm>
            <a:off x="10524744" y="2523744"/>
            <a:ext cx="566928" cy="292608"/>
          </a:xfrm>
          <a:prstGeom prst="roundRect">
            <a:avLst>
              <a:gd name="adj" fmla="val 25000"/>
            </a:avLst>
          </a:prstGeom>
          <a:solidFill>
            <a:srgbClr val="14532D"/>
          </a:solidFill>
          <a:ln w="12700">
            <a:solidFill>
              <a:srgbClr val="14532D"/>
            </a:solidFill>
            <a:prstDash val="solid"/>
          </a:ln>
        </p:spPr>
      </p:sp>
      <p:sp>
        <p:nvSpPr>
          <p:cNvPr id="23" name="Text 21"/>
          <p:cNvSpPr/>
          <p:nvPr/>
        </p:nvSpPr>
        <p:spPr>
          <a:xfrm>
            <a:off x="10524744" y="2542032"/>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DCFCE7"/>
                </a:solidFill>
                <a:latin typeface="Arial" pitchFamily="34" charset="0"/>
                <a:ea typeface="Arial" pitchFamily="34" charset="-122"/>
                <a:cs typeface="Arial" pitchFamily="34" charset="-120"/>
              </a:rPr>
              <a:t>LIVE</a:t>
            </a:r>
            <a:endParaRPr lang="en-US" sz="750" dirty="0"/>
          </a:p>
        </p:txBody>
      </p:sp>
      <p:sp>
        <p:nvSpPr>
          <p:cNvPr id="24" name="Shape 22"/>
          <p:cNvSpPr/>
          <p:nvPr/>
        </p:nvSpPr>
        <p:spPr>
          <a:xfrm>
            <a:off x="9875520" y="2852928"/>
            <a:ext cx="566928" cy="292608"/>
          </a:xfrm>
          <a:prstGeom prst="roundRect">
            <a:avLst>
              <a:gd name="adj" fmla="val 25000"/>
            </a:avLst>
          </a:prstGeom>
          <a:solidFill>
            <a:srgbClr val="78350F"/>
          </a:solidFill>
          <a:ln w="12700">
            <a:solidFill>
              <a:srgbClr val="78350F"/>
            </a:solidFill>
            <a:prstDash val="solid"/>
          </a:ln>
        </p:spPr>
      </p:sp>
      <p:sp>
        <p:nvSpPr>
          <p:cNvPr id="25" name="Text 23"/>
          <p:cNvSpPr/>
          <p:nvPr/>
        </p:nvSpPr>
        <p:spPr>
          <a:xfrm>
            <a:off x="9875520" y="2871216"/>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FEF3C7"/>
                </a:solidFill>
                <a:latin typeface="Arial" pitchFamily="34" charset="0"/>
                <a:ea typeface="Arial" pitchFamily="34" charset="-122"/>
                <a:cs typeface="Arial" pitchFamily="34" charset="-120"/>
              </a:rPr>
              <a:t>STALE</a:t>
            </a:r>
            <a:endParaRPr lang="en-US" sz="750" dirty="0"/>
          </a:p>
        </p:txBody>
      </p:sp>
      <p:sp>
        <p:nvSpPr>
          <p:cNvPr id="26" name="Shape 24"/>
          <p:cNvSpPr/>
          <p:nvPr/>
        </p:nvSpPr>
        <p:spPr>
          <a:xfrm>
            <a:off x="10524744" y="2852928"/>
            <a:ext cx="566928" cy="292608"/>
          </a:xfrm>
          <a:prstGeom prst="roundRect">
            <a:avLst>
              <a:gd name="adj" fmla="val 25000"/>
            </a:avLst>
          </a:prstGeom>
          <a:solidFill>
            <a:srgbClr val="334155"/>
          </a:solidFill>
          <a:ln w="12700">
            <a:solidFill>
              <a:srgbClr val="334155"/>
            </a:solidFill>
            <a:prstDash val="solid"/>
          </a:ln>
        </p:spPr>
      </p:sp>
      <p:sp>
        <p:nvSpPr>
          <p:cNvPr id="27" name="Text 25"/>
          <p:cNvSpPr/>
          <p:nvPr/>
        </p:nvSpPr>
        <p:spPr>
          <a:xfrm>
            <a:off x="10524744" y="2871216"/>
            <a:ext cx="566928" cy="201168"/>
          </a:xfrm>
          <a:prstGeom prst="rect">
            <a:avLst/>
          </a:prstGeom>
          <a:noFill/>
          <a:ln/>
        </p:spPr>
        <p:txBody>
          <a:bodyPr wrap="square" lIns="0" tIns="0" rIns="0" bIns="0" rtlCol="0" anchor="ctr">
            <a:normAutofit/>
          </a:bodyPr>
          <a:lstStyle/>
          <a:p>
            <a:pPr algn="ctr" indent="0" marL="0">
              <a:buNone/>
            </a:pPr>
            <a:r>
              <a:rPr lang="en-US" sz="750" b="1" dirty="0">
                <a:solidFill>
                  <a:srgbClr val="E2E8F0"/>
                </a:solidFill>
                <a:latin typeface="Arial" pitchFamily="34" charset="0"/>
                <a:ea typeface="Arial" pitchFamily="34" charset="-122"/>
                <a:cs typeface="Arial" pitchFamily="34" charset="-120"/>
              </a:rPr>
              <a:t>CACHED</a:t>
            </a:r>
            <a:endParaRPr lang="en-US" sz="750" dirty="0"/>
          </a:p>
        </p:txBody>
      </p:sp>
      <p:sp>
        <p:nvSpPr>
          <p:cNvPr id="28" name="Text 26"/>
          <p:cNvSpPr/>
          <p:nvPr/>
        </p:nvSpPr>
        <p:spPr>
          <a:xfrm>
            <a:off x="749808" y="3767328"/>
            <a:ext cx="1828800" cy="228600"/>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CACHE WINDOWS</a:t>
            </a:r>
            <a:endParaRPr lang="en-US" sz="900" dirty="0"/>
          </a:p>
        </p:txBody>
      </p:sp>
      <p:sp>
        <p:nvSpPr>
          <p:cNvPr id="29" name="Shape 27"/>
          <p:cNvSpPr/>
          <p:nvPr/>
        </p:nvSpPr>
        <p:spPr>
          <a:xfrm>
            <a:off x="749808" y="4462272"/>
            <a:ext cx="9930384" cy="0"/>
          </a:xfrm>
          <a:prstGeom prst="line">
            <a:avLst/>
          </a:prstGeom>
          <a:noFill/>
          <a:ln w="50800">
            <a:solidFill>
              <a:srgbClr val="CBD5E1"/>
            </a:solidFill>
            <a:prstDash val="solid"/>
          </a:ln>
        </p:spPr>
      </p:sp>
      <p:sp>
        <p:nvSpPr>
          <p:cNvPr id="30" name="Shape 28"/>
          <p:cNvSpPr/>
          <p:nvPr/>
        </p:nvSpPr>
        <p:spPr>
          <a:xfrm>
            <a:off x="749808" y="4462272"/>
            <a:ext cx="3657600" cy="0"/>
          </a:xfrm>
          <a:prstGeom prst="line">
            <a:avLst/>
          </a:prstGeom>
          <a:noFill/>
          <a:ln w="88900">
            <a:solidFill>
              <a:srgbClr val="15803D"/>
            </a:solidFill>
            <a:prstDash val="solid"/>
          </a:ln>
        </p:spPr>
      </p:sp>
      <p:sp>
        <p:nvSpPr>
          <p:cNvPr id="31" name="Shape 29"/>
          <p:cNvSpPr/>
          <p:nvPr/>
        </p:nvSpPr>
        <p:spPr>
          <a:xfrm>
            <a:off x="4407408" y="4462272"/>
            <a:ext cx="5349240" cy="0"/>
          </a:xfrm>
          <a:prstGeom prst="line">
            <a:avLst/>
          </a:prstGeom>
          <a:noFill/>
          <a:ln w="88900">
            <a:solidFill>
              <a:srgbClr val="D97706"/>
            </a:solidFill>
            <a:prstDash val="solid"/>
          </a:ln>
        </p:spPr>
      </p:sp>
      <p:sp>
        <p:nvSpPr>
          <p:cNvPr id="32" name="Shape 30"/>
          <p:cNvSpPr/>
          <p:nvPr/>
        </p:nvSpPr>
        <p:spPr>
          <a:xfrm>
            <a:off x="9756648" y="4462272"/>
            <a:ext cx="923544" cy="0"/>
          </a:xfrm>
          <a:prstGeom prst="line">
            <a:avLst/>
          </a:prstGeom>
          <a:noFill/>
          <a:ln w="88900">
            <a:solidFill>
              <a:srgbClr val="DC2626"/>
            </a:solidFill>
            <a:prstDash val="solid"/>
          </a:ln>
        </p:spPr>
      </p:sp>
      <p:sp>
        <p:nvSpPr>
          <p:cNvPr id="33" name="Text 31"/>
          <p:cNvSpPr/>
          <p:nvPr/>
        </p:nvSpPr>
        <p:spPr>
          <a:xfrm>
            <a:off x="749808" y="4645152"/>
            <a:ext cx="3246120" cy="566928"/>
          </a:xfrm>
          <a:prstGeom prst="rect">
            <a:avLst/>
          </a:prstGeom>
          <a:noFill/>
          <a:ln/>
        </p:spPr>
        <p:txBody>
          <a:bodyPr wrap="square" lIns="1016" tIns="1016" rIns="1016" bIns="1016" rtlCol="0" anchor="ctr">
            <a:normAutofit/>
          </a:bodyPr>
          <a:lstStyle/>
          <a:p>
            <a:pPr algn="l" indent="0" marL="0">
              <a:buNone/>
            </a:pPr>
            <a:r>
              <a:rPr lang="en-US" sz="1300" b="1" dirty="0">
                <a:solidFill>
                  <a:srgbClr val="15803D"/>
                </a:solidFill>
              </a:rPr>
              <a:t>新鲜期</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Fresh TTL · default 60s</a:t>
            </a:r>
            <a:endParaRPr lang="en-US" sz="1300" dirty="0"/>
          </a:p>
        </p:txBody>
      </p:sp>
      <p:sp>
        <p:nvSpPr>
          <p:cNvPr id="34" name="Text 32"/>
          <p:cNvSpPr/>
          <p:nvPr/>
        </p:nvSpPr>
        <p:spPr>
          <a:xfrm>
            <a:off x="4416552" y="4645152"/>
            <a:ext cx="4800600" cy="566928"/>
          </a:xfrm>
          <a:prstGeom prst="rect">
            <a:avLst/>
          </a:prstGeom>
          <a:noFill/>
          <a:ln/>
        </p:spPr>
        <p:txBody>
          <a:bodyPr wrap="square" lIns="1016" tIns="1016" rIns="1016" bIns="1016" rtlCol="0" anchor="ctr">
            <a:normAutofit/>
          </a:bodyPr>
          <a:lstStyle/>
          <a:p>
            <a:pPr algn="l" indent="0" marL="0">
              <a:buNone/>
            </a:pPr>
            <a:r>
              <a:rPr lang="en-US" sz="1300" b="1" dirty="0">
                <a:solidFill>
                  <a:srgbClr val="D97706"/>
                </a:solidFill>
              </a:rPr>
              <a:t>保留期：仅故障时陈旧回退</a:t>
            </a:r>
            <a:endParaRPr lang="en-US" sz="1300" dirty="0"/>
          </a:p>
          <a:p>
            <a:pPr algn="l" indent="0" marL="0">
              <a:buNone/>
            </a:pPr>
            <a:r>
              <a:rPr lang="en-US" sz="800" dirty="0">
                <a:solidFill>
                  <a:srgbClr val="64748B"/>
                </a:solidFill>
                <a:latin typeface="Arial" pitchFamily="34" charset="0"/>
                <a:ea typeface="Arial" pitchFamily="34" charset="-122"/>
                <a:cs typeface="Arial" pitchFamily="34" charset="-120"/>
              </a:rPr>
              <a:t>Retention TTL · stale fallback on failure only</a:t>
            </a:r>
            <a:endParaRPr lang="en-US" sz="1300" dirty="0"/>
          </a:p>
        </p:txBody>
      </p:sp>
      <p:sp>
        <p:nvSpPr>
          <p:cNvPr id="35" name="Text 33"/>
          <p:cNvSpPr/>
          <p:nvPr/>
        </p:nvSpPr>
        <p:spPr>
          <a:xfrm>
            <a:off x="9765792" y="4645152"/>
            <a:ext cx="960120" cy="566928"/>
          </a:xfrm>
          <a:prstGeom prst="rect">
            <a:avLst/>
          </a:prstGeom>
          <a:noFill/>
          <a:ln/>
        </p:spPr>
        <p:txBody>
          <a:bodyPr wrap="square" lIns="1016" tIns="1016" rIns="1016" bIns="1016" rtlCol="0" anchor="ctr">
            <a:normAutofit/>
          </a:bodyPr>
          <a:lstStyle/>
          <a:p>
            <a:pPr algn="ctr" indent="0" marL="0">
              <a:buNone/>
            </a:pPr>
            <a:r>
              <a:rPr lang="en-US" sz="1100" b="1" dirty="0">
                <a:solidFill>
                  <a:srgbClr val="DC2626"/>
                </a:solidFill>
              </a:rPr>
              <a:t>无可用行情</a:t>
            </a:r>
            <a:endParaRPr lang="en-US" sz="1100" dirty="0"/>
          </a:p>
          <a:p>
            <a:pPr algn="ctr" indent="0" marL="0">
              <a:buNone/>
            </a:pPr>
            <a:r>
              <a:rPr lang="en-US" sz="700" dirty="0">
                <a:solidFill>
                  <a:srgbClr val="64748B"/>
                </a:solidFill>
                <a:latin typeface="Arial" pitchFamily="34" charset="0"/>
                <a:ea typeface="Arial" pitchFamily="34" charset="-122"/>
                <a:cs typeface="Arial" pitchFamily="34" charset="-120"/>
              </a:rPr>
              <a:t>Unavailable</a:t>
            </a:r>
            <a:endParaRPr lang="en-US" sz="1100" dirty="0"/>
          </a:p>
        </p:txBody>
      </p:sp>
      <p:sp>
        <p:nvSpPr>
          <p:cNvPr id="36" name="Shape 34"/>
          <p:cNvSpPr/>
          <p:nvPr/>
        </p:nvSpPr>
        <p:spPr>
          <a:xfrm>
            <a:off x="2011680" y="5559552"/>
            <a:ext cx="8138160" cy="475488"/>
          </a:xfrm>
          <a:prstGeom prst="roundRect">
            <a:avLst>
              <a:gd name="adj" fmla="val 15385"/>
            </a:avLst>
          </a:prstGeom>
          <a:solidFill>
            <a:srgbClr val="FEE2E2"/>
          </a:solidFill>
          <a:ln w="12700">
            <a:solidFill>
              <a:srgbClr val="FCA5A5"/>
            </a:solidFill>
            <a:prstDash val="solid"/>
          </a:ln>
        </p:spPr>
      </p:sp>
      <p:sp>
        <p:nvSpPr>
          <p:cNvPr id="37" name="Text 35"/>
          <p:cNvSpPr/>
          <p:nvPr/>
        </p:nvSpPr>
        <p:spPr>
          <a:xfrm>
            <a:off x="2240280" y="5623560"/>
            <a:ext cx="7680960" cy="292608"/>
          </a:xfrm>
          <a:prstGeom prst="rect">
            <a:avLst/>
          </a:prstGeom>
          <a:noFill/>
          <a:ln/>
        </p:spPr>
        <p:txBody>
          <a:bodyPr wrap="square" lIns="1016" tIns="1016" rIns="1016" bIns="1016" rtlCol="0" anchor="ctr">
            <a:normAutofit/>
          </a:bodyPr>
          <a:lstStyle/>
          <a:p>
            <a:pPr algn="ctr" indent="0" marL="0">
              <a:buNone/>
            </a:pPr>
            <a:r>
              <a:rPr lang="en-US" sz="1300" b="1" dirty="0">
                <a:solidFill>
                  <a:srgbClr val="DC2626"/>
                </a:solidFill>
              </a:rPr>
              <a:t>真实 Provider 失败时绝不自动伪装成 Mock</a:t>
            </a:r>
            <a:endParaRPr lang="en-US" sz="1300" dirty="0"/>
          </a:p>
          <a:p>
            <a:pPr algn="ctr" indent="0" marL="0">
              <a:buNone/>
            </a:pPr>
            <a:r>
              <a:rPr lang="en-US" sz="820" dirty="0">
                <a:solidFill>
                  <a:srgbClr val="991B1B"/>
                </a:solidFill>
                <a:latin typeface="Arial" pitchFamily="34" charset="0"/>
                <a:ea typeface="Arial" pitchFamily="34" charset="-122"/>
                <a:cs typeface="Arial" pitchFamily="34" charset="-120"/>
              </a:rPr>
              <a:t>A failed real provider never silently falls back to generated Mock data.</a:t>
            </a:r>
            <a:endParaRPr lang="en-US" sz="13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PRODUCT EXPERIENCE</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Dashboard：从交易到组合洞察</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From Trades to Portfolio Insight</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08</a:t>
            </a:r>
            <a:endParaRPr lang="en-US" sz="1800" dirty="0"/>
          </a:p>
        </p:txBody>
      </p:sp>
      <p:sp>
        <p:nvSpPr>
          <p:cNvPr id="6" name="Shape 4"/>
          <p:cNvSpPr/>
          <p:nvPr/>
        </p:nvSpPr>
        <p:spPr>
          <a:xfrm>
            <a:off x="3666744" y="1380744"/>
            <a:ext cx="7891272" cy="4956048"/>
          </a:xfrm>
          <a:prstGeom prst="roundRect">
            <a:avLst>
              <a:gd name="adj" fmla="val 147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7" name="Image 0" descr="Demo Growth dashboard with portfolio valuation and position P&amp;L">    </p:cNvPr>
          <p:cNvPicPr>
            <a:picLocks noChangeAspect="1"/>
          </p:cNvPicPr>
          <p:nvPr/>
        </p:nvPicPr>
        <p:blipFill>
          <a:blip r:embed="rId1"/>
          <a:stretch>
            <a:fillRect/>
          </a:stretch>
        </p:blipFill>
        <p:spPr>
          <a:xfrm>
            <a:off x="3703320" y="1417320"/>
            <a:ext cx="7818120" cy="4882896"/>
          </a:xfrm>
          <a:prstGeom prst="rect">
            <a:avLst/>
          </a:prstGeom>
        </p:spPr>
      </p:pic>
      <p:sp>
        <p:nvSpPr>
          <p:cNvPr id="8" name="Shape 5"/>
          <p:cNvSpPr/>
          <p:nvPr/>
        </p:nvSpPr>
        <p:spPr>
          <a:xfrm>
            <a:off x="676656" y="1600200"/>
            <a:ext cx="493776" cy="493776"/>
          </a:xfrm>
          <a:prstGeom prst="ellipse">
            <a:avLst/>
          </a:prstGeom>
          <a:solidFill>
            <a:srgbClr val="DBEAFE"/>
          </a:solidFill>
          <a:ln w="12700">
            <a:solidFill>
              <a:srgbClr val="DBEAFE"/>
            </a:solidFill>
            <a:prstDash val="solid"/>
          </a:ln>
        </p:spPr>
      </p:sp>
      <p:sp>
        <p:nvSpPr>
          <p:cNvPr id="9" name="Text 6"/>
          <p:cNvSpPr/>
          <p:nvPr/>
        </p:nvSpPr>
        <p:spPr>
          <a:xfrm>
            <a:off x="676656" y="1719072"/>
            <a:ext cx="493776" cy="182880"/>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1</a:t>
            </a:r>
            <a:endParaRPr lang="en-US" sz="1000" dirty="0"/>
          </a:p>
        </p:txBody>
      </p:sp>
      <p:sp>
        <p:nvSpPr>
          <p:cNvPr id="10" name="Text 7"/>
          <p:cNvSpPr/>
          <p:nvPr/>
        </p:nvSpPr>
        <p:spPr>
          <a:xfrm>
            <a:off x="1353312" y="1572768"/>
            <a:ext cx="1965960" cy="621792"/>
          </a:xfrm>
          <a:prstGeom prst="rect">
            <a:avLst/>
          </a:prstGeom>
          <a:noFill/>
          <a:ln/>
        </p:spPr>
        <p:txBody>
          <a:bodyPr wrap="square" lIns="1016" tIns="1016" rIns="1016" bIns="1016" rtlCol="0" anchor="ctr">
            <a:normAutofit/>
          </a:bodyPr>
          <a:lstStyle/>
          <a:p>
            <a:pPr algn="l" indent="0" marL="0">
              <a:buNone/>
            </a:pPr>
            <a:r>
              <a:rPr lang="en-US" sz="1500" b="1" dirty="0">
                <a:solidFill>
                  <a:srgbClr val="0F172A"/>
                </a:solidFill>
              </a:rPr>
              <a:t>统一计算</a:t>
            </a:r>
            <a:endParaRPr lang="en-US" sz="1500" dirty="0"/>
          </a:p>
          <a:p>
            <a:pPr algn="l" indent="0" marL="0">
              <a:buNone/>
            </a:pPr>
            <a:r>
              <a:rPr lang="en-US" sz="830" dirty="0">
                <a:solidFill>
                  <a:srgbClr val="64748B"/>
                </a:solidFill>
                <a:latin typeface="Arial" pitchFamily="34" charset="0"/>
                <a:ea typeface="Arial" pitchFamily="34" charset="-122"/>
                <a:cs typeface="Arial" pitchFamily="34" charset="-120"/>
              </a:rPr>
              <a:t>One backend model</a:t>
            </a:r>
            <a:endParaRPr lang="en-US" sz="1500" dirty="0"/>
          </a:p>
        </p:txBody>
      </p:sp>
      <p:sp>
        <p:nvSpPr>
          <p:cNvPr id="11" name="Shape 8"/>
          <p:cNvSpPr/>
          <p:nvPr/>
        </p:nvSpPr>
        <p:spPr>
          <a:xfrm>
            <a:off x="676656" y="2898648"/>
            <a:ext cx="493776" cy="493776"/>
          </a:xfrm>
          <a:prstGeom prst="ellipse">
            <a:avLst/>
          </a:prstGeom>
          <a:solidFill>
            <a:srgbClr val="FEF3C7"/>
          </a:solidFill>
          <a:ln w="12700">
            <a:solidFill>
              <a:srgbClr val="FEF3C7"/>
            </a:solidFill>
            <a:prstDash val="solid"/>
          </a:ln>
        </p:spPr>
      </p:sp>
      <p:sp>
        <p:nvSpPr>
          <p:cNvPr id="12" name="Text 9"/>
          <p:cNvSpPr/>
          <p:nvPr/>
        </p:nvSpPr>
        <p:spPr>
          <a:xfrm>
            <a:off x="676656" y="3017520"/>
            <a:ext cx="493776" cy="182880"/>
          </a:xfrm>
          <a:prstGeom prst="rect">
            <a:avLst/>
          </a:prstGeom>
          <a:noFill/>
          <a:ln/>
        </p:spPr>
        <p:txBody>
          <a:bodyPr wrap="square" lIns="0" tIns="0" rIns="0" bIns="0"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2</a:t>
            </a:r>
            <a:endParaRPr lang="en-US" sz="1000" dirty="0"/>
          </a:p>
        </p:txBody>
      </p:sp>
      <p:sp>
        <p:nvSpPr>
          <p:cNvPr id="13" name="Text 10"/>
          <p:cNvSpPr/>
          <p:nvPr/>
        </p:nvSpPr>
        <p:spPr>
          <a:xfrm>
            <a:off x="1353312" y="2871216"/>
            <a:ext cx="1965960" cy="621792"/>
          </a:xfrm>
          <a:prstGeom prst="rect">
            <a:avLst/>
          </a:prstGeom>
          <a:noFill/>
          <a:ln/>
        </p:spPr>
        <p:txBody>
          <a:bodyPr wrap="square" lIns="1016" tIns="1016" rIns="1016" bIns="1016" rtlCol="0" anchor="ctr">
            <a:normAutofit/>
          </a:bodyPr>
          <a:lstStyle/>
          <a:p>
            <a:pPr algn="l" indent="0" marL="0">
              <a:buNone/>
            </a:pPr>
            <a:r>
              <a:rPr lang="en-US" sz="1500" b="1" dirty="0">
                <a:solidFill>
                  <a:srgbClr val="0F172A"/>
                </a:solidFill>
              </a:rPr>
              <a:t>状态透明</a:t>
            </a:r>
            <a:endParaRPr lang="en-US" sz="1500" dirty="0"/>
          </a:p>
          <a:p>
            <a:pPr algn="l" indent="0" marL="0">
              <a:buNone/>
            </a:pPr>
            <a:r>
              <a:rPr lang="en-US" sz="830" dirty="0">
                <a:solidFill>
                  <a:srgbClr val="64748B"/>
                </a:solidFill>
                <a:latin typeface="Arial" pitchFamily="34" charset="0"/>
                <a:ea typeface="Arial" pitchFamily="34" charset="-122"/>
                <a:cs typeface="Arial" pitchFamily="34" charset="-120"/>
              </a:rPr>
              <a:t>Source + freshness</a:t>
            </a:r>
            <a:endParaRPr lang="en-US" sz="1500" dirty="0"/>
          </a:p>
        </p:txBody>
      </p:sp>
      <p:sp>
        <p:nvSpPr>
          <p:cNvPr id="14" name="Shape 11"/>
          <p:cNvSpPr/>
          <p:nvPr/>
        </p:nvSpPr>
        <p:spPr>
          <a:xfrm>
            <a:off x="676656" y="4197096"/>
            <a:ext cx="493776" cy="493776"/>
          </a:xfrm>
          <a:prstGeom prst="ellipse">
            <a:avLst/>
          </a:prstGeom>
          <a:solidFill>
            <a:srgbClr val="DBEAFE"/>
          </a:solidFill>
          <a:ln w="12700">
            <a:solidFill>
              <a:srgbClr val="DBEAFE"/>
            </a:solidFill>
            <a:prstDash val="solid"/>
          </a:ln>
        </p:spPr>
      </p:sp>
      <p:sp>
        <p:nvSpPr>
          <p:cNvPr id="15" name="Text 12"/>
          <p:cNvSpPr/>
          <p:nvPr/>
        </p:nvSpPr>
        <p:spPr>
          <a:xfrm>
            <a:off x="676656" y="4315968"/>
            <a:ext cx="493776" cy="182880"/>
          </a:xfrm>
          <a:prstGeom prst="rect">
            <a:avLst/>
          </a:prstGeom>
          <a:noFill/>
          <a:ln/>
        </p:spPr>
        <p:txBody>
          <a:bodyPr wrap="square" lIns="0" tIns="0" rIns="0" bIns="0" rtlCol="0" anchor="ctr"/>
          <a:lstStyle/>
          <a:p>
            <a:pPr algn="ctr" indent="0" marL="0">
              <a:buNone/>
            </a:pPr>
            <a:r>
              <a:rPr lang="en-US" sz="1000" b="1" dirty="0">
                <a:solidFill>
                  <a:srgbClr val="1D4ED8"/>
                </a:solidFill>
                <a:latin typeface="Arial" pitchFamily="34" charset="0"/>
                <a:ea typeface="Arial" pitchFamily="34" charset="-122"/>
                <a:cs typeface="Arial" pitchFamily="34" charset="-120"/>
              </a:rPr>
              <a:t>3</a:t>
            </a:r>
            <a:endParaRPr lang="en-US" sz="1000" dirty="0"/>
          </a:p>
        </p:txBody>
      </p:sp>
      <p:sp>
        <p:nvSpPr>
          <p:cNvPr id="16" name="Text 13"/>
          <p:cNvSpPr/>
          <p:nvPr/>
        </p:nvSpPr>
        <p:spPr>
          <a:xfrm>
            <a:off x="1353312" y="4169664"/>
            <a:ext cx="1965960" cy="621792"/>
          </a:xfrm>
          <a:prstGeom prst="rect">
            <a:avLst/>
          </a:prstGeom>
          <a:noFill/>
          <a:ln/>
        </p:spPr>
        <p:txBody>
          <a:bodyPr wrap="square" lIns="1016" tIns="1016" rIns="1016" bIns="1016" rtlCol="0" anchor="ctr">
            <a:normAutofit/>
          </a:bodyPr>
          <a:lstStyle/>
          <a:p>
            <a:pPr algn="l" indent="0" marL="0">
              <a:buNone/>
            </a:pPr>
            <a:r>
              <a:rPr lang="en-US" sz="1500" b="1" dirty="0">
                <a:solidFill>
                  <a:srgbClr val="0F172A"/>
                </a:solidFill>
              </a:rPr>
              <a:t>历史真实</a:t>
            </a:r>
            <a:endParaRPr lang="en-US" sz="1500" dirty="0"/>
          </a:p>
          <a:p>
            <a:pPr algn="l" indent="0" marL="0">
              <a:buNone/>
            </a:pPr>
            <a:r>
              <a:rPr lang="en-US" sz="830" dirty="0">
                <a:solidFill>
                  <a:srgbClr val="64748B"/>
                </a:solidFill>
                <a:latin typeface="Arial" pitchFamily="34" charset="0"/>
                <a:ea typeface="Arial" pitchFamily="34" charset="-122"/>
                <a:cs typeface="Arial" pitchFamily="34" charset="-120"/>
              </a:rPr>
              <a:t>Persisted snapshots</a:t>
            </a:r>
            <a:endParaRPr lang="en-US" sz="1500" dirty="0"/>
          </a:p>
        </p:txBody>
      </p:sp>
      <p:sp>
        <p:nvSpPr>
          <p:cNvPr id="17" name="Shape 14"/>
          <p:cNvSpPr/>
          <p:nvPr/>
        </p:nvSpPr>
        <p:spPr>
          <a:xfrm>
            <a:off x="676656" y="5458968"/>
            <a:ext cx="2633472" cy="804672"/>
          </a:xfrm>
          <a:prstGeom prst="roundRect">
            <a:avLst>
              <a:gd name="adj" fmla="val 9091"/>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18" name="Text 15"/>
          <p:cNvSpPr/>
          <p:nvPr/>
        </p:nvSpPr>
        <p:spPr>
          <a:xfrm>
            <a:off x="868680" y="5577840"/>
            <a:ext cx="2240280" cy="502920"/>
          </a:xfrm>
          <a:prstGeom prst="rect">
            <a:avLst/>
          </a:prstGeom>
          <a:noFill/>
          <a:ln/>
        </p:spPr>
        <p:txBody>
          <a:bodyPr wrap="square" lIns="1016" tIns="1016" rIns="1016" bIns="1016" rtlCol="0" anchor="ctr">
            <a:normAutofit/>
          </a:bodyPr>
          <a:lstStyle/>
          <a:p>
            <a:pPr algn="ctr" indent="0" marL="0">
              <a:buNone/>
            </a:pPr>
            <a:r>
              <a:rPr lang="en-US" sz="1150" b="1" dirty="0">
                <a:solidFill>
                  <a:srgbClr val="FFFFFF"/>
                </a:solidFill>
              </a:rPr>
              <a:t>不伪造零价格或估值历史</a:t>
            </a:r>
            <a:endParaRPr lang="en-US" sz="1150" dirty="0"/>
          </a:p>
          <a:p>
            <a:pPr algn="ctr" indent="0" marL="0">
              <a:buNone/>
            </a:pPr>
            <a:r>
              <a:rPr lang="en-US" sz="770" dirty="0">
                <a:solidFill>
                  <a:srgbClr val="BFDBFE"/>
                </a:solidFill>
                <a:latin typeface="Arial" pitchFamily="34" charset="0"/>
                <a:ea typeface="Arial" pitchFamily="34" charset="-122"/>
                <a:cs typeface="Arial" pitchFamily="34" charset="-120"/>
              </a:rPr>
              <a:t>No fake zero prices or fabricated history</a:t>
            </a:r>
            <a:endParaRPr lang="en-US" sz="11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OPERATIONS</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产品工作台</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Product Workbench</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09</a:t>
            </a:r>
            <a:endParaRPr lang="en-US" sz="1800" dirty="0"/>
          </a:p>
        </p:txBody>
      </p:sp>
      <p:sp>
        <p:nvSpPr>
          <p:cNvPr id="6" name="Shape 4"/>
          <p:cNvSpPr/>
          <p:nvPr/>
        </p:nvSpPr>
        <p:spPr>
          <a:xfrm>
            <a:off x="621792" y="1572768"/>
            <a:ext cx="3474720" cy="2199132"/>
          </a:xfrm>
          <a:prstGeom prst="roundRect">
            <a:avLst>
              <a:gd name="adj" fmla="val 332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7" name="Image 0" descr="Accounts product page">    </p:cNvPr>
          <p:cNvPicPr>
            <a:picLocks noChangeAspect="1"/>
          </p:cNvPicPr>
          <p:nvPr/>
        </p:nvPicPr>
        <p:blipFill>
          <a:blip r:embed="rId1"/>
          <a:stretch>
            <a:fillRect/>
          </a:stretch>
        </p:blipFill>
        <p:spPr>
          <a:xfrm>
            <a:off x="658368" y="1609344"/>
            <a:ext cx="3401568" cy="2125980"/>
          </a:xfrm>
          <a:prstGeom prst="rect">
            <a:avLst/>
          </a:prstGeom>
        </p:spPr>
      </p:pic>
      <p:sp>
        <p:nvSpPr>
          <p:cNvPr id="8" name="Shape 5"/>
          <p:cNvSpPr/>
          <p:nvPr/>
        </p:nvSpPr>
        <p:spPr>
          <a:xfrm>
            <a:off x="658368" y="3913632"/>
            <a:ext cx="3401568" cy="1444752"/>
          </a:xfrm>
          <a:prstGeom prst="roundRect">
            <a:avLst>
              <a:gd name="adj" fmla="val 506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9" name="Text 6"/>
          <p:cNvSpPr/>
          <p:nvPr/>
        </p:nvSpPr>
        <p:spPr>
          <a:xfrm>
            <a:off x="886968" y="4096512"/>
            <a:ext cx="2944368" cy="502920"/>
          </a:xfrm>
          <a:prstGeom prst="rect">
            <a:avLst/>
          </a:prstGeom>
          <a:noFill/>
          <a:ln/>
        </p:spPr>
        <p:txBody>
          <a:bodyPr wrap="square" lIns="1016" tIns="1016" rIns="1016" bIns="1016" rtlCol="0" anchor="ctr">
            <a:normAutofit/>
          </a:bodyPr>
          <a:lstStyle/>
          <a:p>
            <a:pPr algn="ctr" indent="0" marL="0">
              <a:buNone/>
            </a:pPr>
            <a:r>
              <a:rPr lang="en-US" sz="1600" b="1" dirty="0">
                <a:solidFill>
                  <a:srgbClr val="0F172A"/>
                </a:solidFill>
              </a:rPr>
              <a:t>账户</a:t>
            </a:r>
            <a:endParaRPr lang="en-US" sz="1600" dirty="0"/>
          </a:p>
          <a:p>
            <a:pPr algn="ctr" indent="0" marL="0">
              <a:buNone/>
            </a:pPr>
            <a:r>
              <a:rPr lang="en-US" sz="900" dirty="0">
                <a:solidFill>
                  <a:srgbClr val="64748B"/>
                </a:solidFill>
                <a:latin typeface="Arial" pitchFamily="34" charset="0"/>
                <a:ea typeface="Arial" pitchFamily="34" charset="-122"/>
                <a:cs typeface="Arial" pitchFamily="34" charset="-120"/>
              </a:rPr>
              <a:t>Accounts</a:t>
            </a:r>
            <a:endParaRPr lang="en-US" sz="1600" dirty="0"/>
          </a:p>
        </p:txBody>
      </p:sp>
      <p:sp>
        <p:nvSpPr>
          <p:cNvPr id="10" name="Text 7"/>
          <p:cNvSpPr/>
          <p:nvPr/>
        </p:nvSpPr>
        <p:spPr>
          <a:xfrm>
            <a:off x="914400" y="4736592"/>
            <a:ext cx="2889504" cy="256032"/>
          </a:xfrm>
          <a:prstGeom prst="rect">
            <a:avLst/>
          </a:prstGeom>
          <a:noFill/>
          <a:ln/>
        </p:spPr>
        <p:txBody>
          <a:bodyPr wrap="square" lIns="0" tIns="0" rIns="0" bIns="0" rtlCol="0" anchor="ctr">
            <a:normAutofit/>
          </a:bodyPr>
          <a:lstStyle/>
          <a:p>
            <a:pPr algn="ctr" indent="0" marL="0">
              <a:buNone/>
            </a:pPr>
            <a:r>
              <a:rPr lang="en-US" sz="1050" dirty="0">
                <a:solidFill>
                  <a:srgbClr val="64748B"/>
                </a:solidFill>
              </a:rPr>
              <a:t>账户状态 + 账户级持仓</a:t>
            </a:r>
            <a:endParaRPr lang="en-US" sz="1050" dirty="0"/>
          </a:p>
        </p:txBody>
      </p:sp>
      <p:sp>
        <p:nvSpPr>
          <p:cNvPr id="11" name="Shape 8"/>
          <p:cNvSpPr/>
          <p:nvPr/>
        </p:nvSpPr>
        <p:spPr>
          <a:xfrm>
            <a:off x="4425696" y="1572768"/>
            <a:ext cx="3474720" cy="2199132"/>
          </a:xfrm>
          <a:prstGeom prst="roundRect">
            <a:avLst>
              <a:gd name="adj" fmla="val 332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2" name="Image 1" descr="Activity product page">    </p:cNvPr>
          <p:cNvPicPr>
            <a:picLocks noChangeAspect="1"/>
          </p:cNvPicPr>
          <p:nvPr/>
        </p:nvPicPr>
        <p:blipFill>
          <a:blip r:embed="rId2"/>
          <a:stretch>
            <a:fillRect/>
          </a:stretch>
        </p:blipFill>
        <p:spPr>
          <a:xfrm>
            <a:off x="4462272" y="1609344"/>
            <a:ext cx="3401568" cy="2125980"/>
          </a:xfrm>
          <a:prstGeom prst="rect">
            <a:avLst/>
          </a:prstGeom>
        </p:spPr>
      </p:pic>
      <p:sp>
        <p:nvSpPr>
          <p:cNvPr id="13" name="Shape 9"/>
          <p:cNvSpPr/>
          <p:nvPr/>
        </p:nvSpPr>
        <p:spPr>
          <a:xfrm>
            <a:off x="4462272" y="3913632"/>
            <a:ext cx="3401568" cy="1444752"/>
          </a:xfrm>
          <a:prstGeom prst="roundRect">
            <a:avLst>
              <a:gd name="adj" fmla="val 5063"/>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14" name="Text 10"/>
          <p:cNvSpPr/>
          <p:nvPr/>
        </p:nvSpPr>
        <p:spPr>
          <a:xfrm>
            <a:off x="4690872" y="4096512"/>
            <a:ext cx="2944368" cy="502920"/>
          </a:xfrm>
          <a:prstGeom prst="rect">
            <a:avLst/>
          </a:prstGeom>
          <a:noFill/>
          <a:ln/>
        </p:spPr>
        <p:txBody>
          <a:bodyPr wrap="square" lIns="1016" tIns="1016" rIns="1016" bIns="1016" rtlCol="0" anchor="ctr">
            <a:normAutofit/>
          </a:bodyPr>
          <a:lstStyle/>
          <a:p>
            <a:pPr algn="ctr" indent="0" marL="0">
              <a:buNone/>
            </a:pPr>
            <a:r>
              <a:rPr lang="en-US" sz="1600" b="1" dirty="0">
                <a:solidFill>
                  <a:srgbClr val="0F172A"/>
                </a:solidFill>
              </a:rPr>
              <a:t>交易活动</a:t>
            </a:r>
            <a:endParaRPr lang="en-US" sz="1600" dirty="0"/>
          </a:p>
          <a:p>
            <a:pPr algn="ctr" indent="0" marL="0">
              <a:buNone/>
            </a:pPr>
            <a:r>
              <a:rPr lang="en-US" sz="900" dirty="0">
                <a:solidFill>
                  <a:srgbClr val="64748B"/>
                </a:solidFill>
                <a:latin typeface="Arial" pitchFamily="34" charset="0"/>
                <a:ea typeface="Arial" pitchFamily="34" charset="-122"/>
                <a:cs typeface="Arial" pitchFamily="34" charset="-120"/>
              </a:rPr>
              <a:t>Activity</a:t>
            </a:r>
            <a:endParaRPr lang="en-US" sz="1600" dirty="0"/>
          </a:p>
        </p:txBody>
      </p:sp>
      <p:sp>
        <p:nvSpPr>
          <p:cNvPr id="15" name="Text 11"/>
          <p:cNvSpPr/>
          <p:nvPr/>
        </p:nvSpPr>
        <p:spPr>
          <a:xfrm>
            <a:off x="4718304" y="4736592"/>
            <a:ext cx="2889504" cy="256032"/>
          </a:xfrm>
          <a:prstGeom prst="rect">
            <a:avLst/>
          </a:prstGeom>
          <a:noFill/>
          <a:ln/>
        </p:spPr>
        <p:txBody>
          <a:bodyPr wrap="square" lIns="0" tIns="0" rIns="0" bIns="0" rtlCol="0" anchor="ctr">
            <a:normAutofit/>
          </a:bodyPr>
          <a:lstStyle/>
          <a:p>
            <a:pPr algn="ctr" indent="0" marL="0">
              <a:buNone/>
            </a:pPr>
            <a:r>
              <a:rPr lang="en-US" sz="1050" dirty="0">
                <a:solidFill>
                  <a:srgbClr val="64748B"/>
                </a:solidFill>
              </a:rPr>
              <a:t>录入 + 查询 + 审计操作</a:t>
            </a:r>
            <a:endParaRPr lang="en-US" sz="1050" dirty="0"/>
          </a:p>
        </p:txBody>
      </p:sp>
      <p:sp>
        <p:nvSpPr>
          <p:cNvPr id="16" name="Shape 12"/>
          <p:cNvSpPr/>
          <p:nvPr/>
        </p:nvSpPr>
        <p:spPr>
          <a:xfrm>
            <a:off x="8229600" y="1572768"/>
            <a:ext cx="3474720" cy="2199132"/>
          </a:xfrm>
          <a:prstGeom prst="roundRect">
            <a:avLst>
              <a:gd name="adj" fmla="val 3326"/>
            </a:avLst>
          </a:prstGeom>
          <a:solidFill>
            <a:srgbClr val="FFFFFF"/>
          </a:solidFill>
          <a:ln w="10160">
            <a:solidFill>
              <a:srgbClr val="CBD5E1"/>
            </a:solidFill>
            <a:prstDash val="solid"/>
          </a:ln>
          <a:effectLst>
            <a:outerShdw sx="100000" sy="100000" kx="0" ky="0" algn="bl" rotWithShape="0" blurRad="25400" dist="50800" dir="2700000">
              <a:srgbClr val="64748B">
                <a:alpha val="22000"/>
              </a:srgbClr>
            </a:outerShdw>
          </a:effectLst>
        </p:spPr>
      </p:sp>
      <p:pic>
        <p:nvPicPr>
          <p:cNvPr id="17" name="Image 2" descr="Market Data product page">    </p:cNvPr>
          <p:cNvPicPr>
            <a:picLocks noChangeAspect="1"/>
          </p:cNvPicPr>
          <p:nvPr/>
        </p:nvPicPr>
        <p:blipFill>
          <a:blip r:embed="rId3"/>
          <a:stretch>
            <a:fillRect/>
          </a:stretch>
        </p:blipFill>
        <p:spPr>
          <a:xfrm>
            <a:off x="8266176" y="1609344"/>
            <a:ext cx="3401568" cy="2125980"/>
          </a:xfrm>
          <a:prstGeom prst="rect">
            <a:avLst/>
          </a:prstGeom>
        </p:spPr>
      </p:pic>
      <p:sp>
        <p:nvSpPr>
          <p:cNvPr id="18" name="Shape 13"/>
          <p:cNvSpPr/>
          <p:nvPr/>
        </p:nvSpPr>
        <p:spPr>
          <a:xfrm>
            <a:off x="8266176" y="3913632"/>
            <a:ext cx="3401568" cy="1444752"/>
          </a:xfrm>
          <a:prstGeom prst="roundRect">
            <a:avLst>
              <a:gd name="adj" fmla="val 5063"/>
            </a:avLst>
          </a:prstGeom>
          <a:solidFill>
            <a:srgbClr val="FFFFFF"/>
          </a:solidFill>
          <a:ln w="10160">
            <a:solidFill>
              <a:srgbClr val="DCE5F1"/>
            </a:solidFill>
            <a:prstDash val="solid"/>
          </a:ln>
          <a:effectLst>
            <a:outerShdw sx="100000" sy="100000" kx="0" ky="0" algn="bl" rotWithShape="0" blurRad="19050" dist="50800" dir="2700000">
              <a:srgbClr val="94A3B8">
                <a:alpha val="13000"/>
              </a:srgbClr>
            </a:outerShdw>
          </a:effectLst>
        </p:spPr>
      </p:sp>
      <p:sp>
        <p:nvSpPr>
          <p:cNvPr id="19" name="Text 14"/>
          <p:cNvSpPr/>
          <p:nvPr/>
        </p:nvSpPr>
        <p:spPr>
          <a:xfrm>
            <a:off x="8494776" y="4096512"/>
            <a:ext cx="2944368" cy="502920"/>
          </a:xfrm>
          <a:prstGeom prst="rect">
            <a:avLst/>
          </a:prstGeom>
          <a:noFill/>
          <a:ln/>
        </p:spPr>
        <p:txBody>
          <a:bodyPr wrap="square" lIns="1016" tIns="1016" rIns="1016" bIns="1016" rtlCol="0" anchor="ctr">
            <a:normAutofit/>
          </a:bodyPr>
          <a:lstStyle/>
          <a:p>
            <a:pPr algn="ctr" indent="0" marL="0">
              <a:buNone/>
            </a:pPr>
            <a:r>
              <a:rPr lang="en-US" sz="1600" b="1" dirty="0">
                <a:solidFill>
                  <a:srgbClr val="0F172A"/>
                </a:solidFill>
              </a:rPr>
              <a:t>市场行情</a:t>
            </a:r>
            <a:endParaRPr lang="en-US" sz="1600" dirty="0"/>
          </a:p>
          <a:p>
            <a:pPr algn="ctr" indent="0" marL="0">
              <a:buNone/>
            </a:pPr>
            <a:r>
              <a:rPr lang="en-US" sz="900" dirty="0">
                <a:solidFill>
                  <a:srgbClr val="64748B"/>
                </a:solidFill>
                <a:latin typeface="Arial" pitchFamily="34" charset="0"/>
                <a:ea typeface="Arial" pitchFamily="34" charset="-122"/>
                <a:cs typeface="Arial" pitchFamily="34" charset="-120"/>
              </a:rPr>
              <a:t>Market Data</a:t>
            </a:r>
            <a:endParaRPr lang="en-US" sz="1600" dirty="0"/>
          </a:p>
        </p:txBody>
      </p:sp>
      <p:sp>
        <p:nvSpPr>
          <p:cNvPr id="20" name="Text 15"/>
          <p:cNvSpPr/>
          <p:nvPr/>
        </p:nvSpPr>
        <p:spPr>
          <a:xfrm>
            <a:off x="8522208" y="4736592"/>
            <a:ext cx="2889504" cy="256032"/>
          </a:xfrm>
          <a:prstGeom prst="rect">
            <a:avLst/>
          </a:prstGeom>
          <a:noFill/>
          <a:ln/>
        </p:spPr>
        <p:txBody>
          <a:bodyPr wrap="square" lIns="0" tIns="0" rIns="0" bIns="0" rtlCol="0" anchor="ctr">
            <a:normAutofit/>
          </a:bodyPr>
          <a:lstStyle/>
          <a:p>
            <a:pPr algn="ctr" indent="0" marL="0">
              <a:buNone/>
            </a:pPr>
            <a:r>
              <a:rPr lang="en-US" sz="1050" dirty="0">
                <a:solidFill>
                  <a:srgbClr val="64748B"/>
                </a:solidFill>
              </a:rPr>
              <a:t>搜索 + 刷新 + 故障演练</a:t>
            </a:r>
            <a:endParaRPr lang="en-US" sz="1050" dirty="0"/>
          </a:p>
        </p:txBody>
      </p:sp>
      <p:sp>
        <p:nvSpPr>
          <p:cNvPr id="21" name="Shape 16"/>
          <p:cNvSpPr/>
          <p:nvPr/>
        </p:nvSpPr>
        <p:spPr>
          <a:xfrm>
            <a:off x="1874520" y="5715000"/>
            <a:ext cx="8458200" cy="457200"/>
          </a:xfrm>
          <a:prstGeom prst="roundRect">
            <a:avLst>
              <a:gd name="adj" fmla="val 16000"/>
            </a:avLst>
          </a:prstGeom>
          <a:solidFill>
            <a:srgbClr val="E2E8F0"/>
          </a:solidFill>
          <a:ln w="12700">
            <a:solidFill>
              <a:srgbClr val="E2E8F0"/>
            </a:solidFill>
            <a:prstDash val="solid"/>
          </a:ln>
        </p:spPr>
      </p:sp>
      <p:sp>
        <p:nvSpPr>
          <p:cNvPr id="22" name="Text 17"/>
          <p:cNvSpPr/>
          <p:nvPr/>
        </p:nvSpPr>
        <p:spPr>
          <a:xfrm>
            <a:off x="2130552" y="5779008"/>
            <a:ext cx="7946136" cy="274320"/>
          </a:xfrm>
          <a:prstGeom prst="rect">
            <a:avLst/>
          </a:prstGeom>
          <a:noFill/>
          <a:ln/>
        </p:spPr>
        <p:txBody>
          <a:bodyPr wrap="square" lIns="1016" tIns="1016" rIns="1016" bIns="1016" rtlCol="0" anchor="ctr">
            <a:normAutofit/>
          </a:bodyPr>
          <a:lstStyle/>
          <a:p>
            <a:pPr algn="ctr" indent="0" marL="0">
              <a:buNone/>
            </a:pPr>
            <a:r>
              <a:rPr lang="en-US" sz="1250" b="1" dirty="0">
                <a:solidFill>
                  <a:srgbClr val="334155"/>
                </a:solidFill>
              </a:rPr>
              <a:t>同一信息架构覆盖桌面与移动端 · 状态不只依赖颜色</a:t>
            </a:r>
            <a:endParaRPr lang="en-US" sz="1250" dirty="0"/>
          </a:p>
          <a:p>
            <a:pPr algn="ctr" indent="0" marL="0">
              <a:buNone/>
            </a:pPr>
            <a:r>
              <a:rPr lang="en-US" sz="800" dirty="0">
                <a:solidFill>
                  <a:srgbClr val="64748B"/>
                </a:solidFill>
                <a:latin typeface="Arial" pitchFamily="34" charset="0"/>
                <a:ea typeface="Arial" pitchFamily="34" charset="-122"/>
                <a:cs typeface="Arial" pitchFamily="34" charset="-120"/>
              </a:rPr>
              <a:t>One information architecture for desktop and mobile · Text labels reinforce color</a:t>
            </a:r>
            <a:endParaRPr lang="en-US" sz="12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QUALITY GATE</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工程质量与交付</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Engineering Quality and Delivery</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10</a:t>
            </a:r>
            <a:endParaRPr lang="en-US" sz="1800" dirty="0"/>
          </a:p>
        </p:txBody>
      </p:sp>
      <p:sp>
        <p:nvSpPr>
          <p:cNvPr id="6" name="Shape 4"/>
          <p:cNvSpPr/>
          <p:nvPr/>
        </p:nvSpPr>
        <p:spPr>
          <a:xfrm>
            <a:off x="685800" y="1709928"/>
            <a:ext cx="2057400" cy="1417320"/>
          </a:xfrm>
          <a:prstGeom prst="roundRect">
            <a:avLst>
              <a:gd name="adj" fmla="val 5161"/>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7" name="Text 5"/>
          <p:cNvSpPr/>
          <p:nvPr/>
        </p:nvSpPr>
        <p:spPr>
          <a:xfrm>
            <a:off x="886968"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BACKEND</a:t>
            </a:r>
            <a:endParaRPr lang="en-US" sz="1000" dirty="0"/>
          </a:p>
        </p:txBody>
      </p:sp>
      <p:sp>
        <p:nvSpPr>
          <p:cNvPr id="8" name="Text 6"/>
          <p:cNvSpPr/>
          <p:nvPr/>
        </p:nvSpPr>
        <p:spPr>
          <a:xfrm>
            <a:off x="905256"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Unit + API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Testcontainers</a:t>
            </a:r>
            <a:endParaRPr lang="en-US" sz="850" dirty="0"/>
          </a:p>
        </p:txBody>
      </p:sp>
      <p:sp>
        <p:nvSpPr>
          <p:cNvPr id="9" name="Shape 7"/>
          <p:cNvSpPr/>
          <p:nvPr/>
        </p:nvSpPr>
        <p:spPr>
          <a:xfrm>
            <a:off x="2816352" y="2423160"/>
            <a:ext cx="182880" cy="0"/>
          </a:xfrm>
          <a:prstGeom prst="line">
            <a:avLst/>
          </a:prstGeom>
          <a:noFill/>
          <a:ln w="25400">
            <a:solidFill>
              <a:srgbClr val="94A3B8"/>
            </a:solidFill>
            <a:prstDash val="solid"/>
            <a:headEnd type="none"/>
            <a:tailEnd type="triangle"/>
          </a:ln>
        </p:spPr>
      </p:sp>
      <p:sp>
        <p:nvSpPr>
          <p:cNvPr id="10" name="Shape 8"/>
          <p:cNvSpPr/>
          <p:nvPr/>
        </p:nvSpPr>
        <p:spPr>
          <a:xfrm>
            <a:off x="3090672" y="1709928"/>
            <a:ext cx="2057400" cy="1417320"/>
          </a:xfrm>
          <a:prstGeom prst="roundRect">
            <a:avLst>
              <a:gd name="adj" fmla="val 5161"/>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11" name="Text 9"/>
          <p:cNvSpPr/>
          <p:nvPr/>
        </p:nvSpPr>
        <p:spPr>
          <a:xfrm>
            <a:off x="3291840"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FRONTEND</a:t>
            </a:r>
            <a:endParaRPr lang="en-US" sz="1000" dirty="0"/>
          </a:p>
        </p:txBody>
      </p:sp>
      <p:sp>
        <p:nvSpPr>
          <p:cNvPr id="12" name="Text 10"/>
          <p:cNvSpPr/>
          <p:nvPr/>
        </p:nvSpPr>
        <p:spPr>
          <a:xfrm>
            <a:off x="3310128"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Vitest + ESLint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Production build</a:t>
            </a:r>
            <a:endParaRPr lang="en-US" sz="850" dirty="0"/>
          </a:p>
        </p:txBody>
      </p:sp>
      <p:sp>
        <p:nvSpPr>
          <p:cNvPr id="13" name="Shape 11"/>
          <p:cNvSpPr/>
          <p:nvPr/>
        </p:nvSpPr>
        <p:spPr>
          <a:xfrm>
            <a:off x="5221224" y="2423160"/>
            <a:ext cx="182880" cy="0"/>
          </a:xfrm>
          <a:prstGeom prst="line">
            <a:avLst/>
          </a:prstGeom>
          <a:noFill/>
          <a:ln w="25400">
            <a:solidFill>
              <a:srgbClr val="94A3B8"/>
            </a:solidFill>
            <a:prstDash val="solid"/>
            <a:headEnd type="none"/>
            <a:tailEnd type="triangle"/>
          </a:ln>
        </p:spPr>
      </p:sp>
      <p:sp>
        <p:nvSpPr>
          <p:cNvPr id="14" name="Shape 12"/>
          <p:cNvSpPr/>
          <p:nvPr/>
        </p:nvSpPr>
        <p:spPr>
          <a:xfrm>
            <a:off x="5495544" y="1709928"/>
            <a:ext cx="2057400" cy="1417320"/>
          </a:xfrm>
          <a:prstGeom prst="roundRect">
            <a:avLst>
              <a:gd name="adj" fmla="val 5161"/>
            </a:avLst>
          </a:prstGeom>
          <a:solidFill>
            <a:srgbClr val="EFF6FF"/>
          </a:solidFill>
          <a:ln w="10160">
            <a:solidFill>
              <a:srgbClr val="93C5FD"/>
            </a:solidFill>
            <a:prstDash val="solid"/>
          </a:ln>
          <a:effectLst>
            <a:outerShdw sx="100000" sy="100000" kx="0" ky="0" algn="bl" rotWithShape="0" blurRad="19050" dist="50800" dir="2700000">
              <a:srgbClr val="94A3B8">
                <a:alpha val="13000"/>
              </a:srgbClr>
            </a:outerShdw>
          </a:effectLst>
        </p:spPr>
      </p:sp>
      <p:sp>
        <p:nvSpPr>
          <p:cNvPr id="15" name="Text 13"/>
          <p:cNvSpPr/>
          <p:nvPr/>
        </p:nvSpPr>
        <p:spPr>
          <a:xfrm>
            <a:off x="5696712"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COMPOSE</a:t>
            </a:r>
            <a:endParaRPr lang="en-US" sz="1000" dirty="0"/>
          </a:p>
        </p:txBody>
      </p:sp>
      <p:sp>
        <p:nvSpPr>
          <p:cNvPr id="16" name="Text 14"/>
          <p:cNvSpPr/>
          <p:nvPr/>
        </p:nvSpPr>
        <p:spPr>
          <a:xfrm>
            <a:off x="5715000"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Lifecycle + P&amp;L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Stale fallback</a:t>
            </a:r>
            <a:endParaRPr lang="en-US" sz="850" dirty="0"/>
          </a:p>
        </p:txBody>
      </p:sp>
      <p:sp>
        <p:nvSpPr>
          <p:cNvPr id="17" name="Shape 15"/>
          <p:cNvSpPr/>
          <p:nvPr/>
        </p:nvSpPr>
        <p:spPr>
          <a:xfrm>
            <a:off x="7626096" y="2423160"/>
            <a:ext cx="182880" cy="0"/>
          </a:xfrm>
          <a:prstGeom prst="line">
            <a:avLst/>
          </a:prstGeom>
          <a:noFill/>
          <a:ln w="25400">
            <a:solidFill>
              <a:srgbClr val="94A3B8"/>
            </a:solidFill>
            <a:prstDash val="solid"/>
            <a:headEnd type="none"/>
            <a:tailEnd type="triangle"/>
          </a:ln>
        </p:spPr>
      </p:sp>
      <p:sp>
        <p:nvSpPr>
          <p:cNvPr id="18" name="Shape 16"/>
          <p:cNvSpPr/>
          <p:nvPr/>
        </p:nvSpPr>
        <p:spPr>
          <a:xfrm>
            <a:off x="7900416" y="1709928"/>
            <a:ext cx="2057400" cy="1417320"/>
          </a:xfrm>
          <a:prstGeom prst="roundRect">
            <a:avLst>
              <a:gd name="adj" fmla="val 5161"/>
            </a:avLst>
          </a:prstGeom>
          <a:solidFill>
            <a:srgbClr val="FFFFFF"/>
          </a:solidFill>
          <a:ln w="10160">
            <a:solidFill>
              <a:srgbClr val="CBD5E1"/>
            </a:solidFill>
            <a:prstDash val="solid"/>
          </a:ln>
          <a:effectLst>
            <a:outerShdw sx="100000" sy="100000" kx="0" ky="0" algn="bl" rotWithShape="0" blurRad="19050" dist="50800" dir="2700000">
              <a:srgbClr val="94A3B8">
                <a:alpha val="13000"/>
              </a:srgbClr>
            </a:outerShdw>
          </a:effectLst>
        </p:spPr>
      </p:sp>
      <p:sp>
        <p:nvSpPr>
          <p:cNvPr id="19" name="Text 17"/>
          <p:cNvSpPr/>
          <p:nvPr/>
        </p:nvSpPr>
        <p:spPr>
          <a:xfrm>
            <a:off x="8101584" y="1929384"/>
            <a:ext cx="1655064" cy="219456"/>
          </a:xfrm>
          <a:prstGeom prst="rect">
            <a:avLst/>
          </a:prstGeom>
          <a:noFill/>
          <a:ln/>
        </p:spPr>
        <p:txBody>
          <a:bodyPr wrap="square" lIns="0" tIns="0" rIns="0" bIns="0" rtlCol="0" anchor="ctr"/>
          <a:lstStyle/>
          <a:p>
            <a:pPr algn="ctr" indent="0" marL="0">
              <a:buNone/>
            </a:pPr>
            <a:r>
              <a:rPr lang="en-US" sz="1000" b="1" spc="80" kern="0" dirty="0">
                <a:solidFill>
                  <a:srgbClr val="2563EB"/>
                </a:solidFill>
                <a:latin typeface="Arial" pitchFamily="34" charset="0"/>
                <a:ea typeface="Arial" pitchFamily="34" charset="-122"/>
                <a:cs typeface="Arial" pitchFamily="34" charset="-120"/>
              </a:rPr>
              <a:t>E2E</a:t>
            </a:r>
            <a:endParaRPr lang="en-US" sz="1000" dirty="0"/>
          </a:p>
        </p:txBody>
      </p:sp>
      <p:sp>
        <p:nvSpPr>
          <p:cNvPr id="20" name="Text 18"/>
          <p:cNvSpPr/>
          <p:nvPr/>
        </p:nvSpPr>
        <p:spPr>
          <a:xfrm>
            <a:off x="8119872" y="2331720"/>
            <a:ext cx="1618488" cy="475488"/>
          </a:xfrm>
          <a:prstGeom prst="rect">
            <a:avLst/>
          </a:prstGeom>
          <a:noFill/>
          <a:ln/>
        </p:spPr>
        <p:txBody>
          <a:bodyPr wrap="square" lIns="0" tIns="0" rIns="0" bIns="0" rtlCol="0" anchor="ctr">
            <a:normAutofit/>
          </a:bodyPr>
          <a:lstStyle/>
          <a:p>
            <a:pPr algn="ctr" indent="0" marL="0">
              <a:buNone/>
            </a:pPr>
            <a:r>
              <a:rPr lang="en-US" sz="850" dirty="0">
                <a:solidFill>
                  <a:srgbClr val="334155"/>
                </a:solidFill>
                <a:latin typeface="Arial" pitchFamily="34" charset="0"/>
                <a:ea typeface="Arial" pitchFamily="34" charset="-122"/>
                <a:cs typeface="Arial" pitchFamily="34" charset="-120"/>
              </a:rPr>
              <a:t>Playwright desktop +</a:t>
            </a:r>
            <a:endParaRPr lang="en-US" sz="850" dirty="0"/>
          </a:p>
          <a:p>
            <a:pPr algn="ctr" indent="0" marL="0">
              <a:buNone/>
            </a:pPr>
            <a:r>
              <a:rPr lang="en-US" sz="850" dirty="0">
                <a:solidFill>
                  <a:srgbClr val="334155"/>
                </a:solidFill>
                <a:latin typeface="Arial" pitchFamily="34" charset="0"/>
                <a:ea typeface="Arial" pitchFamily="34" charset="-122"/>
                <a:cs typeface="Arial" pitchFamily="34" charset="-120"/>
              </a:rPr>
              <a:t>mobile journey</a:t>
            </a:r>
            <a:endParaRPr lang="en-US" sz="850" dirty="0"/>
          </a:p>
        </p:txBody>
      </p:sp>
      <p:sp>
        <p:nvSpPr>
          <p:cNvPr id="21" name="Shape 19"/>
          <p:cNvSpPr/>
          <p:nvPr/>
        </p:nvSpPr>
        <p:spPr>
          <a:xfrm>
            <a:off x="10030968" y="2423160"/>
            <a:ext cx="182880" cy="0"/>
          </a:xfrm>
          <a:prstGeom prst="line">
            <a:avLst/>
          </a:prstGeom>
          <a:noFill/>
          <a:ln w="25400">
            <a:solidFill>
              <a:srgbClr val="94A3B8"/>
            </a:solidFill>
            <a:prstDash val="solid"/>
            <a:headEnd type="none"/>
            <a:tailEnd type="triangle"/>
          </a:ln>
        </p:spPr>
      </p:sp>
      <p:sp>
        <p:nvSpPr>
          <p:cNvPr id="22" name="Shape 20"/>
          <p:cNvSpPr/>
          <p:nvPr/>
        </p:nvSpPr>
        <p:spPr>
          <a:xfrm>
            <a:off x="10287000" y="1627632"/>
            <a:ext cx="1234440" cy="1581912"/>
          </a:xfrm>
          <a:prstGeom prst="roundRect">
            <a:avLst>
              <a:gd name="adj" fmla="val 5926"/>
            </a:avLst>
          </a:prstGeom>
          <a:solidFill>
            <a:srgbClr val="DCFCE7"/>
          </a:solidFill>
          <a:ln w="10160">
            <a:solidFill>
              <a:srgbClr val="86EFAC"/>
            </a:solidFill>
            <a:prstDash val="solid"/>
          </a:ln>
          <a:effectLst>
            <a:outerShdw sx="100000" sy="100000" kx="0" ky="0" algn="bl" rotWithShape="0" blurRad="19050" dist="50800" dir="2700000">
              <a:srgbClr val="94A3B8">
                <a:alpha val="13000"/>
              </a:srgbClr>
            </a:outerShdw>
          </a:effectLst>
        </p:spPr>
      </p:sp>
      <p:sp>
        <p:nvSpPr>
          <p:cNvPr id="23" name="Shape 21"/>
          <p:cNvSpPr/>
          <p:nvPr/>
        </p:nvSpPr>
        <p:spPr>
          <a:xfrm>
            <a:off x="10671048" y="1856232"/>
            <a:ext cx="475488" cy="475488"/>
          </a:xfrm>
          <a:prstGeom prst="ellipse">
            <a:avLst/>
          </a:prstGeom>
          <a:solidFill>
            <a:srgbClr val="15803D"/>
          </a:solidFill>
          <a:ln w="12700">
            <a:solidFill>
              <a:srgbClr val="15803D"/>
            </a:solidFill>
            <a:prstDash val="solid"/>
          </a:ln>
        </p:spPr>
      </p:sp>
      <p:sp>
        <p:nvSpPr>
          <p:cNvPr id="24" name="Text 22"/>
          <p:cNvSpPr/>
          <p:nvPr/>
        </p:nvSpPr>
        <p:spPr>
          <a:xfrm>
            <a:off x="10671048" y="1956816"/>
            <a:ext cx="475488"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25" name="Text 23"/>
          <p:cNvSpPr/>
          <p:nvPr/>
        </p:nvSpPr>
        <p:spPr>
          <a:xfrm>
            <a:off x="10469880" y="2487168"/>
            <a:ext cx="868680" cy="475488"/>
          </a:xfrm>
          <a:prstGeom prst="rect">
            <a:avLst/>
          </a:prstGeom>
          <a:noFill/>
          <a:ln/>
        </p:spPr>
        <p:txBody>
          <a:bodyPr wrap="square" lIns="1016" tIns="1016" rIns="1016" bIns="1016" rtlCol="0" anchor="ctr">
            <a:normAutofit/>
          </a:bodyPr>
          <a:lstStyle/>
          <a:p>
            <a:pPr algn="ctr" indent="0" marL="0">
              <a:buNone/>
            </a:pPr>
            <a:r>
              <a:rPr lang="en-US" sz="1150" b="1" dirty="0">
                <a:solidFill>
                  <a:srgbClr val="15803D"/>
                </a:solidFill>
              </a:rPr>
              <a:t>统一门禁</a:t>
            </a:r>
            <a:endParaRPr lang="en-US" sz="1150" dirty="0"/>
          </a:p>
          <a:p>
            <a:pPr algn="ctr" indent="0" marL="0">
              <a:buNone/>
            </a:pPr>
            <a:r>
              <a:rPr lang="en-US" sz="700" dirty="0">
                <a:solidFill>
                  <a:srgbClr val="15803D"/>
                </a:solidFill>
                <a:latin typeface="Arial" pitchFamily="34" charset="0"/>
                <a:ea typeface="Arial" pitchFamily="34" charset="-122"/>
                <a:cs typeface="Arial" pitchFamily="34" charset="-120"/>
              </a:rPr>
              <a:t>QUALITY GATE</a:t>
            </a:r>
            <a:endParaRPr lang="en-US" sz="1150" dirty="0"/>
          </a:p>
        </p:txBody>
      </p:sp>
      <p:sp>
        <p:nvSpPr>
          <p:cNvPr id="26" name="Text 24"/>
          <p:cNvSpPr/>
          <p:nvPr/>
        </p:nvSpPr>
        <p:spPr>
          <a:xfrm>
            <a:off x="713232" y="3749040"/>
            <a:ext cx="2560320" cy="228600"/>
          </a:xfrm>
          <a:prstGeom prst="rect">
            <a:avLst/>
          </a:prstGeom>
          <a:noFill/>
          <a:ln/>
        </p:spPr>
        <p:txBody>
          <a:bodyPr wrap="square" lIns="0" tIns="0" rIns="0" bIns="0" rtlCol="0" anchor="ctr"/>
          <a:lstStyle/>
          <a:p>
            <a:pPr indent="0" marL="0">
              <a:buNone/>
            </a:pPr>
            <a:r>
              <a:rPr lang="en-US" sz="900" b="1" spc="120" kern="0" dirty="0">
                <a:solidFill>
                  <a:srgbClr val="2563EB"/>
                </a:solidFill>
                <a:latin typeface="Arial" pitchFamily="34" charset="0"/>
                <a:ea typeface="Arial" pitchFamily="34" charset="-122"/>
                <a:cs typeface="Arial" pitchFamily="34" charset="-120"/>
              </a:rPr>
              <a:t>COVERAGE BY RISK</a:t>
            </a:r>
            <a:endParaRPr lang="en-US" sz="900" dirty="0"/>
          </a:p>
        </p:txBody>
      </p:sp>
      <p:sp>
        <p:nvSpPr>
          <p:cNvPr id="27" name="Shape 25"/>
          <p:cNvSpPr/>
          <p:nvPr/>
        </p:nvSpPr>
        <p:spPr>
          <a:xfrm>
            <a:off x="749808" y="4215384"/>
            <a:ext cx="219456" cy="219456"/>
          </a:xfrm>
          <a:prstGeom prst="ellipse">
            <a:avLst/>
          </a:prstGeom>
          <a:solidFill>
            <a:srgbClr val="2563EB"/>
          </a:solidFill>
          <a:ln w="12700">
            <a:solidFill>
              <a:srgbClr val="2563EB"/>
            </a:solidFill>
            <a:prstDash val="solid"/>
          </a:ln>
        </p:spPr>
      </p:sp>
      <p:sp>
        <p:nvSpPr>
          <p:cNvPr id="28" name="Text 26"/>
          <p:cNvSpPr/>
          <p:nvPr/>
        </p:nvSpPr>
        <p:spPr>
          <a:xfrm>
            <a:off x="1115568" y="4133088"/>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rPr>
              <a:t>领域规则</a:t>
            </a:r>
            <a:endParaRPr lang="en-US" sz="1050" dirty="0"/>
          </a:p>
          <a:p>
            <a:pPr algn="l" indent="0" marL="0">
              <a:buNone/>
            </a:pPr>
            <a:r>
              <a:rPr lang="en-US" sz="720" dirty="0">
                <a:solidFill>
                  <a:srgbClr val="64748B"/>
                </a:solidFill>
                <a:latin typeface="Arial" pitchFamily="34" charset="0"/>
                <a:ea typeface="Arial" pitchFamily="34" charset="-122"/>
                <a:cs typeface="Arial" pitchFamily="34" charset="-120"/>
              </a:rPr>
              <a:t>Domain rules</a:t>
            </a:r>
            <a:endParaRPr lang="en-US" sz="1050" dirty="0"/>
          </a:p>
        </p:txBody>
      </p:sp>
      <p:sp>
        <p:nvSpPr>
          <p:cNvPr id="29" name="Text 27"/>
          <p:cNvSpPr/>
          <p:nvPr/>
        </p:nvSpPr>
        <p:spPr>
          <a:xfrm>
            <a:off x="3310128" y="4178808"/>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Trade / Position / P&amp;L</a:t>
            </a:r>
            <a:endParaRPr lang="en-US" sz="850" dirty="0"/>
          </a:p>
        </p:txBody>
      </p:sp>
      <p:sp>
        <p:nvSpPr>
          <p:cNvPr id="30" name="Shape 28"/>
          <p:cNvSpPr/>
          <p:nvPr/>
        </p:nvSpPr>
        <p:spPr>
          <a:xfrm>
            <a:off x="749808" y="4736592"/>
            <a:ext cx="219456" cy="219456"/>
          </a:xfrm>
          <a:prstGeom prst="ellipse">
            <a:avLst/>
          </a:prstGeom>
          <a:solidFill>
            <a:srgbClr val="2563EB"/>
          </a:solidFill>
          <a:ln w="12700">
            <a:solidFill>
              <a:srgbClr val="2563EB"/>
            </a:solidFill>
            <a:prstDash val="solid"/>
          </a:ln>
        </p:spPr>
      </p:sp>
      <p:sp>
        <p:nvSpPr>
          <p:cNvPr id="31" name="Text 29"/>
          <p:cNvSpPr/>
          <p:nvPr/>
        </p:nvSpPr>
        <p:spPr>
          <a:xfrm>
            <a:off x="1115568" y="4654296"/>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rPr>
              <a:t>架构边界</a:t>
            </a:r>
            <a:endParaRPr lang="en-US" sz="1050" dirty="0"/>
          </a:p>
          <a:p>
            <a:pPr algn="l" indent="0" marL="0">
              <a:buNone/>
            </a:pPr>
            <a:r>
              <a:rPr lang="en-US" sz="720" dirty="0">
                <a:solidFill>
                  <a:srgbClr val="64748B"/>
                </a:solidFill>
                <a:latin typeface="Arial" pitchFamily="34" charset="0"/>
                <a:ea typeface="Arial" pitchFamily="34" charset="-122"/>
                <a:cs typeface="Arial" pitchFamily="34" charset="-120"/>
              </a:rPr>
              <a:t>Architecture</a:t>
            </a:r>
            <a:endParaRPr lang="en-US" sz="1050" dirty="0"/>
          </a:p>
        </p:txBody>
      </p:sp>
      <p:sp>
        <p:nvSpPr>
          <p:cNvPr id="32" name="Text 30"/>
          <p:cNvSpPr/>
          <p:nvPr/>
        </p:nvSpPr>
        <p:spPr>
          <a:xfrm>
            <a:off x="3310128" y="4700016"/>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ArchUnit dependency checks</a:t>
            </a:r>
            <a:endParaRPr lang="en-US" sz="850" dirty="0"/>
          </a:p>
        </p:txBody>
      </p:sp>
      <p:sp>
        <p:nvSpPr>
          <p:cNvPr id="33" name="Shape 31"/>
          <p:cNvSpPr/>
          <p:nvPr/>
        </p:nvSpPr>
        <p:spPr>
          <a:xfrm>
            <a:off x="749808" y="5257800"/>
            <a:ext cx="219456" cy="219456"/>
          </a:xfrm>
          <a:prstGeom prst="ellipse">
            <a:avLst/>
          </a:prstGeom>
          <a:solidFill>
            <a:srgbClr val="15803D"/>
          </a:solidFill>
          <a:ln w="12700">
            <a:solidFill>
              <a:srgbClr val="15803D"/>
            </a:solidFill>
            <a:prstDash val="solid"/>
          </a:ln>
        </p:spPr>
      </p:sp>
      <p:sp>
        <p:nvSpPr>
          <p:cNvPr id="34" name="Text 32"/>
          <p:cNvSpPr/>
          <p:nvPr/>
        </p:nvSpPr>
        <p:spPr>
          <a:xfrm>
            <a:off x="1115568" y="5175504"/>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rPr>
              <a:t>真实依赖</a:t>
            </a:r>
            <a:endParaRPr lang="en-US" sz="1050" dirty="0"/>
          </a:p>
          <a:p>
            <a:pPr algn="l" indent="0" marL="0">
              <a:buNone/>
            </a:pPr>
            <a:r>
              <a:rPr lang="en-US" sz="720" dirty="0">
                <a:solidFill>
                  <a:srgbClr val="64748B"/>
                </a:solidFill>
                <a:latin typeface="Arial" pitchFamily="34" charset="0"/>
                <a:ea typeface="Arial" pitchFamily="34" charset="-122"/>
                <a:cs typeface="Arial" pitchFamily="34" charset="-120"/>
              </a:rPr>
              <a:t>Real dependencies</a:t>
            </a:r>
            <a:endParaRPr lang="en-US" sz="1050" dirty="0"/>
          </a:p>
        </p:txBody>
      </p:sp>
      <p:sp>
        <p:nvSpPr>
          <p:cNvPr id="35" name="Text 33"/>
          <p:cNvSpPr/>
          <p:nvPr/>
        </p:nvSpPr>
        <p:spPr>
          <a:xfrm>
            <a:off x="3310128" y="5221224"/>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MySQL 8.4 + Redis 7.4</a:t>
            </a:r>
            <a:endParaRPr lang="en-US" sz="850" dirty="0"/>
          </a:p>
        </p:txBody>
      </p:sp>
      <p:sp>
        <p:nvSpPr>
          <p:cNvPr id="36" name="Shape 34"/>
          <p:cNvSpPr/>
          <p:nvPr/>
        </p:nvSpPr>
        <p:spPr>
          <a:xfrm>
            <a:off x="749808" y="5779008"/>
            <a:ext cx="219456" cy="219456"/>
          </a:xfrm>
          <a:prstGeom prst="ellipse">
            <a:avLst/>
          </a:prstGeom>
          <a:solidFill>
            <a:srgbClr val="15803D"/>
          </a:solidFill>
          <a:ln w="12700">
            <a:solidFill>
              <a:srgbClr val="15803D"/>
            </a:solidFill>
            <a:prstDash val="solid"/>
          </a:ln>
        </p:spPr>
      </p:sp>
      <p:sp>
        <p:nvSpPr>
          <p:cNvPr id="37" name="Text 35"/>
          <p:cNvSpPr/>
          <p:nvPr/>
        </p:nvSpPr>
        <p:spPr>
          <a:xfrm>
            <a:off x="1115568" y="5696712"/>
            <a:ext cx="2084832" cy="347472"/>
          </a:xfrm>
          <a:prstGeom prst="rect">
            <a:avLst/>
          </a:prstGeom>
          <a:noFill/>
          <a:ln/>
        </p:spPr>
        <p:txBody>
          <a:bodyPr wrap="square" lIns="1016" tIns="1016" rIns="1016" bIns="1016" rtlCol="0" anchor="ctr">
            <a:normAutofit/>
          </a:bodyPr>
          <a:lstStyle/>
          <a:p>
            <a:pPr algn="l" indent="0" marL="0">
              <a:buNone/>
            </a:pPr>
            <a:r>
              <a:rPr lang="en-US" sz="1050" b="1" dirty="0">
                <a:solidFill>
                  <a:srgbClr val="0F172A"/>
                </a:solidFill>
              </a:rPr>
              <a:t>用户旅程</a:t>
            </a:r>
            <a:endParaRPr lang="en-US" sz="1050" dirty="0"/>
          </a:p>
          <a:p>
            <a:pPr algn="l" indent="0" marL="0">
              <a:buNone/>
            </a:pPr>
            <a:r>
              <a:rPr lang="en-US" sz="720" dirty="0">
                <a:solidFill>
                  <a:srgbClr val="64748B"/>
                </a:solidFill>
                <a:latin typeface="Arial" pitchFamily="34" charset="0"/>
                <a:ea typeface="Arial" pitchFamily="34" charset="-122"/>
                <a:cs typeface="Arial" pitchFamily="34" charset="-120"/>
              </a:rPr>
              <a:t>User journey</a:t>
            </a:r>
            <a:endParaRPr lang="en-US" sz="1050" dirty="0"/>
          </a:p>
        </p:txBody>
      </p:sp>
      <p:sp>
        <p:nvSpPr>
          <p:cNvPr id="38" name="Text 36"/>
          <p:cNvSpPr/>
          <p:nvPr/>
        </p:nvSpPr>
        <p:spPr>
          <a:xfrm>
            <a:off x="3310128" y="5742432"/>
            <a:ext cx="4160520" cy="228600"/>
          </a:xfrm>
          <a:prstGeom prst="rect">
            <a:avLst/>
          </a:prstGeom>
          <a:noFill/>
          <a:ln/>
        </p:spPr>
        <p:txBody>
          <a:bodyPr wrap="square" lIns="0" tIns="0" rIns="0" bIns="0" rtlCol="0" anchor="ctr"/>
          <a:lstStyle/>
          <a:p>
            <a:pPr indent="0" marL="0">
              <a:buNone/>
            </a:pPr>
            <a:r>
              <a:rPr lang="en-US" sz="850" dirty="0">
                <a:solidFill>
                  <a:srgbClr val="64748B"/>
                </a:solidFill>
                <a:latin typeface="Arial" pitchFamily="34" charset="0"/>
                <a:ea typeface="Arial" pitchFamily="34" charset="-122"/>
                <a:cs typeface="Arial" pitchFamily="34" charset="-120"/>
              </a:rPr>
              <a:t>Booking → outage → recovery</a:t>
            </a:r>
            <a:endParaRPr lang="en-US" sz="850" dirty="0"/>
          </a:p>
        </p:txBody>
      </p:sp>
      <p:sp>
        <p:nvSpPr>
          <p:cNvPr id="39" name="Shape 37"/>
          <p:cNvSpPr/>
          <p:nvPr/>
        </p:nvSpPr>
        <p:spPr>
          <a:xfrm>
            <a:off x="7680960" y="3950208"/>
            <a:ext cx="3794760" cy="1984248"/>
          </a:xfrm>
          <a:prstGeom prst="roundRect">
            <a:avLst>
              <a:gd name="adj" fmla="val 3687"/>
            </a:avLst>
          </a:prstGeom>
          <a:solidFill>
            <a:srgbClr val="0F172A"/>
          </a:solidFill>
          <a:ln w="10160">
            <a:solidFill>
              <a:srgbClr val="0F172A"/>
            </a:solidFill>
            <a:prstDash val="solid"/>
          </a:ln>
          <a:effectLst>
            <a:outerShdw sx="100000" sy="100000" kx="0" ky="0" algn="bl" rotWithShape="0" blurRad="19050" dist="50800" dir="2700000">
              <a:srgbClr val="94A3B8">
                <a:alpha val="13000"/>
              </a:srgbClr>
            </a:outerShdw>
          </a:effectLst>
        </p:spPr>
      </p:sp>
      <p:sp>
        <p:nvSpPr>
          <p:cNvPr id="40" name="Text 38"/>
          <p:cNvSpPr/>
          <p:nvPr/>
        </p:nvSpPr>
        <p:spPr>
          <a:xfrm>
            <a:off x="8028432" y="4270248"/>
            <a:ext cx="3108960" cy="640080"/>
          </a:xfrm>
          <a:prstGeom prst="rect">
            <a:avLst/>
          </a:prstGeom>
          <a:noFill/>
          <a:ln/>
        </p:spPr>
        <p:txBody>
          <a:bodyPr wrap="square" lIns="1016" tIns="1016" rIns="1016" bIns="1016" rtlCol="0" anchor="ctr">
            <a:normAutofit/>
          </a:bodyPr>
          <a:lstStyle/>
          <a:p>
            <a:pPr algn="ctr" indent="0" marL="0">
              <a:buNone/>
            </a:pPr>
            <a:r>
              <a:rPr lang="en-US" sz="1600" b="1" dirty="0">
                <a:solidFill>
                  <a:srgbClr val="FFFFFF"/>
                </a:solidFill>
              </a:rPr>
              <a:t>每个失败都留下可诊断证据</a:t>
            </a:r>
            <a:endParaRPr lang="en-US" sz="1600" dirty="0"/>
          </a:p>
          <a:p>
            <a:pPr algn="ctr" indent="0" marL="0">
              <a:buNone/>
            </a:pPr>
            <a:r>
              <a:rPr lang="en-US" sz="900" dirty="0">
                <a:solidFill>
                  <a:srgbClr val="BFDBFE"/>
                </a:solidFill>
                <a:latin typeface="Arial" pitchFamily="34" charset="0"/>
                <a:ea typeface="Arial" pitchFamily="34" charset="-122"/>
                <a:cs typeface="Arial" pitchFamily="34" charset="-120"/>
              </a:rPr>
              <a:t>Every failure produces useful diagnostics</a:t>
            </a:r>
            <a:endParaRPr lang="en-US" sz="1600" dirty="0"/>
          </a:p>
        </p:txBody>
      </p:sp>
      <p:sp>
        <p:nvSpPr>
          <p:cNvPr id="41" name="Text 39"/>
          <p:cNvSpPr/>
          <p:nvPr/>
        </p:nvSpPr>
        <p:spPr>
          <a:xfrm>
            <a:off x="8101584" y="5184648"/>
            <a:ext cx="2962656" cy="320040"/>
          </a:xfrm>
          <a:prstGeom prst="rect">
            <a:avLst/>
          </a:prstGeom>
          <a:noFill/>
          <a:ln/>
        </p:spPr>
        <p:txBody>
          <a:bodyPr wrap="square" lIns="0" tIns="0" rIns="0" bIns="0" rtlCol="0" anchor="ctr">
            <a:normAutofit/>
          </a:bodyPr>
          <a:lstStyle/>
          <a:p>
            <a:pPr algn="ctr" indent="0" marL="0">
              <a:buNone/>
            </a:pPr>
            <a:r>
              <a:rPr lang="en-US" sz="850" dirty="0">
                <a:solidFill>
                  <a:srgbClr val="94A3B8"/>
                </a:solidFill>
                <a:latin typeface="Arial" pitchFamily="34" charset="0"/>
                <a:ea typeface="Arial" pitchFamily="34" charset="-122"/>
                <a:cs typeface="Arial" pitchFamily="34" charset="-120"/>
              </a:rPr>
              <a:t>Reports · traces · screenshots · videos · isolated Compose logs</a:t>
            </a:r>
            <a:endParaRPr lang="en-US" sz="85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0040"/>
            <a:ext cx="2926080" cy="182880"/>
          </a:xfrm>
          <a:prstGeom prst="rect">
            <a:avLst/>
          </a:prstGeom>
          <a:noFill/>
          <a:ln/>
        </p:spPr>
        <p:txBody>
          <a:bodyPr wrap="square" lIns="0" tIns="0" rIns="0" bIns="0" rtlCol="0" anchor="ctr"/>
          <a:lstStyle/>
          <a:p>
            <a:pPr indent="0" marL="0">
              <a:buNone/>
            </a:pPr>
            <a:r>
              <a:rPr lang="en-US" sz="800" b="1" spc="150" kern="0" dirty="0">
                <a:solidFill>
                  <a:srgbClr val="2563EB"/>
                </a:solidFill>
                <a:latin typeface="Arial" pitchFamily="34" charset="0"/>
                <a:ea typeface="Arial" pitchFamily="34" charset="-122"/>
                <a:cs typeface="Arial" pitchFamily="34" charset="-120"/>
              </a:rPr>
              <a:t>WHAT COMES NEXT</a:t>
            </a:r>
            <a:endParaRPr lang="en-US" sz="800" dirty="0"/>
          </a:p>
        </p:txBody>
      </p:sp>
      <p:sp>
        <p:nvSpPr>
          <p:cNvPr id="3" name="Text 1"/>
          <p:cNvSpPr/>
          <p:nvPr/>
        </p:nvSpPr>
        <p:spPr>
          <a:xfrm>
            <a:off x="566928" y="566928"/>
            <a:ext cx="7680960" cy="411480"/>
          </a:xfrm>
          <a:prstGeom prst="rect">
            <a:avLst/>
          </a:prstGeom>
          <a:noFill/>
          <a:ln/>
        </p:spPr>
        <p:txBody>
          <a:bodyPr wrap="square" lIns="0" tIns="0" rIns="0" bIns="0" rtlCol="0" anchor="ctr"/>
          <a:lstStyle/>
          <a:p>
            <a:pPr indent="0" marL="0">
              <a:buNone/>
            </a:pPr>
            <a:r>
              <a:rPr lang="en-US" sz="2400" b="1" dirty="0">
                <a:solidFill>
                  <a:srgbClr val="0F172A"/>
                </a:solidFill>
              </a:rPr>
              <a:t>已知边界与演进路线</a:t>
            </a:r>
            <a:endParaRPr lang="en-US" sz="2400" dirty="0"/>
          </a:p>
        </p:txBody>
      </p:sp>
      <p:sp>
        <p:nvSpPr>
          <p:cNvPr id="4" name="Text 2"/>
          <p:cNvSpPr/>
          <p:nvPr/>
        </p:nvSpPr>
        <p:spPr>
          <a:xfrm>
            <a:off x="566928" y="987552"/>
            <a:ext cx="8046720" cy="256032"/>
          </a:xfrm>
          <a:prstGeom prst="rect">
            <a:avLst/>
          </a:prstGeom>
          <a:noFill/>
          <a:ln/>
        </p:spPr>
        <p:txBody>
          <a:bodyPr wrap="square" lIns="0" tIns="0" rIns="0" bIns="0" rtlCol="0" anchor="ctr"/>
          <a:lstStyle/>
          <a:p>
            <a:pPr indent="0" marL="0">
              <a:buNone/>
            </a:pPr>
            <a:r>
              <a:rPr lang="en-US" sz="1050" b="1" spc="30" kern="0" dirty="0">
                <a:solidFill>
                  <a:srgbClr val="64748B"/>
                </a:solidFill>
                <a:latin typeface="Arial" pitchFamily="34" charset="0"/>
                <a:ea typeface="Arial" pitchFamily="34" charset="-122"/>
                <a:cs typeface="Arial" pitchFamily="34" charset="-120"/>
              </a:rPr>
              <a:t>Boundaries and Roadmap</a:t>
            </a:r>
            <a:endParaRPr lang="en-US" sz="1050" dirty="0"/>
          </a:p>
        </p:txBody>
      </p:sp>
      <p:sp>
        <p:nvSpPr>
          <p:cNvPr id="5" name="Text 3"/>
          <p:cNvSpPr/>
          <p:nvPr/>
        </p:nvSpPr>
        <p:spPr>
          <a:xfrm>
            <a:off x="10744200" y="384048"/>
            <a:ext cx="822960" cy="329184"/>
          </a:xfrm>
          <a:prstGeom prst="rect">
            <a:avLst/>
          </a:prstGeom>
          <a:noFill/>
          <a:ln/>
        </p:spPr>
        <p:txBody>
          <a:bodyPr wrap="square" lIns="0" tIns="0" rIns="0" bIns="0" rtlCol="0" anchor="ctr"/>
          <a:lstStyle/>
          <a:p>
            <a:pPr algn="r" indent="0" marL="0">
              <a:buNone/>
            </a:pPr>
            <a:r>
              <a:rPr lang="en-US" sz="1800" b="1" dirty="0">
                <a:solidFill>
                  <a:srgbClr val="C7D2FE"/>
                </a:solidFill>
                <a:latin typeface="Arial" pitchFamily="34" charset="0"/>
                <a:ea typeface="Arial" pitchFamily="34" charset="-122"/>
                <a:cs typeface="Arial" pitchFamily="34" charset="-120"/>
              </a:rPr>
              <a:t>11</a:t>
            </a:r>
            <a:endParaRPr lang="en-US" sz="1800" dirty="0"/>
          </a:p>
        </p:txBody>
      </p:sp>
      <p:sp>
        <p:nvSpPr>
          <p:cNvPr id="6" name="Text 4"/>
          <p:cNvSpPr/>
          <p:nvPr/>
        </p:nvSpPr>
        <p:spPr>
          <a:xfrm>
            <a:off x="713232" y="1508760"/>
            <a:ext cx="4297680" cy="274320"/>
          </a:xfrm>
          <a:prstGeom prst="rect">
            <a:avLst/>
          </a:prstGeom>
          <a:noFill/>
          <a:ln/>
        </p:spPr>
        <p:txBody>
          <a:bodyPr wrap="square" lIns="0" tIns="0" rIns="0" bIns="0" rtlCol="0" anchor="ctr"/>
          <a:lstStyle/>
          <a:p>
            <a:pPr indent="0" marL="0">
              <a:buNone/>
            </a:pPr>
            <a:r>
              <a:rPr lang="en-US" sz="1000" b="1" dirty="0">
                <a:solidFill>
                  <a:srgbClr val="D97706"/>
                </a:solidFill>
                <a:latin typeface="Arial" pitchFamily="34" charset="0"/>
                <a:ea typeface="Arial" pitchFamily="34" charset="-122"/>
                <a:cs typeface="Arial" pitchFamily="34" charset="-120"/>
              </a:rPr>
              <a:t>当前边界 / CURRENT BOUNDARIES</a:t>
            </a:r>
            <a:endParaRPr lang="en-US" sz="1000" dirty="0"/>
          </a:p>
        </p:txBody>
      </p:sp>
      <p:sp>
        <p:nvSpPr>
          <p:cNvPr id="7" name="Shape 5"/>
          <p:cNvSpPr/>
          <p:nvPr/>
        </p:nvSpPr>
        <p:spPr>
          <a:xfrm>
            <a:off x="713232" y="1920240"/>
            <a:ext cx="1901952" cy="713232"/>
          </a:xfrm>
          <a:prstGeom prst="roundRect">
            <a:avLst>
              <a:gd name="adj" fmla="val 10256"/>
            </a:avLst>
          </a:prstGeom>
          <a:solidFill>
            <a:srgbClr val="FFFBEB"/>
          </a:solidFill>
          <a:ln w="10160">
            <a:solidFill>
              <a:srgbClr val="FDE68A"/>
            </a:solidFill>
            <a:prstDash val="solid"/>
          </a:ln>
        </p:spPr>
      </p:sp>
      <p:sp>
        <p:nvSpPr>
          <p:cNvPr id="8" name="Text 6"/>
          <p:cNvSpPr/>
          <p:nvPr/>
        </p:nvSpPr>
        <p:spPr>
          <a:xfrm>
            <a:off x="868680" y="201168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单用户</a:t>
            </a:r>
            <a:endParaRPr lang="en-US" sz="1150" dirty="0"/>
          </a:p>
          <a:p>
            <a:pPr algn="ctr" indent="0" marL="0">
              <a:buNone/>
            </a:pPr>
            <a:r>
              <a:rPr lang="en-US" sz="750" dirty="0">
                <a:solidFill>
                  <a:srgbClr val="92400E"/>
                </a:solidFill>
                <a:latin typeface="Arial" pitchFamily="34" charset="0"/>
                <a:ea typeface="Arial" pitchFamily="34" charset="-122"/>
                <a:cs typeface="Arial" pitchFamily="34" charset="-120"/>
              </a:rPr>
              <a:t>Single user</a:t>
            </a:r>
            <a:endParaRPr lang="en-US" sz="1150" dirty="0"/>
          </a:p>
        </p:txBody>
      </p:sp>
      <p:sp>
        <p:nvSpPr>
          <p:cNvPr id="9" name="Shape 7"/>
          <p:cNvSpPr/>
          <p:nvPr/>
        </p:nvSpPr>
        <p:spPr>
          <a:xfrm>
            <a:off x="2862072" y="1920240"/>
            <a:ext cx="1901952" cy="713232"/>
          </a:xfrm>
          <a:prstGeom prst="roundRect">
            <a:avLst>
              <a:gd name="adj" fmla="val 10256"/>
            </a:avLst>
          </a:prstGeom>
          <a:solidFill>
            <a:srgbClr val="FFFBEB"/>
          </a:solidFill>
          <a:ln w="10160">
            <a:solidFill>
              <a:srgbClr val="FDE68A"/>
            </a:solidFill>
            <a:prstDash val="solid"/>
          </a:ln>
        </p:spPr>
      </p:sp>
      <p:sp>
        <p:nvSpPr>
          <p:cNvPr id="10" name="Text 8"/>
          <p:cNvSpPr/>
          <p:nvPr/>
        </p:nvSpPr>
        <p:spPr>
          <a:xfrm>
            <a:off x="3017520" y="201168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仅 USD</a:t>
            </a:r>
            <a:endParaRPr lang="en-US" sz="1150" dirty="0"/>
          </a:p>
          <a:p>
            <a:pPr algn="ctr" indent="0" marL="0">
              <a:buNone/>
            </a:pPr>
            <a:r>
              <a:rPr lang="en-US" sz="750" dirty="0">
                <a:solidFill>
                  <a:srgbClr val="92400E"/>
                </a:solidFill>
                <a:latin typeface="Arial" pitchFamily="34" charset="0"/>
                <a:ea typeface="Arial" pitchFamily="34" charset="-122"/>
                <a:cs typeface="Arial" pitchFamily="34" charset="-120"/>
              </a:rPr>
              <a:t>USD only</a:t>
            </a:r>
            <a:endParaRPr lang="en-US" sz="1150" dirty="0"/>
          </a:p>
        </p:txBody>
      </p:sp>
      <p:sp>
        <p:nvSpPr>
          <p:cNvPr id="11" name="Shape 9"/>
          <p:cNvSpPr/>
          <p:nvPr/>
        </p:nvSpPr>
        <p:spPr>
          <a:xfrm>
            <a:off x="713232" y="2880360"/>
            <a:ext cx="1901952" cy="713232"/>
          </a:xfrm>
          <a:prstGeom prst="roundRect">
            <a:avLst>
              <a:gd name="adj" fmla="val 10256"/>
            </a:avLst>
          </a:prstGeom>
          <a:solidFill>
            <a:srgbClr val="FFFBEB"/>
          </a:solidFill>
          <a:ln w="10160">
            <a:solidFill>
              <a:srgbClr val="FDE68A"/>
            </a:solidFill>
            <a:prstDash val="solid"/>
          </a:ln>
        </p:spPr>
      </p:sp>
      <p:sp>
        <p:nvSpPr>
          <p:cNvPr id="12" name="Text 10"/>
          <p:cNvSpPr/>
          <p:nvPr/>
        </p:nvSpPr>
        <p:spPr>
          <a:xfrm>
            <a:off x="868680" y="297180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无现金账本</a:t>
            </a:r>
            <a:endParaRPr lang="en-US" sz="1150" dirty="0"/>
          </a:p>
          <a:p>
            <a:pPr algn="ctr" indent="0" marL="0">
              <a:buNone/>
            </a:pPr>
            <a:r>
              <a:rPr lang="en-US" sz="750" dirty="0">
                <a:solidFill>
                  <a:srgbClr val="92400E"/>
                </a:solidFill>
                <a:latin typeface="Arial" pitchFamily="34" charset="0"/>
                <a:ea typeface="Arial" pitchFamily="34" charset="-122"/>
                <a:cs typeface="Arial" pitchFamily="34" charset="-120"/>
              </a:rPr>
              <a:t>No cash ledger</a:t>
            </a:r>
            <a:endParaRPr lang="en-US" sz="1150" dirty="0"/>
          </a:p>
        </p:txBody>
      </p:sp>
      <p:sp>
        <p:nvSpPr>
          <p:cNvPr id="13" name="Shape 11"/>
          <p:cNvSpPr/>
          <p:nvPr/>
        </p:nvSpPr>
        <p:spPr>
          <a:xfrm>
            <a:off x="2862072" y="2880360"/>
            <a:ext cx="1901952" cy="713232"/>
          </a:xfrm>
          <a:prstGeom prst="roundRect">
            <a:avLst>
              <a:gd name="adj" fmla="val 10256"/>
            </a:avLst>
          </a:prstGeom>
          <a:solidFill>
            <a:srgbClr val="FFFBEB"/>
          </a:solidFill>
          <a:ln w="10160">
            <a:solidFill>
              <a:srgbClr val="FDE68A"/>
            </a:solidFill>
            <a:prstDash val="solid"/>
          </a:ln>
        </p:spPr>
      </p:sp>
      <p:sp>
        <p:nvSpPr>
          <p:cNvPr id="14" name="Text 12"/>
          <p:cNvSpPr/>
          <p:nvPr/>
        </p:nvSpPr>
        <p:spPr>
          <a:xfrm>
            <a:off x="3017520" y="297180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禁止做空</a:t>
            </a:r>
            <a:endParaRPr lang="en-US" sz="1150" dirty="0"/>
          </a:p>
          <a:p>
            <a:pPr algn="ctr" indent="0" marL="0">
              <a:buNone/>
            </a:pPr>
            <a:r>
              <a:rPr lang="en-US" sz="750" dirty="0">
                <a:solidFill>
                  <a:srgbClr val="92400E"/>
                </a:solidFill>
                <a:latin typeface="Arial" pitchFamily="34" charset="0"/>
                <a:ea typeface="Arial" pitchFamily="34" charset="-122"/>
                <a:cs typeface="Arial" pitchFamily="34" charset="-120"/>
              </a:rPr>
              <a:t>No shorting</a:t>
            </a:r>
            <a:endParaRPr lang="en-US" sz="1150" dirty="0"/>
          </a:p>
        </p:txBody>
      </p:sp>
      <p:sp>
        <p:nvSpPr>
          <p:cNvPr id="15" name="Shape 13"/>
          <p:cNvSpPr/>
          <p:nvPr/>
        </p:nvSpPr>
        <p:spPr>
          <a:xfrm>
            <a:off x="713232" y="3840480"/>
            <a:ext cx="1901952" cy="713232"/>
          </a:xfrm>
          <a:prstGeom prst="roundRect">
            <a:avLst>
              <a:gd name="adj" fmla="val 10256"/>
            </a:avLst>
          </a:prstGeom>
          <a:solidFill>
            <a:srgbClr val="FFFBEB"/>
          </a:solidFill>
          <a:ln w="10160">
            <a:solidFill>
              <a:srgbClr val="FDE68A"/>
            </a:solidFill>
            <a:prstDash val="solid"/>
          </a:ln>
        </p:spPr>
      </p:sp>
      <p:sp>
        <p:nvSpPr>
          <p:cNvPr id="16" name="Text 14"/>
          <p:cNvSpPr/>
          <p:nvPr/>
        </p:nvSpPr>
        <p:spPr>
          <a:xfrm>
            <a:off x="868680" y="393192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仅未实现盈亏</a:t>
            </a:r>
            <a:endParaRPr lang="en-US" sz="1150" dirty="0"/>
          </a:p>
          <a:p>
            <a:pPr algn="ctr" indent="0" marL="0">
              <a:buNone/>
            </a:pPr>
            <a:r>
              <a:rPr lang="en-US" sz="750" dirty="0">
                <a:solidFill>
                  <a:srgbClr val="92400E"/>
                </a:solidFill>
                <a:latin typeface="Arial" pitchFamily="34" charset="0"/>
                <a:ea typeface="Arial" pitchFamily="34" charset="-122"/>
                <a:cs typeface="Arial" pitchFamily="34" charset="-120"/>
              </a:rPr>
              <a:t>Unrealized P&amp;L only</a:t>
            </a:r>
            <a:endParaRPr lang="en-US" sz="1150" dirty="0"/>
          </a:p>
        </p:txBody>
      </p:sp>
      <p:sp>
        <p:nvSpPr>
          <p:cNvPr id="17" name="Shape 15"/>
          <p:cNvSpPr/>
          <p:nvPr/>
        </p:nvSpPr>
        <p:spPr>
          <a:xfrm>
            <a:off x="2862072" y="3840480"/>
            <a:ext cx="1901952" cy="713232"/>
          </a:xfrm>
          <a:prstGeom prst="roundRect">
            <a:avLst>
              <a:gd name="adj" fmla="val 10256"/>
            </a:avLst>
          </a:prstGeom>
          <a:solidFill>
            <a:srgbClr val="FFFBEB"/>
          </a:solidFill>
          <a:ln w="10160">
            <a:solidFill>
              <a:srgbClr val="FDE68A"/>
            </a:solidFill>
            <a:prstDash val="solid"/>
          </a:ln>
        </p:spPr>
      </p:sp>
      <p:sp>
        <p:nvSpPr>
          <p:cNvPr id="18" name="Text 16"/>
          <p:cNvSpPr/>
          <p:nvPr/>
        </p:nvSpPr>
        <p:spPr>
          <a:xfrm>
            <a:off x="3017520" y="3931920"/>
            <a:ext cx="1591056" cy="493776"/>
          </a:xfrm>
          <a:prstGeom prst="rect">
            <a:avLst/>
          </a:prstGeom>
          <a:noFill/>
          <a:ln/>
        </p:spPr>
        <p:txBody>
          <a:bodyPr wrap="square" lIns="1016" tIns="1016" rIns="1016" bIns="1016" rtlCol="0" anchor="ctr">
            <a:normAutofit/>
          </a:bodyPr>
          <a:lstStyle/>
          <a:p>
            <a:pPr algn="ctr" indent="0" marL="0">
              <a:buNone/>
            </a:pPr>
            <a:r>
              <a:rPr lang="en-US" sz="1150" b="1" dirty="0">
                <a:solidFill>
                  <a:srgbClr val="D97706"/>
                </a:solidFill>
              </a:rPr>
              <a:t>仅加权平均成本</a:t>
            </a:r>
            <a:endParaRPr lang="en-US" sz="1150" dirty="0"/>
          </a:p>
          <a:p>
            <a:pPr algn="ctr" indent="0" marL="0">
              <a:buNone/>
            </a:pPr>
            <a:r>
              <a:rPr lang="en-US" sz="750" dirty="0">
                <a:solidFill>
                  <a:srgbClr val="92400E"/>
                </a:solidFill>
                <a:latin typeface="Arial" pitchFamily="34" charset="0"/>
                <a:ea typeface="Arial" pitchFamily="34" charset="-122"/>
                <a:cs typeface="Arial" pitchFamily="34" charset="-120"/>
              </a:rPr>
              <a:t>Weighted average only</a:t>
            </a:r>
            <a:endParaRPr lang="en-US" sz="1150" dirty="0"/>
          </a:p>
        </p:txBody>
      </p:sp>
      <p:sp>
        <p:nvSpPr>
          <p:cNvPr id="19" name="Shape 17"/>
          <p:cNvSpPr/>
          <p:nvPr/>
        </p:nvSpPr>
        <p:spPr>
          <a:xfrm>
            <a:off x="5230368" y="1572768"/>
            <a:ext cx="0" cy="4370832"/>
          </a:xfrm>
          <a:prstGeom prst="line">
            <a:avLst/>
          </a:prstGeom>
          <a:noFill/>
          <a:ln w="15240">
            <a:solidFill>
              <a:srgbClr val="CBD5E1"/>
            </a:solidFill>
            <a:prstDash val="solid"/>
          </a:ln>
        </p:spPr>
      </p:sp>
      <p:sp>
        <p:nvSpPr>
          <p:cNvPr id="20" name="Text 18"/>
          <p:cNvSpPr/>
          <p:nvPr/>
        </p:nvSpPr>
        <p:spPr>
          <a:xfrm>
            <a:off x="5623560" y="1508760"/>
            <a:ext cx="5394960" cy="274320"/>
          </a:xfrm>
          <a:prstGeom prst="rect">
            <a:avLst/>
          </a:prstGeom>
          <a:noFill/>
          <a:ln/>
        </p:spPr>
        <p:txBody>
          <a:bodyPr wrap="square" lIns="0" tIns="0" rIns="0" bIns="0" rtlCol="0" anchor="ctr"/>
          <a:lstStyle/>
          <a:p>
            <a:pPr indent="0" marL="0">
              <a:buNone/>
            </a:pPr>
            <a:r>
              <a:rPr lang="en-US" sz="1000" b="1" dirty="0">
                <a:solidFill>
                  <a:srgbClr val="2563EB"/>
                </a:solidFill>
                <a:latin typeface="Arial" pitchFamily="34" charset="0"/>
                <a:ea typeface="Arial" pitchFamily="34" charset="-122"/>
                <a:cs typeface="Arial" pitchFamily="34" charset="-120"/>
              </a:rPr>
              <a:t>演进路线 / ROADMAP</a:t>
            </a:r>
            <a:endParaRPr lang="en-US" sz="1000" dirty="0"/>
          </a:p>
        </p:txBody>
      </p:sp>
      <p:sp>
        <p:nvSpPr>
          <p:cNvPr id="21" name="Shape 19"/>
          <p:cNvSpPr/>
          <p:nvPr/>
        </p:nvSpPr>
        <p:spPr>
          <a:xfrm>
            <a:off x="5650992" y="1938528"/>
            <a:ext cx="502920" cy="502920"/>
          </a:xfrm>
          <a:prstGeom prst="ellipse">
            <a:avLst/>
          </a:prstGeom>
          <a:solidFill>
            <a:srgbClr val="2563EB"/>
          </a:solidFill>
          <a:ln w="12700">
            <a:solidFill>
              <a:srgbClr val="2563EB"/>
            </a:solidFill>
            <a:prstDash val="solid"/>
          </a:ln>
        </p:spPr>
      </p:sp>
      <p:sp>
        <p:nvSpPr>
          <p:cNvPr id="22" name="Text 20"/>
          <p:cNvSpPr/>
          <p:nvPr/>
        </p:nvSpPr>
        <p:spPr>
          <a:xfrm>
            <a:off x="5650992" y="2057400"/>
            <a:ext cx="502920" cy="18288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01</a:t>
            </a:r>
            <a:endParaRPr lang="en-US" sz="900" dirty="0"/>
          </a:p>
        </p:txBody>
      </p:sp>
      <p:sp>
        <p:nvSpPr>
          <p:cNvPr id="23" name="Text 21"/>
          <p:cNvSpPr/>
          <p:nvPr/>
        </p:nvSpPr>
        <p:spPr>
          <a:xfrm>
            <a:off x="6400800" y="1892808"/>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身份与归属</a:t>
            </a:r>
            <a:endParaRPr lang="en-US" sz="1300" dirty="0"/>
          </a:p>
          <a:p>
            <a:pPr algn="l" indent="0" marL="0">
              <a:buNone/>
            </a:pPr>
            <a:r>
              <a:rPr lang="en-US" sz="850" dirty="0">
                <a:solidFill>
                  <a:srgbClr val="64748B"/>
                </a:solidFill>
                <a:latin typeface="Arial" pitchFamily="34" charset="0"/>
                <a:ea typeface="Arial" pitchFamily="34" charset="-122"/>
                <a:cs typeface="Arial" pitchFamily="34" charset="-120"/>
              </a:rPr>
              <a:t>Auth · authorization · ownership</a:t>
            </a:r>
            <a:endParaRPr lang="en-US" sz="1300" dirty="0"/>
          </a:p>
        </p:txBody>
      </p:sp>
      <p:sp>
        <p:nvSpPr>
          <p:cNvPr id="24" name="Shape 22"/>
          <p:cNvSpPr/>
          <p:nvPr/>
        </p:nvSpPr>
        <p:spPr>
          <a:xfrm>
            <a:off x="5902452" y="2450592"/>
            <a:ext cx="0" cy="429768"/>
          </a:xfrm>
          <a:prstGeom prst="line">
            <a:avLst/>
          </a:prstGeom>
          <a:noFill/>
          <a:ln w="25400">
            <a:solidFill>
              <a:srgbClr val="93C5FD"/>
            </a:solidFill>
            <a:prstDash val="solid"/>
          </a:ln>
        </p:spPr>
      </p:sp>
      <p:sp>
        <p:nvSpPr>
          <p:cNvPr id="25" name="Shape 23"/>
          <p:cNvSpPr/>
          <p:nvPr/>
        </p:nvSpPr>
        <p:spPr>
          <a:xfrm>
            <a:off x="5650992" y="2880360"/>
            <a:ext cx="502920" cy="502920"/>
          </a:xfrm>
          <a:prstGeom prst="ellipse">
            <a:avLst/>
          </a:prstGeom>
          <a:solidFill>
            <a:srgbClr val="DBEAFE"/>
          </a:solidFill>
          <a:ln w="12700">
            <a:solidFill>
              <a:srgbClr val="DBEAFE"/>
            </a:solidFill>
            <a:prstDash val="solid"/>
          </a:ln>
        </p:spPr>
      </p:sp>
      <p:sp>
        <p:nvSpPr>
          <p:cNvPr id="26" name="Text 24"/>
          <p:cNvSpPr/>
          <p:nvPr/>
        </p:nvSpPr>
        <p:spPr>
          <a:xfrm>
            <a:off x="5650992" y="2999232"/>
            <a:ext cx="502920" cy="182880"/>
          </a:xfrm>
          <a:prstGeom prst="rect">
            <a:avLst/>
          </a:prstGeom>
          <a:noFill/>
          <a:ln/>
        </p:spPr>
        <p:txBody>
          <a:bodyPr wrap="square" lIns="0" tIns="0" rIns="0" bIns="0"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02</a:t>
            </a:r>
            <a:endParaRPr lang="en-US" sz="900" dirty="0"/>
          </a:p>
        </p:txBody>
      </p:sp>
      <p:sp>
        <p:nvSpPr>
          <p:cNvPr id="27" name="Text 25"/>
          <p:cNvSpPr/>
          <p:nvPr/>
        </p:nvSpPr>
        <p:spPr>
          <a:xfrm>
            <a:off x="6400800" y="2834640"/>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完整会计能力</a:t>
            </a:r>
            <a:endParaRPr lang="en-US" sz="1300" dirty="0"/>
          </a:p>
          <a:p>
            <a:pPr algn="l" indent="0" marL="0">
              <a:buNone/>
            </a:pPr>
            <a:r>
              <a:rPr lang="en-US" sz="850" dirty="0">
                <a:solidFill>
                  <a:srgbClr val="64748B"/>
                </a:solidFill>
                <a:latin typeface="Arial" pitchFamily="34" charset="0"/>
                <a:ea typeface="Arial" pitchFamily="34" charset="-122"/>
                <a:cs typeface="Arial" pitchFamily="34" charset="-120"/>
              </a:rPr>
              <a:t>Cash · FX · realized P&amp;L · tax lots</a:t>
            </a:r>
            <a:endParaRPr lang="en-US" sz="1300" dirty="0"/>
          </a:p>
        </p:txBody>
      </p:sp>
      <p:sp>
        <p:nvSpPr>
          <p:cNvPr id="28" name="Shape 26"/>
          <p:cNvSpPr/>
          <p:nvPr/>
        </p:nvSpPr>
        <p:spPr>
          <a:xfrm>
            <a:off x="5902452" y="3392424"/>
            <a:ext cx="0" cy="429768"/>
          </a:xfrm>
          <a:prstGeom prst="line">
            <a:avLst/>
          </a:prstGeom>
          <a:noFill/>
          <a:ln w="25400">
            <a:solidFill>
              <a:srgbClr val="93C5FD"/>
            </a:solidFill>
            <a:prstDash val="solid"/>
          </a:ln>
        </p:spPr>
      </p:sp>
      <p:sp>
        <p:nvSpPr>
          <p:cNvPr id="29" name="Shape 27"/>
          <p:cNvSpPr/>
          <p:nvPr/>
        </p:nvSpPr>
        <p:spPr>
          <a:xfrm>
            <a:off x="5650992" y="3822192"/>
            <a:ext cx="502920" cy="502920"/>
          </a:xfrm>
          <a:prstGeom prst="ellipse">
            <a:avLst/>
          </a:prstGeom>
          <a:solidFill>
            <a:srgbClr val="DBEAFE"/>
          </a:solidFill>
          <a:ln w="12700">
            <a:solidFill>
              <a:srgbClr val="DBEAFE"/>
            </a:solidFill>
            <a:prstDash val="solid"/>
          </a:ln>
        </p:spPr>
      </p:sp>
      <p:sp>
        <p:nvSpPr>
          <p:cNvPr id="30" name="Text 28"/>
          <p:cNvSpPr/>
          <p:nvPr/>
        </p:nvSpPr>
        <p:spPr>
          <a:xfrm>
            <a:off x="5650992" y="3941064"/>
            <a:ext cx="502920" cy="182880"/>
          </a:xfrm>
          <a:prstGeom prst="rect">
            <a:avLst/>
          </a:prstGeom>
          <a:noFill/>
          <a:ln/>
        </p:spPr>
        <p:txBody>
          <a:bodyPr wrap="square" lIns="0" tIns="0" rIns="0" bIns="0"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03</a:t>
            </a:r>
            <a:endParaRPr lang="en-US" sz="900" dirty="0"/>
          </a:p>
        </p:txBody>
      </p:sp>
      <p:sp>
        <p:nvSpPr>
          <p:cNvPr id="31" name="Text 29"/>
          <p:cNvSpPr/>
          <p:nvPr/>
        </p:nvSpPr>
        <p:spPr>
          <a:xfrm>
            <a:off x="6400800" y="3776472"/>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实时数据能力</a:t>
            </a:r>
            <a:endParaRPr lang="en-US" sz="1300" dirty="0"/>
          </a:p>
          <a:p>
            <a:pPr algn="l" indent="0" marL="0">
              <a:buNone/>
            </a:pPr>
            <a:r>
              <a:rPr lang="en-US" sz="850" dirty="0">
                <a:solidFill>
                  <a:srgbClr val="64748B"/>
                </a:solidFill>
                <a:latin typeface="Arial" pitchFamily="34" charset="0"/>
                <a:ea typeface="Arial" pitchFamily="34" charset="-122"/>
                <a:cs typeface="Arial" pitchFamily="34" charset="-120"/>
              </a:rPr>
              <a:t>Providers · WebSocket · historical candles</a:t>
            </a:r>
            <a:endParaRPr lang="en-US" sz="1300" dirty="0"/>
          </a:p>
        </p:txBody>
      </p:sp>
      <p:sp>
        <p:nvSpPr>
          <p:cNvPr id="32" name="Shape 30"/>
          <p:cNvSpPr/>
          <p:nvPr/>
        </p:nvSpPr>
        <p:spPr>
          <a:xfrm>
            <a:off x="5902452" y="4334256"/>
            <a:ext cx="0" cy="429768"/>
          </a:xfrm>
          <a:prstGeom prst="line">
            <a:avLst/>
          </a:prstGeom>
          <a:noFill/>
          <a:ln w="25400">
            <a:solidFill>
              <a:srgbClr val="93C5FD"/>
            </a:solidFill>
            <a:prstDash val="solid"/>
          </a:ln>
        </p:spPr>
      </p:sp>
      <p:sp>
        <p:nvSpPr>
          <p:cNvPr id="33" name="Shape 31"/>
          <p:cNvSpPr/>
          <p:nvPr/>
        </p:nvSpPr>
        <p:spPr>
          <a:xfrm>
            <a:off x="5650992" y="4764024"/>
            <a:ext cx="502920" cy="502920"/>
          </a:xfrm>
          <a:prstGeom prst="ellipse">
            <a:avLst/>
          </a:prstGeom>
          <a:solidFill>
            <a:srgbClr val="DBEAFE"/>
          </a:solidFill>
          <a:ln w="12700">
            <a:solidFill>
              <a:srgbClr val="DBEAFE"/>
            </a:solidFill>
            <a:prstDash val="solid"/>
          </a:ln>
        </p:spPr>
      </p:sp>
      <p:sp>
        <p:nvSpPr>
          <p:cNvPr id="34" name="Text 32"/>
          <p:cNvSpPr/>
          <p:nvPr/>
        </p:nvSpPr>
        <p:spPr>
          <a:xfrm>
            <a:off x="5650992" y="4882896"/>
            <a:ext cx="502920" cy="182880"/>
          </a:xfrm>
          <a:prstGeom prst="rect">
            <a:avLst/>
          </a:prstGeom>
          <a:noFill/>
          <a:ln/>
        </p:spPr>
        <p:txBody>
          <a:bodyPr wrap="square" lIns="0" tIns="0" rIns="0" bIns="0" rtlCol="0" anchor="ctr"/>
          <a:lstStyle/>
          <a:p>
            <a:pPr algn="ctr" indent="0" marL="0">
              <a:buNone/>
            </a:pPr>
            <a:r>
              <a:rPr lang="en-US" sz="900" b="1" dirty="0">
                <a:solidFill>
                  <a:srgbClr val="1D4ED8"/>
                </a:solidFill>
                <a:latin typeface="Arial" pitchFamily="34" charset="0"/>
                <a:ea typeface="Arial" pitchFamily="34" charset="-122"/>
                <a:cs typeface="Arial" pitchFamily="34" charset="-120"/>
              </a:rPr>
              <a:t>04</a:t>
            </a:r>
            <a:endParaRPr lang="en-US" sz="900" dirty="0"/>
          </a:p>
        </p:txBody>
      </p:sp>
      <p:sp>
        <p:nvSpPr>
          <p:cNvPr id="35" name="Text 33"/>
          <p:cNvSpPr/>
          <p:nvPr/>
        </p:nvSpPr>
        <p:spPr>
          <a:xfrm>
            <a:off x="6400800" y="4718304"/>
            <a:ext cx="4892040" cy="603504"/>
          </a:xfrm>
          <a:prstGeom prst="rect">
            <a:avLst/>
          </a:prstGeom>
          <a:noFill/>
          <a:ln/>
        </p:spPr>
        <p:txBody>
          <a:bodyPr wrap="square" lIns="1016" tIns="1016" rIns="1016" bIns="1016" rtlCol="0" anchor="ctr">
            <a:normAutofit/>
          </a:bodyPr>
          <a:lstStyle/>
          <a:p>
            <a:pPr algn="l" indent="0" marL="0">
              <a:buNone/>
            </a:pPr>
            <a:r>
              <a:rPr lang="en-US" sz="1300" b="1" dirty="0">
                <a:solidFill>
                  <a:srgbClr val="0F172A"/>
                </a:solidFill>
              </a:rPr>
              <a:t>生产运行能力</a:t>
            </a:r>
            <a:endParaRPr lang="en-US" sz="1300" dirty="0"/>
          </a:p>
          <a:p>
            <a:pPr algn="l" indent="0" marL="0">
              <a:buNone/>
            </a:pPr>
            <a:r>
              <a:rPr lang="en-US" sz="850" dirty="0">
                <a:solidFill>
                  <a:srgbClr val="64748B"/>
                </a:solidFill>
                <a:latin typeface="Arial" pitchFamily="34" charset="0"/>
                <a:ea typeface="Arial" pitchFamily="34" charset="-122"/>
                <a:cs typeface="Arial" pitchFamily="34" charset="-120"/>
              </a:rPr>
              <a:t>Secrets · observability · deployment</a:t>
            </a:r>
            <a:endParaRPr lang="en-US" sz="1300" dirty="0"/>
          </a:p>
        </p:txBody>
      </p:sp>
      <p:sp>
        <p:nvSpPr>
          <p:cNvPr id="36" name="Shape 34"/>
          <p:cNvSpPr/>
          <p:nvPr/>
        </p:nvSpPr>
        <p:spPr>
          <a:xfrm>
            <a:off x="1143000" y="5248656"/>
            <a:ext cx="9921240" cy="713232"/>
          </a:xfrm>
          <a:prstGeom prst="roundRect">
            <a:avLst>
              <a:gd name="adj" fmla="val 10256"/>
            </a:avLst>
          </a:prstGeom>
          <a:solidFill>
            <a:srgbClr val="EFF6FF"/>
          </a:solidFill>
          <a:ln w="12700">
            <a:solidFill>
              <a:srgbClr val="BFDBFE"/>
            </a:solidFill>
            <a:prstDash val="solid"/>
          </a:ln>
        </p:spPr>
      </p:sp>
      <p:sp>
        <p:nvSpPr>
          <p:cNvPr id="37" name="Text 35"/>
          <p:cNvSpPr/>
          <p:nvPr/>
        </p:nvSpPr>
        <p:spPr>
          <a:xfrm>
            <a:off x="1417320" y="5394960"/>
            <a:ext cx="9372600" cy="411480"/>
          </a:xfrm>
          <a:prstGeom prst="rect">
            <a:avLst/>
          </a:prstGeom>
          <a:noFill/>
          <a:ln/>
        </p:spPr>
        <p:txBody>
          <a:bodyPr wrap="square" lIns="1016" tIns="1016" rIns="1016" bIns="1016" rtlCol="0" anchor="ctr">
            <a:normAutofit/>
          </a:bodyPr>
          <a:lstStyle/>
          <a:p>
            <a:pPr algn="ctr" indent="0" marL="0">
              <a:buNone/>
            </a:pPr>
            <a:r>
              <a:rPr lang="en-US" sz="1400" b="1" dirty="0">
                <a:solidFill>
                  <a:srgbClr val="1D4ED8"/>
                </a:solidFill>
              </a:rPr>
              <a:t>清晰边界不是缺点：它让下一步扩展有可验证的起点</a:t>
            </a:r>
            <a:endParaRPr lang="en-US" sz="1400" dirty="0"/>
          </a:p>
          <a:p>
            <a:pPr algn="ctr" indent="0" marL="0">
              <a:buNone/>
            </a:pPr>
            <a:r>
              <a:rPr lang="en-US" sz="850" dirty="0">
                <a:solidFill>
                  <a:srgbClr val="334155"/>
                </a:solidFill>
                <a:latin typeface="Arial" pitchFamily="34" charset="0"/>
                <a:ea typeface="Arial" pitchFamily="34" charset="-122"/>
                <a:cs typeface="Arial" pitchFamily="34" charset="-120"/>
              </a:rPr>
              <a:t>Explicit boundaries create a testable starting point for the next increment.</a:t>
            </a:r>
            <a:endParaRPr lang="en-US" sz="1400" dirty="0"/>
          </a:p>
        </p:txBody>
      </p:sp>
      <p:sp>
        <p:nvSpPr>
          <p:cNvPr id="25" name="Slide Number Placeholder 0"/>
          <p:cNvSpPr>
            <a:spLocks noGrp="1"/>
          </p:cNvSpPr>
          <p:nvPr>
            <p:ph type="sldNum" sz="quarter" idx="4294967295"/>
          </p:nvPr>
        </p:nvSpPr>
        <p:spPr>
          <a:xfrm>
            <a:off x="11292840" y="6437376"/>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4748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172A"/>
          </a:solidFill>
          <a:ln w="12700">
            <a:solidFill>
              <a:srgbClr val="0F172A"/>
            </a:solidFill>
            <a:prstDash val="solid"/>
          </a:ln>
        </p:spPr>
      </p:sp>
      <p:sp>
        <p:nvSpPr>
          <p:cNvPr id="3" name="Shape 1"/>
          <p:cNvSpPr/>
          <p:nvPr/>
        </p:nvSpPr>
        <p:spPr>
          <a:xfrm>
            <a:off x="8869680" y="-1371600"/>
            <a:ext cx="4754880" cy="4754880"/>
          </a:xfrm>
          <a:prstGeom prst="ellipse">
            <a:avLst/>
          </a:prstGeom>
          <a:solidFill>
            <a:srgbClr val="2563EB">
              <a:alpha val="28000"/>
            </a:srgbClr>
          </a:solidFill>
          <a:ln w="12700">
            <a:solidFill>
              <a:srgbClr val="2563EB">
                <a:alpha val="0"/>
              </a:srgbClr>
            </a:solidFill>
            <a:prstDash val="solid"/>
          </a:ln>
        </p:spPr>
      </p:sp>
      <p:sp>
        <p:nvSpPr>
          <p:cNvPr id="4" name="Text 2"/>
          <p:cNvSpPr/>
          <p:nvPr/>
        </p:nvSpPr>
        <p:spPr>
          <a:xfrm>
            <a:off x="713232" y="594360"/>
            <a:ext cx="2011680" cy="228600"/>
          </a:xfrm>
          <a:prstGeom prst="rect">
            <a:avLst/>
          </a:prstGeom>
          <a:noFill/>
          <a:ln/>
        </p:spPr>
        <p:txBody>
          <a:bodyPr wrap="square" lIns="0" tIns="0" rIns="0" bIns="0" rtlCol="0" anchor="ctr"/>
          <a:lstStyle/>
          <a:p>
            <a:pPr indent="0" marL="0">
              <a:buNone/>
            </a:pPr>
            <a:r>
              <a:rPr lang="en-US" sz="900" b="1" spc="180" kern="0" dirty="0">
                <a:solidFill>
                  <a:srgbClr val="93C5FD"/>
                </a:solidFill>
                <a:latin typeface="Arial" pitchFamily="34" charset="0"/>
                <a:ea typeface="Arial" pitchFamily="34" charset="-122"/>
                <a:cs typeface="Arial" pitchFamily="34" charset="-120"/>
              </a:rPr>
              <a:t>TAKEAWAY</a:t>
            </a:r>
            <a:endParaRPr lang="en-US" sz="900" dirty="0"/>
          </a:p>
        </p:txBody>
      </p:sp>
      <p:sp>
        <p:nvSpPr>
          <p:cNvPr id="5" name="Text 3"/>
          <p:cNvSpPr/>
          <p:nvPr/>
        </p:nvSpPr>
        <p:spPr>
          <a:xfrm>
            <a:off x="713232" y="1078992"/>
            <a:ext cx="6126480" cy="530352"/>
          </a:xfrm>
          <a:prstGeom prst="rect">
            <a:avLst/>
          </a:prstGeom>
          <a:noFill/>
          <a:ln/>
        </p:spPr>
        <p:txBody>
          <a:bodyPr wrap="square" lIns="0" tIns="0" rIns="0" bIns="0" rtlCol="0" anchor="ctr"/>
          <a:lstStyle/>
          <a:p>
            <a:pPr indent="0" marL="0">
              <a:buNone/>
            </a:pPr>
            <a:r>
              <a:rPr lang="en-US" sz="2800" b="1" dirty="0">
                <a:solidFill>
                  <a:srgbClr val="FFFFFF"/>
                </a:solidFill>
              </a:rPr>
              <a:t>交易事实 → 可信估值</a:t>
            </a:r>
            <a:endParaRPr lang="en-US" sz="2800" dirty="0"/>
          </a:p>
        </p:txBody>
      </p:sp>
      <p:sp>
        <p:nvSpPr>
          <p:cNvPr id="6" name="Text 4"/>
          <p:cNvSpPr/>
          <p:nvPr/>
        </p:nvSpPr>
        <p:spPr>
          <a:xfrm>
            <a:off x="713232" y="1719072"/>
            <a:ext cx="6126480" cy="384048"/>
          </a:xfrm>
          <a:prstGeom prst="rect">
            <a:avLst/>
          </a:prstGeom>
          <a:noFill/>
          <a:ln/>
        </p:spPr>
        <p:txBody>
          <a:bodyPr wrap="square" lIns="0" tIns="0" rIns="0" bIns="0" rtlCol="0" anchor="ctr"/>
          <a:lstStyle/>
          <a:p>
            <a:pPr indent="0" marL="0">
              <a:buNone/>
            </a:pPr>
            <a:r>
              <a:rPr lang="en-US" sz="1700" b="1" dirty="0">
                <a:solidFill>
                  <a:srgbClr val="BFDBFE"/>
                </a:solidFill>
                <a:latin typeface="Arial" pitchFamily="34" charset="0"/>
                <a:ea typeface="Arial" pitchFamily="34" charset="-122"/>
                <a:cs typeface="Arial" pitchFamily="34" charset="-120"/>
              </a:rPr>
              <a:t>Trade facts → Trusted valuation</a:t>
            </a:r>
            <a:endParaRPr lang="en-US" sz="1700" dirty="0"/>
          </a:p>
        </p:txBody>
      </p:sp>
      <p:sp>
        <p:nvSpPr>
          <p:cNvPr id="7" name="Shape 5"/>
          <p:cNvSpPr/>
          <p:nvPr/>
        </p:nvSpPr>
        <p:spPr>
          <a:xfrm>
            <a:off x="713232" y="2578608"/>
            <a:ext cx="1874520" cy="941832"/>
          </a:xfrm>
          <a:prstGeom prst="roundRect">
            <a:avLst>
              <a:gd name="adj" fmla="val 7767"/>
            </a:avLst>
          </a:prstGeom>
          <a:solidFill>
            <a:srgbClr val="1E293B"/>
          </a:solidFill>
          <a:ln w="12700">
            <a:solidFill>
              <a:srgbClr val="334155"/>
            </a:solidFill>
            <a:prstDash val="solid"/>
          </a:ln>
        </p:spPr>
      </p:sp>
      <p:sp>
        <p:nvSpPr>
          <p:cNvPr id="8" name="Text 6"/>
          <p:cNvSpPr/>
          <p:nvPr/>
        </p:nvSpPr>
        <p:spPr>
          <a:xfrm>
            <a:off x="877824" y="2761488"/>
            <a:ext cx="1545336" cy="502920"/>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rPr>
              <a:t>可审计</a:t>
            </a:r>
            <a:endParaRPr lang="en-US" sz="1500" dirty="0"/>
          </a:p>
          <a:p>
            <a:pPr algn="ctr" indent="0" marL="0">
              <a:buNone/>
            </a:pPr>
            <a:r>
              <a:rPr lang="en-US" sz="800" dirty="0">
                <a:solidFill>
                  <a:srgbClr val="93C5FD"/>
                </a:solidFill>
                <a:latin typeface="Arial" pitchFamily="34" charset="0"/>
                <a:ea typeface="Arial" pitchFamily="34" charset="-122"/>
                <a:cs typeface="Arial" pitchFamily="34" charset="-120"/>
              </a:rPr>
              <a:t>AUDITABLE</a:t>
            </a:r>
            <a:endParaRPr lang="en-US" sz="1500" dirty="0"/>
          </a:p>
        </p:txBody>
      </p:sp>
      <p:sp>
        <p:nvSpPr>
          <p:cNvPr id="9" name="Shape 7"/>
          <p:cNvSpPr/>
          <p:nvPr/>
        </p:nvSpPr>
        <p:spPr>
          <a:xfrm>
            <a:off x="2862072" y="2578608"/>
            <a:ext cx="1874520" cy="941832"/>
          </a:xfrm>
          <a:prstGeom prst="roundRect">
            <a:avLst>
              <a:gd name="adj" fmla="val 7767"/>
            </a:avLst>
          </a:prstGeom>
          <a:solidFill>
            <a:srgbClr val="1D4ED8"/>
          </a:solidFill>
          <a:ln w="12700">
            <a:solidFill>
              <a:srgbClr val="3B82F6"/>
            </a:solidFill>
            <a:prstDash val="solid"/>
          </a:ln>
        </p:spPr>
      </p:sp>
      <p:sp>
        <p:nvSpPr>
          <p:cNvPr id="10" name="Text 8"/>
          <p:cNvSpPr/>
          <p:nvPr/>
        </p:nvSpPr>
        <p:spPr>
          <a:xfrm>
            <a:off x="3026664" y="2761488"/>
            <a:ext cx="1545336" cy="502920"/>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rPr>
              <a:t>可降级</a:t>
            </a:r>
            <a:endParaRPr lang="en-US" sz="1500" dirty="0"/>
          </a:p>
          <a:p>
            <a:pPr algn="ctr" indent="0" marL="0">
              <a:buNone/>
            </a:pPr>
            <a:r>
              <a:rPr lang="en-US" sz="800" dirty="0">
                <a:solidFill>
                  <a:srgbClr val="93C5FD"/>
                </a:solidFill>
                <a:latin typeface="Arial" pitchFamily="34" charset="0"/>
                <a:ea typeface="Arial" pitchFamily="34" charset="-122"/>
                <a:cs typeface="Arial" pitchFamily="34" charset="-120"/>
              </a:rPr>
              <a:t>RESILIENT</a:t>
            </a:r>
            <a:endParaRPr lang="en-US" sz="1500" dirty="0"/>
          </a:p>
        </p:txBody>
      </p:sp>
      <p:sp>
        <p:nvSpPr>
          <p:cNvPr id="11" name="Shape 9"/>
          <p:cNvSpPr/>
          <p:nvPr/>
        </p:nvSpPr>
        <p:spPr>
          <a:xfrm>
            <a:off x="5010912" y="2578608"/>
            <a:ext cx="1874520" cy="941832"/>
          </a:xfrm>
          <a:prstGeom prst="roundRect">
            <a:avLst>
              <a:gd name="adj" fmla="val 7767"/>
            </a:avLst>
          </a:prstGeom>
          <a:solidFill>
            <a:srgbClr val="1E293B"/>
          </a:solidFill>
          <a:ln w="12700">
            <a:solidFill>
              <a:srgbClr val="334155"/>
            </a:solidFill>
            <a:prstDash val="solid"/>
          </a:ln>
        </p:spPr>
      </p:sp>
      <p:sp>
        <p:nvSpPr>
          <p:cNvPr id="12" name="Text 10"/>
          <p:cNvSpPr/>
          <p:nvPr/>
        </p:nvSpPr>
        <p:spPr>
          <a:xfrm>
            <a:off x="5175504" y="2761488"/>
            <a:ext cx="1545336" cy="502920"/>
          </a:xfrm>
          <a:prstGeom prst="rect">
            <a:avLst/>
          </a:prstGeom>
          <a:noFill/>
          <a:ln/>
        </p:spPr>
        <p:txBody>
          <a:bodyPr wrap="square" lIns="1016" tIns="1016" rIns="1016" bIns="1016" rtlCol="0" anchor="ctr">
            <a:normAutofit/>
          </a:bodyPr>
          <a:lstStyle/>
          <a:p>
            <a:pPr algn="ctr" indent="0" marL="0">
              <a:buNone/>
            </a:pPr>
            <a:r>
              <a:rPr lang="en-US" sz="1500" b="1" dirty="0">
                <a:solidFill>
                  <a:srgbClr val="FFFFFF"/>
                </a:solidFill>
              </a:rPr>
              <a:t>可验证</a:t>
            </a:r>
            <a:endParaRPr lang="en-US" sz="1500" dirty="0"/>
          </a:p>
          <a:p>
            <a:pPr algn="ctr" indent="0" marL="0">
              <a:buNone/>
            </a:pPr>
            <a:r>
              <a:rPr lang="en-US" sz="800" dirty="0">
                <a:solidFill>
                  <a:srgbClr val="93C5FD"/>
                </a:solidFill>
                <a:latin typeface="Arial" pitchFamily="34" charset="0"/>
                <a:ea typeface="Arial" pitchFamily="34" charset="-122"/>
                <a:cs typeface="Arial" pitchFamily="34" charset="-120"/>
              </a:rPr>
              <a:t>VERIFIABLE</a:t>
            </a:r>
            <a:endParaRPr lang="en-US" sz="1500" dirty="0"/>
          </a:p>
        </p:txBody>
      </p:sp>
      <p:sp>
        <p:nvSpPr>
          <p:cNvPr id="13" name="Text 11"/>
          <p:cNvSpPr/>
          <p:nvPr/>
        </p:nvSpPr>
        <p:spPr>
          <a:xfrm>
            <a:off x="749808" y="4133088"/>
            <a:ext cx="2377440" cy="228600"/>
          </a:xfrm>
          <a:prstGeom prst="rect">
            <a:avLst/>
          </a:prstGeom>
          <a:noFill/>
          <a:ln/>
        </p:spPr>
        <p:txBody>
          <a:bodyPr wrap="square" lIns="0" tIns="0" rIns="0" bIns="0" rtlCol="0" anchor="ctr"/>
          <a:lstStyle/>
          <a:p>
            <a:pPr indent="0" marL="0">
              <a:buNone/>
            </a:pPr>
            <a:r>
              <a:rPr lang="en-US" sz="900" b="1" spc="140" kern="0" dirty="0">
                <a:solidFill>
                  <a:srgbClr val="93C5FD"/>
                </a:solidFill>
                <a:latin typeface="Arial" pitchFamily="34" charset="0"/>
                <a:ea typeface="Arial" pitchFamily="34" charset="-122"/>
                <a:cs typeface="Arial" pitchFamily="34" charset="-120"/>
              </a:rPr>
              <a:t>LIVE DEMO PATH</a:t>
            </a:r>
            <a:endParaRPr lang="en-US" sz="900" dirty="0"/>
          </a:p>
        </p:txBody>
      </p:sp>
      <p:sp>
        <p:nvSpPr>
          <p:cNvPr id="14" name="Shape 12"/>
          <p:cNvSpPr/>
          <p:nvPr/>
        </p:nvSpPr>
        <p:spPr>
          <a:xfrm>
            <a:off x="749808" y="4608576"/>
            <a:ext cx="1024128" cy="292608"/>
          </a:xfrm>
          <a:prstGeom prst="roundRect">
            <a:avLst>
              <a:gd name="adj" fmla="val 25000"/>
            </a:avLst>
          </a:prstGeom>
          <a:solidFill>
            <a:srgbClr val="1E3A8A"/>
          </a:solidFill>
          <a:ln w="12700">
            <a:solidFill>
              <a:srgbClr val="1E3A8A"/>
            </a:solidFill>
            <a:prstDash val="solid"/>
          </a:ln>
        </p:spPr>
      </p:sp>
      <p:sp>
        <p:nvSpPr>
          <p:cNvPr id="15" name="Text 13"/>
          <p:cNvSpPr/>
          <p:nvPr/>
        </p:nvSpPr>
        <p:spPr>
          <a:xfrm>
            <a:off x="749808"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ACCOUNTS</a:t>
            </a:r>
            <a:endParaRPr lang="en-US" sz="750" dirty="0"/>
          </a:p>
        </p:txBody>
      </p:sp>
      <p:sp>
        <p:nvSpPr>
          <p:cNvPr id="16" name="Shape 14"/>
          <p:cNvSpPr/>
          <p:nvPr/>
        </p:nvSpPr>
        <p:spPr>
          <a:xfrm>
            <a:off x="1819656" y="4754880"/>
            <a:ext cx="182880" cy="0"/>
          </a:xfrm>
          <a:prstGeom prst="line">
            <a:avLst/>
          </a:prstGeom>
          <a:noFill/>
          <a:ln w="25400">
            <a:solidFill>
              <a:srgbClr val="64748B"/>
            </a:solidFill>
            <a:prstDash val="solid"/>
            <a:headEnd type="none"/>
            <a:tailEnd type="triangle"/>
          </a:ln>
        </p:spPr>
      </p:sp>
      <p:sp>
        <p:nvSpPr>
          <p:cNvPr id="17" name="Shape 15"/>
          <p:cNvSpPr/>
          <p:nvPr/>
        </p:nvSpPr>
        <p:spPr>
          <a:xfrm>
            <a:off x="2057400" y="4608576"/>
            <a:ext cx="1024128" cy="292608"/>
          </a:xfrm>
          <a:prstGeom prst="roundRect">
            <a:avLst>
              <a:gd name="adj" fmla="val 25000"/>
            </a:avLst>
          </a:prstGeom>
          <a:solidFill>
            <a:srgbClr val="1E3A8A"/>
          </a:solidFill>
          <a:ln w="12700">
            <a:solidFill>
              <a:srgbClr val="1E3A8A"/>
            </a:solidFill>
            <a:prstDash val="solid"/>
          </a:ln>
        </p:spPr>
      </p:sp>
      <p:sp>
        <p:nvSpPr>
          <p:cNvPr id="18" name="Text 16"/>
          <p:cNvSpPr/>
          <p:nvPr/>
        </p:nvSpPr>
        <p:spPr>
          <a:xfrm>
            <a:off x="2057400"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ACTIVITY</a:t>
            </a:r>
            <a:endParaRPr lang="en-US" sz="750" dirty="0"/>
          </a:p>
        </p:txBody>
      </p:sp>
      <p:sp>
        <p:nvSpPr>
          <p:cNvPr id="19" name="Shape 17"/>
          <p:cNvSpPr/>
          <p:nvPr/>
        </p:nvSpPr>
        <p:spPr>
          <a:xfrm>
            <a:off x="3127248" y="4754880"/>
            <a:ext cx="182880" cy="0"/>
          </a:xfrm>
          <a:prstGeom prst="line">
            <a:avLst/>
          </a:prstGeom>
          <a:noFill/>
          <a:ln w="25400">
            <a:solidFill>
              <a:srgbClr val="64748B"/>
            </a:solidFill>
            <a:prstDash val="solid"/>
            <a:headEnd type="none"/>
            <a:tailEnd type="triangle"/>
          </a:ln>
        </p:spPr>
      </p:sp>
      <p:sp>
        <p:nvSpPr>
          <p:cNvPr id="20" name="Shape 18"/>
          <p:cNvSpPr/>
          <p:nvPr/>
        </p:nvSpPr>
        <p:spPr>
          <a:xfrm>
            <a:off x="3364992" y="4608576"/>
            <a:ext cx="1024128" cy="292608"/>
          </a:xfrm>
          <a:prstGeom prst="roundRect">
            <a:avLst>
              <a:gd name="adj" fmla="val 25000"/>
            </a:avLst>
          </a:prstGeom>
          <a:solidFill>
            <a:srgbClr val="1E3A8A"/>
          </a:solidFill>
          <a:ln w="12700">
            <a:solidFill>
              <a:srgbClr val="1E3A8A"/>
            </a:solidFill>
            <a:prstDash val="solid"/>
          </a:ln>
        </p:spPr>
      </p:sp>
      <p:sp>
        <p:nvSpPr>
          <p:cNvPr id="21" name="Text 19"/>
          <p:cNvSpPr/>
          <p:nvPr/>
        </p:nvSpPr>
        <p:spPr>
          <a:xfrm>
            <a:off x="3364992"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DBEAFE"/>
                </a:solidFill>
                <a:latin typeface="Arial" pitchFamily="34" charset="0"/>
                <a:ea typeface="Arial" pitchFamily="34" charset="-122"/>
                <a:cs typeface="Arial" pitchFamily="34" charset="-120"/>
              </a:rPr>
              <a:t>DASHBOARD</a:t>
            </a:r>
            <a:endParaRPr lang="en-US" sz="750" dirty="0"/>
          </a:p>
        </p:txBody>
      </p:sp>
      <p:sp>
        <p:nvSpPr>
          <p:cNvPr id="22" name="Shape 20"/>
          <p:cNvSpPr/>
          <p:nvPr/>
        </p:nvSpPr>
        <p:spPr>
          <a:xfrm>
            <a:off x="4434840" y="4754880"/>
            <a:ext cx="182880" cy="0"/>
          </a:xfrm>
          <a:prstGeom prst="line">
            <a:avLst/>
          </a:prstGeom>
          <a:noFill/>
          <a:ln w="25400">
            <a:solidFill>
              <a:srgbClr val="64748B"/>
            </a:solidFill>
            <a:prstDash val="solid"/>
            <a:headEnd type="none"/>
            <a:tailEnd type="triangle"/>
          </a:ln>
        </p:spPr>
      </p:sp>
      <p:sp>
        <p:nvSpPr>
          <p:cNvPr id="23" name="Shape 21"/>
          <p:cNvSpPr/>
          <p:nvPr/>
        </p:nvSpPr>
        <p:spPr>
          <a:xfrm>
            <a:off x="4672584" y="4608576"/>
            <a:ext cx="1024128" cy="292608"/>
          </a:xfrm>
          <a:prstGeom prst="roundRect">
            <a:avLst>
              <a:gd name="adj" fmla="val 25000"/>
            </a:avLst>
          </a:prstGeom>
          <a:solidFill>
            <a:srgbClr val="78350F"/>
          </a:solidFill>
          <a:ln w="12700">
            <a:solidFill>
              <a:srgbClr val="78350F"/>
            </a:solidFill>
            <a:prstDash val="solid"/>
          </a:ln>
        </p:spPr>
      </p:sp>
      <p:sp>
        <p:nvSpPr>
          <p:cNvPr id="24" name="Text 22"/>
          <p:cNvSpPr/>
          <p:nvPr/>
        </p:nvSpPr>
        <p:spPr>
          <a:xfrm>
            <a:off x="4672584"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FEF3C7"/>
                </a:solidFill>
                <a:latin typeface="Arial" pitchFamily="34" charset="0"/>
                <a:ea typeface="Arial" pitchFamily="34" charset="-122"/>
                <a:cs typeface="Arial" pitchFamily="34" charset="-120"/>
              </a:rPr>
              <a:t>OUTAGE</a:t>
            </a:r>
            <a:endParaRPr lang="en-US" sz="750" dirty="0"/>
          </a:p>
        </p:txBody>
      </p:sp>
      <p:sp>
        <p:nvSpPr>
          <p:cNvPr id="25" name="Shape 23"/>
          <p:cNvSpPr/>
          <p:nvPr/>
        </p:nvSpPr>
        <p:spPr>
          <a:xfrm>
            <a:off x="5742432" y="4754880"/>
            <a:ext cx="182880" cy="0"/>
          </a:xfrm>
          <a:prstGeom prst="line">
            <a:avLst/>
          </a:prstGeom>
          <a:noFill/>
          <a:ln w="25400">
            <a:solidFill>
              <a:srgbClr val="64748B"/>
            </a:solidFill>
            <a:prstDash val="solid"/>
            <a:headEnd type="none"/>
            <a:tailEnd type="triangle"/>
          </a:ln>
        </p:spPr>
      </p:sp>
      <p:sp>
        <p:nvSpPr>
          <p:cNvPr id="26" name="Shape 24"/>
          <p:cNvSpPr/>
          <p:nvPr/>
        </p:nvSpPr>
        <p:spPr>
          <a:xfrm>
            <a:off x="5980176" y="4608576"/>
            <a:ext cx="1024128" cy="292608"/>
          </a:xfrm>
          <a:prstGeom prst="roundRect">
            <a:avLst>
              <a:gd name="adj" fmla="val 25000"/>
            </a:avLst>
          </a:prstGeom>
          <a:solidFill>
            <a:srgbClr val="7F1D1D"/>
          </a:solidFill>
          <a:ln w="12700">
            <a:solidFill>
              <a:srgbClr val="7F1D1D"/>
            </a:solidFill>
            <a:prstDash val="solid"/>
          </a:ln>
        </p:spPr>
      </p:sp>
      <p:sp>
        <p:nvSpPr>
          <p:cNvPr id="27" name="Text 25"/>
          <p:cNvSpPr/>
          <p:nvPr/>
        </p:nvSpPr>
        <p:spPr>
          <a:xfrm>
            <a:off x="5980176" y="4626864"/>
            <a:ext cx="1024128" cy="201168"/>
          </a:xfrm>
          <a:prstGeom prst="rect">
            <a:avLst/>
          </a:prstGeom>
          <a:noFill/>
          <a:ln/>
        </p:spPr>
        <p:txBody>
          <a:bodyPr wrap="square" lIns="0" tIns="0" rIns="0" bIns="0" rtlCol="0" anchor="ctr">
            <a:normAutofit/>
          </a:bodyPr>
          <a:lstStyle/>
          <a:p>
            <a:pPr algn="ctr" indent="0" marL="0">
              <a:buNone/>
            </a:pPr>
            <a:r>
              <a:rPr lang="en-US" sz="750" b="1" dirty="0">
                <a:solidFill>
                  <a:srgbClr val="FEE2E2"/>
                </a:solidFill>
                <a:latin typeface="Arial" pitchFamily="34" charset="0"/>
                <a:ea typeface="Arial" pitchFamily="34" charset="-122"/>
                <a:cs typeface="Arial" pitchFamily="34" charset="-120"/>
              </a:rPr>
              <a:t>STALE</a:t>
            </a:r>
            <a:endParaRPr lang="en-US" sz="750" dirty="0"/>
          </a:p>
        </p:txBody>
      </p:sp>
      <p:sp>
        <p:nvSpPr>
          <p:cNvPr id="28" name="Shape 26"/>
          <p:cNvSpPr/>
          <p:nvPr/>
        </p:nvSpPr>
        <p:spPr>
          <a:xfrm>
            <a:off x="7543800" y="1865376"/>
            <a:ext cx="3794760" cy="3566160"/>
          </a:xfrm>
          <a:prstGeom prst="roundRect">
            <a:avLst>
              <a:gd name="adj" fmla="val 2051"/>
            </a:avLst>
          </a:prstGeom>
          <a:solidFill>
            <a:srgbClr val="111C32"/>
          </a:solidFill>
          <a:ln w="10160">
            <a:solidFill>
              <a:srgbClr val="334155"/>
            </a:solidFill>
            <a:prstDash val="solid"/>
          </a:ln>
        </p:spPr>
      </p:sp>
      <p:sp>
        <p:nvSpPr>
          <p:cNvPr id="29" name="Text 27"/>
          <p:cNvSpPr/>
          <p:nvPr/>
        </p:nvSpPr>
        <p:spPr>
          <a:xfrm>
            <a:off x="8028432" y="2423160"/>
            <a:ext cx="2834640" cy="777240"/>
          </a:xfrm>
          <a:prstGeom prst="rect">
            <a:avLst/>
          </a:prstGeom>
          <a:noFill/>
          <a:ln/>
        </p:spPr>
        <p:txBody>
          <a:bodyPr wrap="square" lIns="1016" tIns="1016" rIns="1016" bIns="1016" rtlCol="0" anchor="ctr">
            <a:normAutofit/>
          </a:bodyPr>
          <a:lstStyle/>
          <a:p>
            <a:pPr algn="ctr" indent="0" marL="0">
              <a:buNone/>
            </a:pPr>
            <a:r>
              <a:rPr lang="en-US" sz="3000" b="1" dirty="0">
                <a:solidFill>
                  <a:srgbClr val="FFFFFF"/>
                </a:solidFill>
              </a:rPr>
              <a:t>谢谢</a:t>
            </a:r>
            <a:endParaRPr lang="en-US" sz="3000" dirty="0"/>
          </a:p>
          <a:p>
            <a:pPr algn="ctr" indent="0" marL="0">
              <a:buNone/>
            </a:pPr>
            <a:r>
              <a:rPr lang="en-US" sz="1300" dirty="0">
                <a:solidFill>
                  <a:srgbClr val="93C5FD"/>
                </a:solidFill>
                <a:latin typeface="Arial" pitchFamily="34" charset="0"/>
                <a:ea typeface="Arial" pitchFamily="34" charset="-122"/>
                <a:cs typeface="Arial" pitchFamily="34" charset="-120"/>
              </a:rPr>
              <a:t>THANK YOU</a:t>
            </a:r>
            <a:endParaRPr lang="en-US" sz="3000" dirty="0"/>
          </a:p>
        </p:txBody>
      </p:sp>
      <p:sp>
        <p:nvSpPr>
          <p:cNvPr id="30" name="Shape 28"/>
          <p:cNvSpPr/>
          <p:nvPr/>
        </p:nvSpPr>
        <p:spPr>
          <a:xfrm>
            <a:off x="8092440" y="3493008"/>
            <a:ext cx="2697480" cy="0"/>
          </a:xfrm>
          <a:prstGeom prst="line">
            <a:avLst/>
          </a:prstGeom>
          <a:noFill/>
          <a:ln w="12700">
            <a:solidFill>
              <a:srgbClr val="334155"/>
            </a:solidFill>
            <a:prstDash val="solid"/>
          </a:ln>
        </p:spPr>
      </p:sp>
      <p:sp>
        <p:nvSpPr>
          <p:cNvPr id="31" name="Text 29"/>
          <p:cNvSpPr/>
          <p:nvPr/>
        </p:nvSpPr>
        <p:spPr>
          <a:xfrm>
            <a:off x="8028432" y="3886200"/>
            <a:ext cx="2834640" cy="658368"/>
          </a:xfrm>
          <a:prstGeom prst="rect">
            <a:avLst/>
          </a:prstGeom>
          <a:noFill/>
          <a:ln/>
        </p:spPr>
        <p:txBody>
          <a:bodyPr wrap="square" lIns="1016" tIns="1016" rIns="1016" bIns="1016" rtlCol="0" anchor="ctr">
            <a:normAutofit/>
          </a:bodyPr>
          <a:lstStyle/>
          <a:p>
            <a:pPr algn="ctr" indent="0" marL="0">
              <a:buNone/>
            </a:pPr>
            <a:r>
              <a:rPr lang="en-US" sz="1800" b="1" dirty="0">
                <a:solidFill>
                  <a:srgbClr val="FFFFFF"/>
                </a:solidFill>
              </a:rPr>
              <a:t>欢迎提问</a:t>
            </a:r>
            <a:endParaRPr lang="en-US" sz="1800" dirty="0"/>
          </a:p>
          <a:p>
            <a:pPr algn="ctr" indent="0" marL="0">
              <a:buNone/>
            </a:pPr>
            <a:r>
              <a:rPr lang="en-US" sz="1000" dirty="0">
                <a:solidFill>
                  <a:srgbClr val="94A3B8"/>
                </a:solidFill>
                <a:latin typeface="Arial" pitchFamily="34" charset="0"/>
                <a:ea typeface="Arial" pitchFamily="34" charset="-122"/>
                <a:cs typeface="Arial" pitchFamily="34" charset="-120"/>
              </a:rPr>
              <a:t>Questions &amp; discussion</a:t>
            </a:r>
            <a:endParaRPr lang="en-US" sz="1800" dirty="0"/>
          </a:p>
        </p:txBody>
      </p:sp>
      <p:sp>
        <p:nvSpPr>
          <p:cNvPr id="32" name="Text 30"/>
          <p:cNvSpPr/>
          <p:nvPr/>
        </p:nvSpPr>
        <p:spPr>
          <a:xfrm>
            <a:off x="8028432" y="4882896"/>
            <a:ext cx="2834640" cy="219456"/>
          </a:xfrm>
          <a:prstGeom prst="rect">
            <a:avLst/>
          </a:prstGeom>
          <a:noFill/>
          <a:ln/>
        </p:spPr>
        <p:txBody>
          <a:bodyPr wrap="square" lIns="0" tIns="0" rIns="0" bIns="0"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Group 5 · Give me five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Equity Trade Booking Engine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Equity Trade Booking Engine / 股票交易记账引擎</dc:title>
  <dc:subject>Bilingual project presentation</dc:subject>
  <dc:creator>Group 5 — Give me five</dc:creator>
  <cp:lastModifiedBy>Group 5 — Give me five</cp:lastModifiedBy>
  <cp:revision>1</cp:revision>
  <dcterms:created xsi:type="dcterms:W3CDTF">2026-07-29T06:55:09Z</dcterms:created>
  <dcterms:modified xsi:type="dcterms:W3CDTF">2026-07-29T06:55:09Z</dcterms:modified>
</cp:coreProperties>
</file>